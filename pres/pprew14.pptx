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xlsx" ContentType="application/vnd.openxmlformats-officedocument.spreadsheetml.sheet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tags/tag18.xml" ContentType="application/vnd.openxmlformats-officedocument.presentationml.tags+xml"/>
  <Override PartName="/ppt/notesSlides/notesSlide3.xml" ContentType="application/vnd.openxmlformats-officedocument.presentationml.notesSlide+xml"/>
  <Override PartName="/ppt/tags/tag19.xml" ContentType="application/vnd.openxmlformats-officedocument.presentationml.tags+xml"/>
  <Override PartName="/ppt/notesSlides/notesSlide4.xml" ContentType="application/vnd.openxmlformats-officedocument.presentationml.notesSlide+xml"/>
  <Override PartName="/ppt/tags/tag20.xml" ContentType="application/vnd.openxmlformats-officedocument.presentationml.tags+xml"/>
  <Override PartName="/ppt/notesSlides/notesSlide5.xml" ContentType="application/vnd.openxmlformats-officedocument.presentationml.notesSlide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24.xml" ContentType="application/vnd.openxmlformats-officedocument.presentationml.tags+xml"/>
  <Override PartName="/ppt/notesSlides/notesSlide12.xml" ContentType="application/vnd.openxmlformats-officedocument.presentationml.notesSlide+xml"/>
  <Override PartName="/ppt/tags/tag25.xml" ContentType="application/vnd.openxmlformats-officedocument.presentationml.tags+xml"/>
  <Override PartName="/ppt/notesSlides/notesSlide13.xml" ContentType="application/vnd.openxmlformats-officedocument.presentationml.notesSlide+xml"/>
  <Override PartName="/ppt/tags/tag26.xml" ContentType="application/vnd.openxmlformats-officedocument.presentationml.tags+xml"/>
  <Override PartName="/ppt/notesSlides/notesSlide14.xml" ContentType="application/vnd.openxmlformats-officedocument.presentationml.notesSlide+xml"/>
  <Override PartName="/ppt/tags/tag27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28.xml" ContentType="application/vnd.openxmlformats-officedocument.presentationml.tags+xml"/>
  <Override PartName="/ppt/notesSlides/notesSlide17.xml" ContentType="application/vnd.openxmlformats-officedocument.presentationml.notesSlide+xml"/>
  <Override PartName="/ppt/tags/tag29.xml" ContentType="application/vnd.openxmlformats-officedocument.presentationml.tags+xml"/>
  <Override PartName="/ppt/notesSlides/notesSlide18.xml" ContentType="application/vnd.openxmlformats-officedocument.presentationml.notesSlide+xml"/>
  <Override PartName="/ppt/tags/tag30.xml" ContentType="application/vnd.openxmlformats-officedocument.presentationml.tags+xml"/>
  <Override PartName="/ppt/notesSlides/notesSlide19.xml" ContentType="application/vnd.openxmlformats-officedocument.presentationml.notesSlide+xml"/>
  <Override PartName="/ppt/tags/tag31.xml" ContentType="application/vnd.openxmlformats-officedocument.presentationml.tags+xml"/>
  <Override PartName="/ppt/notesSlides/notesSlide20.xml" ContentType="application/vnd.openxmlformats-officedocument.presentationml.notesSlide+xml"/>
  <Override PartName="/ppt/tags/tag32.xml" ContentType="application/vnd.openxmlformats-officedocument.presentationml.tags+xml"/>
  <Override PartName="/ppt/notesSlides/notesSlide21.xml" ContentType="application/vnd.openxmlformats-officedocument.presentationml.notesSlide+xml"/>
  <Override PartName="/ppt/tags/tag33.xml" ContentType="application/vnd.openxmlformats-officedocument.presentationml.tags+xml"/>
  <Override PartName="/ppt/notesSlides/notesSlide22.xml" ContentType="application/vnd.openxmlformats-officedocument.presentationml.notesSlide+xml"/>
  <Override PartName="/ppt/tags/tag34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35.xml" ContentType="application/vnd.openxmlformats-officedocument.presentationml.tags+xml"/>
  <Override PartName="/ppt/notesSlides/notesSlide25.xml" ContentType="application/vnd.openxmlformats-officedocument.presentationml.notesSlide+xml"/>
  <Override PartName="/ppt/tags/tag36.xml" ContentType="application/vnd.openxmlformats-officedocument.presentationml.tags+xml"/>
  <Override PartName="/ppt/notesSlides/notesSlide26.xml" ContentType="application/vnd.openxmlformats-officedocument.presentationml.notesSlide+xml"/>
  <Override PartName="/ppt/tags/tag37.xml" ContentType="application/vnd.openxmlformats-officedocument.presentationml.tags+xml"/>
  <Override PartName="/ppt/notesSlides/notesSlide27.xml" ContentType="application/vnd.openxmlformats-officedocument.presentationml.notesSlide+xml"/>
  <Override PartName="/ppt/tags/tag38.xml" ContentType="application/vnd.openxmlformats-officedocument.presentationml.tags+xml"/>
  <Override PartName="/ppt/notesSlides/notesSlide28.xml" ContentType="application/vnd.openxmlformats-officedocument.presentationml.notesSlide+xml"/>
  <Override PartName="/ppt/tags/tag39.xml" ContentType="application/vnd.openxmlformats-officedocument.presentationml.tags+xml"/>
  <Override PartName="/ppt/notesSlides/notesSlide29.xml" ContentType="application/vnd.openxmlformats-officedocument.presentationml.notesSlide+xml"/>
  <Override PartName="/ppt/charts/chart1.xml" ContentType="application/vnd.openxmlformats-officedocument.drawingml.chart+xml"/>
  <Override PartName="/ppt/tags/tag40.xml" ContentType="application/vnd.openxmlformats-officedocument.presentationml.tags+xml"/>
  <Override PartName="/ppt/notesSlides/notesSlide30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1.xml" ContentType="application/vnd.openxmlformats-officedocument.presentationml.tags+xml"/>
  <Override PartName="/ppt/notesSlides/notesSlide31.xml" ContentType="application/vnd.openxmlformats-officedocument.presentationml.notesSlide+xml"/>
  <Override PartName="/ppt/charts/chart3.xml" ContentType="application/vnd.openxmlformats-officedocument.drawingml.chart+xml"/>
  <Override PartName="/ppt/tags/tag42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rts/chart4.xml" ContentType="application/vnd.openxmlformats-officedocument.drawingml.chart+xml"/>
  <Override PartName="/ppt/notesSlides/notesSlide34.xml" ContentType="application/vnd.openxmlformats-officedocument.presentationml.notesSlide+xml"/>
  <Override PartName="/ppt/charts/chart5.xml" ContentType="application/vnd.openxmlformats-officedocument.drawingml.chart+xml"/>
  <Override PartName="/ppt/notesSlides/notesSlide35.xml" ContentType="application/vnd.openxmlformats-officedocument.presentationml.notesSlide+xml"/>
  <Override PartName="/ppt/tags/tag43.xml" ContentType="application/vnd.openxmlformats-officedocument.presentationml.tags+xml"/>
  <Override PartName="/ppt/notesSlides/notesSlide36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37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38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39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40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41.xml" ContentType="application/vnd.openxmlformats-officedocument.presentationml.notesSlide+xml"/>
  <Override PartName="/ppt/tags/tag97.xml" ContentType="application/vnd.openxmlformats-officedocument.presentationml.tags+xml"/>
  <Override PartName="/ppt/notesSlides/notesSlide42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notesSlides/notesSlide43.xml" ContentType="application/vnd.openxmlformats-officedocument.presentationml.notesSlide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44.xml" ContentType="application/vnd.openxmlformats-officedocument.presentationml.notesSlide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notesSlides/notesSlide45.xml" ContentType="application/vnd.openxmlformats-officedocument.presentationml.notesSlide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46.xml" ContentType="application/vnd.openxmlformats-officedocument.presentationml.notesSlide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notesSlides/notesSlide47.xml" ContentType="application/vnd.openxmlformats-officedocument.presentationml.notesSlide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notesSlides/notesSlide48.xml" ContentType="application/vnd.openxmlformats-officedocument.presentationml.notesSlid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notesSlides/notesSlide49.xml" ContentType="application/vnd.openxmlformats-officedocument.presentationml.notesSlide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notesSlides/notesSlide50.xml" ContentType="application/vnd.openxmlformats-officedocument.presentationml.notesSlide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notesSlides/notesSlide51.xml" ContentType="application/vnd.openxmlformats-officedocument.presentationml.notesSlide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52.xml" ContentType="application/vnd.openxmlformats-officedocument.presentationml.notesSlid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notesSlides/notesSlide53.xml" ContentType="application/vnd.openxmlformats-officedocument.presentationml.notesSlid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notesSlides/notesSlide54.xml" ContentType="application/vnd.openxmlformats-officedocument.presentationml.notesSlide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notesSlides/notesSlide55.xml" ContentType="application/vnd.openxmlformats-officedocument.presentationml.notesSlide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notesSlides/notesSlide56.xml" ContentType="application/vnd.openxmlformats-officedocument.presentationml.notesSlide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notesSlides/notesSlide57.xml" ContentType="application/vnd.openxmlformats-officedocument.presentationml.notesSlide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notesSlides/notesSlide58.xml" ContentType="application/vnd.openxmlformats-officedocument.presentationml.notesSlide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notesSlides/notesSlide59.xml" ContentType="application/vnd.openxmlformats-officedocument.presentationml.notesSlide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>
  <p:sldMasterIdLst>
    <p:sldMasterId id="2147483660" r:id="rId1"/>
  </p:sldMasterIdLst>
  <p:notesMasterIdLst>
    <p:notesMasterId r:id="rId70"/>
  </p:notesMasterIdLst>
  <p:handoutMasterIdLst>
    <p:handoutMasterId r:id="rId71"/>
  </p:handoutMasterIdLst>
  <p:sldIdLst>
    <p:sldId id="1178" r:id="rId2"/>
    <p:sldId id="925" r:id="rId3"/>
    <p:sldId id="1128" r:id="rId4"/>
    <p:sldId id="1129" r:id="rId5"/>
    <p:sldId id="1202" r:id="rId6"/>
    <p:sldId id="1207" r:id="rId7"/>
    <p:sldId id="1034" r:id="rId8"/>
    <p:sldId id="1210" r:id="rId9"/>
    <p:sldId id="1217" r:id="rId10"/>
    <p:sldId id="1213" r:id="rId11"/>
    <p:sldId id="948" r:id="rId12"/>
    <p:sldId id="952" r:id="rId13"/>
    <p:sldId id="953" r:id="rId14"/>
    <p:sldId id="954" r:id="rId15"/>
    <p:sldId id="958" r:id="rId16"/>
    <p:sldId id="960" r:id="rId17"/>
    <p:sldId id="961" r:id="rId18"/>
    <p:sldId id="1053" r:id="rId19"/>
    <p:sldId id="1054" r:id="rId20"/>
    <p:sldId id="1055" r:id="rId21"/>
    <p:sldId id="1052" r:id="rId22"/>
    <p:sldId id="969" r:id="rId23"/>
    <p:sldId id="1056" r:id="rId24"/>
    <p:sldId id="1057" r:id="rId25"/>
    <p:sldId id="1058" r:id="rId26"/>
    <p:sldId id="1203" r:id="rId27"/>
    <p:sldId id="1223" r:id="rId28"/>
    <p:sldId id="1145" r:id="rId29"/>
    <p:sldId id="1204" r:id="rId30"/>
    <p:sldId id="1206" r:id="rId31"/>
    <p:sldId id="1146" r:id="rId32"/>
    <p:sldId id="1147" r:id="rId33"/>
    <p:sldId id="1148" r:id="rId34"/>
    <p:sldId id="1149" r:id="rId35"/>
    <p:sldId id="1189" r:id="rId36"/>
    <p:sldId id="647" r:id="rId37"/>
    <p:sldId id="905" r:id="rId38"/>
    <p:sldId id="906" r:id="rId39"/>
    <p:sldId id="788" r:id="rId40"/>
    <p:sldId id="789" r:id="rId41"/>
    <p:sldId id="907" r:id="rId42"/>
    <p:sldId id="1001" r:id="rId43"/>
    <p:sldId id="908" r:id="rId44"/>
    <p:sldId id="792" r:id="rId45"/>
    <p:sldId id="909" r:id="rId46"/>
    <p:sldId id="713" r:id="rId47"/>
    <p:sldId id="1093" r:id="rId48"/>
    <p:sldId id="1005" r:id="rId49"/>
    <p:sldId id="456" r:id="rId50"/>
    <p:sldId id="457" r:id="rId51"/>
    <p:sldId id="491" r:id="rId52"/>
    <p:sldId id="461" r:id="rId53"/>
    <p:sldId id="668" r:id="rId54"/>
    <p:sldId id="462" r:id="rId55"/>
    <p:sldId id="722" r:id="rId56"/>
    <p:sldId id="1006" r:id="rId57"/>
    <p:sldId id="1195" r:id="rId58"/>
    <p:sldId id="486" r:id="rId59"/>
    <p:sldId id="1197" r:id="rId60"/>
    <p:sldId id="1198" r:id="rId61"/>
    <p:sldId id="1199" r:id="rId62"/>
    <p:sldId id="1190" r:id="rId63"/>
    <p:sldId id="1191" r:id="rId64"/>
    <p:sldId id="1186" r:id="rId65"/>
    <p:sldId id="1224" r:id="rId66"/>
    <p:sldId id="1200" r:id="rId67"/>
    <p:sldId id="1048" r:id="rId68"/>
    <p:sldId id="1172" r:id="rId69"/>
  </p:sldIdLst>
  <p:sldSz cx="9144000" cy="6858000" type="screen4x3"/>
  <p:notesSz cx="6858000" cy="9296400"/>
  <p:embeddedFontLst>
    <p:embeddedFont>
      <p:font typeface="Consolas" panose="020B0609020204030204" pitchFamily="49" charset="0"/>
      <p:regular r:id="rId72"/>
      <p:bold r:id="rId73"/>
      <p:italic r:id="rId74"/>
      <p:boldItalic r:id="rId75"/>
    </p:embeddedFont>
    <p:embeddedFont>
      <p:font typeface="ＭＳ Ｐゴシック" panose="020B0600070205080204" pitchFamily="34" charset="-128"/>
      <p:regular r:id="rId76"/>
    </p:embeddedFont>
    <p:embeddedFont>
      <p:font typeface="Cambria" panose="02040503050406030204" pitchFamily="18" charset="0"/>
      <p:regular r:id="rId77"/>
      <p:bold r:id="rId78"/>
      <p:italic r:id="rId79"/>
      <p:boldItalic r:id="rId80"/>
    </p:embeddedFont>
    <p:embeddedFont>
      <p:font typeface="Calibri" panose="020F0502020204030204" pitchFamily="34" charset="0"/>
      <p:regular r:id="rId81"/>
      <p:bold r:id="rId82"/>
      <p:italic r:id="rId83"/>
      <p:boldItalic r:id="rId8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7CD2697-8658-8243-8326-1A6820C2CAE2}">
          <p14:sldIdLst>
            <p14:sldId id="1178"/>
            <p14:sldId id="925"/>
            <p14:sldId id="1128"/>
            <p14:sldId id="1129"/>
            <p14:sldId id="1202"/>
            <p14:sldId id="1207"/>
            <p14:sldId id="1034"/>
            <p14:sldId id="1210"/>
            <p14:sldId id="1217"/>
            <p14:sldId id="1213"/>
            <p14:sldId id="948"/>
          </p14:sldIdLst>
        </p14:section>
        <p14:section name="Phoenix" id="{04EE2D6D-A80A-4ECA-8708-58F665C87342}">
          <p14:sldIdLst>
            <p14:sldId id="952"/>
            <p14:sldId id="953"/>
            <p14:sldId id="954"/>
            <p14:sldId id="958"/>
            <p14:sldId id="960"/>
            <p14:sldId id="961"/>
            <p14:sldId id="1053"/>
            <p14:sldId id="1054"/>
            <p14:sldId id="1055"/>
            <p14:sldId id="1052"/>
            <p14:sldId id="969"/>
            <p14:sldId id="1056"/>
            <p14:sldId id="1057"/>
            <p14:sldId id="1058"/>
            <p14:sldId id="1203"/>
            <p14:sldId id="1223"/>
            <p14:sldId id="1145"/>
            <p14:sldId id="1204"/>
            <p14:sldId id="1206"/>
            <p14:sldId id="1146"/>
            <p14:sldId id="1147"/>
            <p14:sldId id="1148"/>
            <p14:sldId id="1149"/>
          </p14:sldIdLst>
        </p14:section>
        <p14:section name="Q" id="{9825A4C6-C37F-4CC8-BA65-82E521786D20}">
          <p14:sldIdLst>
            <p14:sldId id="1189"/>
            <p14:sldId id="647"/>
            <p14:sldId id="905"/>
            <p14:sldId id="906"/>
            <p14:sldId id="788"/>
            <p14:sldId id="789"/>
            <p14:sldId id="907"/>
            <p14:sldId id="1001"/>
            <p14:sldId id="908"/>
            <p14:sldId id="792"/>
            <p14:sldId id="909"/>
            <p14:sldId id="713"/>
            <p14:sldId id="1093"/>
            <p14:sldId id="1005"/>
            <p14:sldId id="456"/>
            <p14:sldId id="457"/>
            <p14:sldId id="491"/>
            <p14:sldId id="461"/>
            <p14:sldId id="668"/>
            <p14:sldId id="462"/>
            <p14:sldId id="722"/>
            <p14:sldId id="1006"/>
            <p14:sldId id="1195"/>
            <p14:sldId id="486"/>
            <p14:sldId id="1197"/>
            <p14:sldId id="1198"/>
            <p14:sldId id="1199"/>
          </p14:sldIdLst>
        </p14:section>
        <p14:section name="Conclusions" id="{CB89F54E-8533-460E-AC17-0A31777D2860}">
          <p14:sldIdLst>
            <p14:sldId id="1190"/>
            <p14:sldId id="1191"/>
            <p14:sldId id="1186"/>
            <p14:sldId id="1224"/>
            <p14:sldId id="1200"/>
            <p14:sldId id="1048"/>
            <p14:sldId id="11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orient="horz" pos="1392">
          <p15:clr>
            <a:srgbClr val="A4A3A4"/>
          </p15:clr>
        </p15:guide>
        <p15:guide id="3" pos="3840">
          <p15:clr>
            <a:srgbClr val="A4A3A4"/>
          </p15:clr>
        </p15:guide>
        <p15:guide id="4" pos="19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80"/>
    <a:srgbClr val="B6CC87"/>
    <a:srgbClr val="00CC99"/>
    <a:srgbClr val="6B8E23"/>
    <a:srgbClr val="7FA831"/>
    <a:srgbClr val="66CCFF"/>
    <a:srgbClr val="FF6666"/>
    <a:srgbClr val="408000"/>
    <a:srgbClr val="8000FF"/>
    <a:srgbClr val="CC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56" autoAdjust="0"/>
    <p:restoredTop sz="77944" autoAdjust="0"/>
  </p:normalViewPr>
  <p:slideViewPr>
    <p:cSldViewPr snapToObjects="1">
      <p:cViewPr varScale="1">
        <p:scale>
          <a:sx n="90" d="100"/>
          <a:sy n="90" d="100"/>
        </p:scale>
        <p:origin x="2220" y="96"/>
      </p:cViewPr>
      <p:guideLst>
        <p:guide orient="horz" pos="2880"/>
        <p:guide orient="horz" pos="1392"/>
        <p:guide pos="3840"/>
        <p:guide pos="1920"/>
      </p:guideLst>
    </p:cSldViewPr>
  </p:slideViewPr>
  <p:outlineViewPr>
    <p:cViewPr>
      <p:scale>
        <a:sx n="33" d="100"/>
        <a:sy n="33" d="100"/>
      </p:scale>
      <p:origin x="0" y="-3723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300"/>
    </p:cViewPr>
  </p:sorterViewPr>
  <p:notesViewPr>
    <p:cSldViewPr snapToGrid="0" snapToObjects="1">
      <p:cViewPr varScale="1">
        <p:scale>
          <a:sx n="70" d="100"/>
          <a:sy n="70" d="100"/>
        </p:scale>
        <p:origin x="2544" y="54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3.fntdata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3.fntdata"/><Relationship Id="rId79" Type="http://schemas.openxmlformats.org/officeDocument/2006/relationships/font" Target="fonts/font8.fntdata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.fntdata"/><Relationship Id="rId80" Type="http://schemas.openxmlformats.org/officeDocument/2006/relationships/font" Target="fonts/font9.fntdata"/><Relationship Id="rId85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font" Target="fonts/font4.fntdata"/><Relationship Id="rId83" Type="http://schemas.openxmlformats.org/officeDocument/2006/relationships/font" Target="fonts/font12.fntdata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2.fntdata"/><Relationship Id="rId78" Type="http://schemas.openxmlformats.org/officeDocument/2006/relationships/font" Target="fonts/font7.fntdata"/><Relationship Id="rId81" Type="http://schemas.openxmlformats.org/officeDocument/2006/relationships/font" Target="fonts/font10.fntdata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5.fntdata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font" Target="fonts/font11.fntdata"/><Relationship Id="rId19" Type="http://schemas.openxmlformats.org/officeDocument/2006/relationships/slide" Target="slides/slide1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800" b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Phoenix</c:v>
                </c:pt>
                <c:pt idx="1">
                  <c:v>Hex-Rays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28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-25"/>
        <c:axId val="154440912"/>
        <c:axId val="154441472"/>
      </c:barChart>
      <c:catAx>
        <c:axId val="15444091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/>
        </c:spPr>
        <c:txPr>
          <a:bodyPr/>
          <a:lstStyle/>
          <a:p>
            <a:pPr>
              <a:defRPr sz="2000"/>
            </a:pPr>
            <a:endParaRPr lang="en-US"/>
          </a:p>
        </c:txPr>
        <c:crossAx val="154441472"/>
        <c:crosses val="autoZero"/>
        <c:auto val="1"/>
        <c:lblAlgn val="ctr"/>
        <c:lblOffset val="100"/>
        <c:noMultiLvlLbl val="0"/>
      </c:catAx>
      <c:valAx>
        <c:axId val="1544414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544409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gradFill rotWithShape="1">
                <a:gsLst>
                  <a:gs pos="0">
                    <a:schemeClr val="accent1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1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3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3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Phoenix</c:v>
                </c:pt>
                <c:pt idx="1">
                  <c:v>Phoenix (w/o semantics preservation)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-25"/>
        <c:axId val="242801296"/>
        <c:axId val="242801856"/>
      </c:barChart>
      <c:catAx>
        <c:axId val="24280129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2801856"/>
        <c:crosses val="autoZero"/>
        <c:auto val="1"/>
        <c:lblAlgn val="ctr"/>
        <c:lblOffset val="100"/>
        <c:noMultiLvlLbl val="0"/>
      </c:catAx>
      <c:valAx>
        <c:axId val="2428018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2801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800" b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Hex-Rays</c:v>
                </c:pt>
                <c:pt idx="1">
                  <c:v>Phoenix</c:v>
                </c:pt>
                <c:pt idx="2">
                  <c:v>Phoenix (w/o semantics preservation)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60</c:v>
                </c:pt>
                <c:pt idx="2">
                  <c:v>46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-25"/>
        <c:axId val="242805216"/>
        <c:axId val="242804096"/>
      </c:barChart>
      <c:catAx>
        <c:axId val="24280521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/>
        </c:spPr>
        <c:txPr>
          <a:bodyPr/>
          <a:lstStyle/>
          <a:p>
            <a:pPr>
              <a:defRPr sz="2000"/>
            </a:pPr>
            <a:endParaRPr lang="en-US"/>
          </a:p>
        </c:txPr>
        <c:crossAx val="242804096"/>
        <c:crosses val="autoZero"/>
        <c:auto val="1"/>
        <c:lblAlgn val="ctr"/>
        <c:lblOffset val="100"/>
        <c:noMultiLvlLbl val="0"/>
      </c:catAx>
      <c:valAx>
        <c:axId val="242804096"/>
        <c:scaling>
          <c:orientation val="minMax"/>
          <c:max val="120"/>
        </c:scaling>
        <c:delete val="0"/>
        <c:axPos val="l"/>
        <c:numFmt formatCode="General" sourceLinked="1"/>
        <c:majorTickMark val="out"/>
        <c:minorTickMark val="none"/>
        <c:tickLblPos val="nextTo"/>
        <c:crossAx val="2428052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gradFill rotWithShape="1">
                <a:gsLst>
                  <a:gs pos="0">
                    <a:schemeClr val="accent1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1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2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2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2"/>
            <c:invertIfNegative val="0"/>
            <c:bubble3D val="0"/>
            <c:spPr>
              <a:gradFill rotWithShape="1">
                <a:gsLst>
                  <a:gs pos="0">
                    <a:schemeClr val="accent3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3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Phoenix</c:v>
                </c:pt>
                <c:pt idx="2">
                  <c:v>Hex-Rays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2">
                  <c:v>51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-25"/>
        <c:axId val="242807456"/>
        <c:axId val="242808016"/>
      </c:barChart>
      <c:catAx>
        <c:axId val="24280745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2808016"/>
        <c:crosses val="autoZero"/>
        <c:auto val="1"/>
        <c:lblAlgn val="ctr"/>
        <c:lblOffset val="100"/>
        <c:noMultiLvlLbl val="0"/>
      </c:catAx>
      <c:valAx>
        <c:axId val="2428080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42807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gradFill rotWithShape="1">
                <a:gsLst>
                  <a:gs pos="0">
                    <a:schemeClr val="accent1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1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2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2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2"/>
            <c:invertIfNegative val="0"/>
            <c:bubble3D val="0"/>
            <c:spPr>
              <a:gradFill rotWithShape="1">
                <a:gsLst>
                  <a:gs pos="0">
                    <a:schemeClr val="accent3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3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Phoenix</c:v>
                </c:pt>
                <c:pt idx="1">
                  <c:v>Phoenix (w/o iterative refinement)</c:v>
                </c:pt>
                <c:pt idx="2">
                  <c:v>Hex-Rays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1229</c:v>
                </c:pt>
                <c:pt idx="2">
                  <c:v>51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-25"/>
        <c:axId val="242811376"/>
        <c:axId val="242811936"/>
      </c:barChart>
      <c:catAx>
        <c:axId val="24281137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2811936"/>
        <c:crosses val="autoZero"/>
        <c:auto val="1"/>
        <c:lblAlgn val="ctr"/>
        <c:lblOffset val="100"/>
        <c:noMultiLvlLbl val="0"/>
      </c:catAx>
      <c:valAx>
        <c:axId val="2428119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42811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26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3">
      <cs:styleClr val="auto"/>
    </cs:fillRef>
    <cs:effectRef idx="3">
      <a:schemeClr val="dk1"/>
    </cs:effectRef>
    <cs:fontRef idx="minor">
      <a:schemeClr val="tx1"/>
    </cs:fontRef>
  </cs:dataPoint>
  <cs:dataPoint3D>
    <cs:lnRef idx="0"/>
    <cs:fillRef idx="3">
      <cs:styleClr val="auto"/>
    </cs:fillRef>
    <cs:effectRef idx="3">
      <a:schemeClr val="dk1"/>
    </cs:effectRef>
    <cs:fontRef idx="minor">
      <a:schemeClr val="tx1"/>
    </cs:fontRef>
  </cs:dataPoint3D>
  <cs:dataPointLine>
    <cs:lnRef idx="1">
      <cs:styleClr val="auto"/>
    </cs:lnRef>
    <cs:lineWidthScale>7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3">
      <cs:styleClr val="auto"/>
    </cs:fillRef>
    <cs:effectRef idx="3">
      <a:schemeClr val="dk1"/>
    </cs:effectRef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0"/>
    <cs:fillRef idx="3">
      <a:schemeClr val="dk1">
        <a:tint val="95000"/>
      </a:schemeClr>
    </cs:fillRef>
    <cs:effectRef idx="3">
      <a:schemeClr val="dk1"/>
    </cs:effectRef>
    <cs:fontRef idx="minor">
      <a:schemeClr val="tx1"/>
    </cs:fontRef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0"/>
    <cs:fillRef idx="3">
      <a:schemeClr val="dk1">
        <a:tint val="5000"/>
      </a:schemeClr>
    </cs:fillRef>
    <cs:effectRef idx="3">
      <a:schemeClr val="dk1"/>
    </cs:effectRef>
    <cs:fontRef idx="minor">
      <a:schemeClr val="tx1"/>
    </cs:fontRef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2302" tIns="46151" rIns="92302" bIns="4615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2302" tIns="46151" rIns="92302" bIns="46151" rtlCol="0"/>
          <a:lstStyle>
            <a:lvl1pPr algn="r">
              <a:defRPr sz="1200"/>
            </a:lvl1pPr>
          </a:lstStyle>
          <a:p>
            <a:fld id="{69281C90-955A-E944-AB32-466E55900D6A}" type="datetime1">
              <a:rPr lang="en-US" smtClean="0"/>
              <a:t>12/9/2014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2302" tIns="46151" rIns="92302" bIns="4615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2302" tIns="46151" rIns="92302" bIns="46151" rtlCol="0" anchor="b"/>
          <a:lstStyle>
            <a:lvl1pPr algn="r">
              <a:defRPr sz="1200"/>
            </a:lvl1pPr>
          </a:lstStyle>
          <a:p>
            <a:fld id="{32BF8D97-067E-974E-BD5D-FA8C0988A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919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2302" tIns="46151" rIns="92302" bIns="4615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2302" tIns="46151" rIns="92302" bIns="46151" rtlCol="0"/>
          <a:lstStyle>
            <a:lvl1pPr algn="r">
              <a:defRPr sz="1200"/>
            </a:lvl1pPr>
          </a:lstStyle>
          <a:p>
            <a:fld id="{9A9EA11A-7C1A-F544-A99B-661F38A45889}" type="datetime1">
              <a:rPr lang="en-US" smtClean="0"/>
              <a:t>12/9/2014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698500"/>
            <a:ext cx="46466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2" tIns="46151" rIns="92302" bIns="4615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2302" tIns="46151" rIns="92302" bIns="46151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2302" tIns="46151" rIns="92302" bIns="4615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2302" tIns="46151" rIns="92302" bIns="46151" rtlCol="0" anchor="b"/>
          <a:lstStyle>
            <a:lvl1pPr algn="r">
              <a:defRPr sz="1200"/>
            </a:lvl1pPr>
          </a:lstStyle>
          <a:p>
            <a:fld id="{CC45A8A3-9FBB-431D-AAA8-BEEA360F5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664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4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Author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 smtClean="0">
                <a:solidFill>
                  <a:srgbClr val="000000"/>
                </a:solidFill>
              </a:rPr>
              <a:t>Software Engineering Institute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25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D8F348F5-97A1-4309-ADC6-A00DD72A5AB8}" type="datetime1">
              <a:rPr lang="en-US">
                <a:solidFill>
                  <a:srgbClr val="000000"/>
                </a:solidFill>
              </a:rPr>
              <a:pPr/>
              <a:t>12/9/2014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7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749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736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23018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07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32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52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47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711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105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43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3180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869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960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4700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8337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8701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420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532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532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9281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532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532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1599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0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3510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3198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8697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1766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9614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5580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8716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1157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614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881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7059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9262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8304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716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3157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4447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2202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550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760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8115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7189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58907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6672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8730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1509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1715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2449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38143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77229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2786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472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3799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4620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2915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4344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06642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4203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1394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7935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7740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6958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00A1-C120-4D8A-A942-BC698D1AB619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5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 bwMode="gray">
      <p:bgPr>
        <a:solidFill>
          <a:srgbClr val="3C4F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 bwMode="white">
          <a:xfrm>
            <a:off x="4267200" y="2293938"/>
            <a:ext cx="4267200" cy="1143000"/>
          </a:xfrm>
        </p:spPr>
        <p:txBody>
          <a:bodyPr lIns="91428" tIns="45714" rIns="91428" bIns="45714"/>
          <a:lstStyle>
            <a:lvl1pPr>
              <a:lnSpc>
                <a:spcPct val="100000"/>
              </a:lnSpc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4267200" y="3894138"/>
            <a:ext cx="4267200" cy="1751012"/>
          </a:xfrm>
        </p:spPr>
        <p:txBody>
          <a:bodyPr lIns="91428" tIns="45714" rIns="91428" bIns="45714"/>
          <a:lstStyle>
            <a:lvl1pPr>
              <a:spcAft>
                <a:spcPct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grpSp>
        <p:nvGrpSpPr>
          <p:cNvPr id="3121" name="Group 49"/>
          <p:cNvGrpSpPr>
            <a:grpSpLocks/>
          </p:cNvGrpSpPr>
          <p:nvPr userDrawn="1"/>
        </p:nvGrpSpPr>
        <p:grpSpPr bwMode="auto">
          <a:xfrm>
            <a:off x="26988" y="23813"/>
            <a:ext cx="4057650" cy="6094412"/>
            <a:chOff x="17" y="15"/>
            <a:chExt cx="2728" cy="3839"/>
          </a:xfrm>
        </p:grpSpPr>
        <p:sp>
          <p:nvSpPr>
            <p:cNvPr id="3110" name="Freeform 38"/>
            <p:cNvSpPr>
              <a:spLocks/>
            </p:cNvSpPr>
            <p:nvPr userDrawn="1"/>
          </p:nvSpPr>
          <p:spPr bwMode="auto">
            <a:xfrm>
              <a:off x="17" y="2179"/>
              <a:ext cx="1004" cy="98"/>
            </a:xfrm>
            <a:custGeom>
              <a:avLst/>
              <a:gdLst/>
              <a:ahLst/>
              <a:cxnLst>
                <a:cxn ang="0">
                  <a:pos x="1004" y="0"/>
                </a:cxn>
                <a:cxn ang="0">
                  <a:pos x="0" y="0"/>
                </a:cxn>
                <a:cxn ang="0">
                  <a:pos x="0" y="98"/>
                </a:cxn>
                <a:cxn ang="0">
                  <a:pos x="906" y="98"/>
                </a:cxn>
                <a:cxn ang="0">
                  <a:pos x="1004" y="0"/>
                </a:cxn>
              </a:cxnLst>
              <a:rect l="0" t="0" r="r" b="b"/>
              <a:pathLst>
                <a:path w="1004" h="98">
                  <a:moveTo>
                    <a:pt x="1004" y="0"/>
                  </a:moveTo>
                  <a:lnTo>
                    <a:pt x="0" y="0"/>
                  </a:lnTo>
                  <a:lnTo>
                    <a:pt x="0" y="98"/>
                  </a:lnTo>
                  <a:lnTo>
                    <a:pt x="906" y="98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rgbClr val="506697"/>
            </a:solidFill>
            <a:ln w="14351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endParaRPr lang="en-US" sz="2000" b="1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3111" name="Freeform 39"/>
            <p:cNvSpPr>
              <a:spLocks/>
            </p:cNvSpPr>
            <p:nvPr userDrawn="1"/>
          </p:nvSpPr>
          <p:spPr bwMode="auto">
            <a:xfrm>
              <a:off x="17" y="1011"/>
              <a:ext cx="409" cy="98"/>
            </a:xfrm>
            <a:custGeom>
              <a:avLst/>
              <a:gdLst/>
              <a:ahLst/>
              <a:cxnLst>
                <a:cxn ang="0">
                  <a:pos x="311" y="0"/>
                </a:cxn>
                <a:cxn ang="0">
                  <a:pos x="0" y="0"/>
                </a:cxn>
                <a:cxn ang="0">
                  <a:pos x="0" y="98"/>
                </a:cxn>
                <a:cxn ang="0">
                  <a:pos x="409" y="98"/>
                </a:cxn>
                <a:cxn ang="0">
                  <a:pos x="311" y="0"/>
                </a:cxn>
              </a:cxnLst>
              <a:rect l="0" t="0" r="r" b="b"/>
              <a:pathLst>
                <a:path w="409" h="98">
                  <a:moveTo>
                    <a:pt x="311" y="0"/>
                  </a:moveTo>
                  <a:lnTo>
                    <a:pt x="0" y="0"/>
                  </a:lnTo>
                  <a:lnTo>
                    <a:pt x="0" y="98"/>
                  </a:lnTo>
                  <a:lnTo>
                    <a:pt x="409" y="98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rgbClr val="506697"/>
            </a:solidFill>
            <a:ln w="14351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endParaRPr lang="en-US" sz="2000" b="1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3112" name="Freeform 40"/>
            <p:cNvSpPr>
              <a:spLocks/>
            </p:cNvSpPr>
            <p:nvPr userDrawn="1"/>
          </p:nvSpPr>
          <p:spPr bwMode="auto">
            <a:xfrm>
              <a:off x="17" y="2775"/>
              <a:ext cx="418" cy="107"/>
            </a:xfrm>
            <a:custGeom>
              <a:avLst/>
              <a:gdLst/>
              <a:ahLst/>
              <a:cxnLst>
                <a:cxn ang="0">
                  <a:pos x="418" y="0"/>
                </a:cxn>
                <a:cxn ang="0">
                  <a:pos x="0" y="0"/>
                </a:cxn>
                <a:cxn ang="0">
                  <a:pos x="0" y="107"/>
                </a:cxn>
                <a:cxn ang="0">
                  <a:pos x="311" y="107"/>
                </a:cxn>
                <a:cxn ang="0">
                  <a:pos x="418" y="0"/>
                </a:cxn>
              </a:cxnLst>
              <a:rect l="0" t="0" r="r" b="b"/>
              <a:pathLst>
                <a:path w="418" h="107">
                  <a:moveTo>
                    <a:pt x="418" y="0"/>
                  </a:moveTo>
                  <a:lnTo>
                    <a:pt x="0" y="0"/>
                  </a:lnTo>
                  <a:lnTo>
                    <a:pt x="0" y="107"/>
                  </a:lnTo>
                  <a:lnTo>
                    <a:pt x="311" y="107"/>
                  </a:lnTo>
                  <a:lnTo>
                    <a:pt x="418" y="0"/>
                  </a:lnTo>
                  <a:close/>
                </a:path>
              </a:pathLst>
            </a:custGeom>
            <a:solidFill>
              <a:srgbClr val="506697"/>
            </a:solidFill>
            <a:ln w="14351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endParaRPr lang="en-US" sz="2000" b="1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3113" name="Freeform 41"/>
            <p:cNvSpPr>
              <a:spLocks/>
            </p:cNvSpPr>
            <p:nvPr userDrawn="1"/>
          </p:nvSpPr>
          <p:spPr bwMode="auto">
            <a:xfrm>
              <a:off x="17" y="1591"/>
              <a:ext cx="1004" cy="98"/>
            </a:xfrm>
            <a:custGeom>
              <a:avLst/>
              <a:gdLst/>
              <a:ahLst/>
              <a:cxnLst>
                <a:cxn ang="0">
                  <a:pos x="906" y="0"/>
                </a:cxn>
                <a:cxn ang="0">
                  <a:pos x="0" y="0"/>
                </a:cxn>
                <a:cxn ang="0">
                  <a:pos x="0" y="98"/>
                </a:cxn>
                <a:cxn ang="0">
                  <a:pos x="1004" y="98"/>
                </a:cxn>
                <a:cxn ang="0">
                  <a:pos x="906" y="0"/>
                </a:cxn>
              </a:cxnLst>
              <a:rect l="0" t="0" r="r" b="b"/>
              <a:pathLst>
                <a:path w="1004" h="98">
                  <a:moveTo>
                    <a:pt x="906" y="0"/>
                  </a:moveTo>
                  <a:lnTo>
                    <a:pt x="0" y="0"/>
                  </a:lnTo>
                  <a:lnTo>
                    <a:pt x="0" y="98"/>
                  </a:lnTo>
                  <a:lnTo>
                    <a:pt x="1004" y="98"/>
                  </a:lnTo>
                  <a:lnTo>
                    <a:pt x="906" y="0"/>
                  </a:lnTo>
                  <a:close/>
                </a:path>
              </a:pathLst>
            </a:custGeom>
            <a:solidFill>
              <a:srgbClr val="506697"/>
            </a:solidFill>
            <a:ln w="14351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endParaRPr lang="en-US" sz="2000" b="1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3114" name="Freeform 42"/>
            <p:cNvSpPr>
              <a:spLocks/>
            </p:cNvSpPr>
            <p:nvPr userDrawn="1"/>
          </p:nvSpPr>
          <p:spPr bwMode="auto">
            <a:xfrm>
              <a:off x="17" y="1216"/>
              <a:ext cx="2266" cy="285"/>
            </a:xfrm>
            <a:custGeom>
              <a:avLst/>
              <a:gdLst/>
              <a:ahLst/>
              <a:cxnLst>
                <a:cxn ang="0">
                  <a:pos x="0" y="285"/>
                </a:cxn>
                <a:cxn ang="0">
                  <a:pos x="2266" y="285"/>
                </a:cxn>
                <a:cxn ang="0">
                  <a:pos x="1982" y="0"/>
                </a:cxn>
                <a:cxn ang="0">
                  <a:pos x="0" y="0"/>
                </a:cxn>
                <a:cxn ang="0">
                  <a:pos x="0" y="285"/>
                </a:cxn>
              </a:cxnLst>
              <a:rect l="0" t="0" r="r" b="b"/>
              <a:pathLst>
                <a:path w="2266" h="285">
                  <a:moveTo>
                    <a:pt x="0" y="285"/>
                  </a:moveTo>
                  <a:lnTo>
                    <a:pt x="2266" y="285"/>
                  </a:lnTo>
                  <a:lnTo>
                    <a:pt x="1982" y="0"/>
                  </a:lnTo>
                  <a:lnTo>
                    <a:pt x="0" y="0"/>
                  </a:lnTo>
                  <a:lnTo>
                    <a:pt x="0" y="285"/>
                  </a:lnTo>
                  <a:close/>
                </a:path>
              </a:pathLst>
            </a:custGeom>
            <a:solidFill>
              <a:srgbClr val="506697"/>
            </a:solidFill>
            <a:ln w="14351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endParaRPr lang="en-US" sz="2000" b="1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3115" name="Freeform 43"/>
            <p:cNvSpPr>
              <a:spLocks/>
            </p:cNvSpPr>
            <p:nvPr userDrawn="1"/>
          </p:nvSpPr>
          <p:spPr bwMode="auto">
            <a:xfrm>
              <a:off x="17" y="2383"/>
              <a:ext cx="2275" cy="285"/>
            </a:xfrm>
            <a:custGeom>
              <a:avLst/>
              <a:gdLst/>
              <a:ahLst/>
              <a:cxnLst>
                <a:cxn ang="0">
                  <a:pos x="0" y="285"/>
                </a:cxn>
                <a:cxn ang="0">
                  <a:pos x="1991" y="285"/>
                </a:cxn>
                <a:cxn ang="0">
                  <a:pos x="2275" y="0"/>
                </a:cxn>
                <a:cxn ang="0">
                  <a:pos x="0" y="0"/>
                </a:cxn>
                <a:cxn ang="0">
                  <a:pos x="0" y="285"/>
                </a:cxn>
              </a:cxnLst>
              <a:rect l="0" t="0" r="r" b="b"/>
              <a:pathLst>
                <a:path w="2275" h="285">
                  <a:moveTo>
                    <a:pt x="0" y="285"/>
                  </a:moveTo>
                  <a:lnTo>
                    <a:pt x="1991" y="285"/>
                  </a:lnTo>
                  <a:lnTo>
                    <a:pt x="2275" y="0"/>
                  </a:lnTo>
                  <a:lnTo>
                    <a:pt x="0" y="0"/>
                  </a:lnTo>
                  <a:lnTo>
                    <a:pt x="0" y="285"/>
                  </a:lnTo>
                  <a:close/>
                </a:path>
              </a:pathLst>
            </a:custGeom>
            <a:solidFill>
              <a:srgbClr val="506697"/>
            </a:solidFill>
            <a:ln w="14351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endParaRPr lang="en-US" sz="2000" b="1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3116" name="Freeform 44"/>
            <p:cNvSpPr>
              <a:spLocks/>
            </p:cNvSpPr>
            <p:nvPr userDrawn="1"/>
          </p:nvSpPr>
          <p:spPr bwMode="auto">
            <a:xfrm>
              <a:off x="17" y="1796"/>
              <a:ext cx="2728" cy="285"/>
            </a:xfrm>
            <a:custGeom>
              <a:avLst/>
              <a:gdLst/>
              <a:ahLst/>
              <a:cxnLst>
                <a:cxn ang="0">
                  <a:pos x="2586" y="0"/>
                </a:cxn>
                <a:cxn ang="0">
                  <a:pos x="0" y="0"/>
                </a:cxn>
                <a:cxn ang="0">
                  <a:pos x="0" y="285"/>
                </a:cxn>
                <a:cxn ang="0">
                  <a:pos x="2586" y="285"/>
                </a:cxn>
                <a:cxn ang="0">
                  <a:pos x="2728" y="142"/>
                </a:cxn>
                <a:cxn ang="0">
                  <a:pos x="2586" y="0"/>
                </a:cxn>
              </a:cxnLst>
              <a:rect l="0" t="0" r="r" b="b"/>
              <a:pathLst>
                <a:path w="2728" h="285">
                  <a:moveTo>
                    <a:pt x="2586" y="0"/>
                  </a:moveTo>
                  <a:lnTo>
                    <a:pt x="0" y="0"/>
                  </a:lnTo>
                  <a:lnTo>
                    <a:pt x="0" y="285"/>
                  </a:lnTo>
                  <a:lnTo>
                    <a:pt x="2586" y="285"/>
                  </a:lnTo>
                  <a:lnTo>
                    <a:pt x="2728" y="142"/>
                  </a:lnTo>
                  <a:lnTo>
                    <a:pt x="2586" y="0"/>
                  </a:lnTo>
                  <a:close/>
                </a:path>
              </a:pathLst>
            </a:custGeom>
            <a:solidFill>
              <a:srgbClr val="506697"/>
            </a:solidFill>
            <a:ln w="14351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endParaRPr lang="en-US" sz="2000" b="1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3117" name="Freeform 45"/>
            <p:cNvSpPr>
              <a:spLocks/>
            </p:cNvSpPr>
            <p:nvPr userDrawn="1"/>
          </p:nvSpPr>
          <p:spPr bwMode="auto">
            <a:xfrm>
              <a:off x="17" y="2979"/>
              <a:ext cx="1671" cy="285"/>
            </a:xfrm>
            <a:custGeom>
              <a:avLst/>
              <a:gdLst/>
              <a:ahLst/>
              <a:cxnLst>
                <a:cxn ang="0">
                  <a:pos x="0" y="285"/>
                </a:cxn>
                <a:cxn ang="0">
                  <a:pos x="1386" y="285"/>
                </a:cxn>
                <a:cxn ang="0">
                  <a:pos x="1671" y="0"/>
                </a:cxn>
                <a:cxn ang="0">
                  <a:pos x="0" y="0"/>
                </a:cxn>
                <a:cxn ang="0">
                  <a:pos x="0" y="285"/>
                </a:cxn>
              </a:cxnLst>
              <a:rect l="0" t="0" r="r" b="b"/>
              <a:pathLst>
                <a:path w="1671" h="285">
                  <a:moveTo>
                    <a:pt x="0" y="285"/>
                  </a:moveTo>
                  <a:lnTo>
                    <a:pt x="1386" y="285"/>
                  </a:lnTo>
                  <a:lnTo>
                    <a:pt x="1671" y="0"/>
                  </a:lnTo>
                  <a:lnTo>
                    <a:pt x="0" y="0"/>
                  </a:lnTo>
                  <a:lnTo>
                    <a:pt x="0" y="285"/>
                  </a:lnTo>
                  <a:close/>
                </a:path>
              </a:pathLst>
            </a:custGeom>
            <a:solidFill>
              <a:srgbClr val="506697"/>
            </a:solidFill>
            <a:ln w="14351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endParaRPr lang="en-US" sz="2000" b="1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3118" name="Freeform 46"/>
            <p:cNvSpPr>
              <a:spLocks/>
            </p:cNvSpPr>
            <p:nvPr userDrawn="1"/>
          </p:nvSpPr>
          <p:spPr bwMode="auto">
            <a:xfrm>
              <a:off x="17" y="3570"/>
              <a:ext cx="1066" cy="284"/>
            </a:xfrm>
            <a:custGeom>
              <a:avLst/>
              <a:gdLst/>
              <a:ahLst/>
              <a:cxnLst>
                <a:cxn ang="0">
                  <a:pos x="0" y="284"/>
                </a:cxn>
                <a:cxn ang="0">
                  <a:pos x="782" y="284"/>
                </a:cxn>
                <a:cxn ang="0">
                  <a:pos x="1066" y="0"/>
                </a:cxn>
                <a:cxn ang="0">
                  <a:pos x="0" y="0"/>
                </a:cxn>
                <a:cxn ang="0">
                  <a:pos x="0" y="284"/>
                </a:cxn>
              </a:cxnLst>
              <a:rect l="0" t="0" r="r" b="b"/>
              <a:pathLst>
                <a:path w="1066" h="284">
                  <a:moveTo>
                    <a:pt x="0" y="284"/>
                  </a:moveTo>
                  <a:lnTo>
                    <a:pt x="782" y="284"/>
                  </a:lnTo>
                  <a:lnTo>
                    <a:pt x="1066" y="0"/>
                  </a:lnTo>
                  <a:lnTo>
                    <a:pt x="0" y="0"/>
                  </a:lnTo>
                  <a:lnTo>
                    <a:pt x="0" y="284"/>
                  </a:lnTo>
                  <a:close/>
                </a:path>
              </a:pathLst>
            </a:custGeom>
            <a:solidFill>
              <a:srgbClr val="506697"/>
            </a:solidFill>
            <a:ln w="14351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endParaRPr lang="en-US" sz="2000" b="1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3119" name="Freeform 47"/>
            <p:cNvSpPr>
              <a:spLocks/>
            </p:cNvSpPr>
            <p:nvPr userDrawn="1"/>
          </p:nvSpPr>
          <p:spPr bwMode="auto">
            <a:xfrm>
              <a:off x="17" y="15"/>
              <a:ext cx="1084" cy="285"/>
            </a:xfrm>
            <a:custGeom>
              <a:avLst/>
              <a:gdLst/>
              <a:ahLst/>
              <a:cxnLst>
                <a:cxn ang="0">
                  <a:pos x="0" y="285"/>
                </a:cxn>
                <a:cxn ang="0">
                  <a:pos x="1084" y="285"/>
                </a:cxn>
                <a:cxn ang="0">
                  <a:pos x="800" y="0"/>
                </a:cxn>
                <a:cxn ang="0">
                  <a:pos x="0" y="0"/>
                </a:cxn>
                <a:cxn ang="0">
                  <a:pos x="0" y="285"/>
                </a:cxn>
              </a:cxnLst>
              <a:rect l="0" t="0" r="r" b="b"/>
              <a:pathLst>
                <a:path w="1084" h="285">
                  <a:moveTo>
                    <a:pt x="0" y="285"/>
                  </a:moveTo>
                  <a:lnTo>
                    <a:pt x="1084" y="285"/>
                  </a:lnTo>
                  <a:lnTo>
                    <a:pt x="800" y="0"/>
                  </a:lnTo>
                  <a:lnTo>
                    <a:pt x="0" y="0"/>
                  </a:lnTo>
                  <a:lnTo>
                    <a:pt x="0" y="285"/>
                  </a:lnTo>
                  <a:close/>
                </a:path>
              </a:pathLst>
            </a:custGeom>
            <a:solidFill>
              <a:srgbClr val="506697"/>
            </a:solidFill>
            <a:ln w="14351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endParaRPr lang="en-US" sz="2000" b="1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3120" name="Freeform 48"/>
            <p:cNvSpPr>
              <a:spLocks/>
            </p:cNvSpPr>
            <p:nvPr userDrawn="1"/>
          </p:nvSpPr>
          <p:spPr bwMode="auto">
            <a:xfrm>
              <a:off x="17" y="611"/>
              <a:ext cx="1680" cy="285"/>
            </a:xfrm>
            <a:custGeom>
              <a:avLst/>
              <a:gdLst/>
              <a:ahLst/>
              <a:cxnLst>
                <a:cxn ang="0">
                  <a:pos x="0" y="285"/>
                </a:cxn>
                <a:cxn ang="0">
                  <a:pos x="1680" y="285"/>
                </a:cxn>
                <a:cxn ang="0">
                  <a:pos x="1395" y="0"/>
                </a:cxn>
                <a:cxn ang="0">
                  <a:pos x="0" y="0"/>
                </a:cxn>
                <a:cxn ang="0">
                  <a:pos x="0" y="285"/>
                </a:cxn>
              </a:cxnLst>
              <a:rect l="0" t="0" r="r" b="b"/>
              <a:pathLst>
                <a:path w="1680" h="285">
                  <a:moveTo>
                    <a:pt x="0" y="285"/>
                  </a:moveTo>
                  <a:lnTo>
                    <a:pt x="1680" y="285"/>
                  </a:lnTo>
                  <a:lnTo>
                    <a:pt x="1395" y="0"/>
                  </a:lnTo>
                  <a:lnTo>
                    <a:pt x="0" y="0"/>
                  </a:lnTo>
                  <a:lnTo>
                    <a:pt x="0" y="285"/>
                  </a:lnTo>
                  <a:close/>
                </a:path>
              </a:pathLst>
            </a:custGeom>
            <a:solidFill>
              <a:srgbClr val="506697"/>
            </a:solidFill>
            <a:ln w="14351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endParaRPr lang="en-US" sz="2000" b="1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</p:grp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90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0" i="0">
                <a:solidFill>
                  <a:schemeClr val="tx2"/>
                </a:solidFill>
                <a:latin typeface="+mj-lt"/>
                <a:cs typeface="Calibri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 hidden="1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="0" i="0">
                <a:solidFill>
                  <a:srgbClr val="000000"/>
                </a:solidFill>
                <a:latin typeface="+mj-lt"/>
                <a:cs typeface="Calibri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575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mall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0"/>
            <a:ext cx="8229600" cy="6096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157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57200" y="1447800"/>
            <a:ext cx="8229600" cy="467836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493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457200" y="3034508"/>
            <a:ext cx="6951274" cy="1308892"/>
          </a:xfrm>
        </p:spPr>
        <p:txBody>
          <a:bodyPr anchor="t"/>
          <a:lstStyle>
            <a:lvl1pPr algn="l">
              <a:defRPr sz="4000" b="1" i="0" cap="none">
                <a:latin typeface="+mj-lt"/>
                <a:cs typeface="Calibri"/>
              </a:defRPr>
            </a:lvl1pPr>
          </a:lstStyle>
          <a:p>
            <a:r>
              <a:rPr lang="en-US" dirty="0" smtClean="0"/>
              <a:t>Section Header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74134" y="1524000"/>
            <a:ext cx="6951274" cy="1500187"/>
          </a:xfrm>
        </p:spPr>
        <p:txBody>
          <a:bodyPr lIns="0" rIns="0" anchor="b" anchorCtr="0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39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264380" y="2013343"/>
            <a:ext cx="6951274" cy="753670"/>
          </a:xfrm>
        </p:spPr>
        <p:txBody>
          <a:bodyPr anchor="t"/>
          <a:lstStyle>
            <a:lvl1pPr algn="l">
              <a:defRPr sz="4000" b="0" i="0" cap="none">
                <a:latin typeface="+mj-lt"/>
                <a:cs typeface="Calibri"/>
              </a:defRPr>
            </a:lvl1pPr>
          </a:lstStyle>
          <a:p>
            <a:r>
              <a:rPr lang="en-US" dirty="0" smtClean="0"/>
              <a:t>Section Header 2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264380" y="2919413"/>
            <a:ext cx="6951274" cy="1500187"/>
          </a:xfrm>
        </p:spPr>
        <p:txBody>
          <a:bodyPr anchor="t"/>
          <a:lstStyle>
            <a:lvl1pPr marL="457200" indent="-457200" algn="l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981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747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95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0"/>
            <a:ext cx="8229600" cy="5334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TextBox 5"/>
          <p:cNvSpPr txBox="1"/>
          <p:nvPr userDrawn="1">
            <p:custDataLst>
              <p:tags r:id="rId2"/>
            </p:custDataLst>
          </p:nvPr>
        </p:nvSpPr>
        <p:spPr>
          <a:xfrm>
            <a:off x="1371600" y="1447800"/>
            <a:ext cx="6400800" cy="25146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endParaRPr lang="en-US" sz="32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457200" y="609600"/>
            <a:ext cx="8229600" cy="57150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3012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/>
          <p:cNvSpPr>
            <a:spLocks noChangeArrowheads="1"/>
          </p:cNvSpPr>
          <p:nvPr userDrawn="1"/>
        </p:nvSpPr>
        <p:spPr bwMode="auto">
          <a:xfrm>
            <a:off x="0" y="6151563"/>
            <a:ext cx="9144000" cy="70643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000" b="1">
              <a:solidFill>
                <a:srgbClr val="000000"/>
              </a:solidFill>
              <a:ea typeface="ＭＳ Ｐゴシック" pitchFamily="1" charset="-128"/>
            </a:endParaRPr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2"/>
          </p:nvPr>
        </p:nvSpPr>
        <p:spPr>
          <a:xfrm>
            <a:off x="6172200" y="6383008"/>
            <a:ext cx="2819400" cy="230832"/>
          </a:xfrm>
          <a:prstGeom prst="rect">
            <a:avLst/>
          </a:prstGeom>
        </p:spPr>
        <p:txBody>
          <a:bodyPr vert="horz" lIns="0" tIns="45720" rIns="91440" bIns="45720" rtlCol="0" anchor="b" anchorCtr="0">
            <a:spAutoFit/>
          </a:bodyPr>
          <a:lstStyle>
            <a:lvl1pPr algn="l">
              <a:defRPr sz="900"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3"/>
          </p:nvPr>
        </p:nvSpPr>
        <p:spPr>
          <a:xfrm>
            <a:off x="6172200" y="6218113"/>
            <a:ext cx="1791970" cy="230832"/>
          </a:xfrm>
          <a:prstGeom prst="rect">
            <a:avLst/>
          </a:prstGeom>
        </p:spPr>
        <p:txBody>
          <a:bodyPr vert="horz" wrap="square" lIns="0" tIns="45720" rIns="91440" bIns="45720" rtlCol="0" anchor="b" anchorCtr="0">
            <a:spAutoFit/>
          </a:bodyPr>
          <a:lstStyle>
            <a:lvl1pPr algn="l">
              <a:defRPr sz="900"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4"/>
          </p:nvPr>
        </p:nvSpPr>
        <p:spPr>
          <a:xfrm>
            <a:off x="8305800" y="6322218"/>
            <a:ext cx="5143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2D39CAA-FDAE-426B-B1D5-1BDE8EF8214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75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8150" y="6368896"/>
            <a:ext cx="5581650" cy="286058"/>
          </a:xfrm>
          <a:prstGeom prst="rect">
            <a:avLst/>
          </a:prstGeom>
          <a:noFill/>
        </p:spPr>
      </p:pic>
      <p:sp>
        <p:nvSpPr>
          <p:cNvPr id="21" name="Rectangle 73"/>
          <p:cNvSpPr>
            <a:spLocks noChangeArrowheads="1"/>
          </p:cNvSpPr>
          <p:nvPr userDrawn="1"/>
        </p:nvSpPr>
        <p:spPr bwMode="ltGray">
          <a:xfrm>
            <a:off x="6172200" y="6537742"/>
            <a:ext cx="2286000" cy="233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45714" rIns="45714" bIns="45714" anchor="ctr">
            <a:spAutoFit/>
          </a:bodyPr>
          <a:lstStyle/>
          <a:p>
            <a:pPr algn="l" eaLnBrk="0" hangingPunct="0">
              <a:lnSpc>
                <a:spcPct val="150000"/>
              </a:lnSpc>
              <a:spcBef>
                <a:spcPct val="0"/>
              </a:spcBef>
            </a:pPr>
            <a:r>
              <a:rPr lang="en-US" sz="700" b="1" spc="0" dirty="0" smtClean="0">
                <a:solidFill>
                  <a:schemeClr val="bg1"/>
                </a:solidFill>
              </a:rPr>
              <a:t>©</a:t>
            </a:r>
            <a:r>
              <a:rPr lang="en-US" sz="700" b="1" spc="0" baseline="0" dirty="0" smtClean="0">
                <a:solidFill>
                  <a:schemeClr val="bg1"/>
                </a:solidFill>
              </a:rPr>
              <a:t> 2014 Carnegie Mellon University</a:t>
            </a:r>
            <a:endParaRPr lang="en-US" sz="700" b="0" spc="0" dirty="0">
              <a:solidFill>
                <a:schemeClr val="bg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457200" y="1371600"/>
            <a:ext cx="8229600" cy="4754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60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61" r:id="rId2"/>
    <p:sldLayoutId id="2147483662" r:id="rId3"/>
    <p:sldLayoutId id="2147483683" r:id="rId4"/>
    <p:sldLayoutId id="2147483663" r:id="rId5"/>
    <p:sldLayoutId id="2147483664" r:id="rId6"/>
    <p:sldLayoutId id="2147483667" r:id="rId7"/>
    <p:sldLayoutId id="2147483668" r:id="rId8"/>
    <p:sldLayoutId id="2147483681" r:id="rId9"/>
  </p:sldLayoutIdLst>
  <p:timing>
    <p:tnLst>
      <p:par>
        <p:cTn id="1" dur="indefinite" restart="never" nodeType="tmRoot"/>
      </p:par>
    </p:tnLst>
  </p:timing>
  <p:hf hdr="0"/>
  <p:txStyles>
    <p:titleStyle>
      <a:lvl1pPr algn="ctr" defTabSz="457200" rtl="0" eaLnBrk="1" latinLnBrk="0" hangingPunct="1">
        <a:spcBef>
          <a:spcPct val="0"/>
        </a:spcBef>
        <a:buNone/>
        <a:defRPr sz="4400" b="0" i="0" kern="1200" spc="-50" normalizeH="0">
          <a:solidFill>
            <a:schemeClr val="tx2"/>
          </a:solidFill>
          <a:latin typeface="+mj-lt"/>
          <a:ea typeface="+mj-ea"/>
          <a:cs typeface="Cambria"/>
        </a:defRPr>
      </a:lvl1pPr>
    </p:titleStyle>
    <p:bodyStyle>
      <a:lvl1pPr marL="292100" indent="-292100" algn="l" defTabSz="457200" rtl="0" eaLnBrk="1" latinLnBrk="0" hangingPunct="1">
        <a:spcBef>
          <a:spcPct val="20000"/>
        </a:spcBef>
        <a:buClr>
          <a:srgbClr val="0000CC"/>
        </a:buClr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Calibri"/>
        </a:defRPr>
      </a:lvl1pPr>
      <a:lvl2pPr marL="635000" indent="-292100" algn="l" defTabSz="457200" rtl="0" eaLnBrk="1" latinLnBrk="0" hangingPunct="1">
        <a:spcBef>
          <a:spcPct val="20000"/>
        </a:spcBef>
        <a:buClr>
          <a:srgbClr val="0000CC"/>
        </a:buClr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Calibri"/>
        </a:defRPr>
      </a:lvl2pPr>
      <a:lvl3pPr marL="914400" indent="-228600" algn="l" defTabSz="457200" rtl="0" eaLnBrk="1" latinLnBrk="0" hangingPunct="1">
        <a:spcBef>
          <a:spcPct val="20000"/>
        </a:spcBef>
        <a:buClr>
          <a:srgbClr val="0000CC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Calibri"/>
        </a:defRPr>
      </a:lvl3pPr>
      <a:lvl4pPr marL="1143000" indent="-228600" algn="l" defTabSz="457200" rtl="0" eaLnBrk="1" latinLnBrk="0" hangingPunct="1">
        <a:spcBef>
          <a:spcPct val="20000"/>
        </a:spcBef>
        <a:buClr>
          <a:srgbClr val="0000CC"/>
        </a:buClr>
        <a:buFont typeface="Arial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Calibri"/>
        </a:defRPr>
      </a:lvl4pPr>
      <a:lvl5pPr marL="1320800" indent="-177800" algn="l" defTabSz="457200" rtl="0" eaLnBrk="1" latinLnBrk="0" hangingPunct="1">
        <a:spcBef>
          <a:spcPct val="20000"/>
        </a:spcBef>
        <a:buClr>
          <a:srgbClr val="0000CC"/>
        </a:buClr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Calibr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9.xml"/><Relationship Id="rId4" Type="http://schemas.openxmlformats.org/officeDocument/2006/relationships/chart" Target="../charts/char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0.xml"/><Relationship Id="rId4" Type="http://schemas.openxmlformats.org/officeDocument/2006/relationships/chart" Target="../charts/char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1.xml"/><Relationship Id="rId4" Type="http://schemas.openxmlformats.org/officeDocument/2006/relationships/chart" Target="../charts/char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12" Type="http://schemas.openxmlformats.org/officeDocument/2006/relationships/notesSlide" Target="../notesSlides/notesSlide37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slideLayout" Target="../slideLayouts/slideLayout3.xml"/><Relationship Id="rId5" Type="http://schemas.openxmlformats.org/officeDocument/2006/relationships/tags" Target="../tags/tag48.xml"/><Relationship Id="rId10" Type="http://schemas.openxmlformats.org/officeDocument/2006/relationships/tags" Target="../tags/tag53.xml"/><Relationship Id="rId4" Type="http://schemas.openxmlformats.org/officeDocument/2006/relationships/tags" Target="../tags/tag47.xml"/><Relationship Id="rId9" Type="http://schemas.openxmlformats.org/officeDocument/2006/relationships/tags" Target="../tags/tag5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0" Type="http://schemas.openxmlformats.org/officeDocument/2006/relationships/tags" Target="../tags/tag63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13" Type="http://schemas.openxmlformats.org/officeDocument/2006/relationships/tags" Target="../tags/tag84.xml"/><Relationship Id="rId18" Type="http://schemas.openxmlformats.org/officeDocument/2006/relationships/tags" Target="../tags/tag89.xml"/><Relationship Id="rId26" Type="http://schemas.openxmlformats.org/officeDocument/2006/relationships/slideLayout" Target="../slideLayouts/slideLayout8.xml"/><Relationship Id="rId3" Type="http://schemas.openxmlformats.org/officeDocument/2006/relationships/tags" Target="../tags/tag74.xml"/><Relationship Id="rId21" Type="http://schemas.openxmlformats.org/officeDocument/2006/relationships/tags" Target="../tags/tag92.xml"/><Relationship Id="rId7" Type="http://schemas.openxmlformats.org/officeDocument/2006/relationships/tags" Target="../tags/tag78.xml"/><Relationship Id="rId12" Type="http://schemas.openxmlformats.org/officeDocument/2006/relationships/tags" Target="../tags/tag83.xml"/><Relationship Id="rId17" Type="http://schemas.openxmlformats.org/officeDocument/2006/relationships/tags" Target="../tags/tag88.xml"/><Relationship Id="rId25" Type="http://schemas.openxmlformats.org/officeDocument/2006/relationships/tags" Target="../tags/tag96.xml"/><Relationship Id="rId2" Type="http://schemas.openxmlformats.org/officeDocument/2006/relationships/tags" Target="../tags/tag73.xml"/><Relationship Id="rId16" Type="http://schemas.openxmlformats.org/officeDocument/2006/relationships/tags" Target="../tags/tag87.xml"/><Relationship Id="rId20" Type="http://schemas.openxmlformats.org/officeDocument/2006/relationships/tags" Target="../tags/tag91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tags" Target="../tags/tag82.xml"/><Relationship Id="rId24" Type="http://schemas.openxmlformats.org/officeDocument/2006/relationships/tags" Target="../tags/tag95.xml"/><Relationship Id="rId5" Type="http://schemas.openxmlformats.org/officeDocument/2006/relationships/tags" Target="../tags/tag76.xml"/><Relationship Id="rId15" Type="http://schemas.openxmlformats.org/officeDocument/2006/relationships/tags" Target="../tags/tag86.xml"/><Relationship Id="rId23" Type="http://schemas.openxmlformats.org/officeDocument/2006/relationships/tags" Target="../tags/tag94.xml"/><Relationship Id="rId10" Type="http://schemas.openxmlformats.org/officeDocument/2006/relationships/tags" Target="../tags/tag81.xml"/><Relationship Id="rId19" Type="http://schemas.openxmlformats.org/officeDocument/2006/relationships/tags" Target="../tags/tag90.xml"/><Relationship Id="rId4" Type="http://schemas.openxmlformats.org/officeDocument/2006/relationships/tags" Target="../tags/tag75.xml"/><Relationship Id="rId9" Type="http://schemas.openxmlformats.org/officeDocument/2006/relationships/tags" Target="../tags/tag80.xml"/><Relationship Id="rId14" Type="http://schemas.openxmlformats.org/officeDocument/2006/relationships/tags" Target="../tags/tag85.xml"/><Relationship Id="rId22" Type="http://schemas.openxmlformats.org/officeDocument/2006/relationships/tags" Target="../tags/tag93.xml"/><Relationship Id="rId27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7.xml"/><Relationship Id="rId4" Type="http://schemas.openxmlformats.org/officeDocument/2006/relationships/image" Target="../media/image4.jpe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tags" Target="../tags/tag110.xml"/><Relationship Id="rId18" Type="http://schemas.openxmlformats.org/officeDocument/2006/relationships/tags" Target="../tags/tag115.xml"/><Relationship Id="rId26" Type="http://schemas.openxmlformats.org/officeDocument/2006/relationships/tags" Target="../tags/tag123.xml"/><Relationship Id="rId3" Type="http://schemas.openxmlformats.org/officeDocument/2006/relationships/tags" Target="../tags/tag100.xml"/><Relationship Id="rId21" Type="http://schemas.openxmlformats.org/officeDocument/2006/relationships/tags" Target="../tags/tag118.xml"/><Relationship Id="rId7" Type="http://schemas.openxmlformats.org/officeDocument/2006/relationships/tags" Target="../tags/tag104.xml"/><Relationship Id="rId12" Type="http://schemas.openxmlformats.org/officeDocument/2006/relationships/tags" Target="../tags/tag109.xml"/><Relationship Id="rId17" Type="http://schemas.openxmlformats.org/officeDocument/2006/relationships/tags" Target="../tags/tag114.xml"/><Relationship Id="rId25" Type="http://schemas.openxmlformats.org/officeDocument/2006/relationships/tags" Target="../tags/tag122.xml"/><Relationship Id="rId2" Type="http://schemas.openxmlformats.org/officeDocument/2006/relationships/tags" Target="../tags/tag99.xml"/><Relationship Id="rId16" Type="http://schemas.openxmlformats.org/officeDocument/2006/relationships/tags" Target="../tags/tag113.xml"/><Relationship Id="rId20" Type="http://schemas.openxmlformats.org/officeDocument/2006/relationships/tags" Target="../tags/tag117.xml"/><Relationship Id="rId29" Type="http://schemas.openxmlformats.org/officeDocument/2006/relationships/notesSlide" Target="../notesSlides/notesSlide43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24" Type="http://schemas.openxmlformats.org/officeDocument/2006/relationships/tags" Target="../tags/tag121.xml"/><Relationship Id="rId5" Type="http://schemas.openxmlformats.org/officeDocument/2006/relationships/tags" Target="../tags/tag102.xml"/><Relationship Id="rId15" Type="http://schemas.openxmlformats.org/officeDocument/2006/relationships/tags" Target="../tags/tag112.xml"/><Relationship Id="rId23" Type="http://schemas.openxmlformats.org/officeDocument/2006/relationships/tags" Target="../tags/tag120.xml"/><Relationship Id="rId28" Type="http://schemas.openxmlformats.org/officeDocument/2006/relationships/slideLayout" Target="../slideLayouts/slideLayout9.xml"/><Relationship Id="rId10" Type="http://schemas.openxmlformats.org/officeDocument/2006/relationships/tags" Target="../tags/tag107.xml"/><Relationship Id="rId19" Type="http://schemas.openxmlformats.org/officeDocument/2006/relationships/tags" Target="../tags/tag116.xml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tags" Target="../tags/tag111.xml"/><Relationship Id="rId22" Type="http://schemas.openxmlformats.org/officeDocument/2006/relationships/tags" Target="../tags/tag119.xml"/><Relationship Id="rId27" Type="http://schemas.openxmlformats.org/officeDocument/2006/relationships/tags" Target="../tags/tag12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5" Type="http://schemas.openxmlformats.org/officeDocument/2006/relationships/notesSlide" Target="../notesSlides/notesSlide44.xml"/><Relationship Id="rId4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135.xml"/><Relationship Id="rId3" Type="http://schemas.openxmlformats.org/officeDocument/2006/relationships/tags" Target="../tags/tag130.xml"/><Relationship Id="rId7" Type="http://schemas.openxmlformats.org/officeDocument/2006/relationships/tags" Target="../tags/tag134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11" Type="http://schemas.openxmlformats.org/officeDocument/2006/relationships/notesSlide" Target="../notesSlides/notesSlide45.xml"/><Relationship Id="rId5" Type="http://schemas.openxmlformats.org/officeDocument/2006/relationships/tags" Target="../tags/tag132.xml"/><Relationship Id="rId10" Type="http://schemas.openxmlformats.org/officeDocument/2006/relationships/slideLayout" Target="../slideLayouts/slideLayout9.xml"/><Relationship Id="rId4" Type="http://schemas.openxmlformats.org/officeDocument/2006/relationships/tags" Target="../tags/tag131.xml"/><Relationship Id="rId9" Type="http://schemas.openxmlformats.org/officeDocument/2006/relationships/tags" Target="../tags/tag13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5" Type="http://schemas.openxmlformats.org/officeDocument/2006/relationships/notesSlide" Target="../notesSlides/notesSlide46.xml"/><Relationship Id="rId4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147.xml"/><Relationship Id="rId13" Type="http://schemas.openxmlformats.org/officeDocument/2006/relationships/notesSlide" Target="../notesSlides/notesSlide47.xml"/><Relationship Id="rId3" Type="http://schemas.openxmlformats.org/officeDocument/2006/relationships/tags" Target="../tags/tag142.xml"/><Relationship Id="rId7" Type="http://schemas.openxmlformats.org/officeDocument/2006/relationships/tags" Target="../tags/tag146.xml"/><Relationship Id="rId12" Type="http://schemas.openxmlformats.org/officeDocument/2006/relationships/slideLayout" Target="../slideLayouts/slideLayout4.xml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1" Type="http://schemas.openxmlformats.org/officeDocument/2006/relationships/tags" Target="../tags/tag150.xml"/><Relationship Id="rId5" Type="http://schemas.openxmlformats.org/officeDocument/2006/relationships/tags" Target="../tags/tag144.xml"/><Relationship Id="rId10" Type="http://schemas.openxmlformats.org/officeDocument/2006/relationships/tags" Target="../tags/tag149.xml"/><Relationship Id="rId4" Type="http://schemas.openxmlformats.org/officeDocument/2006/relationships/tags" Target="../tags/tag143.xml"/><Relationship Id="rId9" Type="http://schemas.openxmlformats.org/officeDocument/2006/relationships/tags" Target="../tags/tag14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tags" Target="../tags/tag153.xml"/><Relationship Id="rId7" Type="http://schemas.openxmlformats.org/officeDocument/2006/relationships/notesSlide" Target="../notesSlides/notesSlide48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155.xml"/><Relationship Id="rId4" Type="http://schemas.openxmlformats.org/officeDocument/2006/relationships/tags" Target="../tags/tag154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163.xml"/><Relationship Id="rId13" Type="http://schemas.openxmlformats.org/officeDocument/2006/relationships/slideLayout" Target="../slideLayouts/slideLayout9.xml"/><Relationship Id="rId3" Type="http://schemas.openxmlformats.org/officeDocument/2006/relationships/tags" Target="../tags/tag158.xml"/><Relationship Id="rId7" Type="http://schemas.openxmlformats.org/officeDocument/2006/relationships/tags" Target="../tags/tag162.xml"/><Relationship Id="rId12" Type="http://schemas.openxmlformats.org/officeDocument/2006/relationships/tags" Target="../tags/tag167.xml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6" Type="http://schemas.openxmlformats.org/officeDocument/2006/relationships/tags" Target="../tags/tag161.xml"/><Relationship Id="rId11" Type="http://schemas.openxmlformats.org/officeDocument/2006/relationships/tags" Target="../tags/tag166.xml"/><Relationship Id="rId5" Type="http://schemas.openxmlformats.org/officeDocument/2006/relationships/tags" Target="../tags/tag160.xml"/><Relationship Id="rId10" Type="http://schemas.openxmlformats.org/officeDocument/2006/relationships/tags" Target="../tags/tag165.xml"/><Relationship Id="rId4" Type="http://schemas.openxmlformats.org/officeDocument/2006/relationships/tags" Target="../tags/tag159.xml"/><Relationship Id="rId9" Type="http://schemas.openxmlformats.org/officeDocument/2006/relationships/tags" Target="../tags/tag164.xml"/><Relationship Id="rId14" Type="http://schemas.openxmlformats.org/officeDocument/2006/relationships/notesSlide" Target="../notesSlides/notesSlide4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5" Type="http://schemas.openxmlformats.org/officeDocument/2006/relationships/notesSlide" Target="../notesSlides/notesSlide50.xml"/><Relationship Id="rId4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5" Type="http://schemas.openxmlformats.org/officeDocument/2006/relationships/notesSlide" Target="../notesSlides/notesSlide51.xml"/><Relationship Id="rId4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2.xml"/><Relationship Id="rId3" Type="http://schemas.openxmlformats.org/officeDocument/2006/relationships/tags" Target="../tags/tag175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174.xml"/><Relationship Id="rId1" Type="http://schemas.openxmlformats.org/officeDocument/2006/relationships/vmlDrawing" Target="../drawings/vmlDrawing1.v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10" Type="http://schemas.openxmlformats.org/officeDocument/2006/relationships/image" Target="../media/image5.emf"/><Relationship Id="rId4" Type="http://schemas.openxmlformats.org/officeDocument/2006/relationships/tags" Target="../tags/tag176.xml"/><Relationship Id="rId9" Type="http://schemas.openxmlformats.org/officeDocument/2006/relationships/oleObject" Target="../embeddings/oleObject1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tags" Target="../tags/tag186.xml"/><Relationship Id="rId3" Type="http://schemas.openxmlformats.org/officeDocument/2006/relationships/tags" Target="../tags/tag181.xml"/><Relationship Id="rId7" Type="http://schemas.openxmlformats.org/officeDocument/2006/relationships/tags" Target="../tags/tag185.xml"/><Relationship Id="rId12" Type="http://schemas.openxmlformats.org/officeDocument/2006/relationships/notesSlide" Target="../notesSlides/notesSlide53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11" Type="http://schemas.openxmlformats.org/officeDocument/2006/relationships/slideLayout" Target="../slideLayouts/slideLayout3.xml"/><Relationship Id="rId5" Type="http://schemas.openxmlformats.org/officeDocument/2006/relationships/tags" Target="../tags/tag183.xml"/><Relationship Id="rId10" Type="http://schemas.openxmlformats.org/officeDocument/2006/relationships/tags" Target="../tags/tag188.xml"/><Relationship Id="rId4" Type="http://schemas.openxmlformats.org/officeDocument/2006/relationships/tags" Target="../tags/tag182.xml"/><Relationship Id="rId9" Type="http://schemas.openxmlformats.org/officeDocument/2006/relationships/tags" Target="../tags/tag18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notesSlide" Target="../notesSlides/notesSlide54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9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tags" Target="../tags/tag200.xml"/><Relationship Id="rId13" Type="http://schemas.openxmlformats.org/officeDocument/2006/relationships/notesSlide" Target="../notesSlides/notesSlide55.xml"/><Relationship Id="rId3" Type="http://schemas.openxmlformats.org/officeDocument/2006/relationships/tags" Target="../tags/tag195.xml"/><Relationship Id="rId7" Type="http://schemas.openxmlformats.org/officeDocument/2006/relationships/tags" Target="../tags/tag199.xml"/><Relationship Id="rId12" Type="http://schemas.openxmlformats.org/officeDocument/2006/relationships/slideLayout" Target="../slideLayouts/slideLayout9.xml"/><Relationship Id="rId2" Type="http://schemas.openxmlformats.org/officeDocument/2006/relationships/tags" Target="../tags/tag194.xml"/><Relationship Id="rId1" Type="http://schemas.openxmlformats.org/officeDocument/2006/relationships/tags" Target="../tags/tag193.xml"/><Relationship Id="rId6" Type="http://schemas.openxmlformats.org/officeDocument/2006/relationships/tags" Target="../tags/tag198.xml"/><Relationship Id="rId11" Type="http://schemas.openxmlformats.org/officeDocument/2006/relationships/tags" Target="../tags/tag203.xml"/><Relationship Id="rId5" Type="http://schemas.openxmlformats.org/officeDocument/2006/relationships/tags" Target="../tags/tag197.xml"/><Relationship Id="rId10" Type="http://schemas.openxmlformats.org/officeDocument/2006/relationships/tags" Target="../tags/tag202.xml"/><Relationship Id="rId4" Type="http://schemas.openxmlformats.org/officeDocument/2006/relationships/tags" Target="../tags/tag196.xml"/><Relationship Id="rId9" Type="http://schemas.openxmlformats.org/officeDocument/2006/relationships/tags" Target="../tags/tag201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6.xml"/><Relationship Id="rId3" Type="http://schemas.openxmlformats.org/officeDocument/2006/relationships/tags" Target="../tags/tag206.xml"/><Relationship Id="rId7" Type="http://schemas.openxmlformats.org/officeDocument/2006/relationships/slideLayout" Target="../slideLayouts/slideLayout4.xml"/><Relationship Id="rId2" Type="http://schemas.openxmlformats.org/officeDocument/2006/relationships/tags" Target="../tags/tag205.xml"/><Relationship Id="rId1" Type="http://schemas.openxmlformats.org/officeDocument/2006/relationships/tags" Target="../tags/tag204.xml"/><Relationship Id="rId6" Type="http://schemas.openxmlformats.org/officeDocument/2006/relationships/tags" Target="../tags/tag209.xml"/><Relationship Id="rId5" Type="http://schemas.openxmlformats.org/officeDocument/2006/relationships/tags" Target="../tags/tag208.xml"/><Relationship Id="rId4" Type="http://schemas.openxmlformats.org/officeDocument/2006/relationships/tags" Target="../tags/tag207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12.xml"/><Relationship Id="rId7" Type="http://schemas.openxmlformats.org/officeDocument/2006/relationships/notesSlide" Target="../notesSlides/notesSlide57.xml"/><Relationship Id="rId2" Type="http://schemas.openxmlformats.org/officeDocument/2006/relationships/tags" Target="../tags/tag211.xml"/><Relationship Id="rId1" Type="http://schemas.openxmlformats.org/officeDocument/2006/relationships/tags" Target="../tags/tag210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214.xml"/><Relationship Id="rId4" Type="http://schemas.openxmlformats.org/officeDocument/2006/relationships/tags" Target="../tags/tag213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8.xml"/><Relationship Id="rId3" Type="http://schemas.openxmlformats.org/officeDocument/2006/relationships/tags" Target="../tags/tag217.xml"/><Relationship Id="rId7" Type="http://schemas.openxmlformats.org/officeDocument/2006/relationships/slideLayout" Target="../slideLayouts/slideLayout4.xml"/><Relationship Id="rId2" Type="http://schemas.openxmlformats.org/officeDocument/2006/relationships/tags" Target="../tags/tag216.xml"/><Relationship Id="rId1" Type="http://schemas.openxmlformats.org/officeDocument/2006/relationships/tags" Target="../tags/tag215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223.xml"/><Relationship Id="rId7" Type="http://schemas.openxmlformats.org/officeDocument/2006/relationships/tags" Target="../tags/tag227.xml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5" Type="http://schemas.openxmlformats.org/officeDocument/2006/relationships/tags" Target="../tags/tag225.xml"/><Relationship Id="rId4" Type="http://schemas.openxmlformats.org/officeDocument/2006/relationships/tags" Target="../tags/tag224.xml"/><Relationship Id="rId9" Type="http://schemas.openxmlformats.org/officeDocument/2006/relationships/notesSlide" Target="../notesSlides/notesSlide59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tags" Target="../tags/tag233.xml"/><Relationship Id="rId3" Type="http://schemas.microsoft.com/office/2007/relationships/media" Target="../media/media1.mp4"/><Relationship Id="rId7" Type="http://schemas.openxmlformats.org/officeDocument/2006/relationships/tags" Target="../tags/tag232.xml"/><Relationship Id="rId2" Type="http://schemas.openxmlformats.org/officeDocument/2006/relationships/tags" Target="../tags/tag229.xml"/><Relationship Id="rId1" Type="http://schemas.openxmlformats.org/officeDocument/2006/relationships/tags" Target="../tags/tag228.xml"/><Relationship Id="rId6" Type="http://schemas.openxmlformats.org/officeDocument/2006/relationships/tags" Target="../tags/tag231.xml"/><Relationship Id="rId11" Type="http://schemas.openxmlformats.org/officeDocument/2006/relationships/image" Target="../media/image7.png"/><Relationship Id="rId5" Type="http://schemas.openxmlformats.org/officeDocument/2006/relationships/tags" Target="../tags/tag230.xml"/><Relationship Id="rId10" Type="http://schemas.openxmlformats.org/officeDocument/2006/relationships/notesSlide" Target="../notesSlides/notesSlide60.xml"/><Relationship Id="rId4" Type="http://schemas.openxmlformats.org/officeDocument/2006/relationships/video" Target="../media/media1.mp4"/><Relationship Id="rId9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" Type="http://schemas.openxmlformats.org/officeDocument/2006/relationships/tags" Target="../tags/tag234.xml"/><Relationship Id="rId6" Type="http://schemas.openxmlformats.org/officeDocument/2006/relationships/notesSlide" Target="../notesSlides/notesSlide66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23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Rectangle 2"/>
          <p:cNvSpPr>
            <a:spLocks noChangeArrowheads="1"/>
          </p:cNvSpPr>
          <p:nvPr/>
        </p:nvSpPr>
        <p:spPr bwMode="auto">
          <a:xfrm>
            <a:off x="4181475" y="5726113"/>
            <a:ext cx="184150" cy="39687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ea typeface="ＭＳ Ｐゴシック" pitchFamily="1" charset="-128"/>
            </a:endParaRPr>
          </a:p>
        </p:txBody>
      </p:sp>
      <p:sp>
        <p:nvSpPr>
          <p:cNvPr id="875523" name="Rectangle 3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Abstraction Recovery for Scalable Static Binary Analysis</a:t>
            </a:r>
            <a:endParaRPr lang="en-US" dirty="0"/>
          </a:p>
        </p:txBody>
      </p:sp>
      <p:sp>
        <p:nvSpPr>
          <p:cNvPr id="875524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Edward J. Schwartz</a:t>
            </a:r>
          </a:p>
          <a:p>
            <a:pPr marL="0" indent="0">
              <a:buNone/>
            </a:pPr>
            <a:r>
              <a:rPr lang="en-US" dirty="0" smtClean="0"/>
              <a:t>Software Engineering Institute</a:t>
            </a:r>
          </a:p>
          <a:p>
            <a:pPr marL="0" indent="0">
              <a:buNone/>
            </a:pPr>
            <a:r>
              <a:rPr lang="en-US" dirty="0" smtClean="0"/>
              <a:t>Carnegie Mellon University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009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The Gap Between </a:t>
            </a:r>
            <a:br>
              <a:rPr lang="en-US" dirty="0" smtClean="0"/>
            </a:br>
            <a:r>
              <a:rPr lang="en-US" dirty="0" smtClean="0"/>
              <a:t>Binary and Source Code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81000" y="1413515"/>
            <a:ext cx="3124200" cy="41490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07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push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</a:t>
            </a:r>
            <a:r>
              <a:rPr lang="en-US" dirty="0" err="1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ebp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mov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</a:t>
            </a:r>
            <a:r>
              <a:rPr lang="en-US" dirty="0" err="1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esp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,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</a:t>
            </a:r>
            <a:r>
              <a:rPr lang="en-US" dirty="0" err="1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ebp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sub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88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$0x10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,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%esp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movl</a:t>
            </a: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</a:t>
            </a:r>
            <a:r>
              <a:rPr lang="en-US" dirty="0" smtClean="0">
                <a:solidFill>
                  <a:srgbClr val="88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$0x1</a:t>
            </a: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,-</a:t>
            </a:r>
            <a:r>
              <a:rPr lang="en-US" dirty="0" smtClean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0x4</a:t>
            </a: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en-US" dirty="0" smtClean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</a:t>
            </a:r>
            <a:r>
              <a:rPr lang="en-US" dirty="0" err="1" smtClean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ebp</a:t>
            </a: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</a:t>
            </a:r>
            <a:endParaRPr lang="en-US" sz="1600" dirty="0" smtClean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jmp</a:t>
            </a: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1d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&lt;</a:t>
            </a:r>
            <a:r>
              <a:rPr lang="en-US" dirty="0">
                <a:solidFill>
                  <a:srgbClr val="88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f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+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0x1d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mov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-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0x4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</a:t>
            </a:r>
            <a:r>
              <a:rPr lang="en-US" dirty="0" err="1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),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%eax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imul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0x8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</a:t>
            </a:r>
            <a:r>
              <a:rPr lang="en-US" dirty="0" err="1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),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%eax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mov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%eax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,-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0x4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</a:t>
            </a:r>
            <a:r>
              <a:rPr lang="en-US" dirty="0" err="1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subl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88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$0x1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,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0x8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</a:t>
            </a:r>
            <a:r>
              <a:rPr lang="en-US" dirty="0" err="1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cmpl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88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$0x1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,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0x8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</a:t>
            </a:r>
            <a:r>
              <a:rPr lang="en-US" dirty="0" err="1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jg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f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&lt;</a:t>
            </a:r>
            <a:r>
              <a:rPr lang="en-US" dirty="0">
                <a:solidFill>
                  <a:srgbClr val="88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f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+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0xf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mov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-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0x4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</a:t>
            </a:r>
            <a:r>
              <a:rPr lang="en-US" dirty="0" err="1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),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%eax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leave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solidFill>
                  <a:srgbClr val="88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ret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1326" y="3087558"/>
            <a:ext cx="3124200" cy="205992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07000"/>
              </a:lnSpc>
            </a:pPr>
            <a:r>
              <a:rPr lang="en-US" dirty="0">
                <a:solidFill>
                  <a:srgbClr val="B0004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f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B0004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c) {</a:t>
            </a:r>
          </a:p>
          <a:p>
            <a:pPr>
              <a:lnSpc>
                <a:spcPct val="107000"/>
              </a:lnSpc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B0004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accum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07000"/>
              </a:lnSpc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(; c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 c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--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07000"/>
              </a:lnSpc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accum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accum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*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c;</a:t>
            </a:r>
          </a:p>
          <a:p>
            <a:pPr>
              <a:lnSpc>
                <a:spcPct val="107000"/>
              </a:lnSpc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}</a:t>
            </a:r>
          </a:p>
          <a:p>
            <a:pPr>
              <a:lnSpc>
                <a:spcPct val="107000"/>
              </a:lnSpc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accum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07000"/>
              </a:lnSpc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7" name="Rounded Rectangular Callout 16"/>
          <p:cNvSpPr/>
          <p:nvPr/>
        </p:nvSpPr>
        <p:spPr>
          <a:xfrm>
            <a:off x="5160778" y="1447800"/>
            <a:ext cx="1657489" cy="1066800"/>
          </a:xfrm>
          <a:prstGeom prst="wedgeRoundRectCallout">
            <a:avLst>
              <a:gd name="adj1" fmla="val 15513"/>
              <a:gd name="adj2" fmla="val 95619"/>
              <a:gd name="adj3" fmla="val 1666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Functions</a:t>
            </a:r>
          </a:p>
        </p:txBody>
      </p:sp>
      <p:sp>
        <p:nvSpPr>
          <p:cNvPr id="18" name="Rounded Rectangular Callout 17"/>
          <p:cNvSpPr/>
          <p:nvPr/>
        </p:nvSpPr>
        <p:spPr>
          <a:xfrm>
            <a:off x="3777074" y="2970629"/>
            <a:ext cx="1657489" cy="1066800"/>
          </a:xfrm>
          <a:prstGeom prst="wedgeRoundRectCallout">
            <a:avLst>
              <a:gd name="adj1" fmla="val 100541"/>
              <a:gd name="adj2" fmla="val 5593"/>
              <a:gd name="adj3" fmla="val 1666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Variables</a:t>
            </a:r>
          </a:p>
        </p:txBody>
      </p:sp>
      <p:sp>
        <p:nvSpPr>
          <p:cNvPr id="19" name="Rounded Rectangular Callout 18"/>
          <p:cNvSpPr/>
          <p:nvPr/>
        </p:nvSpPr>
        <p:spPr>
          <a:xfrm>
            <a:off x="7363928" y="1489881"/>
            <a:ext cx="1657489" cy="1066800"/>
          </a:xfrm>
          <a:prstGeom prst="wedgeRoundRectCallout">
            <a:avLst>
              <a:gd name="adj1" fmla="val -92713"/>
              <a:gd name="adj2" fmla="val 94967"/>
              <a:gd name="adj3" fmla="val 1666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Types</a:t>
            </a:r>
          </a:p>
        </p:txBody>
      </p:sp>
      <p:sp>
        <p:nvSpPr>
          <p:cNvPr id="20" name="Rounded Rectangular Callout 19"/>
          <p:cNvSpPr/>
          <p:nvPr/>
        </p:nvSpPr>
        <p:spPr>
          <a:xfrm>
            <a:off x="3777074" y="4298652"/>
            <a:ext cx="1657489" cy="1066800"/>
          </a:xfrm>
          <a:prstGeom prst="wedgeRoundRectCallout">
            <a:avLst>
              <a:gd name="adj1" fmla="val 78473"/>
              <a:gd name="adj2" fmla="val -71430"/>
              <a:gd name="adj3" fmla="val 1666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Control</a:t>
            </a:r>
          </a:p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Flow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1234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694"/>
    </mc:Choice>
    <mc:Fallback xmlns="">
      <p:transition xmlns:p14="http://schemas.microsoft.com/office/powerpoint/2010/main" spd="slow" advTm="746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6783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5400" dirty="0" smtClean="0"/>
              <a:t>Automatic extraction of facts about binary programs </a:t>
            </a:r>
            <a:r>
              <a:rPr lang="en-US" sz="5400" u="sng" dirty="0" smtClean="0"/>
              <a:t>without executing them</a:t>
            </a:r>
            <a:endParaRPr lang="en-US" sz="5400" u="sng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u="sng" dirty="0" smtClean="0"/>
              <a:t>Static</a:t>
            </a:r>
            <a:r>
              <a:rPr lang="en-US" dirty="0" smtClean="0"/>
              <a:t> Binary Analysis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897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67"/>
    </mc:Choice>
    <mc:Fallback xmlns="">
      <p:transition xmlns:p14="http://schemas.microsoft.com/office/powerpoint/2010/main" spd="slow" advTm="17167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b="1" dirty="0" smtClean="0"/>
              <a:t>High Coverage</a:t>
            </a:r>
            <a:endParaRPr lang="en-US" sz="3000" dirty="0"/>
          </a:p>
          <a:p>
            <a:pPr lvl="1"/>
            <a:r>
              <a:rPr lang="en-US" sz="2600" dirty="0" smtClean="0"/>
              <a:t>Reason about most or all possible executions</a:t>
            </a:r>
            <a:endParaRPr lang="en-US" sz="2600" dirty="0"/>
          </a:p>
          <a:p>
            <a:endParaRPr lang="en-US" b="1" dirty="0" smtClean="0"/>
          </a:p>
          <a:p>
            <a:r>
              <a:rPr lang="en-US" sz="3000" b="1" dirty="0" smtClean="0"/>
              <a:t>Safe</a:t>
            </a:r>
            <a:endParaRPr lang="en-US" sz="3000" dirty="0" smtClean="0"/>
          </a:p>
          <a:p>
            <a:pPr lvl="1"/>
            <a:r>
              <a:rPr lang="en-US" sz="2600" dirty="0" smtClean="0"/>
              <a:t>Does not execute (possibly unsafe) code</a:t>
            </a:r>
            <a:endParaRPr lang="en-US" sz="2600" dirty="0"/>
          </a:p>
          <a:p>
            <a:pPr lvl="1"/>
            <a:endParaRPr lang="en-US" dirty="0"/>
          </a:p>
          <a:p>
            <a:r>
              <a:rPr lang="en-US" sz="3000" b="1" dirty="0" smtClean="0"/>
              <a:t>Widely Applicable</a:t>
            </a:r>
          </a:p>
          <a:p>
            <a:pPr lvl="1"/>
            <a:r>
              <a:rPr lang="en-US" sz="2600" dirty="0" smtClean="0"/>
              <a:t>Source code not needed</a:t>
            </a:r>
          </a:p>
          <a:p>
            <a:pPr lvl="1"/>
            <a:r>
              <a:rPr lang="en-US" sz="2600" dirty="0" smtClean="0"/>
              <a:t>Useful for end-users, researchers, </a:t>
            </a:r>
            <a:r>
              <a:rPr lang="en-US" sz="2600" dirty="0" err="1" smtClean="0"/>
              <a:t>sysadmins</a:t>
            </a:r>
            <a:endParaRPr lang="en-US" sz="2600" dirty="0" smtClean="0"/>
          </a:p>
          <a:p>
            <a:pPr marL="342900" lvl="1" indent="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Static Binary Analysis Strengths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992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977"/>
    </mc:Choice>
    <mc:Fallback xmlns="">
      <p:transition xmlns:p14="http://schemas.microsoft.com/office/powerpoint/2010/main" spd="slow" advTm="549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Primary Challenge: Scalability</a:t>
            </a:r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5684520" y="1295400"/>
            <a:ext cx="3383280" cy="4724400"/>
            <a:chOff x="5684520" y="1295400"/>
            <a:chExt cx="3383280" cy="4724400"/>
          </a:xfrm>
        </p:grpSpPr>
        <p:sp>
          <p:nvSpPr>
            <p:cNvPr id="5" name="Rounded Rectangle 4"/>
            <p:cNvSpPr/>
            <p:nvPr/>
          </p:nvSpPr>
          <p:spPr>
            <a:xfrm>
              <a:off x="5852160" y="4770437"/>
              <a:ext cx="3048000" cy="1249363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400" dirty="0" smtClean="0">
                  <a:solidFill>
                    <a:sysClr val="windowText" lastClr="000000"/>
                  </a:solidFill>
                </a:rPr>
                <a:t>Static </a:t>
              </a:r>
              <a:r>
                <a:rPr lang="en-US" sz="2400" u="sng" dirty="0" smtClean="0">
                  <a:solidFill>
                    <a:sysClr val="windowText" lastClr="000000"/>
                  </a:solidFill>
                </a:rPr>
                <a:t>Source</a:t>
              </a:r>
              <a:r>
                <a:rPr lang="en-US" sz="2400" dirty="0" smtClean="0">
                  <a:solidFill>
                    <a:sysClr val="windowText" lastClr="000000"/>
                  </a:solidFill>
                </a:rPr>
                <a:t> Code Analysis Tools</a:t>
              </a:r>
            </a:p>
          </p:txBody>
        </p:sp>
        <p:sp>
          <p:nvSpPr>
            <p:cNvPr id="7" name="Oval 6"/>
            <p:cNvSpPr>
              <a:spLocks noChangeAspect="1"/>
            </p:cNvSpPr>
            <p:nvPr/>
          </p:nvSpPr>
          <p:spPr>
            <a:xfrm>
              <a:off x="5684520" y="1295400"/>
              <a:ext cx="3383280" cy="3383280"/>
            </a:xfrm>
            <a:prstGeom prst="ellipse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400" dirty="0" smtClean="0">
                  <a:solidFill>
                    <a:schemeClr val="tx1"/>
                  </a:solidFill>
                </a:rPr>
                <a:t>Largest</a:t>
              </a:r>
            </a:p>
            <a:p>
              <a:pPr algn="ctr"/>
              <a:r>
                <a:rPr lang="en-US" sz="2400" dirty="0" smtClean="0">
                  <a:solidFill>
                    <a:schemeClr val="tx1"/>
                  </a:solidFill>
                </a:rPr>
                <a:t>Program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28600" y="2990850"/>
            <a:ext cx="3048000" cy="3024981"/>
            <a:chOff x="5791200" y="2990850"/>
            <a:chExt cx="3048000" cy="3024981"/>
          </a:xfrm>
        </p:grpSpPr>
        <p:sp>
          <p:nvSpPr>
            <p:cNvPr id="6" name="Rounded Rectangle 5"/>
            <p:cNvSpPr/>
            <p:nvPr/>
          </p:nvSpPr>
          <p:spPr>
            <a:xfrm>
              <a:off x="5791200" y="4766468"/>
              <a:ext cx="3048000" cy="1249363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400" dirty="0" smtClean="0">
                  <a:solidFill>
                    <a:schemeClr val="tx1"/>
                  </a:solidFill>
                </a:rPr>
                <a:t>Static </a:t>
              </a:r>
              <a:r>
                <a:rPr lang="en-US" sz="2400" u="sng" dirty="0" smtClean="0">
                  <a:solidFill>
                    <a:schemeClr val="tx1"/>
                  </a:solidFill>
                </a:rPr>
                <a:t>Binary</a:t>
              </a:r>
              <a:r>
                <a:rPr lang="en-US" sz="2400" dirty="0" smtClean="0">
                  <a:solidFill>
                    <a:schemeClr val="tx1"/>
                  </a:solidFill>
                </a:rPr>
                <a:t> Code</a:t>
              </a:r>
            </a:p>
            <a:p>
              <a:pPr algn="ctr"/>
              <a:r>
                <a:rPr lang="en-US" sz="2400" dirty="0" smtClean="0">
                  <a:solidFill>
                    <a:schemeClr val="tx1"/>
                  </a:solidFill>
                </a:rPr>
                <a:t>Analysis Tools</a:t>
              </a:r>
            </a:p>
          </p:txBody>
        </p:sp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7181850" y="2990850"/>
              <a:ext cx="266700" cy="266700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endParaRPr lang="en-US" sz="2400" dirty="0" smtClean="0">
                <a:solidFill>
                  <a:schemeClr val="bg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019800" y="3429000"/>
              <a:ext cx="259080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ctr"/>
              <a:r>
                <a:rPr lang="en-US" sz="2400" dirty="0" smtClean="0"/>
                <a:t>Largest Program</a:t>
              </a: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1983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303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The Gap Between </a:t>
            </a:r>
            <a:br>
              <a:rPr lang="en-US" dirty="0" smtClean="0"/>
            </a:br>
            <a:r>
              <a:rPr lang="en-US" dirty="0" smtClean="0"/>
              <a:t>Binary and Source Code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81000" y="1413515"/>
            <a:ext cx="3124200" cy="41490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07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push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</a:t>
            </a:r>
            <a:r>
              <a:rPr lang="en-US" dirty="0" err="1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ebp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mov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</a:t>
            </a:r>
            <a:r>
              <a:rPr lang="en-US" dirty="0" err="1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esp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,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</a:t>
            </a:r>
            <a:r>
              <a:rPr lang="en-US" dirty="0" err="1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ebp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sub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88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$0x10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,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%esp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movl</a:t>
            </a: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</a:t>
            </a:r>
            <a:r>
              <a:rPr lang="en-US" dirty="0" smtClean="0">
                <a:solidFill>
                  <a:srgbClr val="88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$0x1</a:t>
            </a: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,-</a:t>
            </a:r>
            <a:r>
              <a:rPr lang="en-US" dirty="0" smtClean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0x4</a:t>
            </a: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en-US" dirty="0" smtClean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</a:t>
            </a:r>
            <a:r>
              <a:rPr lang="en-US" dirty="0" err="1" smtClean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ebp</a:t>
            </a: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</a:t>
            </a:r>
            <a:endParaRPr lang="en-US" sz="1600" dirty="0" smtClean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jmp</a:t>
            </a: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1d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&lt;</a:t>
            </a:r>
            <a:r>
              <a:rPr lang="en-US" dirty="0">
                <a:solidFill>
                  <a:srgbClr val="88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f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+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0x1d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mov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-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0x4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</a:t>
            </a:r>
            <a:r>
              <a:rPr lang="en-US" dirty="0" err="1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),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%eax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imul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0x8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</a:t>
            </a:r>
            <a:r>
              <a:rPr lang="en-US" dirty="0" err="1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),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%eax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mov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%eax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,-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0x4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</a:t>
            </a:r>
            <a:r>
              <a:rPr lang="en-US" dirty="0" err="1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subl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88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$0x1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,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0x8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</a:t>
            </a:r>
            <a:r>
              <a:rPr lang="en-US" dirty="0" err="1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cmpl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88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$0x1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,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0x8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</a:t>
            </a:r>
            <a:r>
              <a:rPr lang="en-US" dirty="0" err="1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jg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f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&lt;</a:t>
            </a:r>
            <a:r>
              <a:rPr lang="en-US" dirty="0">
                <a:solidFill>
                  <a:srgbClr val="88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f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+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0xf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mov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-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0x4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</a:t>
            </a:r>
            <a:r>
              <a:rPr lang="en-US" dirty="0" err="1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),</a:t>
            </a:r>
            <a:r>
              <a:rPr lang="en-US" dirty="0">
                <a:solidFill>
                  <a:srgbClr val="19177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%eax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leave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solidFill>
                  <a:srgbClr val="88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ret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1326" y="3087558"/>
            <a:ext cx="3124200" cy="205992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07000"/>
              </a:lnSpc>
            </a:pPr>
            <a:r>
              <a:rPr lang="en-US" dirty="0">
                <a:solidFill>
                  <a:srgbClr val="B0004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f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B0004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c) {</a:t>
            </a:r>
          </a:p>
          <a:p>
            <a:pPr>
              <a:lnSpc>
                <a:spcPct val="107000"/>
              </a:lnSpc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B0004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accum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07000"/>
              </a:lnSpc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(; c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 c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--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07000"/>
              </a:lnSpc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accum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accum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*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c;</a:t>
            </a:r>
          </a:p>
          <a:p>
            <a:pPr>
              <a:lnSpc>
                <a:spcPct val="107000"/>
              </a:lnSpc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}</a:t>
            </a:r>
          </a:p>
          <a:p>
            <a:pPr>
              <a:lnSpc>
                <a:spcPct val="107000"/>
              </a:lnSpc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accum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07000"/>
              </a:lnSpc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7" name="Rounded Rectangular Callout 16"/>
          <p:cNvSpPr/>
          <p:nvPr/>
        </p:nvSpPr>
        <p:spPr>
          <a:xfrm>
            <a:off x="5160778" y="1447800"/>
            <a:ext cx="1657489" cy="1066800"/>
          </a:xfrm>
          <a:prstGeom prst="wedgeRoundRectCallout">
            <a:avLst>
              <a:gd name="adj1" fmla="val 15513"/>
              <a:gd name="adj2" fmla="val 95619"/>
              <a:gd name="adj3" fmla="val 1666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Functions</a:t>
            </a:r>
          </a:p>
        </p:txBody>
      </p:sp>
      <p:sp>
        <p:nvSpPr>
          <p:cNvPr id="18" name="Rounded Rectangular Callout 17"/>
          <p:cNvSpPr/>
          <p:nvPr/>
        </p:nvSpPr>
        <p:spPr>
          <a:xfrm>
            <a:off x="3777074" y="2970629"/>
            <a:ext cx="1657489" cy="1066800"/>
          </a:xfrm>
          <a:prstGeom prst="wedgeRoundRectCallout">
            <a:avLst>
              <a:gd name="adj1" fmla="val 100541"/>
              <a:gd name="adj2" fmla="val 5593"/>
              <a:gd name="adj3" fmla="val 1666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Variables</a:t>
            </a:r>
          </a:p>
        </p:txBody>
      </p:sp>
      <p:sp>
        <p:nvSpPr>
          <p:cNvPr id="19" name="Rounded Rectangular Callout 18"/>
          <p:cNvSpPr/>
          <p:nvPr/>
        </p:nvSpPr>
        <p:spPr>
          <a:xfrm>
            <a:off x="7363928" y="1489881"/>
            <a:ext cx="1657489" cy="1066800"/>
          </a:xfrm>
          <a:prstGeom prst="wedgeRoundRectCallout">
            <a:avLst>
              <a:gd name="adj1" fmla="val -92713"/>
              <a:gd name="adj2" fmla="val 94967"/>
              <a:gd name="adj3" fmla="val 1666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Types</a:t>
            </a:r>
          </a:p>
        </p:txBody>
      </p:sp>
      <p:sp>
        <p:nvSpPr>
          <p:cNvPr id="20" name="Rounded Rectangular Callout 19"/>
          <p:cNvSpPr/>
          <p:nvPr/>
        </p:nvSpPr>
        <p:spPr>
          <a:xfrm>
            <a:off x="3777074" y="4298652"/>
            <a:ext cx="1657489" cy="1066800"/>
          </a:xfrm>
          <a:prstGeom prst="wedgeRoundRectCallout">
            <a:avLst>
              <a:gd name="adj1" fmla="val 78473"/>
              <a:gd name="adj2" fmla="val -71430"/>
              <a:gd name="adj3" fmla="val 1666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Control</a:t>
            </a:r>
          </a:p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Flow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508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694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3657600" y="1143000"/>
            <a:ext cx="5486400" cy="5715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5"/>
              </a:gs>
            </a:gsLst>
            <a:lin ang="5400000" scaled="0"/>
            <a:tileRect/>
          </a:gra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smtClean="0"/>
              <a:t>Abstraction </a:t>
            </a:r>
            <a:r>
              <a:rPr lang="en-US" dirty="0" smtClean="0"/>
              <a:t>Recovery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4800" y="1295400"/>
            <a:ext cx="3200400" cy="49244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3200" dirty="0" smtClean="0"/>
              <a:t>Choose abstraction</a:t>
            </a:r>
            <a:r>
              <a:rPr lang="en-US" sz="3200" dirty="0"/>
              <a:t>s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3200" dirty="0" smtClean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3200" dirty="0" smtClean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3200" dirty="0" smtClean="0"/>
              <a:t>Recover</a:t>
            </a:r>
            <a:br>
              <a:rPr lang="en-US" sz="3200" dirty="0" smtClean="0"/>
            </a:br>
            <a:r>
              <a:rPr lang="en-US" sz="3200" dirty="0" smtClean="0"/>
              <a:t>abstractions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3200" dirty="0" smtClean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3200" dirty="0" smtClean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3200" dirty="0" smtClean="0"/>
              <a:t>Scalable, high-level reasoning</a:t>
            </a:r>
            <a:endParaRPr lang="en-US" sz="3200" dirty="0"/>
          </a:p>
        </p:txBody>
      </p:sp>
      <p:grpSp>
        <p:nvGrpSpPr>
          <p:cNvPr id="41" name="Group 40"/>
          <p:cNvGrpSpPr/>
          <p:nvPr/>
        </p:nvGrpSpPr>
        <p:grpSpPr>
          <a:xfrm>
            <a:off x="3962401" y="3848100"/>
            <a:ext cx="4648200" cy="2400300"/>
            <a:chOff x="4343401" y="3848100"/>
            <a:chExt cx="4648200" cy="2400300"/>
          </a:xfrm>
        </p:grpSpPr>
        <p:sp>
          <p:nvSpPr>
            <p:cNvPr id="16" name="Rounded Rectangle 15"/>
            <p:cNvSpPr/>
            <p:nvPr/>
          </p:nvSpPr>
          <p:spPr>
            <a:xfrm>
              <a:off x="4343401" y="5334000"/>
              <a:ext cx="4648200" cy="914400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400" dirty="0" smtClean="0">
                  <a:solidFill>
                    <a:sysClr val="windowText" lastClr="000000"/>
                  </a:solidFill>
                </a:rPr>
                <a:t>Static </a:t>
              </a:r>
              <a:r>
                <a:rPr lang="en-US" sz="2400" u="sng" dirty="0" smtClean="0">
                  <a:solidFill>
                    <a:sysClr val="windowText" lastClr="000000"/>
                  </a:solidFill>
                </a:rPr>
                <a:t>Source</a:t>
              </a:r>
              <a:r>
                <a:rPr lang="en-US" sz="2400" dirty="0" smtClean="0">
                  <a:solidFill>
                    <a:sysClr val="windowText" lastClr="000000"/>
                  </a:solidFill>
                </a:rPr>
                <a:t> </a:t>
              </a:r>
              <a:br>
                <a:rPr lang="en-US" sz="2400" dirty="0" smtClean="0">
                  <a:solidFill>
                    <a:sysClr val="windowText" lastClr="000000"/>
                  </a:solidFill>
                </a:rPr>
              </a:br>
              <a:r>
                <a:rPr lang="en-US" sz="2400" dirty="0" smtClean="0">
                  <a:solidFill>
                    <a:sysClr val="windowText" lastClr="000000"/>
                  </a:solidFill>
                </a:rPr>
                <a:t>Code Analysis</a:t>
              </a:r>
            </a:p>
          </p:txBody>
        </p:sp>
        <p:cxnSp>
          <p:nvCxnSpPr>
            <p:cNvPr id="17" name="Straight Arrow Connector 25"/>
            <p:cNvCxnSpPr>
              <a:stCxn id="13" idx="3"/>
              <a:endCxn id="16" idx="3"/>
            </p:cNvCxnSpPr>
            <p:nvPr/>
          </p:nvCxnSpPr>
          <p:spPr>
            <a:xfrm>
              <a:off x="8991600" y="3848100"/>
              <a:ext cx="1" cy="1943100"/>
            </a:xfrm>
            <a:prstGeom prst="curvedConnector3">
              <a:avLst>
                <a:gd name="adj1" fmla="val 22860100000"/>
              </a:avLst>
            </a:prstGeom>
            <a:ln>
              <a:headEnd type="none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3962400" y="1990430"/>
            <a:ext cx="4648200" cy="2352970"/>
            <a:chOff x="4343400" y="1990430"/>
            <a:chExt cx="4648200" cy="2352970"/>
          </a:xfrm>
        </p:grpSpPr>
        <p:sp>
          <p:nvSpPr>
            <p:cNvPr id="12" name="Rounded Rectangle 11"/>
            <p:cNvSpPr/>
            <p:nvPr/>
          </p:nvSpPr>
          <p:spPr>
            <a:xfrm>
              <a:off x="4343400" y="3352800"/>
              <a:ext cx="2438400" cy="990600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+mn-ea"/>
                  <a:cs typeface="Consolas"/>
                </a:rPr>
                <a:t>Decompilation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404100" y="3352800"/>
              <a:ext cx="1587500" cy="990600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Char char="•"/>
                <a:tabLst/>
                <a:defRPr/>
              </a:pPr>
              <a:r>
                <a:rPr lang="en-US" kern="0" dirty="0" smtClean="0">
                  <a:solidFill>
                    <a:sysClr val="windowText" lastClr="000000"/>
                  </a:solidFill>
                  <a:latin typeface="Consolas"/>
                  <a:cs typeface="Consolas"/>
                </a:rPr>
                <a:t>Functions</a:t>
              </a: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Char char="•"/>
                <a:tabLst/>
                <a:defRPr/>
              </a:pPr>
              <a:r>
                <a:rPr kumimoji="0" lang="en-US" b="0" i="0" u="none" strike="noStrike" kern="0" cap="none" spc="0" normalizeH="0" baseline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nsolas"/>
                  <a:cs typeface="Consolas"/>
                </a:rPr>
                <a:t>Types</a:t>
              </a: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Char char="•"/>
                <a:tabLst/>
                <a:defRPr/>
              </a:pPr>
              <a:r>
                <a:rPr lang="en-US" kern="0" dirty="0" smtClean="0">
                  <a:solidFill>
                    <a:sysClr val="windowText" lastClr="000000"/>
                  </a:solidFill>
                  <a:latin typeface="Consolas"/>
                  <a:cs typeface="Consolas"/>
                </a:rPr>
                <a:t>Variables</a:t>
              </a:r>
            </a:p>
          </p:txBody>
        </p:sp>
        <p:cxnSp>
          <p:nvCxnSpPr>
            <p:cNvPr id="34" name="Curved Connector 33"/>
            <p:cNvCxnSpPr>
              <a:stCxn id="46" idx="1"/>
              <a:endCxn id="12" idx="1"/>
            </p:cNvCxnSpPr>
            <p:nvPr/>
          </p:nvCxnSpPr>
          <p:spPr>
            <a:xfrm rot="10800000" flipV="1">
              <a:off x="4343400" y="1990430"/>
              <a:ext cx="12700" cy="1857670"/>
            </a:xfrm>
            <a:prstGeom prst="curvedConnector3">
              <a:avLst>
                <a:gd name="adj1" fmla="val 1800000"/>
              </a:avLst>
            </a:prstGeom>
            <a:ln>
              <a:headEnd type="none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urved Connector 36"/>
            <p:cNvCxnSpPr>
              <a:stCxn id="12" idx="3"/>
              <a:endCxn id="13" idx="1"/>
            </p:cNvCxnSpPr>
            <p:nvPr/>
          </p:nvCxnSpPr>
          <p:spPr>
            <a:xfrm>
              <a:off x="6781800" y="3848100"/>
              <a:ext cx="622300" cy="0"/>
            </a:xfrm>
            <a:prstGeom prst="straightConnector1">
              <a:avLst/>
            </a:prstGeom>
            <a:ln>
              <a:headEnd type="none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3962400" y="1143000"/>
            <a:ext cx="4038600" cy="1685630"/>
            <a:chOff x="4343400" y="1143000"/>
            <a:chExt cx="4038600" cy="1685630"/>
          </a:xfrm>
        </p:grpSpPr>
        <p:grpSp>
          <p:nvGrpSpPr>
            <p:cNvPr id="44" name="Group 43"/>
            <p:cNvGrpSpPr/>
            <p:nvPr/>
          </p:nvGrpSpPr>
          <p:grpSpPr>
            <a:xfrm>
              <a:off x="4343400" y="1143000"/>
              <a:ext cx="1676400" cy="1685630"/>
              <a:chOff x="1981200" y="3581400"/>
              <a:chExt cx="1676400" cy="1685630"/>
            </a:xfrm>
          </p:grpSpPr>
          <p:sp>
            <p:nvSpPr>
              <p:cNvPr id="45" name="Rounded Rectangle 44"/>
              <p:cNvSpPr/>
              <p:nvPr/>
            </p:nvSpPr>
            <p:spPr>
              <a:xfrm>
                <a:off x="1981200" y="3581400"/>
                <a:ext cx="1676400" cy="1676400"/>
              </a:xfrm>
              <a:prstGeom prst="round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0" dirty="0" err="1">
                    <a:solidFill>
                      <a:schemeClr val="tx1"/>
                    </a:solidFill>
                    <a:latin typeface="Consolas"/>
                    <a:cs typeface="Consolas"/>
                  </a:rPr>
                  <a:t>i</a:t>
                </a:r>
                <a:r>
                  <a:rPr kumimoji="0" lang="en-US" sz="1200" b="0" i="0" u="none" strike="noStrike" kern="0" cap="none" spc="0" normalizeH="0" baseline="0" noProof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nsolas"/>
                    <a:ea typeface="+mn-ea"/>
                    <a:cs typeface="Consolas"/>
                  </a:rPr>
                  <a:t>nt</a:t>
                </a: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nsolas"/>
                    <a:ea typeface="+mn-ea"/>
                    <a:cs typeface="Consolas"/>
                  </a:rPr>
                  <a:t> f (</a:t>
                </a:r>
                <a:r>
                  <a:rPr kumimoji="0" lang="en-US" sz="1200" b="0" i="0" u="none" strike="noStrike" kern="0" cap="none" spc="0" normalizeH="0" baseline="0" noProof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nsolas"/>
                    <a:ea typeface="+mn-ea"/>
                    <a:cs typeface="Consolas"/>
                  </a:rPr>
                  <a:t>int</a:t>
                </a: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nsolas"/>
                    <a:ea typeface="+mn-ea"/>
                    <a:cs typeface="Consolas"/>
                  </a:rPr>
                  <a:t> x) {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0" noProof="0" dirty="0" err="1" smtClean="0">
                    <a:solidFill>
                      <a:schemeClr val="tx1"/>
                    </a:solidFill>
                    <a:latin typeface="Consolas"/>
                    <a:cs typeface="Consolas"/>
                  </a:rPr>
                  <a:t>int</a:t>
                </a:r>
                <a:r>
                  <a:rPr lang="en-US" sz="1200" kern="0" noProof="0" dirty="0" smtClean="0">
                    <a:solidFill>
                      <a:schemeClr val="tx1"/>
                    </a:solidFill>
                    <a:latin typeface="Consolas"/>
                    <a:cs typeface="Consolas"/>
                  </a:rPr>
                  <a:t> y = 1;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0" dirty="0">
                    <a:solidFill>
                      <a:schemeClr val="tx1"/>
                    </a:solidFill>
                    <a:latin typeface="Consolas"/>
                    <a:cs typeface="Consolas"/>
                  </a:rPr>
                  <a:t>w</a:t>
                </a:r>
                <a:r>
                  <a:rPr kumimoji="0" lang="en-US" sz="1200" b="0" i="0" u="none" strike="noStrike" kern="0" cap="none" spc="0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nsolas"/>
                    <a:ea typeface="+mn-ea"/>
                    <a:cs typeface="Consolas"/>
                  </a:rPr>
                  <a:t>hile (x &gt; y) {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0" dirty="0" smtClean="0">
                    <a:solidFill>
                      <a:schemeClr val="tx1"/>
                    </a:solidFill>
                    <a:latin typeface="Consolas"/>
                    <a:cs typeface="Consolas"/>
                  </a:rPr>
                  <a:t>  y++;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0" dirty="0">
                  <a:solidFill>
                    <a:schemeClr val="tx1"/>
                  </a:solidFill>
                  <a:latin typeface="Consolas"/>
                  <a:cs typeface="Consolas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0" dirty="0" smtClean="0">
                  <a:solidFill>
                    <a:schemeClr val="tx1"/>
                  </a:solidFill>
                  <a:latin typeface="Consolas"/>
                  <a:cs typeface="Consolas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0" dirty="0">
                  <a:solidFill>
                    <a:schemeClr val="tx1"/>
                  </a:solidFill>
                  <a:latin typeface="Consolas"/>
                  <a:cs typeface="Consolas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0" dirty="0">
                  <a:solidFill>
                    <a:schemeClr val="tx1"/>
                  </a:solidFill>
                  <a:latin typeface="Consolas"/>
                  <a:cs typeface="Consolas"/>
                </a:endParaRPr>
              </a:p>
            </p:txBody>
          </p:sp>
          <p:sp>
            <p:nvSpPr>
              <p:cNvPr id="46" name="Rounded Rectangle 45"/>
              <p:cNvSpPr/>
              <p:nvPr/>
            </p:nvSpPr>
            <p:spPr>
              <a:xfrm>
                <a:off x="1981200" y="3590630"/>
                <a:ext cx="1676400" cy="1676400"/>
              </a:xfrm>
              <a:prstGeom prst="roundRect">
                <a:avLst/>
              </a:prstGeom>
              <a:noFill/>
              <a:ln w="9525" cap="flat" cmpd="sng" algn="ctr">
                <a:noFill/>
                <a:prstDash val="solid"/>
              </a:ln>
              <a:effectLst>
                <a:outerShdw blurRad="40000" dist="35687" dir="27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Consolas"/>
                  <a:cs typeface="Consola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0" dirty="0">
                  <a:latin typeface="Consolas"/>
                  <a:cs typeface="Consola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Consolas"/>
                  <a:cs typeface="Consola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Consolas"/>
                  <a:cs typeface="Consola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Consolas"/>
                    <a:cs typeface="Consolas"/>
                  </a:rPr>
                  <a:t>010100101010101001010110111010101001010101010</a:t>
                </a:r>
              </a:p>
              <a:p>
                <a:pPr lvl="0" algn="ctr">
                  <a:defRPr/>
                </a:pPr>
                <a:r>
                  <a:rPr lang="en-US" sz="1200" kern="0" dirty="0" smtClean="0">
                    <a:latin typeface="Consolas"/>
                    <a:cs typeface="Consolas"/>
                  </a:rPr>
                  <a:t>010100101010101</a:t>
                </a:r>
                <a:endParaRPr kumimoji="0" lang="en-US" sz="12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Consolas"/>
                  <a:cs typeface="Consolas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5943600" y="1488758"/>
              <a:ext cx="2438400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ctr">
                <a:buClr>
                  <a:schemeClr val="accent1"/>
                </a:buClr>
              </a:pPr>
              <a:r>
                <a:rPr lang="en-US" sz="3200" dirty="0" smtClean="0"/>
                <a:t>Compiled C Programs</a:t>
              </a:r>
              <a:endParaRPr lang="en-US" sz="32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042739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104"/>
    </mc:Choice>
    <mc:Fallback xmlns="">
      <p:transition xmlns:p14="http://schemas.microsoft.com/office/powerpoint/2010/main" spd="slow" advTm="1121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Reverse Engineering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1356190"/>
            <a:ext cx="8382000" cy="272415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4000" dirty="0" smtClean="0">
                <a:latin typeface="+mj-lt"/>
              </a:rPr>
              <a:t>“</a:t>
            </a:r>
            <a:r>
              <a:rPr lang="en-US" sz="4000" u="sng" dirty="0" smtClean="0">
                <a:latin typeface="+mj-lt"/>
              </a:rPr>
              <a:t>Reverse engineering</a:t>
            </a:r>
            <a:r>
              <a:rPr lang="en-US" sz="4000" dirty="0" smtClean="0">
                <a:latin typeface="+mj-lt"/>
              </a:rPr>
              <a:t> is the process of analyzing a subject system to create representations of the system at a higher level of </a:t>
            </a:r>
            <a:r>
              <a:rPr lang="en-US" sz="4000" u="sng" dirty="0" smtClean="0">
                <a:latin typeface="+mj-lt"/>
              </a:rPr>
              <a:t>abstraction</a:t>
            </a:r>
            <a:r>
              <a:rPr lang="en-US" sz="4000" dirty="0" smtClean="0">
                <a:latin typeface="+mj-lt"/>
              </a:rPr>
              <a:t>.”</a:t>
            </a:r>
            <a:endParaRPr lang="en-US" sz="4000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4225897"/>
            <a:ext cx="6019800" cy="6155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2000" dirty="0" err="1" smtClean="0">
                <a:solidFill>
                  <a:schemeClr val="bg1">
                    <a:lumMod val="50000"/>
                  </a:schemeClr>
                </a:solidFill>
              </a:rPr>
              <a:t>Chikofsky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 and Cross</a:t>
            </a:r>
          </a:p>
          <a:p>
            <a:pPr>
              <a:buClr>
                <a:schemeClr val="accent1"/>
              </a:buClr>
            </a:pP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Software Reuse and Reverse Engineering in Practice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45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1143000"/>
            <a:ext cx="9144000" cy="25146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5"/>
              </a:gs>
            </a:gsLst>
            <a:lin ang="8100000" scaled="1"/>
            <a:tileRect/>
          </a:gra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Reverse Engineering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228600" y="1452304"/>
            <a:ext cx="1371600" cy="137160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9" name="Left Arrow 8"/>
          <p:cNvSpPr/>
          <p:nvPr/>
        </p:nvSpPr>
        <p:spPr>
          <a:xfrm>
            <a:off x="1664390" y="1757104"/>
            <a:ext cx="914400" cy="762000"/>
          </a:xfrm>
          <a:prstGeom prst="left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642980" y="1447800"/>
            <a:ext cx="1371600" cy="137160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12" name="Left Arrow 11"/>
          <p:cNvSpPr/>
          <p:nvPr/>
        </p:nvSpPr>
        <p:spPr>
          <a:xfrm>
            <a:off x="4078770" y="1752600"/>
            <a:ext cx="914400" cy="762000"/>
          </a:xfrm>
          <a:prstGeom prst="left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57360" y="1447800"/>
            <a:ext cx="1371600" cy="137160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14" name="Left Arrow 13"/>
          <p:cNvSpPr/>
          <p:nvPr/>
        </p:nvSpPr>
        <p:spPr>
          <a:xfrm>
            <a:off x="6493150" y="1752600"/>
            <a:ext cx="914400" cy="762000"/>
          </a:xfrm>
          <a:prstGeom prst="left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471741" y="1461052"/>
            <a:ext cx="1371600" cy="137160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5287" y="2969678"/>
            <a:ext cx="2667000" cy="49244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US" sz="3200" dirty="0" smtClean="0"/>
              <a:t>Abstraction</a:t>
            </a:r>
            <a:endParaRPr lang="en-US" sz="3200" dirty="0"/>
          </a:p>
        </p:txBody>
      </p:sp>
      <p:sp>
        <p:nvSpPr>
          <p:cNvPr id="18" name="TextBox 17"/>
          <p:cNvSpPr txBox="1"/>
          <p:nvPr/>
        </p:nvSpPr>
        <p:spPr>
          <a:xfrm>
            <a:off x="7174810" y="2997547"/>
            <a:ext cx="1668531" cy="49244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US" sz="3200" dirty="0" smtClean="0"/>
              <a:t>Binary</a:t>
            </a:r>
            <a:endParaRPr lang="en-US" sz="3200" dirty="0"/>
          </a:p>
        </p:txBody>
      </p:sp>
      <p:sp>
        <p:nvSpPr>
          <p:cNvPr id="20" name="Left Arrow 19"/>
          <p:cNvSpPr/>
          <p:nvPr/>
        </p:nvSpPr>
        <p:spPr>
          <a:xfrm>
            <a:off x="1969190" y="4038600"/>
            <a:ext cx="5205620" cy="1447800"/>
          </a:xfrm>
          <a:prstGeom prst="lef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ysClr val="windowText" lastClr="000000"/>
                </a:solidFill>
              </a:rPr>
              <a:t>More Abstract</a:t>
            </a:r>
          </a:p>
          <a:p>
            <a:pPr algn="ctr"/>
            <a:r>
              <a:rPr lang="en-US" sz="2400" dirty="0" smtClean="0">
                <a:solidFill>
                  <a:sysClr val="windowText" lastClr="000000"/>
                </a:solidFill>
              </a:rPr>
              <a:t>Less Detail</a:t>
            </a:r>
          </a:p>
        </p:txBody>
      </p:sp>
    </p:spTree>
    <p:extLst>
      <p:ext uri="{BB962C8B-B14F-4D97-AF65-F5344CB8AC3E}">
        <p14:creationId xmlns:p14="http://schemas.microsoft.com/office/powerpoint/2010/main" val="440882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3657600" y="1143000"/>
            <a:ext cx="5486400" cy="5715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5"/>
              </a:gs>
            </a:gsLst>
            <a:lin ang="5400000" scaled="0"/>
            <a:tileRect/>
          </a:gra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Abstraction Recovery</a:t>
            </a:r>
            <a:endParaRPr lang="en-US" dirty="0"/>
          </a:p>
        </p:txBody>
      </p:sp>
      <p:grpSp>
        <p:nvGrpSpPr>
          <p:cNvPr id="41" name="Group 40"/>
          <p:cNvGrpSpPr/>
          <p:nvPr/>
        </p:nvGrpSpPr>
        <p:grpSpPr>
          <a:xfrm>
            <a:off x="3962401" y="3848100"/>
            <a:ext cx="4648200" cy="2400300"/>
            <a:chOff x="4343401" y="3848100"/>
            <a:chExt cx="4648200" cy="2400300"/>
          </a:xfrm>
        </p:grpSpPr>
        <p:sp>
          <p:nvSpPr>
            <p:cNvPr id="16" name="Rounded Rectangle 15"/>
            <p:cNvSpPr/>
            <p:nvPr/>
          </p:nvSpPr>
          <p:spPr>
            <a:xfrm>
              <a:off x="4343401" y="5334000"/>
              <a:ext cx="4648200" cy="914400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400" dirty="0" smtClean="0">
                  <a:solidFill>
                    <a:sysClr val="windowText" lastClr="000000"/>
                  </a:solidFill>
                </a:rPr>
                <a:t>Static </a:t>
              </a:r>
              <a:r>
                <a:rPr lang="en-US" sz="2400" u="sng" dirty="0" smtClean="0">
                  <a:solidFill>
                    <a:sysClr val="windowText" lastClr="000000"/>
                  </a:solidFill>
                </a:rPr>
                <a:t>Source</a:t>
              </a:r>
              <a:r>
                <a:rPr lang="en-US" sz="2400" dirty="0" smtClean="0">
                  <a:solidFill>
                    <a:sysClr val="windowText" lastClr="000000"/>
                  </a:solidFill>
                </a:rPr>
                <a:t> </a:t>
              </a:r>
              <a:br>
                <a:rPr lang="en-US" sz="2400" dirty="0" smtClean="0">
                  <a:solidFill>
                    <a:sysClr val="windowText" lastClr="000000"/>
                  </a:solidFill>
                </a:rPr>
              </a:br>
              <a:r>
                <a:rPr lang="en-US" sz="2400" dirty="0" smtClean="0">
                  <a:solidFill>
                    <a:sysClr val="windowText" lastClr="000000"/>
                  </a:solidFill>
                </a:rPr>
                <a:t>Code Analysis</a:t>
              </a:r>
            </a:p>
          </p:txBody>
        </p:sp>
        <p:cxnSp>
          <p:nvCxnSpPr>
            <p:cNvPr id="17" name="Straight Arrow Connector 25"/>
            <p:cNvCxnSpPr>
              <a:stCxn id="13" idx="3"/>
              <a:endCxn id="16" idx="3"/>
            </p:cNvCxnSpPr>
            <p:nvPr/>
          </p:nvCxnSpPr>
          <p:spPr>
            <a:xfrm>
              <a:off x="8991600" y="3848100"/>
              <a:ext cx="1" cy="1943100"/>
            </a:xfrm>
            <a:prstGeom prst="curvedConnector3">
              <a:avLst>
                <a:gd name="adj1" fmla="val 22860100000"/>
              </a:avLst>
            </a:prstGeom>
            <a:ln>
              <a:headEnd type="none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Rectangle 4"/>
          <p:cNvSpPr/>
          <p:nvPr/>
        </p:nvSpPr>
        <p:spPr>
          <a:xfrm>
            <a:off x="-457200" y="609600"/>
            <a:ext cx="9829800" cy="6400800"/>
          </a:xfrm>
          <a:prstGeom prst="rect">
            <a:avLst/>
          </a:prstGeom>
          <a:solidFill>
            <a:schemeClr val="bg1">
              <a:alpha val="67000"/>
            </a:schemeClr>
          </a:soli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52400" y="838199"/>
            <a:ext cx="8839200" cy="4314825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4800" y="1295400"/>
            <a:ext cx="3200400" cy="49244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3200" dirty="0" smtClean="0"/>
              <a:t>Choose abstraction</a:t>
            </a:r>
            <a:r>
              <a:rPr lang="en-US" sz="3200" dirty="0"/>
              <a:t>s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3200" dirty="0" smtClean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3200" dirty="0" smtClean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3200" dirty="0" smtClean="0"/>
              <a:t>Recover</a:t>
            </a:r>
            <a:br>
              <a:rPr lang="en-US" sz="3200" dirty="0" smtClean="0"/>
            </a:br>
            <a:r>
              <a:rPr lang="en-US" sz="3200" dirty="0" smtClean="0"/>
              <a:t>abstractions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3200" dirty="0" smtClean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3200" dirty="0" smtClean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3200" dirty="0" smtClean="0"/>
              <a:t>Scalable, high-level reasoning</a:t>
            </a:r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152400" y="5211060"/>
            <a:ext cx="3352800" cy="1189740"/>
          </a:xfrm>
          <a:prstGeom prst="rect">
            <a:avLst/>
          </a:prstGeom>
          <a:solidFill>
            <a:schemeClr val="bg1">
              <a:alpha val="78000"/>
            </a:schemeClr>
          </a:soli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3962400" y="1990430"/>
            <a:ext cx="4648200" cy="2352970"/>
            <a:chOff x="4343400" y="1990430"/>
            <a:chExt cx="4648200" cy="2352970"/>
          </a:xfrm>
        </p:grpSpPr>
        <p:sp>
          <p:nvSpPr>
            <p:cNvPr id="12" name="Rounded Rectangle 11"/>
            <p:cNvSpPr/>
            <p:nvPr/>
          </p:nvSpPr>
          <p:spPr>
            <a:xfrm>
              <a:off x="4343400" y="3352800"/>
              <a:ext cx="2438400" cy="990600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+mn-ea"/>
                  <a:cs typeface="Consolas"/>
                </a:rPr>
                <a:t>Decompilation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404100" y="3352800"/>
              <a:ext cx="1587500" cy="990600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Char char="•"/>
                <a:tabLst/>
                <a:defRPr/>
              </a:pPr>
              <a:r>
                <a:rPr lang="en-US" kern="0" dirty="0" smtClean="0">
                  <a:solidFill>
                    <a:sysClr val="windowText" lastClr="000000"/>
                  </a:solidFill>
                  <a:latin typeface="Consolas"/>
                  <a:cs typeface="Consolas"/>
                </a:rPr>
                <a:t>Functions</a:t>
              </a: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Char char="•"/>
                <a:tabLst/>
                <a:defRPr/>
              </a:pPr>
              <a:r>
                <a:rPr kumimoji="0" lang="en-US" b="0" i="0" u="none" strike="noStrike" kern="0" cap="none" spc="0" normalizeH="0" baseline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nsolas"/>
                  <a:cs typeface="Consolas"/>
                </a:rPr>
                <a:t>Types</a:t>
              </a: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Char char="•"/>
                <a:tabLst/>
                <a:defRPr/>
              </a:pPr>
              <a:r>
                <a:rPr lang="en-US" kern="0" dirty="0" smtClean="0">
                  <a:solidFill>
                    <a:sysClr val="windowText" lastClr="000000"/>
                  </a:solidFill>
                  <a:latin typeface="Consolas"/>
                  <a:cs typeface="Consolas"/>
                </a:rPr>
                <a:t>Variables</a:t>
              </a:r>
            </a:p>
          </p:txBody>
        </p:sp>
        <p:cxnSp>
          <p:nvCxnSpPr>
            <p:cNvPr id="34" name="Curved Connector 33"/>
            <p:cNvCxnSpPr>
              <a:stCxn id="46" idx="1"/>
              <a:endCxn id="12" idx="1"/>
            </p:cNvCxnSpPr>
            <p:nvPr/>
          </p:nvCxnSpPr>
          <p:spPr>
            <a:xfrm rot="10800000" flipV="1">
              <a:off x="4343400" y="1990430"/>
              <a:ext cx="12700" cy="1857670"/>
            </a:xfrm>
            <a:prstGeom prst="curvedConnector3">
              <a:avLst>
                <a:gd name="adj1" fmla="val 1800000"/>
              </a:avLst>
            </a:prstGeom>
            <a:ln>
              <a:headEnd type="none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urved Connector 36"/>
            <p:cNvCxnSpPr>
              <a:stCxn id="12" idx="3"/>
              <a:endCxn id="13" idx="1"/>
            </p:cNvCxnSpPr>
            <p:nvPr/>
          </p:nvCxnSpPr>
          <p:spPr>
            <a:xfrm>
              <a:off x="6781800" y="3848100"/>
              <a:ext cx="622300" cy="0"/>
            </a:xfrm>
            <a:prstGeom prst="straightConnector1">
              <a:avLst/>
            </a:prstGeom>
            <a:ln>
              <a:headEnd type="none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3962400" y="1143000"/>
            <a:ext cx="4038600" cy="1685630"/>
            <a:chOff x="4343400" y="1143000"/>
            <a:chExt cx="4038600" cy="1685630"/>
          </a:xfrm>
        </p:grpSpPr>
        <p:grpSp>
          <p:nvGrpSpPr>
            <p:cNvPr id="44" name="Group 43"/>
            <p:cNvGrpSpPr/>
            <p:nvPr/>
          </p:nvGrpSpPr>
          <p:grpSpPr>
            <a:xfrm>
              <a:off x="4343400" y="1143000"/>
              <a:ext cx="1676400" cy="1685630"/>
              <a:chOff x="1981200" y="3581400"/>
              <a:chExt cx="1676400" cy="1685630"/>
            </a:xfrm>
          </p:grpSpPr>
          <p:sp>
            <p:nvSpPr>
              <p:cNvPr id="45" name="Rounded Rectangle 44"/>
              <p:cNvSpPr/>
              <p:nvPr/>
            </p:nvSpPr>
            <p:spPr>
              <a:xfrm>
                <a:off x="1981200" y="3581400"/>
                <a:ext cx="1676400" cy="1676400"/>
              </a:xfrm>
              <a:prstGeom prst="round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0" dirty="0" err="1">
                    <a:solidFill>
                      <a:schemeClr val="tx1"/>
                    </a:solidFill>
                    <a:latin typeface="Consolas"/>
                    <a:cs typeface="Consolas"/>
                  </a:rPr>
                  <a:t>i</a:t>
                </a:r>
                <a:r>
                  <a:rPr kumimoji="0" lang="en-US" sz="1200" b="0" i="0" u="none" strike="noStrike" kern="0" cap="none" spc="0" normalizeH="0" baseline="0" noProof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nsolas"/>
                    <a:ea typeface="+mn-ea"/>
                    <a:cs typeface="Consolas"/>
                  </a:rPr>
                  <a:t>nt</a:t>
                </a: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nsolas"/>
                    <a:ea typeface="+mn-ea"/>
                    <a:cs typeface="Consolas"/>
                  </a:rPr>
                  <a:t> f (</a:t>
                </a:r>
                <a:r>
                  <a:rPr kumimoji="0" lang="en-US" sz="1200" b="0" i="0" u="none" strike="noStrike" kern="0" cap="none" spc="0" normalizeH="0" baseline="0" noProof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nsolas"/>
                    <a:ea typeface="+mn-ea"/>
                    <a:cs typeface="Consolas"/>
                  </a:rPr>
                  <a:t>int</a:t>
                </a: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nsolas"/>
                    <a:ea typeface="+mn-ea"/>
                    <a:cs typeface="Consolas"/>
                  </a:rPr>
                  <a:t> x) {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0" noProof="0" dirty="0" err="1" smtClean="0">
                    <a:solidFill>
                      <a:schemeClr val="tx1"/>
                    </a:solidFill>
                    <a:latin typeface="Consolas"/>
                    <a:cs typeface="Consolas"/>
                  </a:rPr>
                  <a:t>int</a:t>
                </a:r>
                <a:r>
                  <a:rPr lang="en-US" sz="1200" kern="0" noProof="0" dirty="0" smtClean="0">
                    <a:solidFill>
                      <a:schemeClr val="tx1"/>
                    </a:solidFill>
                    <a:latin typeface="Consolas"/>
                    <a:cs typeface="Consolas"/>
                  </a:rPr>
                  <a:t> y = 1;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0" dirty="0">
                    <a:solidFill>
                      <a:schemeClr val="tx1"/>
                    </a:solidFill>
                    <a:latin typeface="Consolas"/>
                    <a:cs typeface="Consolas"/>
                  </a:rPr>
                  <a:t>w</a:t>
                </a:r>
                <a:r>
                  <a:rPr kumimoji="0" lang="en-US" sz="1200" b="0" i="0" u="none" strike="noStrike" kern="0" cap="none" spc="0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nsolas"/>
                    <a:ea typeface="+mn-ea"/>
                    <a:cs typeface="Consolas"/>
                  </a:rPr>
                  <a:t>hile (x &gt; y) {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0" dirty="0" smtClean="0">
                    <a:solidFill>
                      <a:schemeClr val="tx1"/>
                    </a:solidFill>
                    <a:latin typeface="Consolas"/>
                    <a:cs typeface="Consolas"/>
                  </a:rPr>
                  <a:t>  y++;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0" dirty="0">
                  <a:solidFill>
                    <a:schemeClr val="tx1"/>
                  </a:solidFill>
                  <a:latin typeface="Consolas"/>
                  <a:cs typeface="Consolas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0" dirty="0" smtClean="0">
                  <a:solidFill>
                    <a:schemeClr val="tx1"/>
                  </a:solidFill>
                  <a:latin typeface="Consolas"/>
                  <a:cs typeface="Consolas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0" dirty="0">
                  <a:solidFill>
                    <a:schemeClr val="tx1"/>
                  </a:solidFill>
                  <a:latin typeface="Consolas"/>
                  <a:cs typeface="Consolas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0" dirty="0">
                  <a:solidFill>
                    <a:schemeClr val="tx1"/>
                  </a:solidFill>
                  <a:latin typeface="Consolas"/>
                  <a:cs typeface="Consolas"/>
                </a:endParaRPr>
              </a:p>
            </p:txBody>
          </p:sp>
          <p:sp>
            <p:nvSpPr>
              <p:cNvPr id="46" name="Rounded Rectangle 45"/>
              <p:cNvSpPr/>
              <p:nvPr/>
            </p:nvSpPr>
            <p:spPr>
              <a:xfrm>
                <a:off x="1981200" y="3590630"/>
                <a:ext cx="1676400" cy="1676400"/>
              </a:xfrm>
              <a:prstGeom prst="roundRect">
                <a:avLst/>
              </a:prstGeom>
              <a:noFill/>
              <a:ln w="9525" cap="flat" cmpd="sng" algn="ctr">
                <a:noFill/>
                <a:prstDash val="solid"/>
              </a:ln>
              <a:effectLst>
                <a:outerShdw blurRad="40000" dist="35687" dir="27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Consolas"/>
                  <a:cs typeface="Consola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0" dirty="0">
                  <a:latin typeface="Consolas"/>
                  <a:cs typeface="Consola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Consolas"/>
                  <a:cs typeface="Consola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Consolas"/>
                  <a:cs typeface="Consola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Consolas"/>
                    <a:cs typeface="Consolas"/>
                  </a:rPr>
                  <a:t>010100101010101001010110111010101001010101010</a:t>
                </a:r>
              </a:p>
              <a:p>
                <a:pPr lvl="0" algn="ctr">
                  <a:defRPr/>
                </a:pPr>
                <a:r>
                  <a:rPr lang="en-US" sz="1200" kern="0" dirty="0" smtClean="0">
                    <a:latin typeface="Consolas"/>
                    <a:cs typeface="Consolas"/>
                  </a:rPr>
                  <a:t>010100101010101</a:t>
                </a:r>
                <a:endParaRPr kumimoji="0" lang="en-US" sz="12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Consolas"/>
                  <a:cs typeface="Consolas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5943600" y="1488758"/>
              <a:ext cx="2438400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ctr">
                <a:buClr>
                  <a:schemeClr val="accent1"/>
                </a:buClr>
              </a:pPr>
              <a:r>
                <a:rPr lang="en-US" sz="3200" dirty="0" smtClean="0"/>
                <a:t>Compiled C Programs</a:t>
              </a:r>
              <a:endParaRPr lang="en-US" sz="3200" dirty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2895600" y="4572000"/>
            <a:ext cx="3608104" cy="49244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3200" dirty="0" smtClean="0"/>
              <a:t>Reverse Engineering</a:t>
            </a:r>
            <a:endParaRPr lang="en-US" sz="3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2677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104"/>
    </mc:Choice>
    <mc:Fallback xmlns="">
      <p:transition spd="slow" advTm="1121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6" grpId="0" animBg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endParaRPr lang="en-US" dirty="0" smtClean="0"/>
          </a:p>
          <a:p>
            <a:r>
              <a:rPr lang="en-US" dirty="0" smtClean="0"/>
              <a:t>Recovering Abstractions</a:t>
            </a:r>
            <a:endParaRPr lang="en-US" dirty="0"/>
          </a:p>
          <a:p>
            <a:pPr lvl="1"/>
            <a:r>
              <a:rPr lang="en-US" u="sng" dirty="0" smtClean="0"/>
              <a:t>C </a:t>
            </a:r>
            <a:r>
              <a:rPr lang="en-US" u="sng" dirty="0"/>
              <a:t>a</a:t>
            </a:r>
            <a:r>
              <a:rPr lang="en-US" u="sng" dirty="0" smtClean="0"/>
              <a:t>bstractions (Phoenix </a:t>
            </a:r>
            <a:r>
              <a:rPr lang="en-US" u="sng" dirty="0" err="1" smtClean="0"/>
              <a:t>Decompiler</a:t>
            </a:r>
            <a:r>
              <a:rPr lang="en-US" u="sng" dirty="0" smtClean="0"/>
              <a:t>)</a:t>
            </a:r>
            <a:endParaRPr lang="en-US" u="sng" dirty="0"/>
          </a:p>
          <a:p>
            <a:pPr lvl="1"/>
            <a:r>
              <a:rPr lang="en-US" dirty="0" smtClean="0"/>
              <a:t>Gadget abstractions (Q ROP Compiler)</a:t>
            </a:r>
          </a:p>
          <a:p>
            <a:endParaRPr lang="en-US" dirty="0" smtClean="0"/>
          </a:p>
          <a:p>
            <a:r>
              <a:rPr lang="en-US" dirty="0" smtClean="0"/>
              <a:t>Future Work and Conclusions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66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813"/>
    </mc:Choice>
    <mc:Fallback xmlns="">
      <p:transition xmlns:p14="http://schemas.microsoft.com/office/powerpoint/2010/main" spd="slow" advTm="63813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295400" y="570829"/>
            <a:ext cx="1676400" cy="16764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i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nt f (int x)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noProof="0" dirty="0" smtClean="0">
                <a:solidFill>
                  <a:sysClr val="windowText" lastClr="000000"/>
                </a:solidFill>
                <a:latin typeface="Consolas"/>
                <a:cs typeface="Consolas"/>
              </a:rPr>
              <a:t>int y = 1;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while (x &gt; y)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 smtClean="0">
                <a:solidFill>
                  <a:sysClr val="windowText" lastClr="000000"/>
                </a:solidFill>
                <a:latin typeface="Consolas"/>
                <a:cs typeface="Consolas"/>
              </a:rPr>
              <a:t>  y++;</a:t>
            </a:r>
            <a:endParaRPr lang="en-US" sz="12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 smtClean="0">
                <a:solidFill>
                  <a:sysClr val="windowText" lastClr="000000"/>
                </a:solidFill>
                <a:latin typeface="Consolas"/>
                <a:cs typeface="Consolas"/>
              </a:rPr>
              <a:t>return y;</a:t>
            </a:r>
            <a:endParaRPr kumimoji="0" lang="en-US" sz="12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/>
              <a:cs typeface="Consola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733800" y="3877558"/>
            <a:ext cx="1676400" cy="16764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010100101010101001010110111010101001010101010101111100010100010101101001010100010010101101010101011010111</a:t>
            </a: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/>
              <a:ea typeface="+mn-ea"/>
              <a:cs typeface="Consolas"/>
            </a:endParaRPr>
          </a:p>
        </p:txBody>
      </p:sp>
      <p:sp>
        <p:nvSpPr>
          <p:cNvPr id="12" name="Right Arrow 11"/>
          <p:cNvSpPr/>
          <p:nvPr/>
        </p:nvSpPr>
        <p:spPr>
          <a:xfrm rot="2603060">
            <a:off x="2838302" y="2614991"/>
            <a:ext cx="1819656" cy="987552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ysClr val="windowText" lastClr="000000"/>
                </a:solidFill>
              </a:rPr>
              <a:t>Compiler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2191472"/>
            <a:ext cx="1873018" cy="9848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US" sz="3200" dirty="0" smtClean="0"/>
              <a:t>Original</a:t>
            </a:r>
          </a:p>
          <a:p>
            <a:pPr algn="ctr">
              <a:buClr>
                <a:schemeClr val="accent1"/>
              </a:buClr>
            </a:pPr>
            <a:r>
              <a:rPr lang="en-US" sz="3200" dirty="0" smtClean="0"/>
              <a:t>Source</a:t>
            </a:r>
            <a:endParaRPr lang="en-US" sz="3200" dirty="0"/>
          </a:p>
        </p:txBody>
      </p:sp>
      <p:grpSp>
        <p:nvGrpSpPr>
          <p:cNvPr id="10" name="Group 9"/>
          <p:cNvGrpSpPr/>
          <p:nvPr/>
        </p:nvGrpSpPr>
        <p:grpSpPr>
          <a:xfrm>
            <a:off x="4459001" y="576067"/>
            <a:ext cx="3480006" cy="2802933"/>
            <a:chOff x="4459001" y="1118109"/>
            <a:chExt cx="3480006" cy="2802933"/>
          </a:xfrm>
        </p:grpSpPr>
        <p:sp>
          <p:nvSpPr>
            <p:cNvPr id="11" name="Rounded Rectangle 10"/>
            <p:cNvSpPr/>
            <p:nvPr/>
          </p:nvSpPr>
          <p:spPr>
            <a:xfrm>
              <a:off x="6072546" y="1118109"/>
              <a:ext cx="1699854" cy="1699854"/>
            </a:xfrm>
            <a:prstGeom prst="round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sysClr val="windowText" lastClr="000000"/>
                  </a:solidFill>
                  <a:latin typeface="Consolas"/>
                  <a:cs typeface="Consolas"/>
                </a:rPr>
                <a:t>i</a:t>
              </a:r>
              <a:r>
                <a: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nsolas"/>
                  <a:ea typeface="+mn-ea"/>
                  <a:cs typeface="Consolas"/>
                </a:rPr>
                <a:t>nt f (int a) {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noProof="0" dirty="0" smtClean="0">
                  <a:solidFill>
                    <a:sysClr val="windowText" lastClr="000000"/>
                  </a:solidFill>
                  <a:latin typeface="Consolas"/>
                  <a:cs typeface="Consolas"/>
                </a:rPr>
                <a:t>int v = 1;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nsolas"/>
                  <a:ea typeface="+mn-ea"/>
                  <a:cs typeface="Consolas"/>
                </a:rPr>
                <a:t>while (a &gt; </a:t>
              </a:r>
              <a:r>
                <a:rPr lang="en-US" sz="1200" kern="0" dirty="0">
                  <a:solidFill>
                    <a:sysClr val="windowText" lastClr="000000"/>
                  </a:solidFill>
                  <a:latin typeface="Consolas"/>
                  <a:cs typeface="Consolas"/>
                </a:rPr>
                <a:t>v</a:t>
              </a:r>
              <a:r>
                <a:rPr kumimoji="0" lang="en-US" sz="1200" b="0" i="0" u="none" strike="noStrike" kern="0" cap="none" spc="0" normalizeH="0" baseline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nsolas"/>
                  <a:ea typeface="+mn-ea"/>
                  <a:cs typeface="Consolas"/>
                </a:rPr>
                <a:t>++) {}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200" kern="0" dirty="0">
                <a:solidFill>
                  <a:sysClr val="windowText" lastClr="000000"/>
                </a:solidFill>
                <a:latin typeface="Consolas"/>
                <a:cs typeface="Consola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 smtClean="0">
                  <a:solidFill>
                    <a:sysClr val="windowText" lastClr="000000"/>
                  </a:solidFill>
                  <a:latin typeface="Consolas"/>
                  <a:cs typeface="Consolas"/>
                </a:rPr>
                <a:t>return v;</a:t>
              </a:r>
              <a:endParaRPr kumimoji="0" lang="en-US" sz="1200" b="0" i="0" u="none" strike="noStrike" kern="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/>
                <a:cs typeface="Consolas"/>
              </a:endParaRPr>
            </a:p>
          </p:txBody>
        </p:sp>
        <p:sp>
          <p:nvSpPr>
            <p:cNvPr id="13" name="Right Arrow 12"/>
            <p:cNvSpPr/>
            <p:nvPr/>
          </p:nvSpPr>
          <p:spPr>
            <a:xfrm rot="18940167">
              <a:off x="4459001" y="2933349"/>
              <a:ext cx="1818950" cy="987693"/>
            </a:xfrm>
            <a:prstGeom prst="rightArrow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400" dirty="0" smtClean="0">
                  <a:solidFill>
                    <a:sysClr val="windowText" lastClr="000000"/>
                  </a:solidFill>
                </a:rPr>
                <a:t>Decompiler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065989" y="2777370"/>
              <a:ext cx="1873018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>
                <a:buClr>
                  <a:schemeClr val="accent1"/>
                </a:buClr>
              </a:pPr>
              <a:r>
                <a:rPr lang="en-US" sz="3200" dirty="0" smtClean="0"/>
                <a:t>Recovered</a:t>
              </a:r>
            </a:p>
            <a:p>
              <a:pPr algn="ctr">
                <a:buClr>
                  <a:schemeClr val="accent1"/>
                </a:buClr>
              </a:pPr>
              <a:r>
                <a:rPr lang="en-US" sz="3200" dirty="0" smtClean="0"/>
                <a:t>Source</a:t>
              </a:r>
              <a:endParaRPr lang="en-US" sz="3200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1257898" y="312381"/>
            <a:ext cx="3200400" cy="3534657"/>
          </a:xfrm>
          <a:prstGeom prst="rect">
            <a:avLst/>
          </a:prstGeom>
          <a:solidFill>
            <a:schemeClr val="bg1">
              <a:alpha val="85000"/>
            </a:schemeClr>
          </a:soli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39826" y="5505297"/>
            <a:ext cx="3864348" cy="9848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US" sz="3200" dirty="0" smtClean="0"/>
              <a:t>Compiled</a:t>
            </a:r>
          </a:p>
          <a:p>
            <a:pPr algn="ctr">
              <a:buClr>
                <a:schemeClr val="accent1"/>
              </a:buClr>
            </a:pPr>
            <a:r>
              <a:rPr lang="en-US" sz="3200" dirty="0" smtClean="0"/>
              <a:t>Binary</a:t>
            </a:r>
            <a:endParaRPr lang="en-US" sz="3200" dirty="0"/>
          </a:p>
        </p:txBody>
      </p:sp>
      <p:sp>
        <p:nvSpPr>
          <p:cNvPr id="16" name="Rectangle 15"/>
          <p:cNvSpPr/>
          <p:nvPr/>
        </p:nvSpPr>
        <p:spPr>
          <a:xfrm>
            <a:off x="4495800" y="253319"/>
            <a:ext cx="3516875" cy="3534657"/>
          </a:xfrm>
          <a:prstGeom prst="rect">
            <a:avLst/>
          </a:prstGeom>
          <a:solidFill>
            <a:schemeClr val="bg1">
              <a:alpha val="85000"/>
            </a:schemeClr>
          </a:soli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fld id="{B747839D-A323-47F3-909F-548499399628}" type="slidenum">
              <a:rPr lang="en-US" smtClean="0"/>
              <a:t>12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4294967295"/>
          </p:nvPr>
        </p:nvSpPr>
        <p:spPr>
          <a:xfrm>
            <a:off x="6324600" y="6383338"/>
            <a:ext cx="2819400" cy="230187"/>
          </a:xfrm>
        </p:spPr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7351713" y="6218238"/>
            <a:ext cx="1792287" cy="230187"/>
          </a:xfrm>
        </p:spPr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212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43"/>
    </mc:Choice>
    <mc:Fallback xmlns="">
      <p:transition xmlns:p14="http://schemas.microsoft.com/office/powerpoint/2010/main" spd="slow" advTm="220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sz="3000" dirty="0" smtClean="0"/>
              <a:t>Designed for abstraction recovery</a:t>
            </a:r>
            <a:endParaRPr lang="en-US" sz="3000" b="1" dirty="0" smtClean="0"/>
          </a:p>
          <a:p>
            <a:pPr lvl="1"/>
            <a:r>
              <a:rPr lang="en-US" sz="2600" dirty="0" smtClean="0"/>
              <a:t>Correctness (new)</a:t>
            </a:r>
          </a:p>
          <a:p>
            <a:pPr lvl="2"/>
            <a:r>
              <a:rPr lang="en-US" sz="2200" dirty="0"/>
              <a:t>Prior work: focus on manual reverse engineering</a:t>
            </a:r>
          </a:p>
          <a:p>
            <a:pPr lvl="1"/>
            <a:r>
              <a:rPr lang="en-US" sz="2600" dirty="0" smtClean="0"/>
              <a:t>Effective abstraction recovery</a:t>
            </a:r>
          </a:p>
          <a:p>
            <a:endParaRPr lang="en-US" dirty="0"/>
          </a:p>
          <a:p>
            <a:r>
              <a:rPr lang="en-US" sz="3000" dirty="0" smtClean="0"/>
              <a:t>Design: series of stages</a:t>
            </a:r>
          </a:p>
          <a:p>
            <a:pPr lvl="1"/>
            <a:r>
              <a:rPr lang="en-US" sz="2600" dirty="0" smtClean="0"/>
              <a:t>Each stage recovers a different abstraction</a:t>
            </a:r>
          </a:p>
          <a:p>
            <a:pPr lvl="1"/>
            <a:r>
              <a:rPr lang="en-US" sz="2600" dirty="0" smtClean="0"/>
              <a:t>Some are new</a:t>
            </a:r>
            <a:r>
              <a:rPr lang="en-US" sz="2600" dirty="0"/>
              <a:t>;</a:t>
            </a:r>
            <a:r>
              <a:rPr lang="en-US" sz="2600" dirty="0" smtClean="0"/>
              <a:t> some are not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Phoenix </a:t>
            </a:r>
            <a:r>
              <a:rPr lang="en-US" dirty="0" err="1" smtClean="0"/>
              <a:t>Decompiler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13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355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943"/>
    </mc:Choice>
    <mc:Fallback xmlns="">
      <p:transition xmlns:p14="http://schemas.microsoft.com/office/powerpoint/2010/main" spd="slow" advTm="949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Phoenix Overview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1447800"/>
            <a:ext cx="1676400" cy="16764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010100101010101001010110111010101001010101010101111100010100010101101001010100010010101101010101011010111</a:t>
            </a: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/>
              <a:ea typeface="+mn-ea"/>
              <a:cs typeface="Consola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24200" y="1295400"/>
            <a:ext cx="4889500" cy="3886200"/>
          </a:xfrm>
          <a:prstGeom prst="roundRect">
            <a:avLst>
              <a:gd name="adj" fmla="val 12063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76600" y="1447800"/>
            <a:ext cx="2209800" cy="167640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Consolas"/>
              </a:rPr>
              <a:t>CFG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Consolas"/>
              </a:rPr>
              <a:t> Recovery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791200" y="1447800"/>
            <a:ext cx="2057400" cy="167640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Consolas"/>
              </a:rPr>
              <a:t>Variable and Type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Consolas"/>
              </a:rPr>
              <a:t> Recovery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Consola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802951" y="3322547"/>
            <a:ext cx="2045649" cy="16764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Consolas"/>
              </a:rPr>
              <a:t>Control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 smtClean="0">
                <a:solidFill>
                  <a:sysClr val="windowText" lastClr="000000"/>
                </a:solidFill>
                <a:cs typeface="Consolas"/>
              </a:rPr>
              <a:t>Flow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Consolas"/>
              </a:rPr>
              <a:t>Structuring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6594" y="3322547"/>
            <a:ext cx="2179806" cy="167640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Consolas"/>
              </a:rPr>
              <a:t>Source-code Output or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322547"/>
            <a:ext cx="1676400" cy="16764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i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nt f (int x)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noProof="0" dirty="0" smtClean="0">
                <a:solidFill>
                  <a:sysClr val="windowText" lastClr="000000"/>
                </a:solidFill>
                <a:latin typeface="Consolas"/>
                <a:cs typeface="Consolas"/>
              </a:rPr>
              <a:t>int y = 1;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while (x &gt; y)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 smtClean="0">
                <a:solidFill>
                  <a:sysClr val="windowText" lastClr="000000"/>
                </a:solidFill>
                <a:latin typeface="Consolas"/>
                <a:cs typeface="Consolas"/>
              </a:rPr>
              <a:t>  y++;</a:t>
            </a:r>
            <a:endParaRPr lang="en-US" sz="12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 smtClean="0">
                <a:solidFill>
                  <a:sysClr val="windowText" lastClr="000000"/>
                </a:solidFill>
                <a:latin typeface="Consolas"/>
                <a:cs typeface="Consolas"/>
              </a:rPr>
              <a:t>return y;</a:t>
            </a:r>
            <a:endParaRPr kumimoji="0" lang="en-US" sz="12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/>
              <a:cs typeface="Consolas"/>
            </a:endParaRPr>
          </a:p>
        </p:txBody>
      </p:sp>
      <p:cxnSp>
        <p:nvCxnSpPr>
          <p:cNvPr id="22" name="Straight Arrow Connector 21"/>
          <p:cNvCxnSpPr>
            <a:stCxn id="5" idx="3"/>
            <a:endCxn id="9" idx="1"/>
          </p:cNvCxnSpPr>
          <p:nvPr/>
        </p:nvCxnSpPr>
        <p:spPr>
          <a:xfrm>
            <a:off x="2590800" y="2286000"/>
            <a:ext cx="685800" cy="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3"/>
            <a:endCxn id="10" idx="1"/>
          </p:cNvCxnSpPr>
          <p:nvPr/>
        </p:nvCxnSpPr>
        <p:spPr>
          <a:xfrm>
            <a:off x="5486400" y="2286000"/>
            <a:ext cx="304800" cy="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Curved Connector 29"/>
          <p:cNvCxnSpPr>
            <a:stCxn id="10" idx="3"/>
            <a:endCxn id="11" idx="3"/>
          </p:cNvCxnSpPr>
          <p:nvPr/>
        </p:nvCxnSpPr>
        <p:spPr>
          <a:xfrm>
            <a:off x="7848600" y="2286000"/>
            <a:ext cx="12700" cy="1874747"/>
          </a:xfrm>
          <a:prstGeom prst="curvedConnector3">
            <a:avLst>
              <a:gd name="adj1" fmla="val 4823008"/>
            </a:avLst>
          </a:prstGeom>
          <a:ln>
            <a:headEnd type="none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12" idx="3"/>
          </p:cNvCxnSpPr>
          <p:nvPr/>
        </p:nvCxnSpPr>
        <p:spPr>
          <a:xfrm flipH="1">
            <a:off x="5486400" y="4160747"/>
            <a:ext cx="304800" cy="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2" idx="1"/>
            <a:endCxn id="14" idx="3"/>
          </p:cNvCxnSpPr>
          <p:nvPr/>
        </p:nvCxnSpPr>
        <p:spPr>
          <a:xfrm flipH="1">
            <a:off x="2590800" y="4160747"/>
            <a:ext cx="715794" cy="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295400" y="5167153"/>
            <a:ext cx="6565900" cy="646986"/>
          </a:xfrm>
          <a:prstGeom prst="round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35687" dir="2700000" rotWithShape="0">
              <a:srgbClr val="000000">
                <a:alpha val="35000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normalizeH="0" baseline="0" noProof="0" dirty="0" smtClean="0">
                <a:ln w="0"/>
                <a:effectLst/>
                <a:uLnTx/>
                <a:uFillTx/>
                <a:ea typeface="+mn-ea"/>
                <a:cs typeface="Consolas"/>
              </a:rPr>
              <a:t>New in Phoenix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4800" y="3238500"/>
            <a:ext cx="8382000" cy="2603818"/>
          </a:xfrm>
          <a:prstGeom prst="roundRect">
            <a:avLst/>
          </a:prstGeom>
          <a:noFill/>
          <a:ln w="34925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14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746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240"/>
    </mc:Choice>
    <mc:Fallback xmlns="">
      <p:transition xmlns:p14="http://schemas.microsoft.com/office/powerpoint/2010/main" spd="slow" advTm="852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build="allAtOnce" animBg="1"/>
      <p:bldP spid="12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/>
          <p:cNvSpPr/>
          <p:nvPr/>
        </p:nvSpPr>
        <p:spPr>
          <a:xfrm>
            <a:off x="0" y="3584448"/>
            <a:ext cx="9144000" cy="2587752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5"/>
              </a:gs>
            </a:gsLst>
            <a:lin ang="10800000" scaled="0"/>
          </a:gra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0" y="719557"/>
            <a:ext cx="9144000" cy="2587752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5"/>
              </a:gs>
            </a:gsLst>
            <a:lin ang="0" scaled="0"/>
          </a:gra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52" name="Right Arrow 51"/>
          <p:cNvSpPr/>
          <p:nvPr/>
        </p:nvSpPr>
        <p:spPr>
          <a:xfrm>
            <a:off x="2819400" y="991908"/>
            <a:ext cx="3276600" cy="1854465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3200" dirty="0" smtClean="0">
                <a:solidFill>
                  <a:sysClr val="windowText" lastClr="000000"/>
                </a:solidFill>
              </a:rPr>
              <a:t>Compilation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0465" y="733273"/>
            <a:ext cx="1987196" cy="256032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cxnSp>
        <p:nvCxnSpPr>
          <p:cNvPr id="16" name="Straight Arrow Connector 15"/>
          <p:cNvCxnSpPr>
            <a:endCxn id="21" idx="0"/>
          </p:cNvCxnSpPr>
          <p:nvPr/>
        </p:nvCxnSpPr>
        <p:spPr>
          <a:xfrm flipH="1">
            <a:off x="7778880" y="845765"/>
            <a:ext cx="5960" cy="365524"/>
          </a:xfrm>
          <a:prstGeom prst="straightConnector1">
            <a:avLst/>
          </a:prstGeom>
          <a:ln cap="rnd">
            <a:solidFill>
              <a:schemeClr val="tx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23" idx="4"/>
            <a:endCxn id="24" idx="1"/>
          </p:cNvCxnSpPr>
          <p:nvPr/>
        </p:nvCxnSpPr>
        <p:spPr>
          <a:xfrm>
            <a:off x="7506909" y="2125538"/>
            <a:ext cx="173560" cy="375164"/>
          </a:xfrm>
          <a:prstGeom prst="straightConnector1">
            <a:avLst/>
          </a:prstGeom>
          <a:ln cap="rnd">
            <a:solidFill>
              <a:schemeClr val="tx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22" idx="4"/>
            <a:endCxn id="24" idx="7"/>
          </p:cNvCxnSpPr>
          <p:nvPr/>
        </p:nvCxnSpPr>
        <p:spPr>
          <a:xfrm flipH="1">
            <a:off x="7877291" y="2113962"/>
            <a:ext cx="182942" cy="386739"/>
          </a:xfrm>
          <a:prstGeom prst="straightConnector1">
            <a:avLst/>
          </a:prstGeom>
          <a:ln cap="rnd">
            <a:solidFill>
              <a:schemeClr val="tx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21" idx="3"/>
            <a:endCxn id="23" idx="0"/>
          </p:cNvCxnSpPr>
          <p:nvPr/>
        </p:nvCxnSpPr>
        <p:spPr>
          <a:xfrm flipH="1">
            <a:off x="7506909" y="1448874"/>
            <a:ext cx="173560" cy="398315"/>
          </a:xfrm>
          <a:prstGeom prst="straightConnector1">
            <a:avLst/>
          </a:prstGeom>
          <a:ln cap="rnd">
            <a:solidFill>
              <a:schemeClr val="tx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1" idx="5"/>
            <a:endCxn id="22" idx="0"/>
          </p:cNvCxnSpPr>
          <p:nvPr/>
        </p:nvCxnSpPr>
        <p:spPr>
          <a:xfrm>
            <a:off x="7877291" y="1448874"/>
            <a:ext cx="182942" cy="386740"/>
          </a:xfrm>
          <a:prstGeom prst="straightConnector1">
            <a:avLst/>
          </a:prstGeom>
          <a:ln cap="rnd">
            <a:solidFill>
              <a:schemeClr val="tx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>
            <a:spLocks noChangeAspect="1"/>
          </p:cNvSpPr>
          <p:nvPr/>
        </p:nvSpPr>
        <p:spPr>
          <a:xfrm>
            <a:off x="7639705" y="1211289"/>
            <a:ext cx="278348" cy="278348"/>
          </a:xfrm>
          <a:prstGeom prst="ellips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lstStyle/>
          <a:p>
            <a:pPr algn="ctr"/>
            <a:endParaRPr lang="en-US" sz="2800" dirty="0" smtClean="0">
              <a:solidFill>
                <a:schemeClr val="bg1"/>
              </a:solidFill>
            </a:endParaRPr>
          </a:p>
        </p:txBody>
      </p:sp>
      <p:sp>
        <p:nvSpPr>
          <p:cNvPr id="22" name="Oval 21"/>
          <p:cNvSpPr>
            <a:spLocks noChangeAspect="1"/>
          </p:cNvSpPr>
          <p:nvPr/>
        </p:nvSpPr>
        <p:spPr>
          <a:xfrm>
            <a:off x="7921059" y="1835614"/>
            <a:ext cx="278348" cy="278348"/>
          </a:xfrm>
          <a:prstGeom prst="ellips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lstStyle/>
          <a:p>
            <a:pPr algn="ctr"/>
            <a:endParaRPr lang="en-US" sz="2800" dirty="0" smtClean="0">
              <a:solidFill>
                <a:schemeClr val="bg1"/>
              </a:solidFill>
            </a:endParaRPr>
          </a:p>
        </p:txBody>
      </p:sp>
      <p:sp>
        <p:nvSpPr>
          <p:cNvPr id="23" name="Oval 22"/>
          <p:cNvSpPr>
            <a:spLocks noChangeAspect="1"/>
          </p:cNvSpPr>
          <p:nvPr/>
        </p:nvSpPr>
        <p:spPr>
          <a:xfrm>
            <a:off x="7367735" y="1847189"/>
            <a:ext cx="278348" cy="278348"/>
          </a:xfrm>
          <a:prstGeom prst="ellips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lstStyle/>
          <a:p>
            <a:pPr algn="ctr"/>
            <a:endParaRPr lang="en-US" sz="2800" dirty="0" smtClean="0">
              <a:solidFill>
                <a:schemeClr val="bg1"/>
              </a:solidFill>
            </a:endParaRPr>
          </a:p>
        </p:txBody>
      </p:sp>
      <p:sp>
        <p:nvSpPr>
          <p:cNvPr id="24" name="Oval 23"/>
          <p:cNvSpPr>
            <a:spLocks noChangeAspect="1"/>
          </p:cNvSpPr>
          <p:nvPr/>
        </p:nvSpPr>
        <p:spPr>
          <a:xfrm>
            <a:off x="7639705" y="2459939"/>
            <a:ext cx="278348" cy="278348"/>
          </a:xfrm>
          <a:prstGeom prst="ellips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lstStyle/>
          <a:p>
            <a:pPr algn="ctr"/>
            <a:endParaRPr lang="en-US" sz="2800" dirty="0" smtClean="0">
              <a:solidFill>
                <a:schemeClr val="bg1"/>
              </a:solidFill>
            </a:endParaRPr>
          </a:p>
        </p:txBody>
      </p:sp>
      <p:cxnSp>
        <p:nvCxnSpPr>
          <p:cNvPr id="25" name="Straight Arrow Connector 24"/>
          <p:cNvCxnSpPr>
            <a:stCxn id="24" idx="4"/>
          </p:cNvCxnSpPr>
          <p:nvPr/>
        </p:nvCxnSpPr>
        <p:spPr>
          <a:xfrm>
            <a:off x="7778880" y="2738287"/>
            <a:ext cx="2980" cy="327467"/>
          </a:xfrm>
          <a:prstGeom prst="straightConnector1">
            <a:avLst/>
          </a:prstGeom>
          <a:ln cap="rnd">
            <a:solidFill>
              <a:schemeClr val="tx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995004" y="1322373"/>
            <a:ext cx="450258" cy="36933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2400" dirty="0"/>
              <a:t>¬</a:t>
            </a:r>
            <a:r>
              <a:rPr lang="en-US" sz="2400" dirty="0" smtClean="0"/>
              <a:t>e</a:t>
            </a:r>
            <a:endParaRPr lang="en-US" sz="2400" dirty="0"/>
          </a:p>
        </p:txBody>
      </p:sp>
      <p:sp>
        <p:nvSpPr>
          <p:cNvPr id="27" name="TextBox 26"/>
          <p:cNvSpPr txBox="1"/>
          <p:nvPr/>
        </p:nvSpPr>
        <p:spPr>
          <a:xfrm>
            <a:off x="7385404" y="1346043"/>
            <a:ext cx="253685" cy="2049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2400" dirty="0" smtClean="0"/>
              <a:t>e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Control Flow Structuring</a:t>
            </a:r>
            <a:endParaRPr lang="en-US" dirty="0"/>
          </a:p>
        </p:txBody>
      </p:sp>
      <p:sp>
        <p:nvSpPr>
          <p:cNvPr id="11" name="Content Placeholder 5"/>
          <p:cNvSpPr>
            <a:spLocks noGrp="1"/>
          </p:cNvSpPr>
          <p:nvPr>
            <p:ph idx="1"/>
          </p:nvPr>
        </p:nvSpPr>
        <p:spPr>
          <a:xfrm>
            <a:off x="228601" y="733273"/>
            <a:ext cx="1987195" cy="256032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FF0080"/>
                </a:solidFill>
                <a:latin typeface="Consolas"/>
                <a:cs typeface="Consolas"/>
              </a:rPr>
              <a:t>if</a:t>
            </a:r>
            <a:r>
              <a:rPr lang="en-US" dirty="0" smtClean="0">
                <a:latin typeface="Consolas"/>
                <a:cs typeface="Consolas"/>
              </a:rPr>
              <a:t> (e)</a:t>
            </a:r>
          </a:p>
          <a:p>
            <a:pPr marL="0" indent="0">
              <a:buNone/>
            </a:pPr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{…;}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80"/>
                </a:solidFill>
                <a:latin typeface="Consolas"/>
                <a:cs typeface="Consolas"/>
              </a:rPr>
              <a:t>else</a:t>
            </a:r>
          </a:p>
          <a:p>
            <a:pPr marL="0" indent="0">
              <a:buNone/>
            </a:pPr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{…;}</a:t>
            </a:r>
            <a:endParaRPr lang="en-US" dirty="0">
              <a:latin typeface="Consolas"/>
              <a:cs typeface="Consolas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3429000"/>
            <a:ext cx="9144000" cy="0"/>
          </a:xfrm>
          <a:prstGeom prst="line">
            <a:avLst/>
          </a:prstGeom>
          <a:ln>
            <a:prstDash val="dash"/>
            <a:headEnd type="none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816249" y="1757831"/>
            <a:ext cx="5422751" cy="17414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1801482" y="2008892"/>
            <a:ext cx="6039396" cy="93039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27" idx="0"/>
          </p:cNvCxnSpPr>
          <p:nvPr/>
        </p:nvCxnSpPr>
        <p:spPr>
          <a:xfrm>
            <a:off x="1801482" y="1137565"/>
            <a:ext cx="5710765" cy="20847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Content Placeholder 5"/>
          <p:cNvSpPr txBox="1">
            <a:spLocks/>
          </p:cNvSpPr>
          <p:nvPr/>
        </p:nvSpPr>
        <p:spPr>
          <a:xfrm>
            <a:off x="6764468" y="3598164"/>
            <a:ext cx="2028821" cy="256032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 anchorCtr="0">
            <a:spAutoFit/>
          </a:bodyPr>
          <a:lstStyle>
            <a:lvl1pPr marL="292100" indent="-2921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Calibri"/>
              </a:defRPr>
            </a:lvl1pPr>
            <a:lvl2pPr marL="635000" indent="-2921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Calibri"/>
              </a:defRPr>
            </a:lvl2pPr>
            <a:lvl3pPr marL="9144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Calibri"/>
              </a:defRPr>
            </a:lvl3pPr>
            <a:lvl4pPr marL="11430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–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Calibri"/>
              </a:defRPr>
            </a:lvl4pPr>
            <a:lvl5pPr marL="1320800" indent="-1778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>
                <a:solidFill>
                  <a:srgbClr val="FF0080"/>
                </a:solidFill>
                <a:latin typeface="Consolas"/>
                <a:cs typeface="Consolas"/>
              </a:rPr>
              <a:t>if</a:t>
            </a:r>
            <a:r>
              <a:rPr lang="en-US" dirty="0" smtClean="0">
                <a:latin typeface="Consolas"/>
                <a:cs typeface="Consolas"/>
              </a:rPr>
              <a:t> (e)</a:t>
            </a:r>
          </a:p>
          <a:p>
            <a:pPr marL="0" indent="0">
              <a:buFont typeface="Arial"/>
              <a:buNone/>
            </a:pPr>
            <a:r>
              <a:rPr lang="en-US" dirty="0" smtClean="0">
                <a:latin typeface="Consolas"/>
                <a:cs typeface="Consolas"/>
              </a:rPr>
              <a:t>  {…;} </a:t>
            </a:r>
          </a:p>
          <a:p>
            <a:pPr marL="0" indent="0">
              <a:buFont typeface="Arial"/>
              <a:buNone/>
            </a:pPr>
            <a:r>
              <a:rPr lang="en-US" b="1" dirty="0">
                <a:solidFill>
                  <a:srgbClr val="FF0080"/>
                </a:solidFill>
                <a:latin typeface="Consolas"/>
                <a:cs typeface="Consolas"/>
              </a:rPr>
              <a:t>else</a:t>
            </a:r>
          </a:p>
          <a:p>
            <a:pPr marL="0" indent="0">
              <a:buFont typeface="Arial"/>
              <a:buNone/>
            </a:pPr>
            <a:r>
              <a:rPr lang="en-US" dirty="0" smtClean="0">
                <a:latin typeface="Consolas"/>
                <a:cs typeface="Consolas"/>
              </a:rPr>
              <a:t>  {…;}</a:t>
            </a:r>
            <a:endParaRPr lang="en-US" dirty="0">
              <a:latin typeface="Consolas"/>
              <a:cs typeface="Consola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770465" y="4038600"/>
            <a:ext cx="2144935" cy="2486204"/>
          </a:xfrm>
          <a:prstGeom prst="rect">
            <a:avLst/>
          </a:prstGeom>
          <a:noFill/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 anchorCtr="1">
            <a:noAutofit/>
          </a:bodyPr>
          <a:lstStyle/>
          <a:p>
            <a:pPr algn="ctr"/>
            <a:r>
              <a:rPr lang="en-US" sz="23900" dirty="0" smtClean="0">
                <a:solidFill>
                  <a:srgbClr val="000000"/>
                </a:solidFill>
              </a:rPr>
              <a:t>?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225602" y="3598164"/>
            <a:ext cx="1987196" cy="2560320"/>
            <a:chOff x="401283" y="3907426"/>
            <a:chExt cx="1987196" cy="2536846"/>
          </a:xfrm>
        </p:grpSpPr>
        <p:sp>
          <p:nvSpPr>
            <p:cNvPr id="37" name="Rounded Rectangle 36"/>
            <p:cNvSpPr/>
            <p:nvPr/>
          </p:nvSpPr>
          <p:spPr>
            <a:xfrm>
              <a:off x="401283" y="3907426"/>
              <a:ext cx="1987196" cy="2536846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endParaRPr lang="en-US" sz="2400" dirty="0" smtClean="0">
                <a:solidFill>
                  <a:schemeClr val="bg1"/>
                </a:solidFill>
              </a:endParaRPr>
            </a:p>
          </p:txBody>
        </p:sp>
        <p:cxnSp>
          <p:nvCxnSpPr>
            <p:cNvPr id="38" name="Straight Arrow Connector 37"/>
            <p:cNvCxnSpPr>
              <a:endCxn id="43" idx="0"/>
            </p:cNvCxnSpPr>
            <p:nvPr/>
          </p:nvCxnSpPr>
          <p:spPr>
            <a:xfrm flipH="1">
              <a:off x="1404359" y="4034268"/>
              <a:ext cx="5960" cy="365524"/>
            </a:xfrm>
            <a:prstGeom prst="straightConnector1">
              <a:avLst/>
            </a:prstGeom>
            <a:ln cap="rnd">
              <a:solidFill>
                <a:schemeClr val="tx1"/>
              </a:solidFill>
              <a:miter lim="800000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45" idx="4"/>
              <a:endCxn id="46" idx="1"/>
            </p:cNvCxnSpPr>
            <p:nvPr/>
          </p:nvCxnSpPr>
          <p:spPr>
            <a:xfrm>
              <a:off x="1132388" y="5314041"/>
              <a:ext cx="173560" cy="375164"/>
            </a:xfrm>
            <a:prstGeom prst="straightConnector1">
              <a:avLst/>
            </a:prstGeom>
            <a:ln cap="rnd">
              <a:solidFill>
                <a:schemeClr val="tx1"/>
              </a:solidFill>
              <a:miter lim="800000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44" idx="4"/>
              <a:endCxn id="46" idx="7"/>
            </p:cNvCxnSpPr>
            <p:nvPr/>
          </p:nvCxnSpPr>
          <p:spPr>
            <a:xfrm flipH="1">
              <a:off x="1502770" y="5302465"/>
              <a:ext cx="182942" cy="386739"/>
            </a:xfrm>
            <a:prstGeom prst="straightConnector1">
              <a:avLst/>
            </a:prstGeom>
            <a:ln cap="rnd">
              <a:solidFill>
                <a:schemeClr val="tx1"/>
              </a:solidFill>
              <a:miter lim="800000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43" idx="3"/>
              <a:endCxn id="45" idx="0"/>
            </p:cNvCxnSpPr>
            <p:nvPr/>
          </p:nvCxnSpPr>
          <p:spPr>
            <a:xfrm flipH="1">
              <a:off x="1132388" y="4637377"/>
              <a:ext cx="173560" cy="398315"/>
            </a:xfrm>
            <a:prstGeom prst="straightConnector1">
              <a:avLst/>
            </a:prstGeom>
            <a:ln cap="rnd">
              <a:solidFill>
                <a:schemeClr val="tx1"/>
              </a:solidFill>
              <a:miter lim="800000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43" idx="5"/>
              <a:endCxn id="44" idx="0"/>
            </p:cNvCxnSpPr>
            <p:nvPr/>
          </p:nvCxnSpPr>
          <p:spPr>
            <a:xfrm>
              <a:off x="1502770" y="4637377"/>
              <a:ext cx="182942" cy="386740"/>
            </a:xfrm>
            <a:prstGeom prst="straightConnector1">
              <a:avLst/>
            </a:prstGeom>
            <a:ln cap="rnd">
              <a:solidFill>
                <a:schemeClr val="tx1"/>
              </a:solidFill>
              <a:miter lim="800000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/>
            <p:cNvSpPr>
              <a:spLocks noChangeAspect="1"/>
            </p:cNvSpPr>
            <p:nvPr/>
          </p:nvSpPr>
          <p:spPr>
            <a:xfrm>
              <a:off x="1265184" y="4399792"/>
              <a:ext cx="278348" cy="278348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chemeClr val="bg1"/>
                </a:solidFill>
              </a:endParaRPr>
            </a:p>
          </p:txBody>
        </p:sp>
        <p:sp>
          <p:nvSpPr>
            <p:cNvPr id="44" name="Oval 43"/>
            <p:cNvSpPr>
              <a:spLocks noChangeAspect="1"/>
            </p:cNvSpPr>
            <p:nvPr/>
          </p:nvSpPr>
          <p:spPr>
            <a:xfrm>
              <a:off x="1546538" y="5024117"/>
              <a:ext cx="278348" cy="278348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chemeClr val="bg1"/>
                </a:solidFill>
              </a:endParaRPr>
            </a:p>
          </p:txBody>
        </p:sp>
        <p:sp>
          <p:nvSpPr>
            <p:cNvPr id="45" name="Oval 44"/>
            <p:cNvSpPr>
              <a:spLocks noChangeAspect="1"/>
            </p:cNvSpPr>
            <p:nvPr/>
          </p:nvSpPr>
          <p:spPr>
            <a:xfrm>
              <a:off x="993214" y="5035692"/>
              <a:ext cx="278348" cy="278348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chemeClr val="bg1"/>
                </a:solidFill>
              </a:endParaRPr>
            </a:p>
          </p:txBody>
        </p:sp>
        <p:sp>
          <p:nvSpPr>
            <p:cNvPr id="46" name="Oval 45"/>
            <p:cNvSpPr>
              <a:spLocks noChangeAspect="1"/>
            </p:cNvSpPr>
            <p:nvPr/>
          </p:nvSpPr>
          <p:spPr>
            <a:xfrm>
              <a:off x="1265184" y="5648442"/>
              <a:ext cx="278348" cy="278348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chemeClr val="bg1"/>
                </a:solidFill>
              </a:endParaRPr>
            </a:p>
          </p:txBody>
        </p:sp>
        <p:cxnSp>
          <p:nvCxnSpPr>
            <p:cNvPr id="47" name="Straight Arrow Connector 46"/>
            <p:cNvCxnSpPr>
              <a:stCxn id="46" idx="4"/>
            </p:cNvCxnSpPr>
            <p:nvPr/>
          </p:nvCxnSpPr>
          <p:spPr>
            <a:xfrm>
              <a:off x="1404359" y="5926790"/>
              <a:ext cx="2980" cy="327467"/>
            </a:xfrm>
            <a:prstGeom prst="straightConnector1">
              <a:avLst/>
            </a:prstGeom>
            <a:ln cap="rnd">
              <a:solidFill>
                <a:schemeClr val="tx1"/>
              </a:solidFill>
              <a:miter lim="800000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1620483" y="4510876"/>
              <a:ext cx="450258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>
                <a:buClr>
                  <a:schemeClr val="accent1"/>
                </a:buClr>
              </a:pPr>
              <a:r>
                <a:rPr lang="en-US" sz="2400" dirty="0"/>
                <a:t>¬</a:t>
              </a:r>
              <a:r>
                <a:rPr lang="en-US" sz="2400" dirty="0" smtClean="0"/>
                <a:t>e</a:t>
              </a:r>
              <a:endParaRPr lang="en-US" sz="2400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010883" y="4534546"/>
              <a:ext cx="253685" cy="20493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>
                <a:buClr>
                  <a:schemeClr val="accent1"/>
                </a:buClr>
              </a:pPr>
              <a:r>
                <a:rPr lang="en-US" sz="2400" dirty="0" smtClean="0"/>
                <a:t>e</a:t>
              </a:r>
              <a:endParaRPr lang="en-US" sz="2400" dirty="0"/>
            </a:p>
          </p:txBody>
        </p:sp>
      </p:grpSp>
      <p:sp>
        <p:nvSpPr>
          <p:cNvPr id="51" name="Right Arrow 50"/>
          <p:cNvSpPr/>
          <p:nvPr/>
        </p:nvSpPr>
        <p:spPr>
          <a:xfrm>
            <a:off x="2895600" y="3963708"/>
            <a:ext cx="3276600" cy="1854465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3200" dirty="0" smtClean="0">
                <a:solidFill>
                  <a:sysClr val="windowText" lastClr="000000"/>
                </a:solidFill>
              </a:rPr>
              <a:t>Control Flow Structuring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172200" y="6383008"/>
            <a:ext cx="2819400" cy="230832"/>
          </a:xfrm>
        </p:spPr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172200" y="6218113"/>
            <a:ext cx="1791970" cy="230832"/>
          </a:xfrm>
        </p:spPr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15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4321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750"/>
    </mc:Choice>
    <mc:Fallback xmlns="">
      <p:transition xmlns:p14="http://schemas.microsoft.com/office/powerpoint/2010/main" spd="slow" advTm="337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12" grpId="0" animBg="1"/>
      <p:bldP spid="21" grpId="0" animBg="1"/>
      <p:bldP spid="22" grpId="0" animBg="1"/>
      <p:bldP spid="23" grpId="0" animBg="1"/>
      <p:bldP spid="24" grpId="0" animBg="1"/>
      <p:bldP spid="26" grpId="0"/>
      <p:bldP spid="27" grpId="0"/>
      <p:bldP spid="53" grpId="0" animBg="1"/>
      <p:bldP spid="55" grpId="0"/>
      <p:bldP spid="55" grpId="1"/>
      <p:bldP spid="5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Iteratively match patterns to CFG</a:t>
            </a:r>
          </a:p>
          <a:p>
            <a:pPr lvl="1"/>
            <a:r>
              <a:rPr lang="en-US" dirty="0" smtClean="0"/>
              <a:t>Collapse matching regions</a:t>
            </a:r>
          </a:p>
          <a:p>
            <a:pPr lvl="1"/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Structural Analysis</a:t>
            </a:r>
            <a:endParaRPr lang="en-US" dirty="0">
              <a:solidFill>
                <a:schemeClr val="accent4"/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808106" y="2595835"/>
            <a:ext cx="1458844" cy="3195365"/>
            <a:chOff x="6694556" y="969778"/>
            <a:chExt cx="1458844" cy="3195365"/>
          </a:xfrm>
        </p:grpSpPr>
        <p:cxnSp>
          <p:nvCxnSpPr>
            <p:cNvPr id="33" name="Straight Arrow Connector 32"/>
            <p:cNvCxnSpPr>
              <a:stCxn id="35" idx="2"/>
              <a:endCxn id="41" idx="0"/>
            </p:cNvCxnSpPr>
            <p:nvPr/>
          </p:nvCxnSpPr>
          <p:spPr>
            <a:xfrm>
              <a:off x="7728778" y="1448955"/>
              <a:ext cx="0" cy="357868"/>
            </a:xfrm>
            <a:prstGeom prst="straightConnector1">
              <a:avLst/>
            </a:prstGeom>
            <a:ln cap="rnd">
              <a:solidFill>
                <a:schemeClr val="tx1"/>
              </a:solidFill>
              <a:miter lim="800000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36" idx="2"/>
              <a:endCxn id="37" idx="0"/>
            </p:cNvCxnSpPr>
            <p:nvPr/>
          </p:nvCxnSpPr>
          <p:spPr>
            <a:xfrm>
              <a:off x="7119178" y="3124200"/>
              <a:ext cx="609600" cy="381000"/>
            </a:xfrm>
            <a:prstGeom prst="straightConnector1">
              <a:avLst/>
            </a:prstGeom>
            <a:ln cap="rnd">
              <a:solidFill>
                <a:schemeClr val="tx1"/>
              </a:solidFill>
              <a:miter lim="800000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>
            <a:xfrm>
              <a:off x="7304156" y="969778"/>
              <a:ext cx="849244" cy="479177"/>
            </a:xfrm>
            <a:prstGeom prst="rect">
              <a:avLst/>
            </a:prstGeom>
            <a:noFill/>
            <a:ln w="9525" cap="sq" cmpd="sng">
              <a:noFill/>
              <a:prstDash val="solid"/>
              <a:miter lim="800000"/>
            </a:ln>
            <a:effectLst>
              <a:outerShdw blurRad="40000" dist="23000" dir="27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400" dirty="0" smtClean="0">
                <a:solidFill>
                  <a:schemeClr val="bg1"/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694556" y="2645023"/>
              <a:ext cx="849244" cy="479177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2000" dirty="0" smtClean="0">
                  <a:solidFill>
                    <a:sysClr val="windowText" lastClr="000000"/>
                  </a:solidFill>
                </a:rPr>
                <a:t>B2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304156" y="3505200"/>
              <a:ext cx="849244" cy="479177"/>
            </a:xfrm>
            <a:prstGeom prst="rect">
              <a:avLst/>
            </a:prstGeom>
            <a:noFill/>
            <a:ln w="9525" cap="sq" cmpd="sng">
              <a:noFill/>
              <a:prstDash val="solid"/>
              <a:miter lim="800000"/>
            </a:ln>
            <a:effectLst>
              <a:outerShdw blurRad="40000" dist="23000" dir="27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400" dirty="0" smtClean="0">
                <a:solidFill>
                  <a:schemeClr val="bg1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010400" y="3765033"/>
              <a:ext cx="9252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If-then</a:t>
              </a:r>
              <a:endParaRPr lang="en-US" sz="2000" dirty="0"/>
            </a:p>
          </p:txBody>
        </p:sp>
        <p:cxnSp>
          <p:nvCxnSpPr>
            <p:cNvPr id="39" name="Straight Arrow Connector 38"/>
            <p:cNvCxnSpPr>
              <a:stCxn id="41" idx="2"/>
              <a:endCxn id="36" idx="0"/>
            </p:cNvCxnSpPr>
            <p:nvPr/>
          </p:nvCxnSpPr>
          <p:spPr>
            <a:xfrm flipH="1">
              <a:off x="7119178" y="2286000"/>
              <a:ext cx="609600" cy="359023"/>
            </a:xfrm>
            <a:prstGeom prst="straightConnector1">
              <a:avLst/>
            </a:prstGeom>
            <a:ln cap="rnd">
              <a:solidFill>
                <a:schemeClr val="tx1"/>
              </a:solidFill>
              <a:miter lim="800000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41" idx="2"/>
              <a:endCxn id="37" idx="0"/>
            </p:cNvCxnSpPr>
            <p:nvPr/>
          </p:nvCxnSpPr>
          <p:spPr>
            <a:xfrm>
              <a:off x="7728778" y="2286000"/>
              <a:ext cx="0" cy="1219200"/>
            </a:xfrm>
            <a:prstGeom prst="straightConnector1">
              <a:avLst/>
            </a:prstGeom>
            <a:ln cap="rnd">
              <a:solidFill>
                <a:schemeClr val="tx1"/>
              </a:solidFill>
              <a:miter lim="800000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/>
            <p:cNvSpPr/>
            <p:nvPr/>
          </p:nvSpPr>
          <p:spPr>
            <a:xfrm>
              <a:off x="7304156" y="1806823"/>
              <a:ext cx="849244" cy="479177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2000" dirty="0" smtClean="0">
                  <a:solidFill>
                    <a:sysClr val="windowText" lastClr="000000"/>
                  </a:solidFill>
                </a:rPr>
                <a:t>B1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657600" y="3017222"/>
            <a:ext cx="2068444" cy="2773978"/>
            <a:chOff x="3352800" y="838200"/>
            <a:chExt cx="2068444" cy="2773978"/>
          </a:xfrm>
        </p:grpSpPr>
        <p:cxnSp>
          <p:nvCxnSpPr>
            <p:cNvPr id="43" name="Elbow Connector 42"/>
            <p:cNvCxnSpPr>
              <a:stCxn id="44" idx="2"/>
              <a:endCxn id="49" idx="1"/>
            </p:cNvCxnSpPr>
            <p:nvPr/>
          </p:nvCxnSpPr>
          <p:spPr>
            <a:xfrm rot="5400000" flipH="1" flipV="1">
              <a:off x="3331017" y="2361239"/>
              <a:ext cx="1077788" cy="184978"/>
            </a:xfrm>
            <a:prstGeom prst="bentConnector4">
              <a:avLst>
                <a:gd name="adj1" fmla="val -21210"/>
                <a:gd name="adj2" fmla="val -353135"/>
              </a:avLst>
            </a:prstGeom>
            <a:ln cap="rnd">
              <a:solidFill>
                <a:schemeClr val="tx1"/>
              </a:solidFill>
              <a:miter lim="800000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/>
            <p:cNvSpPr/>
            <p:nvPr/>
          </p:nvSpPr>
          <p:spPr>
            <a:xfrm>
              <a:off x="3352800" y="2513445"/>
              <a:ext cx="849244" cy="479177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2000" dirty="0" smtClean="0">
                  <a:solidFill>
                    <a:sysClr val="windowText" lastClr="000000"/>
                  </a:solidFill>
                </a:rPr>
                <a:t>B2</a:t>
              </a:r>
            </a:p>
          </p:txBody>
        </p:sp>
        <p:cxnSp>
          <p:nvCxnSpPr>
            <p:cNvPr id="45" name="Straight Arrow Connector 44"/>
            <p:cNvCxnSpPr>
              <a:stCxn id="48" idx="2"/>
              <a:endCxn id="49" idx="0"/>
            </p:cNvCxnSpPr>
            <p:nvPr/>
          </p:nvCxnSpPr>
          <p:spPr>
            <a:xfrm>
              <a:off x="4387022" y="1317377"/>
              <a:ext cx="0" cy="357868"/>
            </a:xfrm>
            <a:prstGeom prst="straightConnector1">
              <a:avLst/>
            </a:prstGeom>
            <a:ln cap="rnd">
              <a:solidFill>
                <a:schemeClr val="tx1"/>
              </a:solidFill>
              <a:miter lim="800000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49" idx="2"/>
              <a:endCxn id="44" idx="0"/>
            </p:cNvCxnSpPr>
            <p:nvPr/>
          </p:nvCxnSpPr>
          <p:spPr>
            <a:xfrm flipH="1">
              <a:off x="3777422" y="2154422"/>
              <a:ext cx="609600" cy="359023"/>
            </a:xfrm>
            <a:prstGeom prst="straightConnector1">
              <a:avLst/>
            </a:prstGeom>
            <a:ln cap="rnd">
              <a:solidFill>
                <a:schemeClr val="tx1"/>
              </a:solidFill>
              <a:miter lim="800000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49" idx="2"/>
              <a:endCxn id="51" idx="0"/>
            </p:cNvCxnSpPr>
            <p:nvPr/>
          </p:nvCxnSpPr>
          <p:spPr>
            <a:xfrm>
              <a:off x="4387022" y="2154422"/>
              <a:ext cx="609600" cy="359023"/>
            </a:xfrm>
            <a:prstGeom prst="straightConnector1">
              <a:avLst/>
            </a:prstGeom>
            <a:ln cap="rnd">
              <a:solidFill>
                <a:schemeClr val="tx1"/>
              </a:solidFill>
              <a:miter lim="800000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3962400" y="838200"/>
              <a:ext cx="849244" cy="479177"/>
            </a:xfrm>
            <a:prstGeom prst="rect">
              <a:avLst/>
            </a:prstGeom>
            <a:noFill/>
            <a:ln w="12700" cap="sq" cmpd="sng">
              <a:noFill/>
              <a:prstDash val="solid"/>
              <a:miter lim="800000"/>
            </a:ln>
            <a:effectLst>
              <a:outerShdw blurRad="40000" dist="23000" dir="27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400" dirty="0" smtClean="0">
                <a:solidFill>
                  <a:schemeClr val="bg1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962400" y="1675245"/>
              <a:ext cx="849244" cy="479177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2000" dirty="0" smtClean="0">
                  <a:solidFill>
                    <a:sysClr val="windowText" lastClr="000000"/>
                  </a:solidFill>
                </a:rPr>
                <a:t>B1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85236" y="3212068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W</a:t>
              </a:r>
              <a:r>
                <a:rPr lang="en-US" sz="2000" dirty="0" smtClean="0"/>
                <a:t>hile</a:t>
              </a:r>
              <a:endParaRPr lang="en-US" sz="2000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572000" y="2513445"/>
              <a:ext cx="849244" cy="479177"/>
            </a:xfrm>
            <a:prstGeom prst="rect">
              <a:avLst/>
            </a:prstGeom>
            <a:noFill/>
            <a:ln w="12700" cap="sq" cmpd="sng">
              <a:noFill/>
              <a:prstDash val="solid"/>
              <a:miter lim="800000"/>
            </a:ln>
            <a:effectLst>
              <a:outerShdw blurRad="40000" dist="23000" dir="27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400" dirty="0" smtClean="0">
                <a:solidFill>
                  <a:schemeClr val="bg1"/>
                </a:solidFill>
              </a:endParaRP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6781800" y="2800290"/>
            <a:ext cx="1664174" cy="2990910"/>
            <a:chOff x="6934200" y="1981200"/>
            <a:chExt cx="1664174" cy="2990910"/>
          </a:xfrm>
        </p:grpSpPr>
        <p:grpSp>
          <p:nvGrpSpPr>
            <p:cNvPr id="53" name="Group 52"/>
            <p:cNvGrpSpPr/>
            <p:nvPr/>
          </p:nvGrpSpPr>
          <p:grpSpPr>
            <a:xfrm>
              <a:off x="6934200" y="1981200"/>
              <a:ext cx="1664174" cy="2990910"/>
              <a:chOff x="3757070" y="838200"/>
              <a:chExt cx="1664174" cy="2990910"/>
            </a:xfrm>
          </p:grpSpPr>
          <p:sp>
            <p:nvSpPr>
              <p:cNvPr id="55" name="Rectangle 54"/>
              <p:cNvSpPr/>
              <p:nvPr/>
            </p:nvSpPr>
            <p:spPr>
              <a:xfrm>
                <a:off x="3968513" y="2513445"/>
                <a:ext cx="849244" cy="479177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r>
                  <a:rPr lang="en-US" sz="2000" dirty="0" smtClean="0">
                    <a:solidFill>
                      <a:sysClr val="windowText" lastClr="000000"/>
                    </a:solidFill>
                  </a:rPr>
                  <a:t>B2</a:t>
                </a:r>
              </a:p>
            </p:txBody>
          </p:sp>
          <p:cxnSp>
            <p:nvCxnSpPr>
              <p:cNvPr id="56" name="Straight Arrow Connector 55"/>
              <p:cNvCxnSpPr>
                <a:stCxn id="58" idx="2"/>
                <a:endCxn id="59" idx="0"/>
              </p:cNvCxnSpPr>
              <p:nvPr/>
            </p:nvCxnSpPr>
            <p:spPr>
              <a:xfrm>
                <a:off x="4387022" y="1317377"/>
                <a:ext cx="6113" cy="357868"/>
              </a:xfrm>
              <a:prstGeom prst="straightConnector1">
                <a:avLst/>
              </a:prstGeom>
              <a:ln cap="rnd">
                <a:solidFill>
                  <a:schemeClr val="tx1"/>
                </a:solidFill>
                <a:miter lim="800000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/>
              <p:cNvCxnSpPr>
                <a:stCxn id="59" idx="2"/>
                <a:endCxn id="55" idx="0"/>
              </p:cNvCxnSpPr>
              <p:nvPr/>
            </p:nvCxnSpPr>
            <p:spPr>
              <a:xfrm>
                <a:off x="4393135" y="2154422"/>
                <a:ext cx="0" cy="359023"/>
              </a:xfrm>
              <a:prstGeom prst="straightConnector1">
                <a:avLst/>
              </a:prstGeom>
              <a:ln cap="rnd">
                <a:solidFill>
                  <a:schemeClr val="tx1"/>
                </a:solidFill>
                <a:miter lim="800000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Rectangle 57"/>
              <p:cNvSpPr/>
              <p:nvPr/>
            </p:nvSpPr>
            <p:spPr>
              <a:xfrm>
                <a:off x="3962400" y="838200"/>
                <a:ext cx="849244" cy="479177"/>
              </a:xfrm>
              <a:prstGeom prst="rect">
                <a:avLst/>
              </a:prstGeom>
              <a:noFill/>
              <a:ln w="12700" cap="sq" cmpd="sng">
                <a:noFill/>
                <a:prstDash val="solid"/>
                <a:miter lim="800000"/>
              </a:ln>
              <a:effectLst>
                <a:outerShdw blurRad="40000" dist="23000" dir="27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endParaRPr lang="en-US" sz="2400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3968513" y="1675245"/>
                <a:ext cx="849244" cy="479177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r>
                  <a:rPr lang="en-US" sz="2000" dirty="0" smtClean="0">
                    <a:solidFill>
                      <a:sysClr val="windowText" lastClr="000000"/>
                    </a:solidFill>
                  </a:rPr>
                  <a:t>B1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3757070" y="3429000"/>
                <a:ext cx="12250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/>
                  <a:t>Sequence</a:t>
                </a:r>
                <a:endParaRPr lang="en-US" sz="2000" dirty="0"/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4572000" y="2513445"/>
                <a:ext cx="849244" cy="479177"/>
              </a:xfrm>
              <a:prstGeom prst="rect">
                <a:avLst/>
              </a:prstGeom>
              <a:noFill/>
              <a:ln w="12700" cap="sq" cmpd="sng">
                <a:noFill/>
                <a:prstDash val="solid"/>
                <a:miter lim="800000"/>
              </a:ln>
              <a:effectLst>
                <a:outerShdw blurRad="40000" dist="23000" dir="27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endParaRPr lang="en-US" sz="2400" dirty="0" smtClean="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54" name="Straight Arrow Connector 53"/>
            <p:cNvCxnSpPr>
              <a:stCxn id="55" idx="2"/>
            </p:cNvCxnSpPr>
            <p:nvPr/>
          </p:nvCxnSpPr>
          <p:spPr>
            <a:xfrm>
              <a:off x="7570265" y="4135622"/>
              <a:ext cx="0" cy="359023"/>
            </a:xfrm>
            <a:prstGeom prst="straightConnector1">
              <a:avLst/>
            </a:prstGeom>
            <a:ln cap="rnd">
              <a:solidFill>
                <a:schemeClr val="tx1"/>
              </a:solidFill>
              <a:miter lim="800000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59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039"/>
    </mc:Choice>
    <mc:Fallback xmlns="">
      <p:transition xmlns:p14="http://schemas.microsoft.com/office/powerpoint/2010/main" spd="slow" advTm="26039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37"/>
          <p:cNvSpPr/>
          <p:nvPr/>
        </p:nvSpPr>
        <p:spPr>
          <a:xfrm>
            <a:off x="0" y="762000"/>
            <a:ext cx="9144000" cy="35814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endParaRPr lang="en-US" sz="2800" dirty="0" smtClean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Structural Analysis Example</a:t>
            </a:r>
            <a:endParaRPr lang="en-US" dirty="0"/>
          </a:p>
        </p:txBody>
      </p:sp>
      <p:grpSp>
        <p:nvGrpSpPr>
          <p:cNvPr id="127" name="Group 126"/>
          <p:cNvGrpSpPr/>
          <p:nvPr/>
        </p:nvGrpSpPr>
        <p:grpSpPr>
          <a:xfrm>
            <a:off x="6374071" y="915111"/>
            <a:ext cx="679263" cy="3276600"/>
            <a:chOff x="6712137" y="1447800"/>
            <a:chExt cx="679263" cy="3276600"/>
          </a:xfrm>
        </p:grpSpPr>
        <p:sp>
          <p:nvSpPr>
            <p:cNvPr id="108" name="Oval 107"/>
            <p:cNvSpPr/>
            <p:nvPr/>
          </p:nvSpPr>
          <p:spPr>
            <a:xfrm>
              <a:off x="6899369" y="1447800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chemeClr val="bg1"/>
                </a:solidFill>
                <a:latin typeface="Consolas"/>
                <a:cs typeface="Consolas"/>
              </a:endParaRPr>
            </a:p>
          </p:txBody>
        </p:sp>
        <p:sp>
          <p:nvSpPr>
            <p:cNvPr id="110" name="Rounded Rectangle 109"/>
            <p:cNvSpPr/>
            <p:nvPr/>
          </p:nvSpPr>
          <p:spPr>
            <a:xfrm>
              <a:off x="6712137" y="1981200"/>
              <a:ext cx="679263" cy="1600200"/>
            </a:xfrm>
            <a:prstGeom prst="round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1050" dirty="0" smtClean="0">
                  <a:solidFill>
                    <a:schemeClr val="tx1"/>
                  </a:solidFill>
                  <a:latin typeface="Consolas"/>
                  <a:cs typeface="Consolas"/>
                </a:rPr>
                <a:t>WHILE</a:t>
              </a:r>
            </a:p>
          </p:txBody>
        </p:sp>
        <p:sp>
          <p:nvSpPr>
            <p:cNvPr id="111" name="Oval 110"/>
            <p:cNvSpPr/>
            <p:nvPr/>
          </p:nvSpPr>
          <p:spPr>
            <a:xfrm>
              <a:off x="6899369" y="3886200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chemeClr val="bg1"/>
                </a:solidFill>
                <a:latin typeface="Consolas"/>
                <a:cs typeface="Consolas"/>
              </a:endParaRPr>
            </a:p>
          </p:txBody>
        </p:sp>
        <p:cxnSp>
          <p:nvCxnSpPr>
            <p:cNvPr id="112" name="Straight Arrow Connector 111"/>
            <p:cNvCxnSpPr>
              <a:stCxn id="108" idx="4"/>
              <a:endCxn id="110" idx="0"/>
            </p:cNvCxnSpPr>
            <p:nvPr/>
          </p:nvCxnSpPr>
          <p:spPr>
            <a:xfrm>
              <a:off x="7051769" y="1752600"/>
              <a:ext cx="0" cy="2286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/>
            <p:cNvCxnSpPr>
              <a:stCxn id="110" idx="2"/>
              <a:endCxn id="111" idx="0"/>
            </p:cNvCxnSpPr>
            <p:nvPr/>
          </p:nvCxnSpPr>
          <p:spPr>
            <a:xfrm>
              <a:off x="7051769" y="3581400"/>
              <a:ext cx="0" cy="3048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/>
            <p:cNvSpPr/>
            <p:nvPr/>
          </p:nvSpPr>
          <p:spPr>
            <a:xfrm>
              <a:off x="6899369" y="4419600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chemeClr val="bg1"/>
                </a:solidFill>
                <a:latin typeface="Consolas"/>
                <a:cs typeface="Consolas"/>
              </a:endParaRPr>
            </a:p>
          </p:txBody>
        </p:sp>
        <p:cxnSp>
          <p:nvCxnSpPr>
            <p:cNvPr id="116" name="Straight Arrow Connector 115"/>
            <p:cNvCxnSpPr>
              <a:stCxn id="111" idx="4"/>
              <a:endCxn id="115" idx="0"/>
            </p:cNvCxnSpPr>
            <p:nvPr/>
          </p:nvCxnSpPr>
          <p:spPr>
            <a:xfrm>
              <a:off x="7051769" y="4191000"/>
              <a:ext cx="0" cy="2286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8007537" y="915111"/>
            <a:ext cx="679263" cy="3276600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en-US" sz="1050" dirty="0" smtClean="0">
                <a:solidFill>
                  <a:schemeClr val="tx1"/>
                </a:solidFill>
                <a:latin typeface="Consolas"/>
                <a:cs typeface="Consolas"/>
              </a:rPr>
              <a:t>SEQ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304800" y="915111"/>
            <a:ext cx="1271358" cy="3276600"/>
            <a:chOff x="300666" y="1447800"/>
            <a:chExt cx="1271358" cy="3276600"/>
          </a:xfrm>
        </p:grpSpPr>
        <p:grpSp>
          <p:nvGrpSpPr>
            <p:cNvPr id="46" name="Group 45"/>
            <p:cNvGrpSpPr/>
            <p:nvPr/>
          </p:nvGrpSpPr>
          <p:grpSpPr>
            <a:xfrm>
              <a:off x="300666" y="1447800"/>
              <a:ext cx="1271358" cy="3276600"/>
              <a:chOff x="522896" y="1447800"/>
              <a:chExt cx="1271358" cy="3276600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522896" y="1447800"/>
                <a:ext cx="304800" cy="304800"/>
              </a:xfrm>
              <a:prstGeom prst="ellipse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endParaRPr lang="en-US" sz="2800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522896" y="1981200"/>
                <a:ext cx="304800" cy="304800"/>
              </a:xfrm>
              <a:prstGeom prst="ellipse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endParaRPr lang="en-US" sz="2800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1136256" y="2592222"/>
                <a:ext cx="304800" cy="304800"/>
              </a:xfrm>
              <a:prstGeom prst="ellipse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endParaRPr lang="en-US" sz="2800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1489454" y="2977488"/>
                <a:ext cx="304800" cy="304800"/>
              </a:xfrm>
              <a:prstGeom prst="ellipse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endParaRPr lang="en-US" sz="2800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783059" y="2971800"/>
                <a:ext cx="304800" cy="304800"/>
              </a:xfrm>
              <a:prstGeom prst="ellipse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endParaRPr lang="en-US" sz="2800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1136256" y="3429000"/>
                <a:ext cx="304800" cy="304800"/>
              </a:xfrm>
              <a:prstGeom prst="ellipse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endParaRPr lang="en-US" sz="2800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522896" y="3886200"/>
                <a:ext cx="304800" cy="304800"/>
              </a:xfrm>
              <a:prstGeom prst="ellipse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endParaRPr lang="en-US" sz="2800" dirty="0" smtClean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3" name="Straight Arrow Connector 12"/>
              <p:cNvCxnSpPr>
                <a:stCxn id="5" idx="4"/>
                <a:endCxn id="6" idx="0"/>
              </p:cNvCxnSpPr>
              <p:nvPr/>
            </p:nvCxnSpPr>
            <p:spPr>
              <a:xfrm>
                <a:off x="675296" y="1752600"/>
                <a:ext cx="0" cy="2286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>
                <a:stCxn id="6" idx="5"/>
                <a:endCxn id="7" idx="1"/>
              </p:cNvCxnSpPr>
              <p:nvPr/>
            </p:nvCxnSpPr>
            <p:spPr>
              <a:xfrm>
                <a:off x="783059" y="2241363"/>
                <a:ext cx="397834" cy="39549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>
                <a:stCxn id="7" idx="5"/>
                <a:endCxn id="8" idx="1"/>
              </p:cNvCxnSpPr>
              <p:nvPr/>
            </p:nvCxnSpPr>
            <p:spPr>
              <a:xfrm>
                <a:off x="1396419" y="2852385"/>
                <a:ext cx="137672" cy="16974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>
                <a:stCxn id="7" idx="3"/>
                <a:endCxn id="9" idx="7"/>
              </p:cNvCxnSpPr>
              <p:nvPr/>
            </p:nvCxnSpPr>
            <p:spPr>
              <a:xfrm flipH="1">
                <a:off x="1043222" y="2852385"/>
                <a:ext cx="137671" cy="16405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>
                <a:stCxn id="9" idx="5"/>
                <a:endCxn id="10" idx="1"/>
              </p:cNvCxnSpPr>
              <p:nvPr/>
            </p:nvCxnSpPr>
            <p:spPr>
              <a:xfrm>
                <a:off x="1043222" y="3231963"/>
                <a:ext cx="137671" cy="24167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>
                <a:stCxn id="6" idx="4"/>
                <a:endCxn id="12" idx="0"/>
              </p:cNvCxnSpPr>
              <p:nvPr/>
            </p:nvCxnSpPr>
            <p:spPr>
              <a:xfrm>
                <a:off x="675296" y="2286000"/>
                <a:ext cx="0" cy="16002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/>
              <p:cNvSpPr/>
              <p:nvPr/>
            </p:nvSpPr>
            <p:spPr>
              <a:xfrm>
                <a:off x="522896" y="4419600"/>
                <a:ext cx="304800" cy="304800"/>
              </a:xfrm>
              <a:prstGeom prst="ellipse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endParaRPr lang="en-US" sz="2800" dirty="0" smtClean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23" name="Straight Arrow Connector 22"/>
              <p:cNvCxnSpPr>
                <a:stCxn id="12" idx="4"/>
                <a:endCxn id="22" idx="0"/>
              </p:cNvCxnSpPr>
              <p:nvPr/>
            </p:nvCxnSpPr>
            <p:spPr>
              <a:xfrm>
                <a:off x="675296" y="4191000"/>
                <a:ext cx="0" cy="2286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urved Connector 23"/>
              <p:cNvCxnSpPr>
                <a:stCxn id="10" idx="6"/>
                <a:endCxn id="6" idx="6"/>
              </p:cNvCxnSpPr>
              <p:nvPr/>
            </p:nvCxnSpPr>
            <p:spPr>
              <a:xfrm flipH="1" flipV="1">
                <a:off x="827696" y="2133600"/>
                <a:ext cx="613360" cy="1447800"/>
              </a:xfrm>
              <a:prstGeom prst="curvedConnector3">
                <a:avLst>
                  <a:gd name="adj1" fmla="val -79546"/>
                </a:avLst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Straight Arrow Connector 90"/>
            <p:cNvCxnSpPr>
              <a:stCxn id="8" idx="3"/>
              <a:endCxn id="10" idx="7"/>
            </p:cNvCxnSpPr>
            <p:nvPr/>
          </p:nvCxnSpPr>
          <p:spPr>
            <a:xfrm flipH="1">
              <a:off x="1174189" y="3237651"/>
              <a:ext cx="137672" cy="23598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>
            <a:off x="2530361" y="915111"/>
            <a:ext cx="967652" cy="3276600"/>
            <a:chOff x="2005242" y="1449222"/>
            <a:chExt cx="967652" cy="3276600"/>
          </a:xfrm>
        </p:grpSpPr>
        <p:grpSp>
          <p:nvGrpSpPr>
            <p:cNvPr id="99" name="Group 98"/>
            <p:cNvGrpSpPr/>
            <p:nvPr/>
          </p:nvGrpSpPr>
          <p:grpSpPr>
            <a:xfrm>
              <a:off x="2005242" y="1449222"/>
              <a:ext cx="872402" cy="3276600"/>
              <a:chOff x="300666" y="1447800"/>
              <a:chExt cx="872402" cy="3276600"/>
            </a:xfrm>
          </p:grpSpPr>
          <p:grpSp>
            <p:nvGrpSpPr>
              <p:cNvPr id="104" name="Group 103"/>
              <p:cNvGrpSpPr/>
              <p:nvPr/>
            </p:nvGrpSpPr>
            <p:grpSpPr>
              <a:xfrm>
                <a:off x="300666" y="1447800"/>
                <a:ext cx="872402" cy="3276600"/>
                <a:chOff x="522896" y="1447800"/>
                <a:chExt cx="872402" cy="3276600"/>
              </a:xfrm>
            </p:grpSpPr>
            <p:sp>
              <p:nvSpPr>
                <p:cNvPr id="107" name="Oval 106"/>
                <p:cNvSpPr/>
                <p:nvPr/>
              </p:nvSpPr>
              <p:spPr>
                <a:xfrm>
                  <a:off x="522896" y="1447800"/>
                  <a:ext cx="304800" cy="304800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 rtlCol="0" anchor="ctr" anchorCtr="1">
                  <a:noAutofit/>
                </a:bodyPr>
                <a:lstStyle/>
                <a:p>
                  <a:pPr algn="ctr"/>
                  <a:endParaRPr lang="en-US" sz="2800" dirty="0" smtClean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9" name="Oval 108"/>
                <p:cNvSpPr/>
                <p:nvPr/>
              </p:nvSpPr>
              <p:spPr>
                <a:xfrm>
                  <a:off x="522896" y="1981200"/>
                  <a:ext cx="304800" cy="304800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 rtlCol="0" anchor="ctr" anchorCtr="1">
                  <a:noAutofit/>
                </a:bodyPr>
                <a:lstStyle/>
                <a:p>
                  <a:pPr algn="ctr"/>
                  <a:endParaRPr lang="en-US" sz="2800" dirty="0" smtClean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9" name="Oval 118"/>
                <p:cNvSpPr/>
                <p:nvPr/>
              </p:nvSpPr>
              <p:spPr>
                <a:xfrm>
                  <a:off x="1090498" y="3429000"/>
                  <a:ext cx="304800" cy="304800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 rtlCol="0" anchor="ctr" anchorCtr="1">
                  <a:noAutofit/>
                </a:bodyPr>
                <a:lstStyle/>
                <a:p>
                  <a:pPr algn="ctr"/>
                  <a:endParaRPr lang="en-US" sz="2800" dirty="0" smtClean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0" name="Oval 119"/>
                <p:cNvSpPr/>
                <p:nvPr/>
              </p:nvSpPr>
              <p:spPr>
                <a:xfrm>
                  <a:off x="522896" y="3886200"/>
                  <a:ext cx="304800" cy="304800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 rtlCol="0" anchor="ctr" anchorCtr="1">
                  <a:noAutofit/>
                </a:bodyPr>
                <a:lstStyle/>
                <a:p>
                  <a:pPr algn="ctr"/>
                  <a:endParaRPr lang="en-US" sz="2800" dirty="0" smtClean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121" name="Straight Arrow Connector 120"/>
                <p:cNvCxnSpPr>
                  <a:stCxn id="107" idx="4"/>
                  <a:endCxn id="109" idx="0"/>
                </p:cNvCxnSpPr>
                <p:nvPr/>
              </p:nvCxnSpPr>
              <p:spPr>
                <a:xfrm>
                  <a:off x="675296" y="1752600"/>
                  <a:ext cx="0" cy="22860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Arrow Connector 121"/>
                <p:cNvCxnSpPr>
                  <a:stCxn id="109" idx="5"/>
                  <a:endCxn id="132" idx="0"/>
                </p:cNvCxnSpPr>
                <p:nvPr/>
              </p:nvCxnSpPr>
              <p:spPr>
                <a:xfrm>
                  <a:off x="783059" y="2241363"/>
                  <a:ext cx="459839" cy="39549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Arrow Connector 125"/>
                <p:cNvCxnSpPr>
                  <a:stCxn id="109" idx="4"/>
                  <a:endCxn id="120" idx="0"/>
                </p:cNvCxnSpPr>
                <p:nvPr/>
              </p:nvCxnSpPr>
              <p:spPr>
                <a:xfrm>
                  <a:off x="675296" y="2286000"/>
                  <a:ext cx="0" cy="160020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8" name="Oval 127"/>
                <p:cNvSpPr/>
                <p:nvPr/>
              </p:nvSpPr>
              <p:spPr>
                <a:xfrm>
                  <a:off x="522896" y="4419600"/>
                  <a:ext cx="304800" cy="304800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 rtlCol="0" anchor="ctr" anchorCtr="1">
                  <a:noAutofit/>
                </a:bodyPr>
                <a:lstStyle/>
                <a:p>
                  <a:pPr algn="ctr"/>
                  <a:endParaRPr lang="en-US" sz="2800" dirty="0" smtClean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129" name="Straight Arrow Connector 128"/>
                <p:cNvCxnSpPr>
                  <a:stCxn id="120" idx="4"/>
                  <a:endCxn id="128" idx="0"/>
                </p:cNvCxnSpPr>
                <p:nvPr/>
              </p:nvCxnSpPr>
              <p:spPr>
                <a:xfrm>
                  <a:off x="675296" y="4191000"/>
                  <a:ext cx="0" cy="22860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Curved Connector 130"/>
                <p:cNvCxnSpPr>
                  <a:stCxn id="119" idx="6"/>
                  <a:endCxn id="109" idx="6"/>
                </p:cNvCxnSpPr>
                <p:nvPr/>
              </p:nvCxnSpPr>
              <p:spPr>
                <a:xfrm flipH="1" flipV="1">
                  <a:off x="827696" y="2133600"/>
                  <a:ext cx="567602" cy="1447800"/>
                </a:xfrm>
                <a:prstGeom prst="curvedConnector3">
                  <a:avLst>
                    <a:gd name="adj1" fmla="val -40275"/>
                  </a:avLst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5" name="Straight Arrow Connector 104"/>
              <p:cNvCxnSpPr>
                <a:stCxn id="132" idx="2"/>
                <a:endCxn id="119" idx="0"/>
              </p:cNvCxnSpPr>
              <p:nvPr/>
            </p:nvCxnSpPr>
            <p:spPr>
              <a:xfrm>
                <a:off x="1020668" y="3246459"/>
                <a:ext cx="0" cy="18254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2" name="Rounded Rectangle 131"/>
            <p:cNvSpPr/>
            <p:nvPr/>
          </p:nvSpPr>
          <p:spPr>
            <a:xfrm>
              <a:off x="2477594" y="2638281"/>
              <a:ext cx="495300" cy="609600"/>
            </a:xfrm>
            <a:prstGeom prst="round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1050" dirty="0" smtClean="0">
                  <a:solidFill>
                    <a:schemeClr val="tx1"/>
                  </a:solidFill>
                  <a:latin typeface="Consolas"/>
                  <a:cs typeface="Consolas"/>
                </a:rPr>
                <a:t>ITE</a:t>
              </a:r>
              <a:br>
                <a:rPr lang="en-US" sz="1050" dirty="0" smtClean="0">
                  <a:solidFill>
                    <a:schemeClr val="tx1"/>
                  </a:solidFill>
                  <a:latin typeface="Consolas"/>
                  <a:cs typeface="Consolas"/>
                </a:rPr>
              </a:br>
              <a:r>
                <a:rPr lang="en-US" sz="1050" dirty="0" smtClean="0">
                  <a:solidFill>
                    <a:schemeClr val="tx1"/>
                  </a:solidFill>
                  <a:latin typeface="Consolas"/>
                  <a:cs typeface="Consolas"/>
                </a:rPr>
                <a:t>1</a:t>
              </a:r>
            </a:p>
          </p:txBody>
        </p:sp>
      </p:grpSp>
      <p:grpSp>
        <p:nvGrpSpPr>
          <p:cNvPr id="133" name="Group 132"/>
          <p:cNvGrpSpPr/>
          <p:nvPr/>
        </p:nvGrpSpPr>
        <p:grpSpPr>
          <a:xfrm>
            <a:off x="4452216" y="915111"/>
            <a:ext cx="967652" cy="3276600"/>
            <a:chOff x="2005242" y="1449222"/>
            <a:chExt cx="967652" cy="3276600"/>
          </a:xfrm>
        </p:grpSpPr>
        <p:grpSp>
          <p:nvGrpSpPr>
            <p:cNvPr id="136" name="Group 135"/>
            <p:cNvGrpSpPr/>
            <p:nvPr/>
          </p:nvGrpSpPr>
          <p:grpSpPr>
            <a:xfrm>
              <a:off x="2005242" y="1449222"/>
              <a:ext cx="720002" cy="3276600"/>
              <a:chOff x="522896" y="1447800"/>
              <a:chExt cx="720002" cy="3276600"/>
            </a:xfrm>
          </p:grpSpPr>
          <p:sp>
            <p:nvSpPr>
              <p:cNvPr id="140" name="Oval 139"/>
              <p:cNvSpPr/>
              <p:nvPr/>
            </p:nvSpPr>
            <p:spPr>
              <a:xfrm>
                <a:off x="522896" y="1447800"/>
                <a:ext cx="304800" cy="304800"/>
              </a:xfrm>
              <a:prstGeom prst="ellipse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endParaRPr lang="en-US" sz="2800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2" name="Oval 141"/>
              <p:cNvSpPr/>
              <p:nvPr/>
            </p:nvSpPr>
            <p:spPr>
              <a:xfrm>
                <a:off x="522896" y="1981200"/>
                <a:ext cx="304800" cy="304800"/>
              </a:xfrm>
              <a:prstGeom prst="ellipse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endParaRPr lang="en-US" sz="2800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4" name="Oval 143"/>
              <p:cNvSpPr/>
              <p:nvPr/>
            </p:nvSpPr>
            <p:spPr>
              <a:xfrm>
                <a:off x="522896" y="3886200"/>
                <a:ext cx="304800" cy="304800"/>
              </a:xfrm>
              <a:prstGeom prst="ellipse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endParaRPr lang="en-US" sz="2800" dirty="0" smtClean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45" name="Straight Arrow Connector 144"/>
              <p:cNvCxnSpPr>
                <a:stCxn id="140" idx="4"/>
                <a:endCxn id="142" idx="0"/>
              </p:cNvCxnSpPr>
              <p:nvPr/>
            </p:nvCxnSpPr>
            <p:spPr>
              <a:xfrm>
                <a:off x="675296" y="1752600"/>
                <a:ext cx="0" cy="2286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/>
              <p:cNvCxnSpPr>
                <a:stCxn id="142" idx="5"/>
                <a:endCxn id="135" idx="0"/>
              </p:cNvCxnSpPr>
              <p:nvPr/>
            </p:nvCxnSpPr>
            <p:spPr>
              <a:xfrm>
                <a:off x="783059" y="2241363"/>
                <a:ext cx="459839" cy="39549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Arrow Connector 146"/>
              <p:cNvCxnSpPr>
                <a:stCxn id="142" idx="4"/>
                <a:endCxn id="144" idx="0"/>
              </p:cNvCxnSpPr>
              <p:nvPr/>
            </p:nvCxnSpPr>
            <p:spPr>
              <a:xfrm>
                <a:off x="675296" y="2286000"/>
                <a:ext cx="0" cy="16002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Oval 147"/>
              <p:cNvSpPr/>
              <p:nvPr/>
            </p:nvSpPr>
            <p:spPr>
              <a:xfrm>
                <a:off x="522896" y="4419600"/>
                <a:ext cx="304800" cy="304800"/>
              </a:xfrm>
              <a:prstGeom prst="ellipse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endParaRPr lang="en-US" sz="2800" dirty="0" smtClean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49" name="Straight Arrow Connector 148"/>
              <p:cNvCxnSpPr>
                <a:stCxn id="144" idx="4"/>
                <a:endCxn id="148" idx="0"/>
              </p:cNvCxnSpPr>
              <p:nvPr/>
            </p:nvCxnSpPr>
            <p:spPr>
              <a:xfrm>
                <a:off x="675296" y="4191000"/>
                <a:ext cx="0" cy="2286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Curved Connector 149"/>
              <p:cNvCxnSpPr>
                <a:stCxn id="135" idx="2"/>
                <a:endCxn id="142" idx="6"/>
              </p:cNvCxnSpPr>
              <p:nvPr/>
            </p:nvCxnSpPr>
            <p:spPr>
              <a:xfrm rot="5400000" flipH="1">
                <a:off x="311397" y="2649899"/>
                <a:ext cx="1447799" cy="415202"/>
              </a:xfrm>
              <a:prstGeom prst="curvedConnector4">
                <a:avLst>
                  <a:gd name="adj1" fmla="val -15789"/>
                  <a:gd name="adj2" fmla="val -94389"/>
                </a:avLst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5" name="Rounded Rectangle 134"/>
            <p:cNvSpPr/>
            <p:nvPr/>
          </p:nvSpPr>
          <p:spPr>
            <a:xfrm>
              <a:off x="2477594" y="2638280"/>
              <a:ext cx="495300" cy="944541"/>
            </a:xfrm>
            <a:prstGeom prst="round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1050" dirty="0" smtClean="0">
                  <a:solidFill>
                    <a:schemeClr val="tx1"/>
                  </a:solidFill>
                  <a:latin typeface="Consolas"/>
                  <a:cs typeface="Consolas"/>
                </a:rPr>
                <a:t>SEQ</a:t>
              </a:r>
              <a:br>
                <a:rPr lang="en-US" sz="1050" dirty="0" smtClean="0">
                  <a:solidFill>
                    <a:schemeClr val="tx1"/>
                  </a:solidFill>
                  <a:latin typeface="Consolas"/>
                  <a:cs typeface="Consolas"/>
                </a:rPr>
              </a:br>
              <a:r>
                <a:rPr lang="en-US" sz="1050" dirty="0" smtClean="0">
                  <a:solidFill>
                    <a:schemeClr val="tx1"/>
                  </a:solidFill>
                  <a:latin typeface="Consolas"/>
                  <a:cs typeface="Consolas"/>
                </a:rPr>
                <a:t>1</a:t>
              </a: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172200" y="6218113"/>
            <a:ext cx="1791970" cy="230832"/>
          </a:xfrm>
        </p:spPr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9" name="Rounded Rectangle 68"/>
          <p:cNvSpPr/>
          <p:nvPr/>
        </p:nvSpPr>
        <p:spPr>
          <a:xfrm>
            <a:off x="533401" y="1981200"/>
            <a:ext cx="1066800" cy="841755"/>
          </a:xfrm>
          <a:prstGeom prst="roundRect">
            <a:avLst/>
          </a:prstGeom>
          <a:noFill/>
          <a:ln w="28575" cap="rnd" cmpd="sng">
            <a:solidFill>
              <a:schemeClr val="accent1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163" name="Rounded Rectangle 162"/>
          <p:cNvSpPr/>
          <p:nvPr/>
        </p:nvSpPr>
        <p:spPr>
          <a:xfrm>
            <a:off x="2869363" y="2047450"/>
            <a:ext cx="788237" cy="1229150"/>
          </a:xfrm>
          <a:prstGeom prst="roundRect">
            <a:avLst/>
          </a:prstGeom>
          <a:noFill/>
          <a:ln w="28575" cap="rnd" cmpd="sng">
            <a:solidFill>
              <a:schemeClr val="accent1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164" name="Rounded Rectangle 163"/>
          <p:cNvSpPr/>
          <p:nvPr/>
        </p:nvSpPr>
        <p:spPr>
          <a:xfrm>
            <a:off x="4362896" y="1377003"/>
            <a:ext cx="1275904" cy="1976507"/>
          </a:xfrm>
          <a:prstGeom prst="roundRect">
            <a:avLst/>
          </a:prstGeom>
          <a:noFill/>
          <a:ln w="28575" cap="rnd" cmpd="sng">
            <a:solidFill>
              <a:schemeClr val="accent1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165" name="Rounded Rectangle 164"/>
          <p:cNvSpPr/>
          <p:nvPr/>
        </p:nvSpPr>
        <p:spPr>
          <a:xfrm>
            <a:off x="6172200" y="809340"/>
            <a:ext cx="1066800" cy="3457860"/>
          </a:xfrm>
          <a:prstGeom prst="roundRect">
            <a:avLst/>
          </a:prstGeom>
          <a:noFill/>
          <a:ln w="28575" cap="rnd" cmpd="sng">
            <a:solidFill>
              <a:schemeClr val="accent1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3450" y="4555764"/>
            <a:ext cx="7277100" cy="1311636"/>
          </a:xfrm>
          <a:prstGeom prst="roundRect">
            <a:avLst/>
          </a:prstGeom>
          <a:solidFill>
            <a:schemeClr val="bg2"/>
          </a:solidFill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...;</a:t>
            </a:r>
            <a:endParaRPr lang="en-US" sz="20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400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while</a:t>
            </a:r>
            <a:r>
              <a:rPr lang="en-US" sz="2400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(...) { </a:t>
            </a:r>
            <a:r>
              <a:rPr lang="en-US" sz="2400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(...) {...} </a:t>
            </a:r>
            <a:r>
              <a:rPr lang="en-US" sz="2400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else</a:t>
            </a:r>
            <a:r>
              <a:rPr lang="en-US" sz="2400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{...} };</a:t>
            </a:r>
            <a:endParaRPr lang="en-US" sz="20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...; ...;</a:t>
            </a:r>
            <a:endParaRPr lang="en-US" sz="2000" dirty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172200" y="6383008"/>
            <a:ext cx="2819400" cy="230832"/>
          </a:xfrm>
        </p:spPr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17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2257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408"/>
    </mc:Choice>
    <mc:Fallback xmlns="">
      <p:transition xmlns:p14="http://schemas.microsoft.com/office/powerpoint/2010/main" spd="slow" advTm="464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  <p:bldP spid="130" grpId="0" animBg="1"/>
      <p:bldP spid="69" grpId="0" animBg="1"/>
      <p:bldP spid="163" grpId="0" animBg="1"/>
      <p:bldP spid="164" grpId="0" animBg="1"/>
      <p:bldP spid="165" grpId="0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000000"/>
                </a:solidFill>
              </a:rPr>
              <a:t>Correctness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Structural Analysis Property Checklist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18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9464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22"/>
    </mc:Choice>
    <mc:Fallback xmlns="">
      <p:transition xmlns:p14="http://schemas.microsoft.com/office/powerpoint/2010/main" spd="slow" advTm="23222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trike="sngStrike" dirty="0" smtClean="0">
                <a:solidFill>
                  <a:srgbClr val="000000"/>
                </a:solidFill>
              </a:rPr>
              <a:t>Correctness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N</a:t>
            </a:r>
            <a:r>
              <a:rPr lang="en-US" dirty="0" smtClean="0">
                <a:solidFill>
                  <a:srgbClr val="000000"/>
                </a:solidFill>
              </a:rPr>
              <a:t>ot </a:t>
            </a:r>
            <a:r>
              <a:rPr lang="en-US" dirty="0">
                <a:solidFill>
                  <a:srgbClr val="000000"/>
                </a:solidFill>
              </a:rPr>
              <a:t>originally intended for decompilation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Structure can be incorrect for decompilation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Structural Analysis Property Checklist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19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8981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310"/>
    </mc:Choice>
    <mc:Fallback xmlns="">
      <p:transition xmlns:p14="http://schemas.microsoft.com/office/powerpoint/2010/main" spd="slow" advTm="21310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0" y="2667000"/>
            <a:ext cx="9144000" cy="31242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endParaRPr lang="en-US" sz="2800" dirty="0" smtClean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 smtClean="0"/>
              <a:t>Reductions preserve meaning of program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Semantics Preservation</a:t>
            </a:r>
            <a:endParaRPr lang="en-US" dirty="0"/>
          </a:p>
        </p:txBody>
      </p:sp>
      <p:grpSp>
        <p:nvGrpSpPr>
          <p:cNvPr id="33" name="Group 32"/>
          <p:cNvGrpSpPr/>
          <p:nvPr/>
        </p:nvGrpSpPr>
        <p:grpSpPr>
          <a:xfrm>
            <a:off x="1534658" y="2971800"/>
            <a:ext cx="1853794" cy="2584258"/>
            <a:chOff x="127406" y="1600200"/>
            <a:chExt cx="1853794" cy="2584258"/>
          </a:xfrm>
        </p:grpSpPr>
        <p:sp>
          <p:nvSpPr>
            <p:cNvPr id="34" name="Oval 33"/>
            <p:cNvSpPr/>
            <p:nvPr/>
          </p:nvSpPr>
          <p:spPr>
            <a:xfrm>
              <a:off x="762000" y="1600200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995059" y="2526124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cxnSp>
          <p:nvCxnSpPr>
            <p:cNvPr id="36" name="Straight Arrow Connector 35"/>
            <p:cNvCxnSpPr>
              <a:stCxn id="34" idx="5"/>
              <a:endCxn id="37" idx="1"/>
            </p:cNvCxnSpPr>
            <p:nvPr/>
          </p:nvCxnSpPr>
          <p:spPr>
            <a:xfrm>
              <a:off x="1022163" y="1860363"/>
              <a:ext cx="241674" cy="23616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1219200" y="2051890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304800" y="2051890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478099" y="2526124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cxnSp>
          <p:nvCxnSpPr>
            <p:cNvPr id="40" name="Straight Arrow Connector 39"/>
            <p:cNvCxnSpPr>
              <a:stCxn id="37" idx="4"/>
              <a:endCxn id="35" idx="7"/>
            </p:cNvCxnSpPr>
            <p:nvPr/>
          </p:nvCxnSpPr>
          <p:spPr>
            <a:xfrm flipH="1">
              <a:off x="1255222" y="2356690"/>
              <a:ext cx="116378" cy="21407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35" idx="2"/>
              <a:endCxn id="39" idx="6"/>
            </p:cNvCxnSpPr>
            <p:nvPr/>
          </p:nvCxnSpPr>
          <p:spPr>
            <a:xfrm flipH="1">
              <a:off x="782899" y="2678524"/>
              <a:ext cx="212160" cy="0"/>
            </a:xfrm>
            <a:prstGeom prst="straightConnector1">
              <a:avLst/>
            </a:prstGeom>
            <a:ln>
              <a:solidFill>
                <a:schemeClr val="accent3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39" idx="0"/>
              <a:endCxn id="38" idx="4"/>
            </p:cNvCxnSpPr>
            <p:nvPr/>
          </p:nvCxnSpPr>
          <p:spPr>
            <a:xfrm flipH="1" flipV="1">
              <a:off x="457200" y="2356690"/>
              <a:ext cx="173299" cy="169434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8" idx="7"/>
              <a:endCxn id="34" idx="3"/>
            </p:cNvCxnSpPr>
            <p:nvPr/>
          </p:nvCxnSpPr>
          <p:spPr>
            <a:xfrm flipV="1">
              <a:off x="564963" y="1860363"/>
              <a:ext cx="241674" cy="23616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35" idx="4"/>
              <a:endCxn id="45" idx="0"/>
            </p:cNvCxnSpPr>
            <p:nvPr/>
          </p:nvCxnSpPr>
          <p:spPr>
            <a:xfrm flipH="1">
              <a:off x="1143000" y="2830924"/>
              <a:ext cx="4459" cy="43909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/>
            <p:cNvSpPr/>
            <p:nvPr/>
          </p:nvSpPr>
          <p:spPr>
            <a:xfrm>
              <a:off x="990600" y="3270016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478099" y="3270016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sp>
          <p:nvSpPr>
            <p:cNvPr id="47" name="Oval 46"/>
            <p:cNvSpPr/>
            <p:nvPr/>
          </p:nvSpPr>
          <p:spPr>
            <a:xfrm>
              <a:off x="734349" y="3879658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cxnSp>
          <p:nvCxnSpPr>
            <p:cNvPr id="48" name="Straight Arrow Connector 47"/>
            <p:cNvCxnSpPr>
              <a:stCxn id="39" idx="4"/>
              <a:endCxn id="46" idx="0"/>
            </p:cNvCxnSpPr>
            <p:nvPr/>
          </p:nvCxnSpPr>
          <p:spPr>
            <a:xfrm>
              <a:off x="630499" y="2830924"/>
              <a:ext cx="0" cy="43909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46" idx="4"/>
              <a:endCxn id="47" idx="1"/>
            </p:cNvCxnSpPr>
            <p:nvPr/>
          </p:nvCxnSpPr>
          <p:spPr>
            <a:xfrm>
              <a:off x="630499" y="3574816"/>
              <a:ext cx="148487" cy="34947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45" idx="4"/>
              <a:endCxn id="47" idx="7"/>
            </p:cNvCxnSpPr>
            <p:nvPr/>
          </p:nvCxnSpPr>
          <p:spPr>
            <a:xfrm flipH="1">
              <a:off x="994512" y="3574816"/>
              <a:ext cx="148488" cy="34947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1219200" y="2908715"/>
              <a:ext cx="762000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r>
                <a:rPr lang="en-US" sz="2000" dirty="0"/>
                <a:t>x</a:t>
              </a:r>
              <a:r>
                <a:rPr lang="en-US" sz="2000" dirty="0" smtClean="0"/>
                <a:t>=1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27406" y="2918870"/>
              <a:ext cx="762000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r>
                <a:rPr lang="en-US" sz="2000" dirty="0"/>
                <a:t>y</a:t>
              </a:r>
              <a:r>
                <a:rPr lang="en-US" sz="2000" dirty="0" smtClean="0"/>
                <a:t>=2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82899" y="2370512"/>
              <a:ext cx="762000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r>
                <a:rPr lang="en-US" sz="1600" dirty="0" smtClean="0">
                  <a:solidFill>
                    <a:schemeClr val="accent3"/>
                  </a:solidFill>
                </a:rPr>
                <a:t>x≠1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08608" y="2192373"/>
              <a:ext cx="762000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r>
                <a:rPr lang="en-US" sz="1600" dirty="0">
                  <a:solidFill>
                    <a:schemeClr val="accent2"/>
                  </a:solidFill>
                </a:rPr>
                <a:t>y</a:t>
              </a:r>
              <a:r>
                <a:rPr lang="en-US" sz="1600" dirty="0" smtClean="0">
                  <a:solidFill>
                    <a:schemeClr val="accent2"/>
                  </a:solidFill>
                </a:rPr>
                <a:t>≠2</a:t>
              </a:r>
            </a:p>
          </p:txBody>
        </p:sp>
      </p:grpSp>
      <p:sp>
        <p:nvSpPr>
          <p:cNvPr id="55" name="Rounded Rectangle 54"/>
          <p:cNvSpPr/>
          <p:nvPr/>
        </p:nvSpPr>
        <p:spPr>
          <a:xfrm>
            <a:off x="1524000" y="2819400"/>
            <a:ext cx="1600200" cy="1460915"/>
          </a:xfrm>
          <a:prstGeom prst="roundRect">
            <a:avLst/>
          </a:prstGeom>
          <a:noFill/>
          <a:ln w="28575" cap="rnd" cmpd="sng">
            <a:solidFill>
              <a:schemeClr val="accent1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6133790" y="2914155"/>
            <a:ext cx="1269305" cy="2572245"/>
            <a:chOff x="4140895" y="1600200"/>
            <a:chExt cx="1269305" cy="2572245"/>
          </a:xfrm>
        </p:grpSpPr>
        <p:grpSp>
          <p:nvGrpSpPr>
            <p:cNvPr id="57" name="Group 56"/>
            <p:cNvGrpSpPr/>
            <p:nvPr/>
          </p:nvGrpSpPr>
          <p:grpSpPr>
            <a:xfrm>
              <a:off x="4140895" y="1600200"/>
              <a:ext cx="1269305" cy="2572245"/>
              <a:chOff x="4445695" y="1600200"/>
              <a:chExt cx="1269305" cy="2572245"/>
            </a:xfrm>
          </p:grpSpPr>
          <p:cxnSp>
            <p:nvCxnSpPr>
              <p:cNvPr id="60" name="Straight Arrow Connector 59"/>
              <p:cNvCxnSpPr>
                <a:stCxn id="67" idx="2"/>
                <a:endCxn id="62" idx="0"/>
              </p:cNvCxnSpPr>
              <p:nvPr/>
            </p:nvCxnSpPr>
            <p:spPr>
              <a:xfrm>
                <a:off x="5080348" y="2606694"/>
                <a:ext cx="256250" cy="65130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/>
              <p:cNvCxnSpPr>
                <a:stCxn id="67" idx="2"/>
                <a:endCxn id="63" idx="0"/>
              </p:cNvCxnSpPr>
              <p:nvPr/>
            </p:nvCxnSpPr>
            <p:spPr>
              <a:xfrm flipH="1">
                <a:off x="4824097" y="2606694"/>
                <a:ext cx="256251" cy="65130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Oval 61"/>
              <p:cNvSpPr/>
              <p:nvPr/>
            </p:nvSpPr>
            <p:spPr>
              <a:xfrm>
                <a:off x="5184198" y="3258003"/>
                <a:ext cx="304800" cy="304800"/>
              </a:xfrm>
              <a:prstGeom prst="ellipse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endParaRPr lang="en-US" sz="2800" dirty="0" smtClean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4671697" y="3258003"/>
                <a:ext cx="304800" cy="304800"/>
              </a:xfrm>
              <a:prstGeom prst="ellipse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endParaRPr lang="en-US" sz="2800" dirty="0" smtClean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4927947" y="3867645"/>
                <a:ext cx="304800" cy="304800"/>
              </a:xfrm>
              <a:prstGeom prst="ellipse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endParaRPr lang="en-US" sz="2800" dirty="0" smtClean="0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5" name="Straight Arrow Connector 64"/>
              <p:cNvCxnSpPr>
                <a:stCxn id="63" idx="4"/>
                <a:endCxn id="64" idx="1"/>
              </p:cNvCxnSpPr>
              <p:nvPr/>
            </p:nvCxnSpPr>
            <p:spPr>
              <a:xfrm>
                <a:off x="4824097" y="3562803"/>
                <a:ext cx="148487" cy="34947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/>
              <p:cNvCxnSpPr>
                <a:stCxn id="62" idx="4"/>
                <a:endCxn id="64" idx="7"/>
              </p:cNvCxnSpPr>
              <p:nvPr/>
            </p:nvCxnSpPr>
            <p:spPr>
              <a:xfrm flipH="1">
                <a:off x="5188110" y="3562803"/>
                <a:ext cx="148488" cy="34947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Rounded Rectangle 66"/>
              <p:cNvSpPr/>
              <p:nvPr/>
            </p:nvSpPr>
            <p:spPr>
              <a:xfrm>
                <a:off x="4445695" y="1600200"/>
                <a:ext cx="1269305" cy="1006494"/>
              </a:xfrm>
              <a:prstGeom prst="round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r>
                  <a:rPr lang="en-US" sz="1050" dirty="0" smtClean="0">
                    <a:solidFill>
                      <a:schemeClr val="tx1"/>
                    </a:solidFill>
                    <a:latin typeface="Consolas"/>
                    <a:cs typeface="Consolas"/>
                  </a:rPr>
                  <a:t>NATURAL</a:t>
                </a:r>
              </a:p>
              <a:p>
                <a:pPr algn="ctr"/>
                <a:r>
                  <a:rPr lang="en-US" sz="1050" dirty="0" smtClean="0">
                    <a:solidFill>
                      <a:schemeClr val="tx1"/>
                    </a:solidFill>
                    <a:latin typeface="Consolas"/>
                    <a:cs typeface="Consolas"/>
                  </a:rPr>
                  <a:t>LOOP</a:t>
                </a:r>
              </a:p>
            </p:txBody>
          </p:sp>
        </p:grpSp>
        <p:sp>
          <p:nvSpPr>
            <p:cNvPr id="58" name="TextBox 57"/>
            <p:cNvSpPr txBox="1"/>
            <p:nvPr/>
          </p:nvSpPr>
          <p:spPr>
            <a:xfrm>
              <a:off x="4170075" y="2677035"/>
              <a:ext cx="762000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r>
                <a:rPr lang="en-US" sz="2000" dirty="0"/>
                <a:t>y</a:t>
              </a:r>
              <a:r>
                <a:rPr lang="en-US" sz="2000" dirty="0" smtClean="0"/>
                <a:t>=2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942920" y="2681091"/>
              <a:ext cx="441184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r>
                <a:rPr lang="en-US" sz="2000" dirty="0"/>
                <a:t>x</a:t>
              </a:r>
              <a:r>
                <a:rPr lang="en-US" sz="2000" dirty="0" smtClean="0"/>
                <a:t>=1</a:t>
              </a:r>
            </a:p>
          </p:txBody>
        </p:sp>
      </p:grpSp>
      <p:sp>
        <p:nvSpPr>
          <p:cNvPr id="68" name="Equal 67"/>
          <p:cNvSpPr/>
          <p:nvPr/>
        </p:nvSpPr>
        <p:spPr>
          <a:xfrm>
            <a:off x="3579297" y="3379429"/>
            <a:ext cx="2130562" cy="1699342"/>
          </a:xfrm>
          <a:prstGeom prst="mathEqual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69" name="&quot;No&quot; Symbol 68"/>
          <p:cNvSpPr/>
          <p:nvPr/>
        </p:nvSpPr>
        <p:spPr>
          <a:xfrm>
            <a:off x="4138829" y="3706877"/>
            <a:ext cx="1066800" cy="1065726"/>
          </a:xfrm>
          <a:prstGeom prst="noSmoking">
            <a:avLst/>
          </a:prstGeom>
          <a:solidFill>
            <a:srgbClr val="FF0000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71" name="Rounded Rectangular Callout 70"/>
          <p:cNvSpPr/>
          <p:nvPr/>
        </p:nvSpPr>
        <p:spPr>
          <a:xfrm>
            <a:off x="5205629" y="5773783"/>
            <a:ext cx="2918190" cy="440201"/>
          </a:xfrm>
          <a:prstGeom prst="wedgeRoundRectCallout">
            <a:avLst>
              <a:gd name="adj1" fmla="val -13988"/>
              <a:gd name="adj2" fmla="val -359771"/>
              <a:gd name="adj3" fmla="val 1666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Non-determinism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20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342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737"/>
    </mc:Choice>
    <mc:Fallback xmlns="">
      <p:transition xmlns:p14="http://schemas.microsoft.com/office/powerpoint/2010/main" spd="slow" advTm="807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55" grpId="0" animBg="1"/>
      <p:bldP spid="68" grpId="0" animBg="1"/>
      <p:bldP spid="69" grpId="0" animBg="1"/>
      <p:bldP spid="7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trike="sngStrike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Correctness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ot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originally intended for decompilation</a:t>
            </a:r>
          </a:p>
          <a:p>
            <a:pPr lvl="1"/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Structure can be incorrect for decompilation</a:t>
            </a:r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Effective abstraction recovery</a:t>
            </a:r>
          </a:p>
          <a:p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Structural Analysis Property Checklist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21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526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24"/>
    </mc:Choice>
    <mc:Fallback xmlns="">
      <p:transition xmlns:p14="http://schemas.microsoft.com/office/powerpoint/2010/main" spd="slow" advTm="9224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trike="sngStrike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Correctness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ot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originally intended for decompilation</a:t>
            </a:r>
          </a:p>
          <a:p>
            <a:pPr lvl="1"/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Structure can be incorrect for decompilation</a:t>
            </a:r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trike="sngStrike" dirty="0"/>
              <a:t>Effective abstraction recovery</a:t>
            </a:r>
          </a:p>
          <a:p>
            <a:pPr lvl="1"/>
            <a:r>
              <a:rPr lang="en-US" dirty="0"/>
              <a:t>Grace</a:t>
            </a:r>
            <a:r>
              <a:rPr lang="en-US" u="sng" dirty="0"/>
              <a:t>less</a:t>
            </a:r>
            <a:r>
              <a:rPr lang="en-US" dirty="0"/>
              <a:t> failures for unstructured programs</a:t>
            </a:r>
          </a:p>
          <a:p>
            <a:pPr lvl="2"/>
            <a:r>
              <a:rPr lang="en-US" dirty="0">
                <a:latin typeface="Consolas" pitchFamily="49" charset="0"/>
                <a:cs typeface="Consolas" pitchFamily="49" charset="0"/>
              </a:rPr>
              <a:t>break</a:t>
            </a:r>
            <a:r>
              <a:rPr lang="en-US" dirty="0"/>
              <a:t>,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continue</a:t>
            </a:r>
            <a:r>
              <a:rPr lang="en-US" dirty="0"/>
              <a:t>,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goto</a:t>
            </a:r>
            <a:r>
              <a:rPr lang="en-US" dirty="0" err="1">
                <a:cs typeface="Consolas" pitchFamily="49" charset="0"/>
              </a:rPr>
              <a:t>s</a:t>
            </a:r>
            <a:endParaRPr lang="en-US" dirty="0">
              <a:cs typeface="Consolas" pitchFamily="49" charset="0"/>
            </a:endParaRPr>
          </a:p>
          <a:p>
            <a:pPr lvl="2"/>
            <a:r>
              <a:rPr lang="en-US" dirty="0">
                <a:cs typeface="Consolas" pitchFamily="49" charset="0"/>
              </a:rPr>
              <a:t>Failures cascade to large </a:t>
            </a:r>
            <a:r>
              <a:rPr lang="en-US" dirty="0" err="1">
                <a:cs typeface="Consolas" pitchFamily="49" charset="0"/>
              </a:rPr>
              <a:t>subgraphs</a:t>
            </a:r>
            <a:endParaRPr lang="en-US" dirty="0">
              <a:latin typeface="Consolas" pitchFamily="49" charset="0"/>
              <a:cs typeface="Consolas" pitchFamily="49" charset="0"/>
            </a:endParaRPr>
          </a:p>
          <a:p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Structural Analysis Property Checklist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22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455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15"/>
    </mc:Choice>
    <mc:Fallback xmlns="">
      <p:transition xmlns:p14="http://schemas.microsoft.com/office/powerpoint/2010/main" spd="slow" advTm="21515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Unrecovered Structure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747839D-A323-47F3-909F-548499399628}" type="slidenum">
              <a:rPr lang="en-US" smtClean="0"/>
              <a:t>23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3581400"/>
            <a:ext cx="9144000" cy="25908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endParaRPr lang="en-US" sz="2800" dirty="0" smtClean="0">
              <a:solidFill>
                <a:srgbClr val="FFFFFF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943378" y="3630411"/>
            <a:ext cx="810397" cy="2325167"/>
            <a:chOff x="457200" y="2094433"/>
            <a:chExt cx="810397" cy="2325167"/>
          </a:xfrm>
        </p:grpSpPr>
        <p:sp>
          <p:nvSpPr>
            <p:cNvPr id="9" name="Oval 8"/>
            <p:cNvSpPr/>
            <p:nvPr/>
          </p:nvSpPr>
          <p:spPr>
            <a:xfrm>
              <a:off x="457200" y="2094433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457200" y="2627833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962797" y="3102305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457200" y="4114800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cxnSp>
          <p:nvCxnSpPr>
            <p:cNvPr id="13" name="Straight Arrow Connector 12"/>
            <p:cNvCxnSpPr>
              <a:stCxn id="9" idx="4"/>
              <a:endCxn id="10" idx="0"/>
            </p:cNvCxnSpPr>
            <p:nvPr/>
          </p:nvCxnSpPr>
          <p:spPr>
            <a:xfrm>
              <a:off x="609600" y="2399233"/>
              <a:ext cx="0" cy="2286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0" idx="5"/>
              <a:endCxn id="11" idx="1"/>
            </p:cNvCxnSpPr>
            <p:nvPr/>
          </p:nvCxnSpPr>
          <p:spPr>
            <a:xfrm>
              <a:off x="717363" y="2887996"/>
              <a:ext cx="290071" cy="25894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10" idx="4"/>
              <a:endCxn id="12" idx="0"/>
            </p:cNvCxnSpPr>
            <p:nvPr/>
          </p:nvCxnSpPr>
          <p:spPr>
            <a:xfrm>
              <a:off x="609600" y="2932633"/>
              <a:ext cx="0" cy="118216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/>
            <p:cNvSpPr/>
            <p:nvPr/>
          </p:nvSpPr>
          <p:spPr>
            <a:xfrm>
              <a:off x="962797" y="3696767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cxnSp>
          <p:nvCxnSpPr>
            <p:cNvPr id="17" name="Straight Arrow Connector 16"/>
            <p:cNvCxnSpPr>
              <a:stCxn id="11" idx="4"/>
              <a:endCxn id="16" idx="0"/>
            </p:cNvCxnSpPr>
            <p:nvPr/>
          </p:nvCxnSpPr>
          <p:spPr>
            <a:xfrm>
              <a:off x="1115197" y="3407105"/>
              <a:ext cx="0" cy="28966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01"/>
            <p:cNvCxnSpPr>
              <a:stCxn id="16" idx="6"/>
              <a:endCxn id="10" idx="6"/>
            </p:cNvCxnSpPr>
            <p:nvPr/>
          </p:nvCxnSpPr>
          <p:spPr>
            <a:xfrm flipH="1" flipV="1">
              <a:off x="762000" y="2780233"/>
              <a:ext cx="505597" cy="1068934"/>
            </a:xfrm>
            <a:prstGeom prst="curvedConnector3">
              <a:avLst>
                <a:gd name="adj1" fmla="val -45214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1" idx="3"/>
              <a:endCxn id="12" idx="7"/>
            </p:cNvCxnSpPr>
            <p:nvPr/>
          </p:nvCxnSpPr>
          <p:spPr>
            <a:xfrm flipH="1">
              <a:off x="717363" y="3362468"/>
              <a:ext cx="290071" cy="796969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ounded Rectangle 19"/>
          <p:cNvSpPr/>
          <p:nvPr/>
        </p:nvSpPr>
        <p:spPr>
          <a:xfrm>
            <a:off x="1867178" y="4087611"/>
            <a:ext cx="1219200" cy="1981200"/>
          </a:xfrm>
          <a:prstGeom prst="roundRect">
            <a:avLst/>
          </a:prstGeom>
          <a:noFill/>
          <a:ln w="28575" cap="rnd" cmpd="sng">
            <a:solidFill>
              <a:schemeClr val="accent1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grpSp>
        <p:nvGrpSpPr>
          <p:cNvPr id="66" name="Group 65"/>
          <p:cNvGrpSpPr/>
          <p:nvPr/>
        </p:nvGrpSpPr>
        <p:grpSpPr>
          <a:xfrm>
            <a:off x="4171945" y="3627127"/>
            <a:ext cx="914400" cy="2438400"/>
            <a:chOff x="1860363" y="3833458"/>
            <a:chExt cx="914400" cy="2438400"/>
          </a:xfrm>
        </p:grpSpPr>
        <p:grpSp>
          <p:nvGrpSpPr>
            <p:cNvPr id="53" name="Group 52"/>
            <p:cNvGrpSpPr/>
            <p:nvPr/>
          </p:nvGrpSpPr>
          <p:grpSpPr>
            <a:xfrm>
              <a:off x="2165163" y="3833458"/>
              <a:ext cx="304800" cy="533400"/>
              <a:chOff x="464564" y="2094433"/>
              <a:chExt cx="304800" cy="533400"/>
            </a:xfrm>
          </p:grpSpPr>
          <p:sp>
            <p:nvSpPr>
              <p:cNvPr id="54" name="Oval 53"/>
              <p:cNvSpPr/>
              <p:nvPr/>
            </p:nvSpPr>
            <p:spPr>
              <a:xfrm>
                <a:off x="464564" y="2094433"/>
                <a:ext cx="304800" cy="304800"/>
              </a:xfrm>
              <a:prstGeom prst="ellipse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endParaRPr lang="en-US" sz="2800" dirty="0" smtClean="0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58" name="Straight Arrow Connector 57"/>
              <p:cNvCxnSpPr/>
              <p:nvPr/>
            </p:nvCxnSpPr>
            <p:spPr>
              <a:xfrm>
                <a:off x="616964" y="2399233"/>
                <a:ext cx="0" cy="2286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Rounded Rectangle 64"/>
            <p:cNvSpPr/>
            <p:nvPr/>
          </p:nvSpPr>
          <p:spPr>
            <a:xfrm>
              <a:off x="1860363" y="4355412"/>
              <a:ext cx="914400" cy="1916446"/>
            </a:xfrm>
            <a:prstGeom prst="round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1050" dirty="0" smtClean="0">
                  <a:solidFill>
                    <a:schemeClr val="tx1"/>
                  </a:solidFill>
                  <a:latin typeface="Consolas"/>
                  <a:cs typeface="Consolas"/>
                </a:rPr>
                <a:t>UNKNOWN</a:t>
              </a:r>
            </a:p>
          </p:txBody>
        </p:sp>
      </p:grpSp>
      <p:sp>
        <p:nvSpPr>
          <p:cNvPr id="52" name="Rounded Rectangular Callout 51"/>
          <p:cNvSpPr/>
          <p:nvPr/>
        </p:nvSpPr>
        <p:spPr>
          <a:xfrm>
            <a:off x="3172309" y="5093597"/>
            <a:ext cx="2667000" cy="1057083"/>
          </a:xfrm>
          <a:prstGeom prst="wedgeRoundRectCallout">
            <a:avLst>
              <a:gd name="adj1" fmla="val -77861"/>
              <a:gd name="adj2" fmla="val -29707"/>
              <a:gd name="adj3" fmla="val 1666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ysClr val="windowText" lastClr="000000"/>
                </a:solidFill>
              </a:rPr>
              <a:t>This </a:t>
            </a:r>
            <a:r>
              <a:rPr lang="en-US" sz="2400" dirty="0" smtClean="0">
                <a:solidFill>
                  <a:sysClr val="windowText" lastClr="000000"/>
                </a:solidFill>
                <a:latin typeface="Consolas"/>
                <a:cs typeface="Consolas"/>
              </a:rPr>
              <a:t>break</a:t>
            </a:r>
            <a:r>
              <a:rPr lang="en-US" sz="2400" dirty="0" smtClean="0">
                <a:solidFill>
                  <a:sysClr val="windowText" lastClr="000000"/>
                </a:solidFill>
                <a:cs typeface="Consolas"/>
              </a:rPr>
              <a:t> </a:t>
            </a:r>
            <a:r>
              <a:rPr lang="en-US" sz="2400" dirty="0" smtClean="0">
                <a:solidFill>
                  <a:sysClr val="windowText" lastClr="000000"/>
                </a:solidFill>
              </a:rPr>
              <a:t>edge prevents progress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71912" y="3636979"/>
            <a:ext cx="914687" cy="2431832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en-US" sz="1050" dirty="0" smtClean="0">
                <a:solidFill>
                  <a:schemeClr val="tx1"/>
                </a:solidFill>
                <a:latin typeface="Consolas"/>
                <a:cs typeface="Consolas"/>
              </a:rPr>
              <a:t>SEQ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4800" y="710794"/>
            <a:ext cx="3733800" cy="251388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txBody>
          <a:bodyPr wrap="square" lIns="182880" tIns="0" rIns="0" bIns="0" rtlCol="0" anchor="t" anchorCtr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s1;</a:t>
            </a:r>
          </a:p>
          <a:p>
            <a:pPr>
              <a:lnSpc>
                <a:spcPct val="107000"/>
              </a:lnSpc>
            </a:pPr>
            <a:r>
              <a:rPr lang="en-US" sz="2300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while</a:t>
            </a:r>
            <a:r>
              <a:rPr lang="en-US" sz="2300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(e1) {</a:t>
            </a:r>
          </a:p>
          <a:p>
            <a:pPr>
              <a:lnSpc>
                <a:spcPct val="107000"/>
              </a:lnSpc>
            </a:pP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</a:t>
            </a:r>
            <a:r>
              <a:rPr lang="en-US" sz="2300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if</a:t>
            </a:r>
            <a:r>
              <a:rPr lang="en-US" sz="2300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(e2) { </a:t>
            </a:r>
            <a:r>
              <a:rPr lang="en-US" sz="2300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break</a:t>
            </a: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 }</a:t>
            </a:r>
          </a:p>
          <a:p>
            <a:pPr>
              <a:lnSpc>
                <a:spcPct val="107000"/>
              </a:lnSpc>
            </a:pP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s2;</a:t>
            </a:r>
          </a:p>
          <a:p>
            <a:pPr>
              <a:lnSpc>
                <a:spcPct val="107000"/>
              </a:lnSpc>
            </a:pP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07000"/>
              </a:lnSpc>
            </a:pP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s3;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95800" y="710794"/>
            <a:ext cx="4343400" cy="251388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txBody>
          <a:bodyPr wrap="square" lIns="91440" tIns="0" rIns="0" bIns="0" rtlCol="0" anchor="t" anchorCtr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s1;</a:t>
            </a:r>
          </a:p>
          <a:p>
            <a:pPr>
              <a:lnSpc>
                <a:spcPct val="107000"/>
              </a:lnSpc>
            </a:pPr>
            <a:r>
              <a:rPr lang="en-US" sz="2300" dirty="0">
                <a:solidFill>
                  <a:srgbClr val="A0A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L1:</a:t>
            </a: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300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if</a:t>
            </a:r>
            <a:r>
              <a:rPr lang="en-US" sz="2300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(e1) { </a:t>
            </a:r>
            <a:r>
              <a:rPr lang="en-US" sz="2300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goto</a:t>
            </a:r>
            <a:r>
              <a:rPr lang="en-US" sz="2300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L2; }     </a:t>
            </a:r>
          </a:p>
          <a:p>
            <a:pPr>
              <a:lnSpc>
                <a:spcPct val="107000"/>
              </a:lnSpc>
            </a:pPr>
            <a:r>
              <a:rPr lang="en-US" sz="2300" b="1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</a:t>
            </a:r>
            <a:r>
              <a:rPr lang="en-US" sz="2300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else</a:t>
            </a:r>
            <a:r>
              <a:rPr lang="en-US" sz="2300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{ </a:t>
            </a:r>
            <a:r>
              <a:rPr lang="en-US" sz="2300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goto</a:t>
            </a:r>
            <a:r>
              <a:rPr lang="en-US" sz="2300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L4; }</a:t>
            </a:r>
          </a:p>
          <a:p>
            <a:pPr>
              <a:lnSpc>
                <a:spcPct val="107000"/>
              </a:lnSpc>
            </a:pPr>
            <a:r>
              <a:rPr lang="en-US" sz="2300" dirty="0">
                <a:solidFill>
                  <a:srgbClr val="A0A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L2:</a:t>
            </a: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300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if</a:t>
            </a:r>
            <a:r>
              <a:rPr lang="en-US" sz="2300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(e2) { </a:t>
            </a:r>
            <a:r>
              <a:rPr lang="en-US" sz="2300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goto</a:t>
            </a:r>
            <a:r>
              <a:rPr lang="en-US" sz="2300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L4; }</a:t>
            </a:r>
          </a:p>
          <a:p>
            <a:pPr>
              <a:lnSpc>
                <a:spcPct val="107000"/>
              </a:lnSpc>
            </a:pPr>
            <a:r>
              <a:rPr lang="en-US" sz="2300" dirty="0">
                <a:solidFill>
                  <a:srgbClr val="A0A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L3:</a:t>
            </a: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s2; </a:t>
            </a:r>
            <a:r>
              <a:rPr lang="en-US" sz="2300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goto</a:t>
            </a:r>
            <a:r>
              <a:rPr lang="en-US" sz="2300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L1;</a:t>
            </a:r>
          </a:p>
          <a:p>
            <a:pPr>
              <a:lnSpc>
                <a:spcPct val="107000"/>
              </a:lnSpc>
            </a:pPr>
            <a:r>
              <a:rPr lang="en-US" sz="2300" dirty="0">
                <a:solidFill>
                  <a:srgbClr val="A0A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L4:</a:t>
            </a: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300" dirty="0" smtClean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s3;</a:t>
            </a:r>
            <a:endParaRPr lang="en-US" sz="23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143000" y="3150513"/>
            <a:ext cx="2057400" cy="4308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US" sz="2800" dirty="0" smtClean="0"/>
              <a:t>Original</a:t>
            </a:r>
            <a:endParaRPr lang="en-US" sz="2800" dirty="0"/>
          </a:p>
        </p:txBody>
      </p:sp>
      <p:sp>
        <p:nvSpPr>
          <p:cNvPr id="75" name="TextBox 74"/>
          <p:cNvSpPr txBox="1"/>
          <p:nvPr/>
        </p:nvSpPr>
        <p:spPr>
          <a:xfrm>
            <a:off x="5607374" y="3150513"/>
            <a:ext cx="2362200" cy="4308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US" sz="2800" dirty="0" smtClean="0"/>
              <a:t>Decompiled</a:t>
            </a:r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621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133"/>
    </mc:Choice>
    <mc:Fallback xmlns="">
      <p:transition xmlns:p14="http://schemas.microsoft.com/office/powerpoint/2010/main" spd="slow" advTm="541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0" grpId="0" animBg="1"/>
      <p:bldP spid="52" grpId="0" animBg="1"/>
      <p:bldP spid="52" grpId="1" animBg="1"/>
      <p:bldP spid="67" grpId="0" animBg="1"/>
      <p:bldP spid="71" grpId="0" animBg="1"/>
      <p:bldP spid="74" grpId="0"/>
      <p:bldP spid="7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Remove edges that are preventing </a:t>
            </a:r>
            <a:r>
              <a:rPr lang="en-US" dirty="0"/>
              <a:t>a match</a:t>
            </a:r>
          </a:p>
          <a:p>
            <a:pPr lvl="1"/>
            <a:r>
              <a:rPr lang="en-US" dirty="0"/>
              <a:t>Represent </a:t>
            </a:r>
            <a:r>
              <a:rPr lang="en-US" dirty="0" smtClean="0"/>
              <a:t>in decompiled source as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break</a:t>
            </a:r>
            <a:r>
              <a:rPr lang="en-US" dirty="0"/>
              <a:t>,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goto</a:t>
            </a:r>
            <a:r>
              <a:rPr lang="en-US" dirty="0"/>
              <a:t>,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continue</a:t>
            </a:r>
          </a:p>
          <a:p>
            <a:pPr lvl="1"/>
            <a:r>
              <a:rPr lang="en-US" dirty="0" smtClean="0">
                <a:cs typeface="Consolas" pitchFamily="49" charset="0"/>
              </a:rPr>
              <a:t>Run on remaining graph</a:t>
            </a:r>
          </a:p>
          <a:p>
            <a:pPr lvl="1"/>
            <a:endParaRPr lang="en-US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Iterative Refinement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62000" y="4114800"/>
            <a:ext cx="7620000" cy="121920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>
                <a:cs typeface="Consolas" pitchFamily="49" charset="0"/>
              </a:rPr>
              <a:t>Allows structuring algorithm to make more </a:t>
            </a:r>
            <a:r>
              <a:rPr lang="en-US" sz="2400" dirty="0" smtClean="0">
                <a:cs typeface="Consolas" pitchFamily="49" charset="0"/>
              </a:rPr>
              <a:t>progress</a:t>
            </a:r>
            <a:endParaRPr lang="en-US" sz="2400" dirty="0">
              <a:cs typeface="Consolas" pitchFamily="49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410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990"/>
    </mc:Choice>
    <mc:Fallback xmlns="">
      <p:transition xmlns:p14="http://schemas.microsoft.com/office/powerpoint/2010/main" spd="slow" advTm="379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Iterative Refinement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747839D-A323-47F3-909F-548499399628}" type="slidenum">
              <a:rPr lang="en-US" smtClean="0"/>
              <a:t>25</a:t>
            </a:fld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609600" y="744074"/>
            <a:ext cx="3581400" cy="251388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txBody>
          <a:bodyPr wrap="square" lIns="91440" tIns="0" rIns="0" bIns="0" rtlCol="0" anchor="t" anchorCtr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s1;</a:t>
            </a:r>
          </a:p>
          <a:p>
            <a:pPr>
              <a:lnSpc>
                <a:spcPct val="107000"/>
              </a:lnSpc>
            </a:pPr>
            <a:r>
              <a:rPr lang="en-US" sz="2300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while</a:t>
            </a:r>
            <a:r>
              <a:rPr lang="en-US" sz="2300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(e1) {</a:t>
            </a:r>
          </a:p>
          <a:p>
            <a:pPr>
              <a:lnSpc>
                <a:spcPct val="107000"/>
              </a:lnSpc>
            </a:pP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</a:t>
            </a:r>
            <a:r>
              <a:rPr lang="en-US" sz="2300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if</a:t>
            </a:r>
            <a:r>
              <a:rPr lang="en-US" sz="2300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(e2) { </a:t>
            </a:r>
            <a:r>
              <a:rPr lang="en-US" sz="2300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break</a:t>
            </a: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 }</a:t>
            </a:r>
          </a:p>
          <a:p>
            <a:pPr>
              <a:lnSpc>
                <a:spcPct val="107000"/>
              </a:lnSpc>
            </a:pP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s2;</a:t>
            </a:r>
          </a:p>
          <a:p>
            <a:pPr>
              <a:lnSpc>
                <a:spcPct val="107000"/>
              </a:lnSpc>
            </a:pP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07000"/>
              </a:lnSpc>
            </a:pP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s3;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11724" y="744074"/>
            <a:ext cx="3584971" cy="251388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txBody>
          <a:bodyPr wrap="square" lIns="91440" tIns="0" rIns="0" bIns="0" rtlCol="0" anchor="t" anchorCtr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s1;</a:t>
            </a:r>
          </a:p>
          <a:p>
            <a:pPr>
              <a:lnSpc>
                <a:spcPct val="107000"/>
              </a:lnSpc>
            </a:pPr>
            <a:r>
              <a:rPr lang="en-US" sz="2300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while</a:t>
            </a:r>
            <a:r>
              <a:rPr lang="en-US" sz="2300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(e1) {</a:t>
            </a:r>
          </a:p>
          <a:p>
            <a:pPr>
              <a:lnSpc>
                <a:spcPct val="107000"/>
              </a:lnSpc>
            </a:pP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</a:t>
            </a:r>
            <a:r>
              <a:rPr lang="en-US" sz="2300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if</a:t>
            </a:r>
            <a:r>
              <a:rPr lang="en-US" sz="2300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(e2) { </a:t>
            </a:r>
            <a:r>
              <a:rPr lang="en-US" sz="2300" b="1" dirty="0">
                <a:solidFill>
                  <a:srgbClr val="FF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break</a:t>
            </a: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 }</a:t>
            </a:r>
          </a:p>
          <a:p>
            <a:pPr>
              <a:lnSpc>
                <a:spcPct val="107000"/>
              </a:lnSpc>
            </a:pP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s2;</a:t>
            </a:r>
          </a:p>
          <a:p>
            <a:pPr>
              <a:lnSpc>
                <a:spcPct val="107000"/>
              </a:lnSpc>
            </a:pP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07000"/>
              </a:lnSpc>
            </a:pPr>
            <a:r>
              <a:rPr lang="en-US" sz="23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s3;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3671341"/>
            <a:ext cx="9144000" cy="2500859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endParaRPr lang="en-US" sz="2800" dirty="0" smtClean="0">
              <a:solidFill>
                <a:srgbClr val="FFFFFF"/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457200" y="3733801"/>
            <a:ext cx="810397" cy="2325167"/>
            <a:chOff x="457200" y="2094433"/>
            <a:chExt cx="810397" cy="2325167"/>
          </a:xfrm>
        </p:grpSpPr>
        <p:sp>
          <p:nvSpPr>
            <p:cNvPr id="33" name="Oval 32"/>
            <p:cNvSpPr/>
            <p:nvPr/>
          </p:nvSpPr>
          <p:spPr>
            <a:xfrm>
              <a:off x="457200" y="2094433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457200" y="2627833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962797" y="3102305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57200" y="4114800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cxnSp>
          <p:nvCxnSpPr>
            <p:cNvPr id="37" name="Straight Arrow Connector 36"/>
            <p:cNvCxnSpPr>
              <a:stCxn id="33" idx="4"/>
              <a:endCxn id="34" idx="0"/>
            </p:cNvCxnSpPr>
            <p:nvPr/>
          </p:nvCxnSpPr>
          <p:spPr>
            <a:xfrm>
              <a:off x="609600" y="2399233"/>
              <a:ext cx="0" cy="2286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34" idx="5"/>
              <a:endCxn id="35" idx="1"/>
            </p:cNvCxnSpPr>
            <p:nvPr/>
          </p:nvCxnSpPr>
          <p:spPr>
            <a:xfrm>
              <a:off x="717363" y="2887996"/>
              <a:ext cx="290071" cy="25894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34" idx="4"/>
              <a:endCxn id="36" idx="0"/>
            </p:cNvCxnSpPr>
            <p:nvPr/>
          </p:nvCxnSpPr>
          <p:spPr>
            <a:xfrm>
              <a:off x="609600" y="2932633"/>
              <a:ext cx="0" cy="118216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/>
            <p:nvPr/>
          </p:nvSpPr>
          <p:spPr>
            <a:xfrm>
              <a:off x="962797" y="3696767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cxnSp>
          <p:nvCxnSpPr>
            <p:cNvPr id="41" name="Straight Arrow Connector 40"/>
            <p:cNvCxnSpPr>
              <a:stCxn id="35" idx="4"/>
              <a:endCxn id="40" idx="0"/>
            </p:cNvCxnSpPr>
            <p:nvPr/>
          </p:nvCxnSpPr>
          <p:spPr>
            <a:xfrm>
              <a:off x="1115197" y="3407105"/>
              <a:ext cx="0" cy="28966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101"/>
            <p:cNvCxnSpPr>
              <a:stCxn id="40" idx="6"/>
              <a:endCxn id="34" idx="6"/>
            </p:cNvCxnSpPr>
            <p:nvPr/>
          </p:nvCxnSpPr>
          <p:spPr>
            <a:xfrm flipH="1" flipV="1">
              <a:off x="762000" y="2780233"/>
              <a:ext cx="505597" cy="1068934"/>
            </a:xfrm>
            <a:prstGeom prst="curvedConnector3">
              <a:avLst>
                <a:gd name="adj1" fmla="val -45214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5" idx="3"/>
              <a:endCxn id="36" idx="7"/>
            </p:cNvCxnSpPr>
            <p:nvPr/>
          </p:nvCxnSpPr>
          <p:spPr>
            <a:xfrm flipH="1">
              <a:off x="717363" y="3362468"/>
              <a:ext cx="290071" cy="796969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ounded Rectangle 43"/>
          <p:cNvSpPr/>
          <p:nvPr/>
        </p:nvSpPr>
        <p:spPr>
          <a:xfrm>
            <a:off x="862398" y="4656837"/>
            <a:ext cx="509202" cy="506247"/>
          </a:xfrm>
          <a:prstGeom prst="roundRect">
            <a:avLst/>
          </a:prstGeom>
          <a:noFill/>
          <a:ln w="28575" cap="rnd" cmpd="sng">
            <a:solidFill>
              <a:schemeClr val="accent1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2379529" y="3747376"/>
            <a:ext cx="888201" cy="2325167"/>
            <a:chOff x="1981200" y="2108008"/>
            <a:chExt cx="888201" cy="2325167"/>
          </a:xfrm>
        </p:grpSpPr>
        <p:sp>
          <p:nvSpPr>
            <p:cNvPr id="46" name="Oval 45"/>
            <p:cNvSpPr/>
            <p:nvPr/>
          </p:nvSpPr>
          <p:spPr>
            <a:xfrm>
              <a:off x="1981200" y="2108008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sp>
          <p:nvSpPr>
            <p:cNvPr id="47" name="Oval 46"/>
            <p:cNvSpPr/>
            <p:nvPr/>
          </p:nvSpPr>
          <p:spPr>
            <a:xfrm>
              <a:off x="1981200" y="2641408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sp>
          <p:nvSpPr>
            <p:cNvPr id="48" name="Oval 47"/>
            <p:cNvSpPr/>
            <p:nvPr/>
          </p:nvSpPr>
          <p:spPr>
            <a:xfrm>
              <a:off x="1981200" y="4128375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cxnSp>
          <p:nvCxnSpPr>
            <p:cNvPr id="49" name="Straight Arrow Connector 48"/>
            <p:cNvCxnSpPr>
              <a:stCxn id="46" idx="4"/>
              <a:endCxn id="47" idx="0"/>
            </p:cNvCxnSpPr>
            <p:nvPr/>
          </p:nvCxnSpPr>
          <p:spPr>
            <a:xfrm>
              <a:off x="2133600" y="2412808"/>
              <a:ext cx="0" cy="2286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47" idx="5"/>
              <a:endCxn id="60" idx="0"/>
            </p:cNvCxnSpPr>
            <p:nvPr/>
          </p:nvCxnSpPr>
          <p:spPr>
            <a:xfrm>
              <a:off x="2241363" y="2901571"/>
              <a:ext cx="297435" cy="25894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>
              <a:stCxn id="47" idx="4"/>
              <a:endCxn id="48" idx="0"/>
            </p:cNvCxnSpPr>
            <p:nvPr/>
          </p:nvCxnSpPr>
          <p:spPr>
            <a:xfrm>
              <a:off x="2133600" y="2946208"/>
              <a:ext cx="0" cy="118216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/>
            <p:cNvSpPr/>
            <p:nvPr/>
          </p:nvSpPr>
          <p:spPr>
            <a:xfrm>
              <a:off x="2486797" y="3854637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cxnSp>
          <p:nvCxnSpPr>
            <p:cNvPr id="56" name="Straight Arrow Connector 55"/>
            <p:cNvCxnSpPr>
              <a:stCxn id="60" idx="2"/>
              <a:endCxn id="55" idx="0"/>
            </p:cNvCxnSpPr>
            <p:nvPr/>
          </p:nvCxnSpPr>
          <p:spPr>
            <a:xfrm>
              <a:off x="2538798" y="3581928"/>
              <a:ext cx="100399" cy="27270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101"/>
            <p:cNvCxnSpPr>
              <a:stCxn id="55" idx="6"/>
              <a:endCxn id="47" idx="6"/>
            </p:cNvCxnSpPr>
            <p:nvPr/>
          </p:nvCxnSpPr>
          <p:spPr>
            <a:xfrm flipH="1" flipV="1">
              <a:off x="2286000" y="2793808"/>
              <a:ext cx="505597" cy="1213229"/>
            </a:xfrm>
            <a:prstGeom prst="curvedConnector3">
              <a:avLst>
                <a:gd name="adj1" fmla="val -45214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60" idx="2"/>
              <a:endCxn id="48" idx="7"/>
            </p:cNvCxnSpPr>
            <p:nvPr/>
          </p:nvCxnSpPr>
          <p:spPr>
            <a:xfrm flipH="1">
              <a:off x="2241363" y="3581928"/>
              <a:ext cx="297435" cy="591084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ot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ounded Rectangle 59"/>
            <p:cNvSpPr/>
            <p:nvPr/>
          </p:nvSpPr>
          <p:spPr>
            <a:xfrm>
              <a:off x="2208195" y="3160517"/>
              <a:ext cx="661206" cy="421411"/>
            </a:xfrm>
            <a:prstGeom prst="round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1050" dirty="0" smtClean="0">
                  <a:solidFill>
                    <a:schemeClr val="tx1"/>
                  </a:solidFill>
                  <a:latin typeface="Consolas"/>
                  <a:cs typeface="Consolas"/>
                </a:rPr>
                <a:t>BREAK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4379662" y="3733801"/>
            <a:ext cx="955912" cy="2325167"/>
            <a:chOff x="1901588" y="2094433"/>
            <a:chExt cx="955912" cy="2325167"/>
          </a:xfrm>
        </p:grpSpPr>
        <p:sp>
          <p:nvSpPr>
            <p:cNvPr id="62" name="Oval 61"/>
            <p:cNvSpPr/>
            <p:nvPr/>
          </p:nvSpPr>
          <p:spPr>
            <a:xfrm>
              <a:off x="1905000" y="2094433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sp>
          <p:nvSpPr>
            <p:cNvPr id="63" name="Oval 62"/>
            <p:cNvSpPr/>
            <p:nvPr/>
          </p:nvSpPr>
          <p:spPr>
            <a:xfrm>
              <a:off x="1905000" y="2627833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sp>
          <p:nvSpPr>
            <p:cNvPr id="64" name="Oval 63"/>
            <p:cNvSpPr/>
            <p:nvPr/>
          </p:nvSpPr>
          <p:spPr>
            <a:xfrm>
              <a:off x="1901588" y="4114800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cxnSp>
          <p:nvCxnSpPr>
            <p:cNvPr id="68" name="Straight Arrow Connector 67"/>
            <p:cNvCxnSpPr>
              <a:stCxn id="62" idx="4"/>
              <a:endCxn id="63" idx="0"/>
            </p:cNvCxnSpPr>
            <p:nvPr/>
          </p:nvCxnSpPr>
          <p:spPr>
            <a:xfrm>
              <a:off x="2057400" y="2399233"/>
              <a:ext cx="0" cy="2286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63" idx="5"/>
              <a:endCxn id="77" idx="0"/>
            </p:cNvCxnSpPr>
            <p:nvPr/>
          </p:nvCxnSpPr>
          <p:spPr>
            <a:xfrm>
              <a:off x="2165163" y="2887996"/>
              <a:ext cx="444687" cy="25894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>
              <a:stCxn id="63" idx="4"/>
              <a:endCxn id="64" idx="0"/>
            </p:cNvCxnSpPr>
            <p:nvPr/>
          </p:nvCxnSpPr>
          <p:spPr>
            <a:xfrm flipH="1">
              <a:off x="2053988" y="2932633"/>
              <a:ext cx="3412" cy="118216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101"/>
            <p:cNvCxnSpPr>
              <a:stCxn id="77" idx="3"/>
              <a:endCxn id="63" idx="6"/>
            </p:cNvCxnSpPr>
            <p:nvPr/>
          </p:nvCxnSpPr>
          <p:spPr>
            <a:xfrm flipH="1" flipV="1">
              <a:off x="2209800" y="2780233"/>
              <a:ext cx="647700" cy="792600"/>
            </a:xfrm>
            <a:prstGeom prst="curvedConnector3">
              <a:avLst>
                <a:gd name="adj1" fmla="val -35294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>
              <a:stCxn id="77" idx="1"/>
              <a:endCxn id="64" idx="7"/>
            </p:cNvCxnSpPr>
            <p:nvPr/>
          </p:nvCxnSpPr>
          <p:spPr>
            <a:xfrm flipH="1">
              <a:off x="2161751" y="3572833"/>
              <a:ext cx="200449" cy="586604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ot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Rounded Rectangle 76"/>
            <p:cNvSpPr/>
            <p:nvPr/>
          </p:nvSpPr>
          <p:spPr>
            <a:xfrm>
              <a:off x="2362200" y="3146943"/>
              <a:ext cx="495300" cy="851780"/>
            </a:xfrm>
            <a:prstGeom prst="round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1050" dirty="0" smtClean="0">
                  <a:solidFill>
                    <a:schemeClr val="tx1"/>
                  </a:solidFill>
                  <a:latin typeface="Consolas"/>
                  <a:cs typeface="Consolas"/>
                </a:rPr>
                <a:t>SEQ</a:t>
              </a:r>
              <a:br>
                <a:rPr lang="en-US" sz="1050" dirty="0" smtClean="0">
                  <a:solidFill>
                    <a:schemeClr val="tx1"/>
                  </a:solidFill>
                  <a:latin typeface="Consolas"/>
                  <a:cs typeface="Consolas"/>
                </a:rPr>
              </a:br>
              <a:r>
                <a:rPr lang="en-US" sz="1050" dirty="0" smtClean="0">
                  <a:solidFill>
                    <a:schemeClr val="tx1"/>
                  </a:solidFill>
                  <a:latin typeface="Consolas"/>
                  <a:cs typeface="Consolas"/>
                </a:rPr>
                <a:t>1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6447506" y="3733801"/>
            <a:ext cx="670162" cy="2325167"/>
            <a:chOff x="3520838" y="2094433"/>
            <a:chExt cx="670162" cy="2325167"/>
          </a:xfrm>
        </p:grpSpPr>
        <p:sp>
          <p:nvSpPr>
            <p:cNvPr id="79" name="Oval 78"/>
            <p:cNvSpPr/>
            <p:nvPr/>
          </p:nvSpPr>
          <p:spPr>
            <a:xfrm>
              <a:off x="3703519" y="2094433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sp>
          <p:nvSpPr>
            <p:cNvPr id="80" name="Oval 79"/>
            <p:cNvSpPr/>
            <p:nvPr/>
          </p:nvSpPr>
          <p:spPr>
            <a:xfrm>
              <a:off x="3703519" y="4114800"/>
              <a:ext cx="304800" cy="3048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FFFFFF"/>
                </a:solidFill>
              </a:endParaRPr>
            </a:p>
          </p:txBody>
        </p:sp>
        <p:cxnSp>
          <p:nvCxnSpPr>
            <p:cNvPr id="81" name="Straight Arrow Connector 80"/>
            <p:cNvCxnSpPr>
              <a:stCxn id="79" idx="4"/>
              <a:endCxn id="84" idx="0"/>
            </p:cNvCxnSpPr>
            <p:nvPr/>
          </p:nvCxnSpPr>
          <p:spPr>
            <a:xfrm>
              <a:off x="3855919" y="2399233"/>
              <a:ext cx="0" cy="2286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>
              <a:stCxn id="84" idx="2"/>
              <a:endCxn id="80" idx="0"/>
            </p:cNvCxnSpPr>
            <p:nvPr/>
          </p:nvCxnSpPr>
          <p:spPr>
            <a:xfrm>
              <a:off x="3855919" y="3479613"/>
              <a:ext cx="0" cy="6351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61"/>
            <p:cNvCxnSpPr>
              <a:stCxn id="84" idx="1"/>
              <a:endCxn id="80" idx="1"/>
            </p:cNvCxnSpPr>
            <p:nvPr/>
          </p:nvCxnSpPr>
          <p:spPr>
            <a:xfrm rot="10800000" flipH="1" flipV="1">
              <a:off x="3520838" y="3053723"/>
              <a:ext cx="227318" cy="1105714"/>
            </a:xfrm>
            <a:prstGeom prst="curvedConnector4">
              <a:avLst>
                <a:gd name="adj1" fmla="val -49531"/>
                <a:gd name="adj2" fmla="val 67240"/>
              </a:avLst>
            </a:prstGeom>
            <a:ln>
              <a:solidFill>
                <a:srgbClr val="FF0000"/>
              </a:solidFill>
              <a:prstDash val="sysDot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ounded Rectangle 83"/>
            <p:cNvSpPr/>
            <p:nvPr/>
          </p:nvSpPr>
          <p:spPr>
            <a:xfrm>
              <a:off x="3520838" y="2627833"/>
              <a:ext cx="670162" cy="851780"/>
            </a:xfrm>
            <a:prstGeom prst="round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1050" dirty="0" smtClean="0">
                  <a:solidFill>
                    <a:schemeClr val="tx1"/>
                  </a:solidFill>
                  <a:latin typeface="Consolas"/>
                  <a:cs typeface="Consolas"/>
                </a:rPr>
                <a:t>WHILE</a:t>
              </a:r>
            </a:p>
          </p:txBody>
        </p:sp>
      </p:grpSp>
      <p:sp>
        <p:nvSpPr>
          <p:cNvPr id="85" name="Rounded Rectangle 84"/>
          <p:cNvSpPr/>
          <p:nvPr/>
        </p:nvSpPr>
        <p:spPr>
          <a:xfrm>
            <a:off x="8229600" y="3733801"/>
            <a:ext cx="670162" cy="2325167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en-US" sz="1050" dirty="0" smtClean="0">
                <a:solidFill>
                  <a:schemeClr val="tx1"/>
                </a:solidFill>
                <a:latin typeface="Consolas"/>
                <a:cs typeface="Consolas"/>
              </a:rPr>
              <a:t>SEQ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216624" y="4231338"/>
            <a:ext cx="1440976" cy="1581042"/>
          </a:xfrm>
          <a:prstGeom prst="roundRect">
            <a:avLst/>
          </a:prstGeom>
          <a:noFill/>
          <a:ln w="28575" cap="rnd" cmpd="sng">
            <a:solidFill>
              <a:schemeClr val="accent1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371600" y="3226713"/>
            <a:ext cx="2057400" cy="4308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US" sz="2800" dirty="0" smtClean="0"/>
              <a:t>Original</a:t>
            </a:r>
            <a:endParaRPr lang="en-US" sz="2800" dirty="0"/>
          </a:p>
        </p:txBody>
      </p:sp>
      <p:sp>
        <p:nvSpPr>
          <p:cNvPr id="75" name="TextBox 74"/>
          <p:cNvSpPr txBox="1"/>
          <p:nvPr/>
        </p:nvSpPr>
        <p:spPr>
          <a:xfrm>
            <a:off x="5637013" y="3200400"/>
            <a:ext cx="2362200" cy="4308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US" sz="2800" dirty="0" smtClean="0"/>
              <a:t>Decompiled</a:t>
            </a:r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512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717"/>
    </mc:Choice>
    <mc:Fallback xmlns="">
      <p:transition xmlns:p14="http://schemas.microsoft.com/office/powerpoint/2010/main" spd="slow" advTm="287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31" grpId="0" animBg="1"/>
      <p:bldP spid="44" grpId="0" animBg="1"/>
      <p:bldP spid="85" grpId="0" animBg="1"/>
      <p:bldP spid="86" grpId="0" animBg="1"/>
      <p:bldP spid="74" grpId="0"/>
      <p:bldP spid="7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How does Phoenix compare with state of the art?</a:t>
            </a:r>
          </a:p>
          <a:p>
            <a:endParaRPr lang="en-US" dirty="0" smtClean="0"/>
          </a:p>
          <a:p>
            <a:r>
              <a:rPr lang="en-US" dirty="0" smtClean="0"/>
              <a:t>Measure impact of:</a:t>
            </a:r>
          </a:p>
          <a:p>
            <a:pPr lvl="1"/>
            <a:r>
              <a:rPr lang="en-US" dirty="0"/>
              <a:t>S</a:t>
            </a:r>
            <a:r>
              <a:rPr lang="en-US" dirty="0" smtClean="0"/>
              <a:t>emantics preservation</a:t>
            </a:r>
          </a:p>
          <a:p>
            <a:pPr lvl="1"/>
            <a:r>
              <a:rPr lang="en-US" dirty="0"/>
              <a:t>I</a:t>
            </a:r>
            <a:r>
              <a:rPr lang="en-US" dirty="0" smtClean="0"/>
              <a:t>terative refinement</a:t>
            </a:r>
          </a:p>
          <a:p>
            <a:endParaRPr lang="en-US" dirty="0"/>
          </a:p>
          <a:p>
            <a:r>
              <a:rPr lang="en-US" dirty="0" smtClean="0"/>
              <a:t>Other </a:t>
            </a:r>
            <a:r>
              <a:rPr lang="en-US" dirty="0" err="1" smtClean="0"/>
              <a:t>decompilers</a:t>
            </a:r>
            <a:endParaRPr lang="en-US" dirty="0" smtClean="0"/>
          </a:p>
          <a:p>
            <a:pPr lvl="1"/>
            <a:r>
              <a:rPr lang="en-US" dirty="0" smtClean="0"/>
              <a:t>Hex-Rays (industry state of the art)</a:t>
            </a:r>
            <a:endParaRPr lang="en-US" sz="2400" dirty="0" smtClean="0"/>
          </a:p>
          <a:p>
            <a:pPr lvl="1"/>
            <a:r>
              <a:rPr lang="en-US" dirty="0" smtClean="0"/>
              <a:t>Boomerang (academic state of the art) </a:t>
            </a:r>
            <a:br>
              <a:rPr lang="en-US" dirty="0" smtClean="0"/>
            </a:b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Large Scale Experiment Details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4576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023"/>
    </mc:Choice>
    <mc:Fallback xmlns="">
      <p:transition spd="slow" advTm="53023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How does Phoenix compare with state of the art?</a:t>
            </a:r>
          </a:p>
          <a:p>
            <a:endParaRPr lang="en-US" dirty="0" smtClean="0"/>
          </a:p>
          <a:p>
            <a:r>
              <a:rPr lang="en-US" dirty="0" smtClean="0"/>
              <a:t>Measure impact of:</a:t>
            </a:r>
          </a:p>
          <a:p>
            <a:pPr lvl="1"/>
            <a:r>
              <a:rPr lang="en-US" dirty="0"/>
              <a:t>S</a:t>
            </a:r>
            <a:r>
              <a:rPr lang="en-US" dirty="0" smtClean="0"/>
              <a:t>emantics preservation</a:t>
            </a:r>
          </a:p>
          <a:p>
            <a:pPr lvl="1"/>
            <a:r>
              <a:rPr lang="en-US" dirty="0"/>
              <a:t>I</a:t>
            </a:r>
            <a:r>
              <a:rPr lang="en-US" dirty="0" smtClean="0"/>
              <a:t>terative refinement</a:t>
            </a:r>
          </a:p>
          <a:p>
            <a:endParaRPr lang="en-US" dirty="0"/>
          </a:p>
          <a:p>
            <a:r>
              <a:rPr lang="en-US" dirty="0" smtClean="0"/>
              <a:t>Other </a:t>
            </a:r>
            <a:r>
              <a:rPr lang="en-US" dirty="0" err="1" smtClean="0"/>
              <a:t>decompilers</a:t>
            </a:r>
            <a:endParaRPr lang="en-US" dirty="0" smtClean="0"/>
          </a:p>
          <a:p>
            <a:pPr lvl="1"/>
            <a:r>
              <a:rPr lang="en-US" dirty="0" smtClean="0"/>
              <a:t>Hex-Rays (industry state of the art)</a:t>
            </a:r>
            <a:endParaRPr lang="en-US" sz="2400" dirty="0" smtClean="0"/>
          </a:p>
          <a:p>
            <a:pPr lvl="1"/>
            <a:r>
              <a:rPr lang="en-US" strike="sngStrike" dirty="0" smtClean="0"/>
              <a:t>Boomerang (academic state of the art) </a:t>
            </a:r>
          </a:p>
          <a:p>
            <a:pPr lvl="2"/>
            <a:r>
              <a:rPr lang="en-US" dirty="0" smtClean="0"/>
              <a:t>Did not terminate in &lt;1 hour for most programs</a:t>
            </a: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Large Scale Experiment Details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27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889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023"/>
    </mc:Choice>
    <mc:Fallback xmlns="">
      <p:transition spd="slow" advTm="53023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 fontScale="92500" lnSpcReduction="10000"/>
          </a:bodyPr>
          <a:lstStyle/>
          <a:p>
            <a:r>
              <a:rPr lang="en-US" dirty="0"/>
              <a:t>GNU </a:t>
            </a:r>
            <a:r>
              <a:rPr lang="en-US" dirty="0" err="1">
                <a:latin typeface="Consolas"/>
                <a:cs typeface="Consolas"/>
              </a:rPr>
              <a:t>coreutils</a:t>
            </a:r>
            <a:r>
              <a:rPr lang="en-US" dirty="0"/>
              <a:t> 8.17, compiled with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endParaRPr lang="en-US" dirty="0"/>
          </a:p>
          <a:p>
            <a:pPr lvl="1"/>
            <a:r>
              <a:rPr lang="en-US" dirty="0"/>
              <a:t>Programs of varying complexity</a:t>
            </a:r>
          </a:p>
          <a:p>
            <a:pPr lvl="1"/>
            <a:r>
              <a:rPr lang="en-US" dirty="0"/>
              <a:t>Test suite</a:t>
            </a:r>
          </a:p>
          <a:p>
            <a:endParaRPr lang="en-US" b="1" dirty="0" smtClean="0"/>
          </a:p>
          <a:p>
            <a:r>
              <a:rPr lang="en-US" dirty="0" smtClean="0"/>
              <a:t>Metrics</a:t>
            </a:r>
            <a:endParaRPr lang="en-US" dirty="0"/>
          </a:p>
          <a:p>
            <a:pPr lvl="1"/>
            <a:r>
              <a:rPr lang="en-US" dirty="0" smtClean="0"/>
              <a:t>Correctness</a:t>
            </a:r>
          </a:p>
          <a:p>
            <a:pPr lvl="2"/>
            <a:r>
              <a:rPr lang="en-US" dirty="0"/>
              <a:t>N</a:t>
            </a:r>
            <a:r>
              <a:rPr lang="en-US" dirty="0" smtClean="0"/>
              <a:t>umber </a:t>
            </a:r>
            <a:r>
              <a:rPr lang="en-US" dirty="0"/>
              <a:t>of </a:t>
            </a:r>
            <a:r>
              <a:rPr lang="en-US" dirty="0" smtClean="0"/>
              <a:t>decompiled utilities that </a:t>
            </a:r>
            <a:r>
              <a:rPr lang="en-US" dirty="0"/>
              <a:t>pass unit </a:t>
            </a:r>
            <a:r>
              <a:rPr lang="en-US" dirty="0" smtClean="0"/>
              <a:t>tests</a:t>
            </a:r>
          </a:p>
          <a:p>
            <a:pPr lvl="2"/>
            <a:r>
              <a:rPr lang="en-US" u="sng" dirty="0" smtClean="0"/>
              <a:t>Has not been done before</a:t>
            </a:r>
            <a:r>
              <a:rPr lang="en-US" dirty="0" smtClean="0"/>
              <a:t> on large scale!</a:t>
            </a:r>
            <a:endParaRPr lang="en-US" dirty="0"/>
          </a:p>
          <a:p>
            <a:pPr lvl="1"/>
            <a:r>
              <a:rPr lang="en-US" dirty="0"/>
              <a:t>Control-flow structure recovery</a:t>
            </a:r>
          </a:p>
          <a:p>
            <a:pPr lvl="2"/>
            <a:r>
              <a:rPr lang="en-US" dirty="0"/>
              <a:t>Count number of </a:t>
            </a:r>
            <a:r>
              <a:rPr lang="en-US" dirty="0" err="1">
                <a:latin typeface="Consolas"/>
                <a:cs typeface="Consolas"/>
              </a:rPr>
              <a:t>goto</a:t>
            </a:r>
            <a:r>
              <a:rPr lang="en-US" dirty="0"/>
              <a:t> statements</a:t>
            </a:r>
          </a:p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Large Scale Experiment Details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28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8963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531"/>
    </mc:Choice>
    <mc:Fallback xmlns="">
      <p:transition xmlns:p14="http://schemas.microsoft.com/office/powerpoint/2010/main" spd="slow" advTm="635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Number of Correct Utilities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747839D-A323-47F3-909F-548499399628}" type="slidenum">
              <a:rPr lang="en-US" smtClean="0"/>
              <a:t>29</a:t>
            </a:fld>
            <a:endParaRPr lang="en-US" dirty="0"/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508999488"/>
              </p:ext>
            </p:extLst>
          </p:nvPr>
        </p:nvGraphicFramePr>
        <p:xfrm>
          <a:off x="152400" y="745902"/>
          <a:ext cx="8839200" cy="5426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ectangle 7" hidden="1"/>
          <p:cNvSpPr/>
          <p:nvPr/>
        </p:nvSpPr>
        <p:spPr>
          <a:xfrm>
            <a:off x="6019800" y="1828800"/>
            <a:ext cx="3124200" cy="4297363"/>
          </a:xfrm>
          <a:prstGeom prst="rect">
            <a:avLst/>
          </a:prstGeom>
          <a:solidFill>
            <a:schemeClr val="bg1"/>
          </a:soli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2983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524"/>
    </mc:Choice>
    <mc:Fallback xmlns="">
      <p:transition spd="slow" advTm="405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Number of Correct Utilities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747839D-A323-47F3-909F-548499399628}" type="slidenum">
              <a:rPr lang="en-US" smtClean="0"/>
              <a:t>30</a:t>
            </a:fld>
            <a:endParaRPr lang="en-US" dirty="0"/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707755175"/>
              </p:ext>
            </p:extLst>
          </p:nvPr>
        </p:nvGraphicFramePr>
        <p:xfrm>
          <a:off x="152400" y="745902"/>
          <a:ext cx="8839200" cy="5426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ectangle 7" hidden="1"/>
          <p:cNvSpPr/>
          <p:nvPr/>
        </p:nvSpPr>
        <p:spPr>
          <a:xfrm>
            <a:off x="6019800" y="1828800"/>
            <a:ext cx="3124200" cy="4297363"/>
          </a:xfrm>
          <a:prstGeom prst="rect">
            <a:avLst/>
          </a:prstGeom>
          <a:solidFill>
            <a:schemeClr val="bg1"/>
          </a:soli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7626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524"/>
    </mc:Choice>
    <mc:Fallback xmlns="">
      <p:transition spd="slow" advTm="405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Number of Correct Utilities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747839D-A323-47F3-909F-548499399628}" type="slidenum">
              <a:rPr lang="en-US" smtClean="0"/>
              <a:t>31</a:t>
            </a:fld>
            <a:endParaRPr lang="en-US" dirty="0"/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2551417381"/>
              </p:ext>
            </p:extLst>
          </p:nvPr>
        </p:nvGraphicFramePr>
        <p:xfrm>
          <a:off x="152400" y="745902"/>
          <a:ext cx="8839200" cy="5426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ectangle 7" hidden="1"/>
          <p:cNvSpPr/>
          <p:nvPr/>
        </p:nvSpPr>
        <p:spPr>
          <a:xfrm>
            <a:off x="6019800" y="1828800"/>
            <a:ext cx="3124200" cy="4297363"/>
          </a:xfrm>
          <a:prstGeom prst="rect">
            <a:avLst/>
          </a:prstGeom>
          <a:solidFill>
            <a:schemeClr val="bg1"/>
          </a:soli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838200" y="990600"/>
            <a:ext cx="7848600" cy="863432"/>
            <a:chOff x="838200" y="1117768"/>
            <a:chExt cx="7848600" cy="863432"/>
          </a:xfrm>
        </p:grpSpPr>
        <p:grpSp>
          <p:nvGrpSpPr>
            <p:cNvPr id="13" name="Group 12"/>
            <p:cNvGrpSpPr/>
            <p:nvPr/>
          </p:nvGrpSpPr>
          <p:grpSpPr>
            <a:xfrm>
              <a:off x="838200" y="1600200"/>
              <a:ext cx="7848600" cy="381000"/>
              <a:chOff x="838200" y="1600200"/>
              <a:chExt cx="7848600" cy="381000"/>
            </a:xfrm>
          </p:grpSpPr>
          <p:cxnSp>
            <p:nvCxnSpPr>
              <p:cNvPr id="10" name="Straight Connector 9"/>
              <p:cNvCxnSpPr/>
              <p:nvPr/>
            </p:nvCxnSpPr>
            <p:spPr>
              <a:xfrm>
                <a:off x="838200" y="1600200"/>
                <a:ext cx="7848600" cy="0"/>
              </a:xfrm>
              <a:prstGeom prst="line">
                <a:avLst/>
              </a:prstGeom>
              <a:ln w="63500" cap="rnd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12" name="TextBox 11"/>
              <p:cNvSpPr txBox="1"/>
              <p:nvPr/>
            </p:nvSpPr>
            <p:spPr>
              <a:xfrm>
                <a:off x="3505200" y="1673423"/>
                <a:ext cx="266700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algn="ctr">
                  <a:buClr>
                    <a:schemeClr val="accent1"/>
                  </a:buClr>
                </a:pPr>
                <a:r>
                  <a:rPr lang="en-US" sz="2000" dirty="0" smtClean="0"/>
                  <a:t>All Utilities</a:t>
                </a:r>
                <a:endParaRPr lang="en-US" sz="2000" dirty="0"/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3810000" y="1117768"/>
              <a:ext cx="2057400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ctr">
                <a:buClr>
                  <a:schemeClr val="accent1"/>
                </a:buClr>
              </a:pPr>
              <a:r>
                <a:rPr lang="en-US" sz="2800" dirty="0" smtClean="0"/>
                <a:t>107</a:t>
              </a:r>
              <a:endParaRPr lang="en-US" sz="28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775484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524"/>
    </mc:Choice>
    <mc:Fallback xmlns="">
      <p:transition xmlns:p14="http://schemas.microsoft.com/office/powerpoint/2010/main" spd="slow" advTm="405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Correctness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1"/>
            <a:ext cx="8229600" cy="4526152"/>
          </a:xfrm>
        </p:spPr>
        <p:txBody>
          <a:bodyPr>
            <a:normAutofit/>
          </a:bodyPr>
          <a:lstStyle/>
          <a:p>
            <a:r>
              <a:rPr lang="en-US" sz="3500" dirty="0" smtClean="0"/>
              <a:t>Any incorrect abstraction can cause incorrect decompilation</a:t>
            </a:r>
            <a:endParaRPr lang="en-US" sz="3500" dirty="0"/>
          </a:p>
          <a:p>
            <a:pPr lvl="1"/>
            <a:r>
              <a:rPr lang="en-US" dirty="0"/>
              <a:t>Hex Rays</a:t>
            </a:r>
          </a:p>
          <a:p>
            <a:pPr lvl="2"/>
            <a:r>
              <a:rPr lang="en-US" dirty="0"/>
              <a:t>?</a:t>
            </a:r>
          </a:p>
          <a:p>
            <a:pPr lvl="1"/>
            <a:r>
              <a:rPr lang="en-US" dirty="0" smtClean="0"/>
              <a:t>Phoenix</a:t>
            </a:r>
          </a:p>
          <a:p>
            <a:pPr lvl="2"/>
            <a:r>
              <a:rPr lang="en-US" dirty="0" smtClean="0"/>
              <a:t>All (known) correctness errors attributed to type recovery</a:t>
            </a:r>
            <a:endParaRPr lang="en-US" sz="2000" dirty="0" smtClean="0"/>
          </a:p>
          <a:p>
            <a:pPr lvl="3"/>
            <a:r>
              <a:rPr lang="en-US" dirty="0"/>
              <a:t>Undiscovered </a:t>
            </a:r>
            <a:r>
              <a:rPr lang="en-US" dirty="0" smtClean="0"/>
              <a:t>variables</a:t>
            </a:r>
          </a:p>
          <a:p>
            <a:pPr lvl="2"/>
            <a:r>
              <a:rPr lang="en-US" dirty="0" smtClean="0"/>
              <a:t>No known problems in control flow structuring</a:t>
            </a:r>
          </a:p>
          <a:p>
            <a:pPr lvl="2"/>
            <a:endParaRPr lang="en-US" sz="2700" dirty="0"/>
          </a:p>
          <a:p>
            <a:pPr marL="685800" lvl="2" indent="0">
              <a:buNone/>
            </a:pPr>
            <a:endParaRPr lang="en-US" sz="2700" dirty="0" smtClean="0"/>
          </a:p>
          <a:p>
            <a:pPr lvl="1"/>
            <a:endParaRPr lang="en-US" sz="2600" dirty="0">
              <a:sym typeface="Wingding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32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3191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427"/>
    </mc:Choice>
    <mc:Fallback xmlns="">
      <p:transition xmlns:p14="http://schemas.microsoft.com/office/powerpoint/2010/main" spd="slow" advTm="894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Control Flow Structure:</a:t>
            </a:r>
            <a:br>
              <a:rPr lang="en-US" dirty="0"/>
            </a:br>
            <a:r>
              <a:rPr lang="en-US" dirty="0"/>
              <a:t>Gotos Emitted (</a:t>
            </a:r>
            <a:r>
              <a:rPr lang="en-US" dirty="0" smtClean="0"/>
              <a:t>Fewer is </a:t>
            </a:r>
            <a:r>
              <a:rPr lang="en-US" dirty="0"/>
              <a:t>Better)</a:t>
            </a:r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42800466"/>
              </p:ext>
            </p:extLst>
          </p:nvPr>
        </p:nvGraphicFramePr>
        <p:xfrm>
          <a:off x="152400" y="1066799"/>
          <a:ext cx="8839200" cy="50593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630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22"/>
    </mc:Choice>
    <mc:Fallback xmlns="">
      <p:transition xmlns:p14="http://schemas.microsoft.com/office/powerpoint/2010/main" spd="slow" advTm="17122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Control Flow Structure:</a:t>
            </a:r>
            <a:br>
              <a:rPr lang="en-US" dirty="0"/>
            </a:br>
            <a:r>
              <a:rPr lang="en-US" dirty="0"/>
              <a:t>Gotos Emitted (Fewer </a:t>
            </a:r>
            <a:r>
              <a:rPr lang="en-US" dirty="0" smtClean="0"/>
              <a:t>is Better</a:t>
            </a:r>
            <a:r>
              <a:rPr lang="en-US" dirty="0"/>
              <a:t>)</a:t>
            </a:r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962551848"/>
              </p:ext>
            </p:extLst>
          </p:nvPr>
        </p:nvGraphicFramePr>
        <p:xfrm>
          <a:off x="152400" y="1143000"/>
          <a:ext cx="8839200" cy="49831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648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9386"/>
    </mc:Choice>
    <mc:Fallback xmlns="">
      <p:transition xmlns:p14="http://schemas.microsoft.com/office/powerpoint/2010/main" advTm="29386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endParaRPr lang="en-US" dirty="0" smtClean="0"/>
          </a:p>
          <a:p>
            <a:r>
              <a:rPr lang="en-US" dirty="0" smtClean="0"/>
              <a:t>Recovering Abstractions</a:t>
            </a:r>
            <a:endParaRPr lang="en-US" dirty="0"/>
          </a:p>
          <a:p>
            <a:pPr lvl="1"/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C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bstractions (Phoenix </a:t>
            </a:r>
            <a:r>
              <a:rPr lang="en-US" dirty="0" err="1" smtClean="0">
                <a:solidFill>
                  <a:schemeClr val="bg1">
                    <a:lumMod val="85000"/>
                  </a:schemeClr>
                </a:solidFill>
              </a:rPr>
              <a:t>Decompiler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lvl="1"/>
            <a:r>
              <a:rPr lang="en-US" u="sng" dirty="0" smtClean="0"/>
              <a:t>Gadget abstractions (Q ROP Compiler)</a:t>
            </a:r>
          </a:p>
          <a:p>
            <a:endParaRPr lang="en-US" dirty="0" smtClean="0"/>
          </a:p>
          <a:p>
            <a:r>
              <a:rPr lang="en-US" dirty="0" smtClean="0"/>
              <a:t>Future Work and Conclusions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44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813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 major operating systems </a:t>
            </a:r>
            <a:br>
              <a:rPr lang="en-US" dirty="0" smtClean="0"/>
            </a:br>
            <a:r>
              <a:rPr lang="en-US" dirty="0" smtClean="0"/>
              <a:t>employ defenses</a:t>
            </a:r>
          </a:p>
          <a:p>
            <a:pPr lvl="1"/>
            <a:r>
              <a:rPr lang="en-US" u="sng" dirty="0" smtClean="0"/>
              <a:t>DEP</a:t>
            </a:r>
            <a:r>
              <a:rPr lang="en-US" dirty="0"/>
              <a:t>: Data Execution </a:t>
            </a:r>
            <a:r>
              <a:rPr lang="en-US" dirty="0" smtClean="0"/>
              <a:t>Prevention</a:t>
            </a:r>
          </a:p>
          <a:p>
            <a:pPr lvl="1"/>
            <a:r>
              <a:rPr lang="en-US" u="sng" dirty="0"/>
              <a:t>ASLR</a:t>
            </a:r>
            <a:r>
              <a:rPr lang="en-US" dirty="0"/>
              <a:t>: Address Space Layout </a:t>
            </a:r>
            <a:r>
              <a:rPr lang="en-US" dirty="0" smtClean="0"/>
              <a:t>Randomization</a:t>
            </a:r>
            <a:endParaRPr lang="en-US" dirty="0"/>
          </a:p>
          <a:p>
            <a:endParaRPr lang="en-US" dirty="0" smtClean="0"/>
          </a:p>
          <a:p>
            <a:pPr marL="292100" lvl="1">
              <a:buFont typeface="Arial"/>
              <a:buChar char="•"/>
            </a:pPr>
            <a:r>
              <a:rPr lang="en-US" sz="3200" dirty="0" smtClean="0"/>
              <a:t>Make </a:t>
            </a:r>
            <a:r>
              <a:rPr lang="en-US" sz="3200" dirty="0"/>
              <a:t>reliable exploitation difficult</a:t>
            </a:r>
          </a:p>
          <a:p>
            <a:pPr lvl="1"/>
            <a:r>
              <a:rPr lang="en-US" dirty="0" smtClean="0"/>
              <a:t>How difficult?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OS Defenses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450" y="609600"/>
            <a:ext cx="1866900" cy="186275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200" y="3636049"/>
            <a:ext cx="2311400" cy="23114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36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172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887"/>
    </mc:Choice>
    <mc:Fallback xmlns="">
      <p:transition xmlns:p14="http://schemas.microsoft.com/office/powerpoint/2010/main" spd="slow" advTm="308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>
            <p:custDataLst>
              <p:tags r:id="rId2"/>
            </p:custDataLst>
          </p:nvPr>
        </p:nvSpPr>
        <p:spPr>
          <a:xfrm>
            <a:off x="228600" y="1600200"/>
            <a:ext cx="8763000" cy="2286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Simple Control-Flow Hijack Exploit</a:t>
            </a:r>
            <a:endParaRPr lang="en-US" dirty="0"/>
          </a:p>
        </p:txBody>
      </p:sp>
      <p:sp>
        <p:nvSpPr>
          <p:cNvPr id="16" name="TextBox 15"/>
          <p:cNvSpPr txBox="1"/>
          <p:nvPr>
            <p:custDataLst>
              <p:tags r:id="rId4"/>
            </p:custDataLst>
          </p:nvPr>
        </p:nvSpPr>
        <p:spPr>
          <a:xfrm>
            <a:off x="32657" y="3893403"/>
            <a:ext cx="373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Computation</a:t>
            </a:r>
          </a:p>
        </p:txBody>
      </p:sp>
      <p:sp>
        <p:nvSpPr>
          <p:cNvPr id="17" name="Rectangle 16"/>
          <p:cNvSpPr/>
          <p:nvPr>
            <p:custDataLst>
              <p:tags r:id="rId5"/>
            </p:custDataLst>
          </p:nvPr>
        </p:nvSpPr>
        <p:spPr>
          <a:xfrm>
            <a:off x="381000" y="2362200"/>
            <a:ext cx="3048000" cy="129844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err="1" smtClean="0">
                <a:latin typeface="Calibri" pitchFamily="34" charset="0"/>
                <a:cs typeface="Calibri" pitchFamily="34" charset="0"/>
              </a:rPr>
              <a:t>Shellcode</a:t>
            </a:r>
            <a:endParaRPr lang="en-US" sz="36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" name="TextBox 20"/>
          <p:cNvSpPr txBox="1"/>
          <p:nvPr>
            <p:custDataLst>
              <p:tags r:id="rId6"/>
            </p:custDataLst>
          </p:nvPr>
        </p:nvSpPr>
        <p:spPr>
          <a:xfrm>
            <a:off x="2971800" y="1447800"/>
            <a:ext cx="3200400" cy="685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800" dirty="0" smtClean="0">
                <a:latin typeface="Calibri" pitchFamily="34" charset="0"/>
                <a:cs typeface="Calibri" pitchFamily="34" charset="0"/>
              </a:rPr>
              <a:t>Exploit</a:t>
            </a:r>
          </a:p>
        </p:txBody>
      </p:sp>
      <p:sp>
        <p:nvSpPr>
          <p:cNvPr id="22" name="TextBox 21"/>
          <p:cNvSpPr txBox="1"/>
          <p:nvPr>
            <p:custDataLst>
              <p:tags r:id="rId7"/>
            </p:custDataLst>
          </p:nvPr>
        </p:nvSpPr>
        <p:spPr>
          <a:xfrm>
            <a:off x="6667500" y="3886200"/>
            <a:ext cx="2476500" cy="838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Control</a:t>
            </a:r>
          </a:p>
        </p:txBody>
      </p:sp>
      <p:sp>
        <p:nvSpPr>
          <p:cNvPr id="25" name="Rectangle 24"/>
          <p:cNvSpPr/>
          <p:nvPr>
            <p:custDataLst>
              <p:tags r:id="rId8"/>
            </p:custDataLst>
          </p:nvPr>
        </p:nvSpPr>
        <p:spPr>
          <a:xfrm>
            <a:off x="6858000" y="2362200"/>
            <a:ext cx="1905000" cy="1295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Pointer</a:t>
            </a:r>
          </a:p>
        </p:txBody>
      </p:sp>
      <p:sp>
        <p:nvSpPr>
          <p:cNvPr id="26" name="Rectangle 25"/>
          <p:cNvSpPr/>
          <p:nvPr>
            <p:custDataLst>
              <p:tags r:id="rId9"/>
            </p:custDataLst>
          </p:nvPr>
        </p:nvSpPr>
        <p:spPr>
          <a:xfrm>
            <a:off x="3429000" y="2362200"/>
            <a:ext cx="3429000" cy="1298448"/>
          </a:xfrm>
          <a:prstGeom prst="rect">
            <a:avLst/>
          </a:prstGeom>
          <a:solidFill>
            <a:schemeClr val="bg1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Padding</a:t>
            </a:r>
          </a:p>
        </p:txBody>
      </p:sp>
      <p:cxnSp>
        <p:nvCxnSpPr>
          <p:cNvPr id="30" name="Straight Arrow Connector 29"/>
          <p:cNvCxnSpPr>
            <a:stCxn id="26" idx="3"/>
            <a:endCxn id="17" idx="1"/>
          </p:cNvCxnSpPr>
          <p:nvPr>
            <p:custDataLst>
              <p:tags r:id="rId10"/>
            </p:custDataLst>
          </p:nvPr>
        </p:nvCxnSpPr>
        <p:spPr>
          <a:xfrm flipH="1">
            <a:off x="381000" y="3011424"/>
            <a:ext cx="6477000" cy="12700"/>
          </a:xfrm>
          <a:prstGeom prst="curvedConnector5">
            <a:avLst>
              <a:gd name="adj1" fmla="val -3529"/>
              <a:gd name="adj2" fmla="val 4083425"/>
              <a:gd name="adj3" fmla="val 10126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172200" y="6383008"/>
            <a:ext cx="2819400" cy="230832"/>
          </a:xfrm>
        </p:spPr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172200" y="6218113"/>
            <a:ext cx="1791970" cy="230832"/>
          </a:xfrm>
        </p:spPr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37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546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883"/>
    </mc:Choice>
    <mc:Fallback xmlns="">
      <p:transition xmlns:p14="http://schemas.microsoft.com/office/powerpoint/2010/main" spd="slow" advTm="508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22" grpId="0"/>
      <p:bldP spid="25" grpId="0" animBg="1"/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Data Execution Prevention (DEP)</a:t>
            </a:r>
            <a:endParaRPr lang="en-US" dirty="0"/>
          </a:p>
        </p:txBody>
      </p:sp>
      <p:sp>
        <p:nvSpPr>
          <p:cNvPr id="6" name="Rounded Rectangle 5"/>
          <p:cNvSpPr/>
          <p:nvPr>
            <p:custDataLst>
              <p:tags r:id="rId3"/>
            </p:custDataLst>
          </p:nvPr>
        </p:nvSpPr>
        <p:spPr>
          <a:xfrm>
            <a:off x="228600" y="1219200"/>
            <a:ext cx="8763000" cy="2286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Rectangle 6"/>
          <p:cNvSpPr/>
          <p:nvPr>
            <p:custDataLst>
              <p:tags r:id="rId4"/>
            </p:custDataLst>
          </p:nvPr>
        </p:nvSpPr>
        <p:spPr>
          <a:xfrm>
            <a:off x="381000" y="1981200"/>
            <a:ext cx="3048000" cy="129844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err="1" smtClean="0">
                <a:latin typeface="Calibri" pitchFamily="34" charset="0"/>
                <a:cs typeface="Calibri" pitchFamily="34" charset="0"/>
              </a:rPr>
              <a:t>Shellcode</a:t>
            </a:r>
            <a:endParaRPr lang="en-US" sz="36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2971800" y="1066800"/>
            <a:ext cx="3200400" cy="685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800" dirty="0" smtClean="0">
                <a:latin typeface="Calibri" pitchFamily="34" charset="0"/>
                <a:cs typeface="Calibri" pitchFamily="34" charset="0"/>
              </a:rPr>
              <a:t>Exploit</a:t>
            </a:r>
          </a:p>
        </p:txBody>
      </p:sp>
      <p:sp>
        <p:nvSpPr>
          <p:cNvPr id="9" name="Rectangle 8"/>
          <p:cNvSpPr/>
          <p:nvPr>
            <p:custDataLst>
              <p:tags r:id="rId6"/>
            </p:custDataLst>
          </p:nvPr>
        </p:nvSpPr>
        <p:spPr>
          <a:xfrm>
            <a:off x="6858000" y="1981200"/>
            <a:ext cx="1905000" cy="1295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Pointer</a:t>
            </a:r>
          </a:p>
        </p:txBody>
      </p:sp>
      <p:sp>
        <p:nvSpPr>
          <p:cNvPr id="10" name="Rectangle 9"/>
          <p:cNvSpPr/>
          <p:nvPr>
            <p:custDataLst>
              <p:tags r:id="rId7"/>
            </p:custDataLst>
          </p:nvPr>
        </p:nvSpPr>
        <p:spPr>
          <a:xfrm>
            <a:off x="3429000" y="1981200"/>
            <a:ext cx="3429000" cy="1298448"/>
          </a:xfrm>
          <a:prstGeom prst="rect">
            <a:avLst/>
          </a:prstGeom>
          <a:solidFill>
            <a:schemeClr val="bg1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Padding</a:t>
            </a:r>
          </a:p>
        </p:txBody>
      </p:sp>
      <p:cxnSp>
        <p:nvCxnSpPr>
          <p:cNvPr id="11" name="Straight Arrow Connector 29"/>
          <p:cNvCxnSpPr>
            <a:stCxn id="10" idx="3"/>
            <a:endCxn id="7" idx="1"/>
          </p:cNvCxnSpPr>
          <p:nvPr>
            <p:custDataLst>
              <p:tags r:id="rId8"/>
            </p:custDataLst>
          </p:nvPr>
        </p:nvCxnSpPr>
        <p:spPr>
          <a:xfrm flipH="1">
            <a:off x="381000" y="2630424"/>
            <a:ext cx="6477000" cy="12700"/>
          </a:xfrm>
          <a:prstGeom prst="curvedConnector5">
            <a:avLst>
              <a:gd name="adj1" fmla="val -3529"/>
              <a:gd name="adj2" fmla="val 4083425"/>
              <a:gd name="adj3" fmla="val 10126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&quot;No&quot; Symbol 12"/>
          <p:cNvSpPr/>
          <p:nvPr>
            <p:custDataLst>
              <p:tags r:id="rId9"/>
            </p:custDataLst>
          </p:nvPr>
        </p:nvSpPr>
        <p:spPr>
          <a:xfrm>
            <a:off x="1295400" y="2061001"/>
            <a:ext cx="1219200" cy="1135797"/>
          </a:xfrm>
          <a:prstGeom prst="noSmoking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 smtClean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609600" y="4678740"/>
            <a:ext cx="8153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latin typeface="Calibri" pitchFamily="34" charset="0"/>
                <a:cs typeface="Calibri" pitchFamily="34" charset="0"/>
              </a:rPr>
              <a:t>DEP</a:t>
            </a:r>
            <a:r>
              <a:rPr lang="en-US" sz="4800" dirty="0" smtClean="0">
                <a:latin typeface="Calibri" pitchFamily="34" charset="0"/>
                <a:cs typeface="Calibri" pitchFamily="34" charset="0"/>
              </a:rPr>
              <a:t>: Buffers cannot be writable and executable</a:t>
            </a:r>
            <a:endParaRPr lang="en-US" sz="4800" b="1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Rounded Rectangular Callout 13"/>
          <p:cNvSpPr/>
          <p:nvPr>
            <p:custDataLst>
              <p:tags r:id="rId11"/>
            </p:custDataLst>
          </p:nvPr>
        </p:nvSpPr>
        <p:spPr>
          <a:xfrm>
            <a:off x="914400" y="4229099"/>
            <a:ext cx="3429000" cy="1211997"/>
          </a:xfrm>
          <a:prstGeom prst="wedgeRoundRectCallout">
            <a:avLst>
              <a:gd name="adj1" fmla="val -22262"/>
              <a:gd name="adj2" fmla="val -128808"/>
              <a:gd name="adj3" fmla="val 1666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User input is non-executable</a:t>
            </a:r>
          </a:p>
        </p:txBody>
      </p:sp>
      <p:sp>
        <p:nvSpPr>
          <p:cNvPr id="15" name="Explosion 1 14"/>
          <p:cNvSpPr/>
          <p:nvPr>
            <p:custDataLst>
              <p:tags r:id="rId12"/>
            </p:custDataLst>
          </p:nvPr>
        </p:nvSpPr>
        <p:spPr>
          <a:xfrm>
            <a:off x="2240777" y="3369378"/>
            <a:ext cx="2376446" cy="1057425"/>
          </a:xfrm>
          <a:prstGeom prst="irregularSeal1">
            <a:avLst/>
          </a:prstGeom>
          <a:solidFill>
            <a:srgbClr val="EF241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Crash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172200" y="6383008"/>
            <a:ext cx="2819400" cy="230832"/>
          </a:xfrm>
        </p:spPr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6172200" y="6218113"/>
            <a:ext cx="1791970" cy="230832"/>
          </a:xfrm>
        </p:spPr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38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119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201"/>
    </mc:Choice>
    <mc:Fallback xmlns="">
      <p:transition xmlns:p14="http://schemas.microsoft.com/office/powerpoint/2010/main" spd="slow" advTm="322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4" grpId="0" animBg="1"/>
      <p:bldP spid="1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Bypassing DEP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sz="3600" u="sng" dirty="0" smtClean="0"/>
              <a:t>Goal</a:t>
            </a:r>
            <a:r>
              <a:rPr lang="en-US" sz="3600" dirty="0" smtClean="0"/>
              <a:t>: </a:t>
            </a:r>
            <a:r>
              <a:rPr lang="en-US" sz="3600" dirty="0"/>
              <a:t>Specify exploit computation even when DEP is enabled</a:t>
            </a:r>
          </a:p>
          <a:p>
            <a:pPr marL="0" indent="0">
              <a:buNone/>
            </a:pPr>
            <a:endParaRPr lang="en-US" sz="3600" b="1" dirty="0" smtClean="0"/>
          </a:p>
          <a:p>
            <a:r>
              <a:rPr lang="en-US" sz="3600" u="sng" dirty="0" smtClean="0"/>
              <a:t>Return-oriented Programming</a:t>
            </a:r>
            <a:r>
              <a:rPr lang="en-US" sz="3600" dirty="0" smtClean="0"/>
              <a:t> </a:t>
            </a:r>
            <a:br>
              <a:rPr lang="en-US" sz="3600" dirty="0" smtClean="0"/>
            </a:br>
            <a:r>
              <a:rPr lang="en-US" sz="2600" dirty="0" smtClean="0"/>
              <a:t>[</a:t>
            </a:r>
            <a:r>
              <a:rPr lang="en-US" sz="2600" dirty="0" err="1" smtClean="0"/>
              <a:t>Shacham</a:t>
            </a:r>
            <a:r>
              <a:rPr lang="en-US" sz="2600" dirty="0" smtClean="0"/>
              <a:t> 2007]</a:t>
            </a:r>
            <a:endParaRPr lang="en-US" sz="3600" dirty="0" smtClean="0"/>
          </a:p>
          <a:p>
            <a:pPr lvl="1"/>
            <a:r>
              <a:rPr lang="en-US" dirty="0"/>
              <a:t>Use existing instructions from program </a:t>
            </a:r>
            <a:r>
              <a:rPr lang="en-US" dirty="0" smtClean="0"/>
              <a:t>it to create self-contained </a:t>
            </a:r>
            <a:r>
              <a:rPr lang="en-US" u="sng" dirty="0" smtClean="0"/>
              <a:t>gadgets</a:t>
            </a:r>
          </a:p>
          <a:p>
            <a:pPr lvl="1"/>
            <a:r>
              <a:rPr lang="en-US" dirty="0" smtClean="0"/>
              <a:t>Chain gadgets together to </a:t>
            </a:r>
            <a:r>
              <a:rPr lang="en-US" dirty="0"/>
              <a:t>encode computation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72200" y="6383008"/>
            <a:ext cx="2819400" cy="230832"/>
          </a:xfrm>
        </p:spPr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172200" y="6218113"/>
            <a:ext cx="1791970" cy="230832"/>
          </a:xfrm>
        </p:spPr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39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486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812"/>
    </mc:Choice>
    <mc:Fallback xmlns="">
      <p:transition xmlns:p14="http://schemas.microsoft.com/office/powerpoint/2010/main" spd="slow" advTm="778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Return-oriented Programming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800" u="sng" dirty="0" smtClean="0"/>
              <a:t>Example</a:t>
            </a:r>
            <a:r>
              <a:rPr lang="en-US" sz="4800" b="1" dirty="0" smtClean="0"/>
              <a:t>: </a:t>
            </a:r>
            <a:r>
              <a:rPr lang="en-US" sz="4800" dirty="0" smtClean="0"/>
              <a:t>How can we write to memory without </a:t>
            </a:r>
            <a:r>
              <a:rPr lang="en-US" sz="4800" dirty="0" err="1" smtClean="0"/>
              <a:t>shellcode</a:t>
            </a:r>
            <a:r>
              <a:rPr lang="en-US" sz="4800" dirty="0" smtClean="0"/>
              <a:t>?</a:t>
            </a:r>
            <a:endParaRPr lang="en-US" sz="4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40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648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19"/>
    </mc:Choice>
    <mc:Fallback xmlns="">
      <p:transition xmlns:p14="http://schemas.microsoft.com/office/powerpoint/2010/main" spd="slow" advTm="7619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  <p:custDataLst>
              <p:tags r:id="rId2"/>
            </p:custDataLst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fld id="{D72DCFC7-CCD2-4D18-A5A6-8AD55EBAF26B}" type="slidenum">
              <a:rPr lang="en-US" smtClean="0"/>
              <a:t>41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0" y="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Return-oriented Programming</a:t>
            </a:r>
            <a:endParaRPr lang="en-US" dirty="0"/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4294967295"/>
          </p:nvPr>
        </p:nvSpPr>
        <p:spPr>
          <a:xfrm>
            <a:off x="6324600" y="6383338"/>
            <a:ext cx="2819400" cy="230187"/>
          </a:xfrm>
        </p:spPr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4294967295"/>
          </p:nvPr>
        </p:nvSpPr>
        <p:spPr>
          <a:xfrm>
            <a:off x="7351713" y="6323013"/>
            <a:ext cx="1792287" cy="230187"/>
          </a:xfrm>
        </p:spPr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Rectangle 5"/>
          <p:cNvSpPr/>
          <p:nvPr>
            <p:custDataLst>
              <p:tags r:id="rId4"/>
            </p:custDataLst>
          </p:nvPr>
        </p:nvSpPr>
        <p:spPr>
          <a:xfrm>
            <a:off x="381000" y="4448175"/>
            <a:ext cx="2057400" cy="1676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u="sng" dirty="0" smtClean="0">
                <a:latin typeface="Calibri" pitchFamily="34" charset="0"/>
                <a:cs typeface="Calibri" pitchFamily="34" charset="0"/>
              </a:rPr>
              <a:t>addr1</a:t>
            </a:r>
          </a:p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pop %</a:t>
            </a:r>
            <a:r>
              <a:rPr lang="en-US" sz="3600" dirty="0" err="1" smtClean="0">
                <a:latin typeface="Calibri" pitchFamily="34" charset="0"/>
                <a:cs typeface="Calibri" pitchFamily="34" charset="0"/>
              </a:rPr>
              <a:t>eax</a:t>
            </a:r>
            <a:endParaRPr lang="en-US" sz="3600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ret</a:t>
            </a:r>
          </a:p>
        </p:txBody>
      </p:sp>
      <p:sp>
        <p:nvSpPr>
          <p:cNvPr id="7" name="Rectangle 6"/>
          <p:cNvSpPr/>
          <p:nvPr>
            <p:custDataLst>
              <p:tags r:id="rId5"/>
            </p:custDataLst>
          </p:nvPr>
        </p:nvSpPr>
        <p:spPr>
          <a:xfrm>
            <a:off x="2705100" y="4448175"/>
            <a:ext cx="2057400" cy="1676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u="sng" dirty="0">
                <a:latin typeface="Calibri" pitchFamily="34" charset="0"/>
                <a:cs typeface="Calibri" pitchFamily="34" charset="0"/>
              </a:rPr>
              <a:t>a</a:t>
            </a:r>
            <a:r>
              <a:rPr lang="en-US" sz="3600" u="sng" dirty="0" smtClean="0">
                <a:latin typeface="Calibri" pitchFamily="34" charset="0"/>
                <a:cs typeface="Calibri" pitchFamily="34" charset="0"/>
              </a:rPr>
              <a:t>ddr2</a:t>
            </a:r>
            <a:endParaRPr lang="en-US" sz="3600" dirty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pop %</a:t>
            </a:r>
            <a:r>
              <a:rPr lang="en-US" sz="3600" dirty="0" err="1" smtClean="0">
                <a:latin typeface="Calibri" pitchFamily="34" charset="0"/>
                <a:cs typeface="Calibri" pitchFamily="34" charset="0"/>
              </a:rPr>
              <a:t>ebx</a:t>
            </a:r>
            <a:endParaRPr lang="en-US" sz="3600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ret</a:t>
            </a:r>
          </a:p>
        </p:txBody>
      </p:sp>
      <p:sp>
        <p:nvSpPr>
          <p:cNvPr id="8" name="Rectangle 7"/>
          <p:cNvSpPr/>
          <p:nvPr>
            <p:custDataLst>
              <p:tags r:id="rId6"/>
            </p:custDataLst>
          </p:nvPr>
        </p:nvSpPr>
        <p:spPr>
          <a:xfrm>
            <a:off x="5029200" y="4448175"/>
            <a:ext cx="3886200" cy="1676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u="sng" dirty="0">
                <a:latin typeface="Calibri" pitchFamily="34" charset="0"/>
                <a:cs typeface="Calibri" pitchFamily="34" charset="0"/>
              </a:rPr>
              <a:t>a</a:t>
            </a:r>
            <a:r>
              <a:rPr lang="en-US" sz="3600" u="sng" dirty="0" smtClean="0">
                <a:latin typeface="Calibri" pitchFamily="34" charset="0"/>
                <a:cs typeface="Calibri" pitchFamily="34" charset="0"/>
              </a:rPr>
              <a:t>ddr3</a:t>
            </a:r>
            <a:endParaRPr lang="en-US" sz="3600" dirty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3600" dirty="0" err="1" smtClean="0">
                <a:latin typeface="Calibri" pitchFamily="34" charset="0"/>
                <a:cs typeface="Calibri" pitchFamily="34" charset="0"/>
              </a:rPr>
              <a:t>movl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 %</a:t>
            </a:r>
            <a:r>
              <a:rPr lang="en-US" sz="3600" dirty="0" err="1" smtClean="0">
                <a:latin typeface="Calibri" pitchFamily="34" charset="0"/>
                <a:cs typeface="Calibri" pitchFamily="34" charset="0"/>
              </a:rPr>
              <a:t>eax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, (%</a:t>
            </a:r>
            <a:r>
              <a:rPr lang="en-US" sz="3600" dirty="0" err="1" smtClean="0">
                <a:latin typeface="Calibri" pitchFamily="34" charset="0"/>
                <a:cs typeface="Calibri" pitchFamily="34" charset="0"/>
              </a:rPr>
              <a:t>ebx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)</a:t>
            </a:r>
          </a:p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ret</a:t>
            </a:r>
          </a:p>
        </p:txBody>
      </p:sp>
      <p:sp>
        <p:nvSpPr>
          <p:cNvPr id="10" name="Rounded Rectangle 9"/>
          <p:cNvSpPr/>
          <p:nvPr>
            <p:custDataLst>
              <p:tags r:id="rId7"/>
            </p:custDataLst>
          </p:nvPr>
        </p:nvSpPr>
        <p:spPr>
          <a:xfrm>
            <a:off x="304800" y="1562695"/>
            <a:ext cx="2743200" cy="12948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Rectangle 10"/>
          <p:cNvSpPr/>
          <p:nvPr>
            <p:custDataLst>
              <p:tags r:id="rId8"/>
            </p:custDataLst>
          </p:nvPr>
        </p:nvSpPr>
        <p:spPr>
          <a:xfrm>
            <a:off x="352508" y="1994297"/>
            <a:ext cx="954157" cy="73544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414462" y="1476375"/>
            <a:ext cx="2561975" cy="51792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Exploit</a:t>
            </a:r>
          </a:p>
        </p:txBody>
      </p:sp>
      <p:sp>
        <p:nvSpPr>
          <p:cNvPr id="13" name="Rectangle 12"/>
          <p:cNvSpPr/>
          <p:nvPr>
            <p:custDataLst>
              <p:tags r:id="rId10"/>
            </p:custDataLst>
          </p:nvPr>
        </p:nvSpPr>
        <p:spPr>
          <a:xfrm>
            <a:off x="2380090" y="1994297"/>
            <a:ext cx="596348" cy="73372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Rectangle 13"/>
          <p:cNvSpPr/>
          <p:nvPr>
            <p:custDataLst>
              <p:tags r:id="rId11"/>
            </p:custDataLst>
          </p:nvPr>
        </p:nvSpPr>
        <p:spPr>
          <a:xfrm>
            <a:off x="1306664" y="1994297"/>
            <a:ext cx="1073426" cy="735449"/>
          </a:xfrm>
          <a:prstGeom prst="rect">
            <a:avLst/>
          </a:prstGeom>
          <a:solidFill>
            <a:schemeClr val="bg1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6" name="Rectangle 25"/>
          <p:cNvSpPr/>
          <p:nvPr>
            <p:custDataLst>
              <p:tags r:id="rId12"/>
            </p:custDataLst>
          </p:nvPr>
        </p:nvSpPr>
        <p:spPr>
          <a:xfrm>
            <a:off x="6857998" y="1171575"/>
            <a:ext cx="2057400" cy="4571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err="1" smtClean="0">
                <a:latin typeface="Calibri" pitchFamily="34" charset="0"/>
                <a:cs typeface="Calibri" pitchFamily="34" charset="0"/>
              </a:rPr>
              <a:t>nextaddr</a:t>
            </a:r>
            <a:endParaRPr lang="en-US" sz="36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7" name="Rectangle 26"/>
          <p:cNvSpPr/>
          <p:nvPr>
            <p:custDataLst>
              <p:tags r:id="rId13"/>
            </p:custDataLst>
          </p:nvPr>
        </p:nvSpPr>
        <p:spPr>
          <a:xfrm>
            <a:off x="6857999" y="1636179"/>
            <a:ext cx="2057400" cy="4571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addr3</a:t>
            </a:r>
          </a:p>
        </p:txBody>
      </p:sp>
      <p:sp>
        <p:nvSpPr>
          <p:cNvPr id="28" name="Rectangle 27"/>
          <p:cNvSpPr/>
          <p:nvPr>
            <p:custDataLst>
              <p:tags r:id="rId14"/>
            </p:custDataLst>
          </p:nvPr>
        </p:nvSpPr>
        <p:spPr>
          <a:xfrm>
            <a:off x="6858000" y="2085976"/>
            <a:ext cx="2057400" cy="4571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address</a:t>
            </a:r>
          </a:p>
        </p:txBody>
      </p:sp>
      <p:sp>
        <p:nvSpPr>
          <p:cNvPr id="29" name="Rectangle 28"/>
          <p:cNvSpPr/>
          <p:nvPr>
            <p:custDataLst>
              <p:tags r:id="rId15"/>
            </p:custDataLst>
          </p:nvPr>
        </p:nvSpPr>
        <p:spPr>
          <a:xfrm>
            <a:off x="6858000" y="2543175"/>
            <a:ext cx="2057400" cy="4571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addr2</a:t>
            </a:r>
          </a:p>
        </p:txBody>
      </p:sp>
      <p:sp>
        <p:nvSpPr>
          <p:cNvPr id="24" name="Rectangle 23"/>
          <p:cNvSpPr/>
          <p:nvPr>
            <p:custDataLst>
              <p:tags r:id="rId16"/>
            </p:custDataLst>
          </p:nvPr>
        </p:nvSpPr>
        <p:spPr>
          <a:xfrm>
            <a:off x="3124200" y="1933575"/>
            <a:ext cx="1028700" cy="4571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err="1" smtClean="0">
                <a:latin typeface="Calibri" pitchFamily="34" charset="0"/>
                <a:cs typeface="Calibri" pitchFamily="34" charset="0"/>
              </a:rPr>
              <a:t>eax</a:t>
            </a:r>
            <a:endParaRPr lang="en-US" sz="36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2" name="Rectangle 31"/>
          <p:cNvSpPr/>
          <p:nvPr>
            <p:custDataLst>
              <p:tags r:id="rId17"/>
            </p:custDataLst>
          </p:nvPr>
        </p:nvSpPr>
        <p:spPr>
          <a:xfrm>
            <a:off x="3124200" y="2390776"/>
            <a:ext cx="1028700" cy="4571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err="1" smtClean="0">
                <a:latin typeface="Calibri" pitchFamily="34" charset="0"/>
                <a:cs typeface="Calibri" pitchFamily="34" charset="0"/>
              </a:rPr>
              <a:t>ebx</a:t>
            </a:r>
            <a:endParaRPr lang="en-US" sz="36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" name="Rectangle 32"/>
          <p:cNvSpPr/>
          <p:nvPr>
            <p:custDataLst>
              <p:tags r:id="rId18"/>
            </p:custDataLst>
          </p:nvPr>
        </p:nvSpPr>
        <p:spPr>
          <a:xfrm>
            <a:off x="7225391" y="3532230"/>
            <a:ext cx="1333500" cy="4571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stack</a:t>
            </a:r>
          </a:p>
        </p:txBody>
      </p:sp>
      <p:sp>
        <p:nvSpPr>
          <p:cNvPr id="16" name="Rectangle 15"/>
          <p:cNvSpPr/>
          <p:nvPr>
            <p:custDataLst>
              <p:tags r:id="rId19"/>
            </p:custDataLst>
          </p:nvPr>
        </p:nvSpPr>
        <p:spPr>
          <a:xfrm>
            <a:off x="3238500" y="866775"/>
            <a:ext cx="5753100" cy="3122654"/>
          </a:xfrm>
          <a:prstGeom prst="rect">
            <a:avLst/>
          </a:prstGeom>
          <a:noFill/>
          <a:ln w="38100"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Rectangle 8"/>
          <p:cNvSpPr/>
          <p:nvPr>
            <p:custDataLst>
              <p:tags r:id="rId20"/>
            </p:custDataLst>
          </p:nvPr>
        </p:nvSpPr>
        <p:spPr>
          <a:xfrm>
            <a:off x="6858000" y="3000375"/>
            <a:ext cx="2057400" cy="45719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value</a:t>
            </a:r>
          </a:p>
        </p:txBody>
      </p:sp>
      <p:sp>
        <p:nvSpPr>
          <p:cNvPr id="37" name="Rounded Rectangle 36"/>
          <p:cNvSpPr/>
          <p:nvPr>
            <p:custDataLst>
              <p:tags r:id="rId21"/>
            </p:custDataLst>
          </p:nvPr>
        </p:nvSpPr>
        <p:spPr>
          <a:xfrm>
            <a:off x="152400" y="4067175"/>
            <a:ext cx="8839200" cy="2362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 smtClean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5" name="Straight Arrow Connector 29"/>
          <p:cNvCxnSpPr>
            <a:stCxn id="14" idx="3"/>
            <a:endCxn id="6" idx="0"/>
          </p:cNvCxnSpPr>
          <p:nvPr>
            <p:custDataLst>
              <p:tags r:id="rId22"/>
            </p:custDataLst>
          </p:nvPr>
        </p:nvCxnSpPr>
        <p:spPr>
          <a:xfrm flipH="1">
            <a:off x="1409700" y="2362022"/>
            <a:ext cx="970390" cy="2086153"/>
          </a:xfrm>
          <a:prstGeom prst="curvedConnector4">
            <a:avLst>
              <a:gd name="adj1" fmla="val -23558"/>
              <a:gd name="adj2" fmla="val 58813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29"/>
          <p:cNvCxnSpPr>
            <a:stCxn id="6" idx="3"/>
            <a:endCxn id="7" idx="0"/>
          </p:cNvCxnSpPr>
          <p:nvPr>
            <p:custDataLst>
              <p:tags r:id="rId23"/>
            </p:custDataLst>
          </p:nvPr>
        </p:nvCxnSpPr>
        <p:spPr>
          <a:xfrm flipV="1">
            <a:off x="2438400" y="4448175"/>
            <a:ext cx="1295400" cy="838200"/>
          </a:xfrm>
          <a:prstGeom prst="curvedConnector4">
            <a:avLst>
              <a:gd name="adj1" fmla="val 10294"/>
              <a:gd name="adj2" fmla="val 146754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29"/>
          <p:cNvCxnSpPr>
            <a:stCxn id="7" idx="3"/>
            <a:endCxn id="8" idx="0"/>
          </p:cNvCxnSpPr>
          <p:nvPr>
            <p:custDataLst>
              <p:tags r:id="rId24"/>
            </p:custDataLst>
          </p:nvPr>
        </p:nvCxnSpPr>
        <p:spPr>
          <a:xfrm flipV="1">
            <a:off x="4762500" y="4448175"/>
            <a:ext cx="2209800" cy="838200"/>
          </a:xfrm>
          <a:prstGeom prst="curvedConnector4">
            <a:avLst>
              <a:gd name="adj1" fmla="val 6034"/>
              <a:gd name="adj2" fmla="val 152598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>
            <p:custDataLst>
              <p:tags r:id="rId25"/>
            </p:custDataLst>
          </p:nvPr>
        </p:nvSpPr>
        <p:spPr>
          <a:xfrm>
            <a:off x="3202719" y="3990975"/>
            <a:ext cx="2738563" cy="762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Gadgets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2041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165"/>
    </mc:Choice>
    <mc:Fallback xmlns="">
      <p:transition xmlns:p14="http://schemas.microsoft.com/office/powerpoint/2010/main" spd="slow" advTm="1211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mph" presetSubtype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1" dur="indefinite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44444E-6 L -0.30417 -0.1555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208" y="-7778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920B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5" presetClass="emph" presetSubtype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6" dur="indefinite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920B"/>
                                      </p:to>
                                    </p:animClr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5" presetClass="emph" presetSubtype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3" dur="indefinite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-0.30417 0.04445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208" y="2222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920B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5" presetClass="emph" presetSubtype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77" dur="indefinite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920B"/>
                                      </p:to>
                                    </p:animClr>
                                    <p:set>
                                      <p:cBhvr>
                                        <p:cTn id="9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5" presetClass="emph" presetSubtype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4" dur="indefinite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8" dur="indefinite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24" grpId="0"/>
      <p:bldP spid="32" grpId="0"/>
      <p:bldP spid="33" grpId="0" animBg="1"/>
      <p:bldP spid="16" grpId="0" animBg="1"/>
      <p:bldP spid="9" grpId="0" animBg="1"/>
      <p:bldP spid="9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://media.parentsociety.com/wp-content/uploads/2012/09/colored-lego-blocks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66900" y="3200401"/>
            <a:ext cx="55626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981200" y="3550991"/>
            <a:ext cx="1524000" cy="984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3200" dirty="0" smtClean="0"/>
              <a:t>Load to register</a:t>
            </a:r>
            <a:endParaRPr lang="en-US" sz="3200" dirty="0"/>
          </a:p>
        </p:txBody>
      </p:sp>
      <p:sp>
        <p:nvSpPr>
          <p:cNvPr id="10" name="TextBox 9"/>
          <p:cNvSpPr txBox="1"/>
          <p:nvPr/>
        </p:nvSpPr>
        <p:spPr>
          <a:xfrm>
            <a:off x="6737095" y="3641672"/>
            <a:ext cx="1524000" cy="984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3200" dirty="0" smtClean="0"/>
              <a:t>Store to memory</a:t>
            </a:r>
            <a:endParaRPr lang="en-US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7003795" y="5053322"/>
            <a:ext cx="1987805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3200" dirty="0" smtClean="0"/>
              <a:t>Arithmetic</a:t>
            </a:r>
            <a:endParaRPr lang="en-US" sz="3200" dirty="0"/>
          </a:p>
        </p:txBody>
      </p:sp>
      <p:sp>
        <p:nvSpPr>
          <p:cNvPr id="12" name="TextBox 11"/>
          <p:cNvSpPr txBox="1"/>
          <p:nvPr/>
        </p:nvSpPr>
        <p:spPr>
          <a:xfrm>
            <a:off x="381000" y="4868774"/>
            <a:ext cx="1987805" cy="984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3200" dirty="0" smtClean="0"/>
              <a:t>Load from memory</a:t>
            </a:r>
            <a:endParaRPr lang="en-US" sz="32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Gadgets as Abstractions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2286000"/>
          </a:xfrm>
        </p:spPr>
        <p:txBody>
          <a:bodyPr>
            <a:noAutofit/>
          </a:bodyPr>
          <a:lstStyle/>
          <a:p>
            <a:r>
              <a:rPr lang="en-US" dirty="0" smtClean="0"/>
              <a:t>Gadgets are behavior specifications</a:t>
            </a:r>
          </a:p>
          <a:p>
            <a:pPr lvl="1"/>
            <a:r>
              <a:rPr lang="en-US" sz="2200" dirty="0" smtClean="0"/>
              <a:t>Load constant</a:t>
            </a:r>
          </a:p>
          <a:p>
            <a:pPr lvl="1"/>
            <a:r>
              <a:rPr lang="en-US" sz="2200" dirty="0" smtClean="0"/>
              <a:t>Store to memory</a:t>
            </a:r>
          </a:p>
          <a:p>
            <a:pPr lvl="1"/>
            <a:r>
              <a:rPr lang="en-US" sz="2200" dirty="0" smtClean="0"/>
              <a:t>Don’t need to reason about low-level behavior to combine them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172200" y="6383008"/>
            <a:ext cx="2819400" cy="230832"/>
          </a:xfrm>
        </p:spPr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172200" y="6218113"/>
            <a:ext cx="1791970" cy="230832"/>
          </a:xfrm>
        </p:spPr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42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683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777"/>
    </mc:Choice>
    <mc:Fallback xmlns="">
      <p:transition xmlns:p14="http://schemas.microsoft.com/office/powerpoint/2010/main" spd="slow" advTm="36777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>
            <p:custDataLst>
              <p:tags r:id="rId2"/>
            </p:custDataLst>
          </p:nvPr>
        </p:nvSpPr>
        <p:spPr>
          <a:xfrm>
            <a:off x="0" y="1448989"/>
            <a:ext cx="9144000" cy="12948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0" y="204788"/>
            <a:ext cx="9144000" cy="6334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Address Space Layout Randomization (ASLR)</a:t>
            </a:r>
            <a:endParaRPr lang="en-US" dirty="0"/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2328738" y="914400"/>
            <a:ext cx="4529262" cy="533994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ASLR disabled</a:t>
            </a:r>
          </a:p>
        </p:txBody>
      </p:sp>
      <p:sp>
        <p:nvSpPr>
          <p:cNvPr id="16" name="Rectangle 15"/>
          <p:cNvSpPr/>
          <p:nvPr>
            <p:custDataLst>
              <p:tags r:id="rId5"/>
            </p:custDataLst>
          </p:nvPr>
        </p:nvSpPr>
        <p:spPr>
          <a:xfrm>
            <a:off x="0" y="3805449"/>
            <a:ext cx="9144000" cy="129480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dirty="0" smtClean="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18" name="Group 17"/>
          <p:cNvGrpSpPr/>
          <p:nvPr>
            <p:custDataLst>
              <p:tags r:id="rId6"/>
            </p:custDataLst>
          </p:nvPr>
        </p:nvGrpSpPr>
        <p:grpSpPr>
          <a:xfrm>
            <a:off x="1112188" y="1362669"/>
            <a:ext cx="2743200" cy="1381125"/>
            <a:chOff x="1112188" y="1590674"/>
            <a:chExt cx="2743200" cy="1381125"/>
          </a:xfrm>
        </p:grpSpPr>
        <p:sp>
          <p:nvSpPr>
            <p:cNvPr id="38" name="Rounded Rectangle 37"/>
            <p:cNvSpPr/>
            <p:nvPr/>
          </p:nvSpPr>
          <p:spPr>
            <a:xfrm>
              <a:off x="1112188" y="1676994"/>
              <a:ext cx="2743200" cy="129480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 smtClean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159896" y="2108596"/>
              <a:ext cx="954156" cy="735449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600" dirty="0" smtClean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221850" y="1590674"/>
              <a:ext cx="2561975" cy="517922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sz="2800" dirty="0" smtClean="0">
                  <a:latin typeface="Calibri" pitchFamily="34" charset="0"/>
                  <a:cs typeface="Calibri" pitchFamily="34" charset="0"/>
                </a:rPr>
                <a:t>Exploit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87478" y="2108596"/>
              <a:ext cx="596348" cy="73372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600" dirty="0" smtClean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114052" y="2108596"/>
              <a:ext cx="1073426" cy="735449"/>
            </a:xfrm>
            <a:prstGeom prst="rect">
              <a:avLst/>
            </a:prstGeom>
            <a:solidFill>
              <a:schemeClr val="bg1"/>
            </a:solidFill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600" dirty="0" smtClean="0"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15" name="Group 14"/>
          <p:cNvGrpSpPr/>
          <p:nvPr>
            <p:custDataLst>
              <p:tags r:id="rId7"/>
            </p:custDataLst>
          </p:nvPr>
        </p:nvGrpSpPr>
        <p:grpSpPr>
          <a:xfrm>
            <a:off x="4298467" y="1368277"/>
            <a:ext cx="2743200" cy="1369909"/>
            <a:chOff x="4298467" y="1596282"/>
            <a:chExt cx="2743200" cy="1369909"/>
          </a:xfrm>
        </p:grpSpPr>
        <p:sp>
          <p:nvSpPr>
            <p:cNvPr id="63" name="Rounded Rectangle 62"/>
            <p:cNvSpPr/>
            <p:nvPr>
              <p:custDataLst>
                <p:tags r:id="rId21"/>
              </p:custDataLst>
            </p:nvPr>
          </p:nvSpPr>
          <p:spPr>
            <a:xfrm>
              <a:off x="4298467" y="1682604"/>
              <a:ext cx="2743200" cy="128358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 smtClean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4" name="Rectangle 43"/>
            <p:cNvSpPr/>
            <p:nvPr>
              <p:custDataLst>
                <p:tags r:id="rId22"/>
              </p:custDataLst>
            </p:nvPr>
          </p:nvSpPr>
          <p:spPr>
            <a:xfrm>
              <a:off x="4432422" y="2106836"/>
              <a:ext cx="638503" cy="736637"/>
            </a:xfrm>
            <a:prstGeom prst="rect">
              <a:avLst/>
            </a:prstGeom>
            <a:no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600" dirty="0" smtClean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2" name="Rectangle 51"/>
            <p:cNvSpPr/>
            <p:nvPr>
              <p:custDataLst>
                <p:tags r:id="rId23"/>
              </p:custDataLst>
            </p:nvPr>
          </p:nvSpPr>
          <p:spPr>
            <a:xfrm>
              <a:off x="5153695" y="2106836"/>
              <a:ext cx="638503" cy="736637"/>
            </a:xfrm>
            <a:prstGeom prst="rect">
              <a:avLst/>
            </a:prstGeom>
            <a:no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600" dirty="0" smtClean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0" name="Rectangle 59"/>
            <p:cNvSpPr/>
            <p:nvPr>
              <p:custDataLst>
                <p:tags r:id="rId24"/>
              </p:custDataLst>
            </p:nvPr>
          </p:nvSpPr>
          <p:spPr>
            <a:xfrm>
              <a:off x="5874969" y="2106836"/>
              <a:ext cx="1077205" cy="736637"/>
            </a:xfrm>
            <a:prstGeom prst="rect">
              <a:avLst/>
            </a:prstGeom>
            <a:no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600" dirty="0" smtClean="0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61" name="Straight Arrow Connector 29"/>
            <p:cNvCxnSpPr>
              <a:stCxn id="44" idx="3"/>
              <a:endCxn id="52" idx="0"/>
            </p:cNvCxnSpPr>
            <p:nvPr>
              <p:custDataLst>
                <p:tags r:id="rId25"/>
              </p:custDataLst>
            </p:nvPr>
          </p:nvCxnSpPr>
          <p:spPr>
            <a:xfrm flipV="1">
              <a:off x="5070926" y="2106836"/>
              <a:ext cx="402021" cy="368318"/>
            </a:xfrm>
            <a:prstGeom prst="curvedConnector4">
              <a:avLst>
                <a:gd name="adj1" fmla="val 10294"/>
                <a:gd name="adj2" fmla="val 146754"/>
              </a:avLst>
            </a:prstGeom>
            <a:noFill/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2" name="Straight Arrow Connector 29"/>
            <p:cNvCxnSpPr>
              <a:stCxn id="52" idx="3"/>
              <a:endCxn id="60" idx="0"/>
            </p:cNvCxnSpPr>
            <p:nvPr>
              <p:custDataLst>
                <p:tags r:id="rId26"/>
              </p:custDataLst>
            </p:nvPr>
          </p:nvCxnSpPr>
          <p:spPr>
            <a:xfrm flipV="1">
              <a:off x="5792198" y="2106836"/>
              <a:ext cx="621374" cy="368319"/>
            </a:xfrm>
            <a:prstGeom prst="curvedConnector4">
              <a:avLst>
                <a:gd name="adj1" fmla="val 6660"/>
                <a:gd name="adj2" fmla="val 162066"/>
              </a:avLst>
            </a:prstGeom>
            <a:noFill/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>
              <p:custDataLst>
                <p:tags r:id="rId27"/>
              </p:custDataLst>
            </p:nvPr>
          </p:nvSpPr>
          <p:spPr>
            <a:xfrm>
              <a:off x="4653340" y="1596282"/>
              <a:ext cx="2124492" cy="5778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800" dirty="0" smtClean="0">
                  <a:latin typeface="Calibri" pitchFamily="34" charset="0"/>
                  <a:cs typeface="Calibri" pitchFamily="34" charset="0"/>
                </a:rPr>
                <a:t>Gadgets</a:t>
              </a:r>
            </a:p>
          </p:txBody>
        </p:sp>
      </p:grpSp>
      <p:grpSp>
        <p:nvGrpSpPr>
          <p:cNvPr id="66" name="Group 65"/>
          <p:cNvGrpSpPr/>
          <p:nvPr>
            <p:custDataLst>
              <p:tags r:id="rId8"/>
            </p:custDataLst>
          </p:nvPr>
        </p:nvGrpSpPr>
        <p:grpSpPr>
          <a:xfrm>
            <a:off x="914400" y="3720821"/>
            <a:ext cx="2743200" cy="1369909"/>
            <a:chOff x="4298467" y="1596282"/>
            <a:chExt cx="2743200" cy="1369909"/>
          </a:xfrm>
        </p:grpSpPr>
        <p:sp>
          <p:nvSpPr>
            <p:cNvPr id="67" name="Rounded Rectangle 66"/>
            <p:cNvSpPr/>
            <p:nvPr>
              <p:custDataLst>
                <p:tags r:id="rId14"/>
              </p:custDataLst>
            </p:nvPr>
          </p:nvSpPr>
          <p:spPr>
            <a:xfrm>
              <a:off x="4298467" y="1682604"/>
              <a:ext cx="2743200" cy="128358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 smtClean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8" name="Rectangle 67"/>
            <p:cNvSpPr/>
            <p:nvPr>
              <p:custDataLst>
                <p:tags r:id="rId15"/>
              </p:custDataLst>
            </p:nvPr>
          </p:nvSpPr>
          <p:spPr>
            <a:xfrm>
              <a:off x="4432422" y="2106836"/>
              <a:ext cx="638503" cy="736637"/>
            </a:xfrm>
            <a:prstGeom prst="rect">
              <a:avLst/>
            </a:prstGeom>
            <a:no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600" dirty="0" smtClean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" name="Rectangle 68"/>
            <p:cNvSpPr/>
            <p:nvPr>
              <p:custDataLst>
                <p:tags r:id="rId16"/>
              </p:custDataLst>
            </p:nvPr>
          </p:nvSpPr>
          <p:spPr>
            <a:xfrm>
              <a:off x="5153695" y="2106836"/>
              <a:ext cx="638503" cy="736637"/>
            </a:xfrm>
            <a:prstGeom prst="rect">
              <a:avLst/>
            </a:prstGeom>
            <a:no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600" dirty="0" smtClean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70" name="Rectangle 69"/>
            <p:cNvSpPr/>
            <p:nvPr>
              <p:custDataLst>
                <p:tags r:id="rId17"/>
              </p:custDataLst>
            </p:nvPr>
          </p:nvSpPr>
          <p:spPr>
            <a:xfrm>
              <a:off x="5874969" y="2106836"/>
              <a:ext cx="1077205" cy="736637"/>
            </a:xfrm>
            <a:prstGeom prst="rect">
              <a:avLst/>
            </a:prstGeom>
            <a:no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600" dirty="0" smtClean="0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72" name="Straight Arrow Connector 29"/>
            <p:cNvCxnSpPr>
              <a:stCxn id="68" idx="3"/>
              <a:endCxn id="69" idx="0"/>
            </p:cNvCxnSpPr>
            <p:nvPr>
              <p:custDataLst>
                <p:tags r:id="rId18"/>
              </p:custDataLst>
            </p:nvPr>
          </p:nvCxnSpPr>
          <p:spPr>
            <a:xfrm flipV="1">
              <a:off x="5070926" y="2106836"/>
              <a:ext cx="402021" cy="368318"/>
            </a:xfrm>
            <a:prstGeom prst="curvedConnector4">
              <a:avLst>
                <a:gd name="adj1" fmla="val 10294"/>
                <a:gd name="adj2" fmla="val 146754"/>
              </a:avLst>
            </a:prstGeom>
            <a:noFill/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3" name="Straight Arrow Connector 29"/>
            <p:cNvCxnSpPr>
              <a:stCxn id="69" idx="3"/>
              <a:endCxn id="70" idx="0"/>
            </p:cNvCxnSpPr>
            <p:nvPr>
              <p:custDataLst>
                <p:tags r:id="rId19"/>
              </p:custDataLst>
            </p:nvPr>
          </p:nvCxnSpPr>
          <p:spPr>
            <a:xfrm flipV="1">
              <a:off x="5792198" y="2106836"/>
              <a:ext cx="621374" cy="368319"/>
            </a:xfrm>
            <a:prstGeom prst="curvedConnector4">
              <a:avLst>
                <a:gd name="adj1" fmla="val 6660"/>
                <a:gd name="adj2" fmla="val 162066"/>
              </a:avLst>
            </a:prstGeom>
            <a:noFill/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1" name="TextBox 70"/>
            <p:cNvSpPr txBox="1"/>
            <p:nvPr>
              <p:custDataLst>
                <p:tags r:id="rId20"/>
              </p:custDataLst>
            </p:nvPr>
          </p:nvSpPr>
          <p:spPr>
            <a:xfrm>
              <a:off x="4653340" y="1596282"/>
              <a:ext cx="2124492" cy="5778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800" dirty="0" smtClean="0">
                  <a:latin typeface="Calibri" pitchFamily="34" charset="0"/>
                  <a:cs typeface="Calibri" pitchFamily="34" charset="0"/>
                </a:rPr>
                <a:t>Gadgets</a:t>
              </a:r>
            </a:p>
          </p:txBody>
        </p:sp>
      </p:grpSp>
      <p:grpSp>
        <p:nvGrpSpPr>
          <p:cNvPr id="20" name="Group 19"/>
          <p:cNvGrpSpPr/>
          <p:nvPr>
            <p:custDataLst>
              <p:tags r:id="rId9"/>
            </p:custDataLst>
          </p:nvPr>
        </p:nvGrpSpPr>
        <p:grpSpPr>
          <a:xfrm>
            <a:off x="4751673" y="3709605"/>
            <a:ext cx="3267442" cy="1381125"/>
            <a:chOff x="4751673" y="3114675"/>
            <a:chExt cx="3267442" cy="1381125"/>
          </a:xfrm>
        </p:grpSpPr>
        <p:sp>
          <p:nvSpPr>
            <p:cNvPr id="75" name="Rounded Rectangle 74"/>
            <p:cNvSpPr/>
            <p:nvPr/>
          </p:nvSpPr>
          <p:spPr>
            <a:xfrm>
              <a:off x="5275915" y="3200995"/>
              <a:ext cx="2743200" cy="129480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 smtClean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5323623" y="3632597"/>
              <a:ext cx="954156" cy="735449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600" dirty="0" smtClean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5385577" y="3114675"/>
              <a:ext cx="2561975" cy="517922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sz="2800" dirty="0" smtClean="0">
                  <a:latin typeface="Calibri" pitchFamily="34" charset="0"/>
                  <a:cs typeface="Calibri" pitchFamily="34" charset="0"/>
                </a:rPr>
                <a:t>Exploit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7351205" y="3632597"/>
              <a:ext cx="596348" cy="73372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600" dirty="0" smtClean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6277779" y="3632597"/>
              <a:ext cx="1073426" cy="735449"/>
            </a:xfrm>
            <a:prstGeom prst="rect">
              <a:avLst/>
            </a:prstGeom>
            <a:solidFill>
              <a:schemeClr val="bg1"/>
            </a:solidFill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600" dirty="0" smtClean="0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80" name="Straight Arrow Connector 29"/>
            <p:cNvCxnSpPr>
              <a:stCxn id="79" idx="3"/>
            </p:cNvCxnSpPr>
            <p:nvPr/>
          </p:nvCxnSpPr>
          <p:spPr>
            <a:xfrm flipH="1" flipV="1">
              <a:off x="4751673" y="3632597"/>
              <a:ext cx="2599532" cy="367725"/>
            </a:xfrm>
            <a:prstGeom prst="curvedConnector5">
              <a:avLst>
                <a:gd name="adj1" fmla="val -8794"/>
                <a:gd name="adj2" fmla="val -162166"/>
                <a:gd name="adj3" fmla="val 70647"/>
              </a:avLst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43" name="Straight Arrow Connector 29"/>
          <p:cNvCxnSpPr>
            <a:stCxn id="42" idx="3"/>
          </p:cNvCxnSpPr>
          <p:nvPr>
            <p:custDataLst>
              <p:tags r:id="rId10"/>
            </p:custDataLst>
          </p:nvPr>
        </p:nvCxnSpPr>
        <p:spPr>
          <a:xfrm flipV="1">
            <a:off x="3187478" y="1880591"/>
            <a:ext cx="1564195" cy="367725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Explosion 1 35"/>
          <p:cNvSpPr/>
          <p:nvPr>
            <p:custDataLst>
              <p:tags r:id="rId11"/>
            </p:custDataLst>
          </p:nvPr>
        </p:nvSpPr>
        <p:spPr>
          <a:xfrm>
            <a:off x="3266104" y="4048569"/>
            <a:ext cx="2376446" cy="1057425"/>
          </a:xfrm>
          <a:prstGeom prst="irregularSeal1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Crash</a:t>
            </a:r>
          </a:p>
        </p:txBody>
      </p:sp>
      <p:sp>
        <p:nvSpPr>
          <p:cNvPr id="57" name="TextBox 56"/>
          <p:cNvSpPr txBox="1"/>
          <p:nvPr>
            <p:custDataLst>
              <p:tags r:id="rId12"/>
            </p:custDataLst>
          </p:nvPr>
        </p:nvSpPr>
        <p:spPr>
          <a:xfrm>
            <a:off x="2328738" y="3276600"/>
            <a:ext cx="4529262" cy="533994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ASLR enabled</a:t>
            </a:r>
          </a:p>
        </p:txBody>
      </p:sp>
      <p:sp>
        <p:nvSpPr>
          <p:cNvPr id="58" name="TextBox 57"/>
          <p:cNvSpPr txBox="1"/>
          <p:nvPr>
            <p:custDataLst>
              <p:tags r:id="rId13"/>
            </p:custDataLst>
          </p:nvPr>
        </p:nvSpPr>
        <p:spPr>
          <a:xfrm>
            <a:off x="228600" y="5341203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latin typeface="Calibri" pitchFamily="34" charset="0"/>
                <a:cs typeface="Calibri" pitchFamily="34" charset="0"/>
              </a:rPr>
              <a:t>ASLR</a:t>
            </a:r>
            <a:r>
              <a:rPr lang="en-US" sz="4800" dirty="0" smtClean="0">
                <a:latin typeface="Calibri" pitchFamily="34" charset="0"/>
                <a:cs typeface="Calibri" pitchFamily="34" charset="0"/>
              </a:rPr>
              <a:t>: Addresses are unpredictable</a:t>
            </a:r>
            <a:endParaRPr lang="en-US" sz="4800" b="1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43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5513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668"/>
    </mc:Choice>
    <mc:Fallback xmlns="">
      <p:transition xmlns:p14="http://schemas.microsoft.com/office/powerpoint/2010/main" spd="slow" advTm="386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6" grpId="0" animBg="1"/>
      <p:bldP spid="57" grpId="0"/>
      <p:bldP spid="5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447800"/>
            <a:ext cx="8229600" cy="4678363"/>
          </a:xfrm>
        </p:spPr>
        <p:txBody>
          <a:bodyPr>
            <a:normAutofit/>
          </a:bodyPr>
          <a:lstStyle/>
          <a:p>
            <a:r>
              <a:rPr lang="en-US" sz="3600" dirty="0" smtClean="0"/>
              <a:t>Randomized code can’t be used for ROP</a:t>
            </a:r>
          </a:p>
          <a:p>
            <a:endParaRPr lang="en-US" sz="3600" dirty="0" smtClean="0"/>
          </a:p>
          <a:p>
            <a:endParaRPr lang="en-US" sz="3600" dirty="0" smtClean="0"/>
          </a:p>
          <a:p>
            <a:r>
              <a:rPr lang="en-US" sz="3600" dirty="0" smtClean="0"/>
              <a:t>But ASLR </a:t>
            </a:r>
            <a:r>
              <a:rPr lang="en-US" sz="3600" u="sng" dirty="0" smtClean="0"/>
              <a:t>implementations</a:t>
            </a:r>
            <a:r>
              <a:rPr lang="en-US" sz="3600" dirty="0" smtClean="0"/>
              <a:t> do not randomize all code…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Return-oriented Programming + ASLR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44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7022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856"/>
    </mc:Choice>
    <mc:Fallback xmlns="">
      <p:transition xmlns:p14="http://schemas.microsoft.com/office/powerpoint/2010/main" spd="slow" advTm="26856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(Typical) Randomized Code in Linux</a:t>
            </a:r>
            <a:endParaRPr lang="en-US" dirty="0"/>
          </a:p>
        </p:txBody>
      </p:sp>
      <p:sp>
        <p:nvSpPr>
          <p:cNvPr id="6" name="Rectangle 5"/>
          <p:cNvSpPr/>
          <p:nvPr>
            <p:custDataLst>
              <p:tags r:id="rId3"/>
            </p:custDataLst>
          </p:nvPr>
        </p:nvSpPr>
        <p:spPr>
          <a:xfrm>
            <a:off x="4648200" y="609600"/>
            <a:ext cx="4114800" cy="480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Randomized</a:t>
            </a:r>
          </a:p>
        </p:txBody>
      </p:sp>
      <p:sp>
        <p:nvSpPr>
          <p:cNvPr id="9" name="Rectangle 8"/>
          <p:cNvSpPr/>
          <p:nvPr>
            <p:custDataLst>
              <p:tags r:id="rId4"/>
            </p:custDataLst>
          </p:nvPr>
        </p:nvSpPr>
        <p:spPr>
          <a:xfrm>
            <a:off x="4876800" y="3733800"/>
            <a:ext cx="3657600" cy="6858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Stack</a:t>
            </a:r>
          </a:p>
        </p:txBody>
      </p:sp>
      <p:sp>
        <p:nvSpPr>
          <p:cNvPr id="10" name="Rectangle 9"/>
          <p:cNvSpPr/>
          <p:nvPr>
            <p:custDataLst>
              <p:tags r:id="rId5"/>
            </p:custDataLst>
          </p:nvPr>
        </p:nvSpPr>
        <p:spPr>
          <a:xfrm>
            <a:off x="4876800" y="4572000"/>
            <a:ext cx="3657600" cy="6858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Heap</a:t>
            </a:r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304800" y="609600"/>
            <a:ext cx="4114800" cy="48006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Unrandomized</a:t>
            </a:r>
          </a:p>
        </p:txBody>
      </p:sp>
      <p:sp>
        <p:nvSpPr>
          <p:cNvPr id="12" name="Oval 11"/>
          <p:cNvSpPr/>
          <p:nvPr>
            <p:custDataLst>
              <p:tags r:id="rId7"/>
            </p:custDataLst>
          </p:nvPr>
        </p:nvSpPr>
        <p:spPr>
          <a:xfrm>
            <a:off x="2971800" y="5486400"/>
            <a:ext cx="3200400" cy="6096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Executable</a:t>
            </a:r>
          </a:p>
        </p:txBody>
      </p:sp>
      <p:sp>
        <p:nvSpPr>
          <p:cNvPr id="13" name="Oval 12"/>
          <p:cNvSpPr/>
          <p:nvPr>
            <p:custDataLst>
              <p:tags r:id="rId8"/>
            </p:custDataLst>
          </p:nvPr>
        </p:nvSpPr>
        <p:spPr>
          <a:xfrm>
            <a:off x="1371600" y="1219200"/>
            <a:ext cx="2057400" cy="8382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latin typeface="Calibri" pitchFamily="34" charset="0"/>
                <a:cs typeface="Calibri" pitchFamily="34" charset="0"/>
              </a:rPr>
              <a:t>Program Image</a:t>
            </a:r>
          </a:p>
        </p:txBody>
      </p:sp>
      <p:sp>
        <p:nvSpPr>
          <p:cNvPr id="14" name="Oval 13"/>
          <p:cNvSpPr/>
          <p:nvPr>
            <p:custDataLst>
              <p:tags r:id="rId9"/>
            </p:custDataLst>
          </p:nvPr>
        </p:nvSpPr>
        <p:spPr>
          <a:xfrm>
            <a:off x="4800600" y="1219201"/>
            <a:ext cx="3886200" cy="23622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500" dirty="0" err="1" smtClean="0">
                <a:latin typeface="Calibri" pitchFamily="34" charset="0"/>
                <a:cs typeface="Calibri" pitchFamily="34" charset="0"/>
              </a:rPr>
              <a:t>Libc</a:t>
            </a:r>
            <a:endParaRPr lang="en-US" sz="115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45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1119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52"/>
    </mc:Choice>
    <mc:Fallback xmlns="">
      <p:transition xmlns:p14="http://schemas.microsoft.com/office/powerpoint/2010/main" spd="slow" advTm="170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219200"/>
            <a:ext cx="8229600" cy="4678363"/>
          </a:xfrm>
        </p:spPr>
        <p:txBody>
          <a:bodyPr>
            <a:normAutofit/>
          </a:bodyPr>
          <a:lstStyle/>
          <a:p>
            <a:r>
              <a:rPr lang="en-US" dirty="0" smtClean="0"/>
              <a:t>Program </a:t>
            </a:r>
            <a:r>
              <a:rPr lang="en-US" dirty="0"/>
              <a:t>image is </a:t>
            </a:r>
            <a:r>
              <a:rPr lang="en-US" dirty="0" smtClean="0"/>
              <a:t>often the only </a:t>
            </a:r>
            <a:r>
              <a:rPr lang="en-US" dirty="0" err="1" smtClean="0"/>
              <a:t>unrandomized</a:t>
            </a:r>
            <a:r>
              <a:rPr lang="en-US" dirty="0" smtClean="0"/>
              <a:t> code</a:t>
            </a:r>
            <a:endParaRPr lang="en-US" dirty="0"/>
          </a:p>
          <a:p>
            <a:pPr lvl="1"/>
            <a:r>
              <a:rPr lang="en-US" dirty="0"/>
              <a:t>Small</a:t>
            </a:r>
          </a:p>
          <a:p>
            <a:pPr lvl="1"/>
            <a:r>
              <a:rPr lang="en-US" dirty="0" smtClean="0"/>
              <a:t>Program-specific</a:t>
            </a:r>
          </a:p>
          <a:p>
            <a:endParaRPr lang="en-US" dirty="0"/>
          </a:p>
          <a:p>
            <a:r>
              <a:rPr lang="en-US" dirty="0" smtClean="0"/>
              <a:t>How much unrandomized code does an attacker need to use ROP?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Modern Exploitation using ROP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14375" y="5046335"/>
            <a:ext cx="7848600" cy="156750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800" strike="sngStrike" dirty="0" smtClean="0">
                <a:solidFill>
                  <a:schemeClr val="tx1"/>
                </a:solidFill>
              </a:rPr>
              <a:t>We need a graduate student with a lot of free time</a:t>
            </a:r>
            <a:endParaRPr lang="en-US" sz="2800" strike="sngStrike" dirty="0">
              <a:solidFill>
                <a:schemeClr val="tx1"/>
              </a:solidFill>
            </a:endParaRPr>
          </a:p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We need automatic ROP techniques that can work with the program image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9464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159"/>
    </mc:Choice>
    <mc:Fallback xmlns="">
      <p:transition xmlns:p14="http://schemas.microsoft.com/office/powerpoint/2010/main" spd="slow" advTm="331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Q: Automatic </a:t>
            </a:r>
            <a:r>
              <a:rPr lang="en-US" smtClean="0"/>
              <a:t>ROP System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02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36"/>
    </mc:Choice>
    <mc:Fallback xmlns="">
      <p:transition xmlns:p14="http://schemas.microsoft.com/office/powerpoint/2010/main" spd="slow" advTm="6336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D72DCFC7-CCD2-4D18-A5A6-8AD55EBAF26B}" type="slidenum">
              <a:rPr lang="en-US" smtClean="0"/>
              <a:t>48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-20240" y="6105373"/>
            <a:ext cx="9471136" cy="990600"/>
          </a:xfrm>
          <a:prstGeom prst="rect">
            <a:avLst/>
          </a:prstGeom>
          <a:solidFill>
            <a:schemeClr val="bg1"/>
          </a:soli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 rot="21234222">
            <a:off x="-1068453" y="-734822"/>
            <a:ext cx="11362376" cy="8251447"/>
            <a:chOff x="-1301680" y="-864895"/>
            <a:chExt cx="11362376" cy="8251447"/>
          </a:xfrm>
        </p:grpSpPr>
        <p:sp>
          <p:nvSpPr>
            <p:cNvPr id="18" name="Rectangle 17"/>
            <p:cNvSpPr/>
            <p:nvPr/>
          </p:nvSpPr>
          <p:spPr>
            <a:xfrm>
              <a:off x="-1293104" y="-864895"/>
              <a:ext cx="11353800" cy="3624699"/>
            </a:xfrm>
            <a:prstGeom prst="rect">
              <a:avLst/>
            </a:prstGeom>
            <a:solidFill>
              <a:schemeClr val="accent5">
                <a:alpha val="70000"/>
              </a:schemeClr>
            </a:solidFill>
            <a:ln w="28575" cap="rnd" cmpd="sng">
              <a:noFill/>
              <a:prstDash val="solid"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endParaRPr lang="en-US" sz="2400" dirty="0" smtClean="0">
                <a:solidFill>
                  <a:schemeClr val="bg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-1301680" y="2755502"/>
              <a:ext cx="11353800" cy="4631050"/>
            </a:xfrm>
            <a:prstGeom prst="rect">
              <a:avLst/>
            </a:prstGeom>
            <a:solidFill>
              <a:schemeClr val="accent3">
                <a:alpha val="70000"/>
              </a:schemeClr>
            </a:solidFill>
            <a:ln w="28575" cap="rnd" cmpd="sng">
              <a:noFill/>
              <a:prstDash val="solid"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endParaRPr lang="en-US" sz="2400" dirty="0" smtClean="0">
                <a:solidFill>
                  <a:schemeClr val="bg1"/>
                </a:solidFill>
              </a:endParaRP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-228600" y="2781300"/>
              <a:ext cx="9525000" cy="0"/>
            </a:xfrm>
            <a:prstGeom prst="line">
              <a:avLst/>
            </a:prstGeom>
            <a:ln w="69850" cap="rnd" cmpd="sng">
              <a:solidFill>
                <a:schemeClr val="tx1"/>
              </a:solidFill>
              <a:prstDash val="dash"/>
              <a:miter lim="800000"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 smtClean="0"/>
              <a:t>Q: ROP Overview</a:t>
            </a:r>
            <a:endParaRPr lang="en-US" dirty="0"/>
          </a:p>
        </p:txBody>
      </p:sp>
      <p:sp>
        <p:nvSpPr>
          <p:cNvPr id="7" name="Rectangle 6"/>
          <p:cNvSpPr/>
          <p:nvPr>
            <p:custDataLst>
              <p:tags r:id="rId3"/>
            </p:custDataLst>
          </p:nvPr>
        </p:nvSpPr>
        <p:spPr>
          <a:xfrm>
            <a:off x="228600" y="1295400"/>
            <a:ext cx="2667000" cy="137160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Source P</a:t>
            </a:r>
          </a:p>
        </p:txBody>
      </p:sp>
      <p:sp>
        <p:nvSpPr>
          <p:cNvPr id="8" name="Rectangle 7"/>
          <p:cNvSpPr/>
          <p:nvPr>
            <p:custDataLst>
              <p:tags r:id="rId4"/>
            </p:custDataLst>
          </p:nvPr>
        </p:nvSpPr>
        <p:spPr>
          <a:xfrm>
            <a:off x="228600" y="4343400"/>
            <a:ext cx="2667000" cy="137160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Computation</a:t>
            </a:r>
          </a:p>
        </p:txBody>
      </p:sp>
      <p:sp>
        <p:nvSpPr>
          <p:cNvPr id="15" name="Rectangle 14"/>
          <p:cNvSpPr/>
          <p:nvPr>
            <p:custDataLst>
              <p:tags r:id="rId5"/>
            </p:custDataLst>
          </p:nvPr>
        </p:nvSpPr>
        <p:spPr>
          <a:xfrm>
            <a:off x="3581400" y="4343400"/>
            <a:ext cx="2819400" cy="137160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Arrangement</a:t>
            </a:r>
          </a:p>
        </p:txBody>
      </p:sp>
      <p:sp>
        <p:nvSpPr>
          <p:cNvPr id="16" name="Rectangle 15"/>
          <p:cNvSpPr/>
          <p:nvPr>
            <p:custDataLst>
              <p:tags r:id="rId6"/>
            </p:custDataLst>
          </p:nvPr>
        </p:nvSpPr>
        <p:spPr>
          <a:xfrm>
            <a:off x="3581400" y="1295400"/>
            <a:ext cx="2819400" cy="137160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Discovery</a:t>
            </a:r>
          </a:p>
        </p:txBody>
      </p:sp>
      <p:sp>
        <p:nvSpPr>
          <p:cNvPr id="17" name="Rectangle 16"/>
          <p:cNvSpPr/>
          <p:nvPr>
            <p:custDataLst>
              <p:tags r:id="rId7"/>
            </p:custDataLst>
          </p:nvPr>
        </p:nvSpPr>
        <p:spPr>
          <a:xfrm>
            <a:off x="6221186" y="2819400"/>
            <a:ext cx="2819400" cy="137160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Assignment</a:t>
            </a:r>
          </a:p>
        </p:txBody>
      </p:sp>
      <p:cxnSp>
        <p:nvCxnSpPr>
          <p:cNvPr id="19" name="Straight Arrow Connector 18"/>
          <p:cNvCxnSpPr>
            <a:stCxn id="7" idx="3"/>
            <a:endCxn id="16" idx="1"/>
          </p:cNvCxnSpPr>
          <p:nvPr>
            <p:custDataLst>
              <p:tags r:id="rId8"/>
            </p:custDataLst>
          </p:nvPr>
        </p:nvCxnSpPr>
        <p:spPr>
          <a:xfrm>
            <a:off x="2895600" y="1981200"/>
            <a:ext cx="685800" cy="0"/>
          </a:xfrm>
          <a:prstGeom prst="straightConnector1">
            <a:avLst/>
          </a:prstGeom>
          <a:ln>
            <a:tailEnd type="arrow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15" idx="1"/>
          </p:cNvCxnSpPr>
          <p:nvPr>
            <p:custDataLst>
              <p:tags r:id="rId9"/>
            </p:custDataLst>
          </p:nvPr>
        </p:nvCxnSpPr>
        <p:spPr>
          <a:xfrm flipV="1">
            <a:off x="2895600" y="5029200"/>
            <a:ext cx="685800" cy="5443"/>
          </a:xfrm>
          <a:prstGeom prst="straightConnector1">
            <a:avLst/>
          </a:prstGeom>
          <a:ln>
            <a:tailEnd type="arrow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6" idx="3"/>
            <a:endCxn id="17" idx="0"/>
          </p:cNvCxnSpPr>
          <p:nvPr>
            <p:custDataLst>
              <p:tags r:id="rId10"/>
            </p:custDataLst>
          </p:nvPr>
        </p:nvCxnSpPr>
        <p:spPr>
          <a:xfrm>
            <a:off x="6400800" y="1981200"/>
            <a:ext cx="1230086" cy="838200"/>
          </a:xfrm>
          <a:prstGeom prst="curvedConnector2">
            <a:avLst/>
          </a:prstGeom>
          <a:ln>
            <a:tailEnd type="arrow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2"/>
          <p:cNvCxnSpPr>
            <a:stCxn id="15" idx="3"/>
            <a:endCxn id="17" idx="2"/>
          </p:cNvCxnSpPr>
          <p:nvPr>
            <p:custDataLst>
              <p:tags r:id="rId11"/>
            </p:custDataLst>
          </p:nvPr>
        </p:nvCxnSpPr>
        <p:spPr>
          <a:xfrm flipV="1">
            <a:off x="6400800" y="4191000"/>
            <a:ext cx="1230086" cy="838200"/>
          </a:xfrm>
          <a:prstGeom prst="curvedConnector2">
            <a:avLst/>
          </a:prstGeom>
          <a:ln>
            <a:tailEnd type="arrow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705600" y="996315"/>
            <a:ext cx="2971800" cy="9848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3200" dirty="0" smtClean="0">
                <a:solidFill>
                  <a:schemeClr val="bg1"/>
                </a:solidFill>
              </a:rPr>
              <a:t>Abstraction Recovery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29400" y="5187315"/>
            <a:ext cx="2971800" cy="9848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3200" dirty="0" smtClean="0">
                <a:solidFill>
                  <a:schemeClr val="bg1"/>
                </a:solidFill>
              </a:rPr>
              <a:t>High-level</a:t>
            </a:r>
          </a:p>
          <a:p>
            <a:pPr>
              <a:buClr>
                <a:schemeClr val="accent1"/>
              </a:buClr>
            </a:pPr>
            <a:r>
              <a:rPr lang="en-US" sz="3200" dirty="0" smtClean="0">
                <a:solidFill>
                  <a:schemeClr val="bg1"/>
                </a:solidFill>
              </a:rPr>
              <a:t>Reasoning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8670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300"/>
    </mc:Choice>
    <mc:Fallback xmlns="">
      <p:transition xmlns:p14="http://schemas.microsoft.com/office/powerpoint/2010/main" spd="slow" advTm="25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0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3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4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6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7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9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0" dur="indefinite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3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  <p:bldP spid="15" grpId="0" animBg="1"/>
      <p:bldP spid="17" grpId="0" animBg="1"/>
      <p:bldP spid="29" grpId="0"/>
      <p:bldP spid="3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u="sng" dirty="0" smtClean="0"/>
              <a:t>Discovery</a:t>
            </a:r>
            <a:r>
              <a:rPr lang="en-US" dirty="0" smtClean="0"/>
              <a:t>: Does instruction sequence do something we can use for our computation?</a:t>
            </a:r>
          </a:p>
          <a:p>
            <a:r>
              <a:rPr lang="en-US" dirty="0" smtClean="0"/>
              <a:t>Fast randomized test for </a:t>
            </a:r>
            <a:r>
              <a:rPr lang="en-US" u="sng" dirty="0" smtClean="0"/>
              <a:t>every program location</a:t>
            </a:r>
            <a:r>
              <a:rPr lang="en-US" b="1" dirty="0" smtClean="0"/>
              <a:t> </a:t>
            </a:r>
            <a:r>
              <a:rPr lang="en-US" dirty="0" smtClean="0"/>
              <a:t>(thousands or millions)</a:t>
            </a:r>
            <a:endParaRPr lang="en-US" b="1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Gadget Discovery</a:t>
            </a:r>
            <a:endParaRPr lang="en-US" dirty="0"/>
          </a:p>
        </p:txBody>
      </p:sp>
      <p:sp>
        <p:nvSpPr>
          <p:cNvPr id="7" name="Rectangle 6"/>
          <p:cNvSpPr/>
          <p:nvPr>
            <p:custDataLst>
              <p:tags r:id="rId4"/>
            </p:custDataLst>
          </p:nvPr>
        </p:nvSpPr>
        <p:spPr>
          <a:xfrm>
            <a:off x="609600" y="4191000"/>
            <a:ext cx="2667000" cy="13716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Vulnerable P</a:t>
            </a: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114300" y="4338191"/>
            <a:ext cx="3619500" cy="1077218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sbb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%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eax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, %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eax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neg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%</a:t>
            </a:r>
            <a:r>
              <a:rPr lang="en-US" sz="3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eax</a:t>
            </a:r>
            <a: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 ret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49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86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019"/>
    </mc:Choice>
    <mc:Fallback xmlns="">
      <p:transition xmlns:p14="http://schemas.microsoft.com/office/powerpoint/2010/main" spd="slow" advTm="190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11111E-6 L 0.55416 -1.11111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7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animBg="1"/>
      <p:bldP spid="8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69385" y="9099"/>
            <a:ext cx="8229600" cy="67670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Randomized Testing</a:t>
            </a:r>
            <a:endParaRPr lang="en-US" dirty="0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457200" y="2834640"/>
            <a:ext cx="3581400" cy="1077218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sbb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%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eax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, %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eax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neg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%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eax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; ret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226199284"/>
              </p:ext>
            </p:extLst>
          </p:nvPr>
        </p:nvGraphicFramePr>
        <p:xfrm>
          <a:off x="381000" y="853440"/>
          <a:ext cx="3810000" cy="1737360"/>
        </p:xfrm>
        <a:graphic>
          <a:graphicData uri="http://schemas.openxmlformats.org/drawingml/2006/table">
            <a:tbl>
              <a:tblPr bandRow="1">
                <a:tableStyleId>{18603FDC-E32A-4AB5-989C-0864C3EAD2B8}</a:tableStyleId>
              </a:tblPr>
              <a:tblGrid>
                <a:gridCol w="1219200"/>
                <a:gridCol w="2590800"/>
              </a:tblGrid>
              <a:tr h="48260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EAX</a:t>
                      </a:r>
                      <a:endParaRPr lang="en-US" sz="32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0x0298a7bc</a:t>
                      </a:r>
                      <a:endParaRPr lang="en-US" sz="32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CF</a:t>
                      </a:r>
                      <a:endParaRPr lang="en-US" sz="32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0x1</a:t>
                      </a:r>
                      <a:endParaRPr lang="en-US" sz="32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ESP</a:t>
                      </a:r>
                      <a:endParaRPr lang="en-US" sz="32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0x81e4f104</a:t>
                      </a:r>
                      <a:endParaRPr lang="en-US" sz="32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762349264"/>
              </p:ext>
            </p:extLst>
          </p:nvPr>
        </p:nvGraphicFramePr>
        <p:xfrm>
          <a:off x="381000" y="4130040"/>
          <a:ext cx="3810000" cy="1737360"/>
        </p:xfrm>
        <a:graphic>
          <a:graphicData uri="http://schemas.openxmlformats.org/drawingml/2006/table">
            <a:tbl>
              <a:tblPr bandRow="1">
                <a:tableStyleId>{18603FDC-E32A-4AB5-989C-0864C3EAD2B8}</a:tableStyleId>
              </a:tblPr>
              <a:tblGrid>
                <a:gridCol w="1219200"/>
                <a:gridCol w="2590800"/>
              </a:tblGrid>
              <a:tr h="48260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EAX</a:t>
                      </a:r>
                      <a:endParaRPr lang="en-US" sz="32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0x1</a:t>
                      </a:r>
                      <a:endParaRPr lang="en-US" sz="32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ESP</a:t>
                      </a:r>
                      <a:endParaRPr lang="en-US" sz="32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0x81e4f108</a:t>
                      </a:r>
                      <a:endParaRPr lang="en-US" sz="32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EBX</a:t>
                      </a:r>
                      <a:endParaRPr lang="en-US" sz="32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0x0298a7bc</a:t>
                      </a:r>
                      <a:endParaRPr lang="en-US" sz="32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2" name="Straight Connector 11"/>
          <p:cNvCxnSpPr/>
          <p:nvPr>
            <p:custDataLst>
              <p:tags r:id="rId6"/>
            </p:custDataLst>
          </p:nvPr>
        </p:nvCxnSpPr>
        <p:spPr>
          <a:xfrm>
            <a:off x="4572000" y="685800"/>
            <a:ext cx="0" cy="5486400"/>
          </a:xfrm>
          <a:prstGeom prst="line">
            <a:avLst/>
          </a:prstGeom>
          <a:ln w="762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5061857" y="2286000"/>
            <a:ext cx="3624943" cy="58477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smtClean="0">
                <a:latin typeface="Calibri" pitchFamily="34" charset="0"/>
                <a:cs typeface="Calibri" pitchFamily="34" charset="0"/>
              </a:rPr>
              <a:t>OutReg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&lt;- </a:t>
            </a:r>
            <a:r>
              <a:rPr lang="en-US" sz="3200" dirty="0" err="1" smtClean="0">
                <a:latin typeface="Calibri" pitchFamily="34" charset="0"/>
                <a:cs typeface="Calibri" pitchFamily="34" charset="0"/>
              </a:rPr>
              <a:t>InReg</a:t>
            </a:r>
            <a:endParaRPr lang="en-US" sz="32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5747657" y="2895600"/>
            <a:ext cx="2438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Semantic Definition</a:t>
            </a:r>
          </a:p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For Move</a:t>
            </a:r>
          </a:p>
        </p:txBody>
      </p:sp>
      <p:cxnSp>
        <p:nvCxnSpPr>
          <p:cNvPr id="18" name="Straight Arrow Connector 17"/>
          <p:cNvCxnSpPr/>
          <p:nvPr>
            <p:custDataLst>
              <p:tags r:id="rId9"/>
            </p:custDataLst>
          </p:nvPr>
        </p:nvCxnSpPr>
        <p:spPr>
          <a:xfrm flipH="1">
            <a:off x="2438400" y="2834640"/>
            <a:ext cx="3048000" cy="150876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>
            <p:custDataLst>
              <p:tags r:id="rId10"/>
            </p:custDataLst>
          </p:nvPr>
        </p:nvCxnSpPr>
        <p:spPr>
          <a:xfrm flipH="1" flipV="1">
            <a:off x="2362200" y="1752600"/>
            <a:ext cx="4876800" cy="73152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>
            <p:custDataLst>
              <p:tags r:id="rId11"/>
            </p:custDataLst>
          </p:nvPr>
        </p:nvSpPr>
        <p:spPr>
          <a:xfrm>
            <a:off x="-152400" y="960120"/>
            <a:ext cx="381000" cy="1524000"/>
          </a:xfrm>
          <a:prstGeom prst="rect">
            <a:avLst/>
          </a:prstGeom>
          <a:noFill/>
        </p:spPr>
        <p:txBody>
          <a:bodyPr vert="vert270" wrap="square" rtlCol="0">
            <a:noAutofit/>
          </a:bodyPr>
          <a:lstStyle/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Before</a:t>
            </a:r>
            <a:endParaRPr lang="en-US" sz="3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6" name="TextBox 25"/>
          <p:cNvSpPr txBox="1"/>
          <p:nvPr>
            <p:custDataLst>
              <p:tags r:id="rId12"/>
            </p:custDataLst>
          </p:nvPr>
        </p:nvSpPr>
        <p:spPr>
          <a:xfrm>
            <a:off x="-152400" y="4236720"/>
            <a:ext cx="381000" cy="1524000"/>
          </a:xfrm>
          <a:prstGeom prst="rect">
            <a:avLst/>
          </a:prstGeom>
          <a:noFill/>
        </p:spPr>
        <p:txBody>
          <a:bodyPr vert="vert270" wrap="square" rtlCol="0">
            <a:noAutofit/>
          </a:bodyPr>
          <a:lstStyle/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After</a:t>
            </a:r>
            <a:endParaRPr lang="en-US" sz="3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50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9456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744"/>
    </mc:Choice>
    <mc:Fallback xmlns="">
      <p:transition xmlns:p14="http://schemas.microsoft.com/office/powerpoint/2010/main" spd="slow" advTm="447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25" grpId="0"/>
      <p:bldP spid="2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15922"/>
            <a:ext cx="8229600" cy="105087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Q’s Semantic Definitions/</a:t>
            </a:r>
            <a:br>
              <a:rPr lang="en-US" dirty="0" smtClean="0"/>
            </a:br>
            <a:r>
              <a:rPr lang="en-US" dirty="0" smtClean="0"/>
              <a:t>Gadget Types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3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687819753"/>
              </p:ext>
            </p:extLst>
          </p:nvPr>
        </p:nvGraphicFramePr>
        <p:xfrm>
          <a:off x="381000" y="1524000"/>
          <a:ext cx="8382000" cy="40538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328333"/>
                <a:gridCol w="3259667"/>
                <a:gridCol w="279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Gadget Type</a:t>
                      </a:r>
                      <a:endParaRPr lang="en-US" sz="22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Semantic Definition</a:t>
                      </a:r>
                      <a:endParaRPr lang="en-US" sz="22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Real World Example</a:t>
                      </a:r>
                      <a:endParaRPr lang="en-US" sz="22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err="1" smtClean="0"/>
                        <a:t>MoveRegG</a:t>
                      </a:r>
                      <a:endParaRPr lang="en-US" sz="2200" b="0" dirty="0" smtClean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Out &lt;- In</a:t>
                      </a:r>
                      <a:endParaRPr lang="en-US" sz="2200" b="0" dirty="0" smtClean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/>
                        <a:t>xchg</a:t>
                      </a:r>
                      <a:r>
                        <a:rPr lang="en-US" sz="1800" dirty="0" smtClean="0"/>
                        <a:t> %</a:t>
                      </a:r>
                      <a:r>
                        <a:rPr lang="en-US" sz="1800" dirty="0" err="1" smtClean="0"/>
                        <a:t>eax</a:t>
                      </a:r>
                      <a:r>
                        <a:rPr lang="en-US" sz="1800" dirty="0" smtClean="0"/>
                        <a:t>, %</a:t>
                      </a:r>
                      <a:r>
                        <a:rPr lang="en-US" sz="1800" dirty="0" err="1" smtClean="0"/>
                        <a:t>ebp</a:t>
                      </a:r>
                      <a:r>
                        <a:rPr lang="en-US" sz="1800" baseline="0" dirty="0" smtClean="0"/>
                        <a:t>; ret</a:t>
                      </a:r>
                      <a:endParaRPr lang="en-US" sz="1800" b="0" dirty="0" smtClean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/>
                        <a:t>LoadConstG</a:t>
                      </a:r>
                      <a:endParaRPr lang="en-US" sz="2200" b="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Out &lt;- Constant</a:t>
                      </a:r>
                      <a:endParaRPr lang="en-US" sz="2200" b="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pop</a:t>
                      </a:r>
                      <a:r>
                        <a:rPr lang="en-US" sz="1800" baseline="0" dirty="0" smtClean="0"/>
                        <a:t> %</a:t>
                      </a:r>
                      <a:r>
                        <a:rPr lang="en-US" sz="1800" baseline="0" dirty="0" err="1" smtClean="0"/>
                        <a:t>ebp</a:t>
                      </a:r>
                      <a:r>
                        <a:rPr lang="en-US" sz="1800" baseline="0" dirty="0" smtClean="0"/>
                        <a:t>; ret</a:t>
                      </a:r>
                      <a:endParaRPr lang="en-US" sz="18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/>
                        <a:t>ArithmeticG</a:t>
                      </a:r>
                      <a:endParaRPr lang="en-US" sz="2200" b="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Out &lt;- In1 + In2</a:t>
                      </a:r>
                      <a:endParaRPr lang="en-US" sz="2200" b="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</a:t>
                      </a:r>
                      <a:r>
                        <a:rPr lang="en-US" sz="1800" baseline="0" dirty="0" smtClean="0"/>
                        <a:t> %</a:t>
                      </a:r>
                      <a:r>
                        <a:rPr lang="en-US" sz="1800" baseline="0" dirty="0" err="1" smtClean="0"/>
                        <a:t>edx</a:t>
                      </a:r>
                      <a:r>
                        <a:rPr lang="en-US" sz="1800" baseline="0" dirty="0" smtClean="0"/>
                        <a:t>, %</a:t>
                      </a:r>
                      <a:r>
                        <a:rPr lang="en-US" sz="1800" baseline="0" dirty="0" err="1" smtClean="0"/>
                        <a:t>eax</a:t>
                      </a:r>
                      <a:r>
                        <a:rPr lang="en-US" sz="1800" baseline="0" dirty="0" smtClean="0"/>
                        <a:t>; ret</a:t>
                      </a:r>
                      <a:endParaRPr lang="en-US" sz="18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/>
                        <a:t>LoadMemG</a:t>
                      </a:r>
                      <a:endParaRPr lang="en-US" sz="2200" b="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Out &lt;- M[</a:t>
                      </a:r>
                      <a:r>
                        <a:rPr lang="en-US" sz="2200" dirty="0" err="1" smtClean="0"/>
                        <a:t>Addr</a:t>
                      </a:r>
                      <a:r>
                        <a:rPr lang="en-US" sz="2200" dirty="0" smtClean="0"/>
                        <a:t> + Offset]</a:t>
                      </a:r>
                      <a:endParaRPr lang="en-US" sz="2200" b="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movl</a:t>
                      </a:r>
                      <a:r>
                        <a:rPr lang="en-US" sz="1800" dirty="0" smtClean="0"/>
                        <a:t> 0x60(%</a:t>
                      </a:r>
                      <a:r>
                        <a:rPr lang="en-US" sz="1800" dirty="0" err="1" smtClean="0"/>
                        <a:t>eax</a:t>
                      </a:r>
                      <a:r>
                        <a:rPr lang="en-US" sz="1800" dirty="0" smtClean="0"/>
                        <a:t>),</a:t>
                      </a:r>
                      <a:r>
                        <a:rPr lang="en-US" sz="1800" baseline="0" dirty="0" smtClean="0"/>
                        <a:t> %</a:t>
                      </a:r>
                      <a:r>
                        <a:rPr lang="en-US" sz="1800" baseline="0" dirty="0" err="1" smtClean="0"/>
                        <a:t>eax</a:t>
                      </a:r>
                      <a:r>
                        <a:rPr lang="en-US" sz="1800" baseline="0" dirty="0" smtClean="0"/>
                        <a:t>; ret</a:t>
                      </a:r>
                      <a:endParaRPr lang="en-US" sz="18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/>
                        <a:t>StoreMemG</a:t>
                      </a:r>
                      <a:endParaRPr lang="en-US" sz="2200" b="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M[</a:t>
                      </a:r>
                      <a:r>
                        <a:rPr lang="en-US" sz="2200" dirty="0" err="1" smtClean="0"/>
                        <a:t>Addr</a:t>
                      </a:r>
                      <a:r>
                        <a:rPr lang="en-US" sz="2200" baseline="0" dirty="0" smtClean="0"/>
                        <a:t> + Offset] &lt;- In</a:t>
                      </a:r>
                      <a:endParaRPr lang="en-US" sz="2200" b="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mov</a:t>
                      </a:r>
                      <a:r>
                        <a:rPr lang="en-US" sz="1800" baseline="0" dirty="0" smtClean="0"/>
                        <a:t> %dl, 0x13(%</a:t>
                      </a:r>
                      <a:r>
                        <a:rPr lang="en-US" sz="1800" baseline="0" dirty="0" err="1" smtClean="0"/>
                        <a:t>eax</a:t>
                      </a:r>
                      <a:r>
                        <a:rPr lang="en-US" sz="1800" baseline="0" dirty="0" smtClean="0"/>
                        <a:t>); ret</a:t>
                      </a:r>
                      <a:endParaRPr lang="en-US" sz="1800" b="0" dirty="0" smtClean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/>
                        <a:t>ArithmeticLoadG</a:t>
                      </a:r>
                      <a:endParaRPr lang="en-US" sz="2200" b="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Out +&lt;-</a:t>
                      </a:r>
                      <a:r>
                        <a:rPr lang="en-US" sz="2200" baseline="0" dirty="0" smtClean="0"/>
                        <a:t> M[</a:t>
                      </a:r>
                      <a:r>
                        <a:rPr lang="en-US" sz="2200" baseline="0" dirty="0" err="1" smtClean="0"/>
                        <a:t>Addr</a:t>
                      </a:r>
                      <a:r>
                        <a:rPr lang="en-US" sz="2200" baseline="0" dirty="0" smtClean="0"/>
                        <a:t> + Offset]</a:t>
                      </a:r>
                      <a:endParaRPr lang="en-US" sz="2200" b="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  0x1376dbe4(%</a:t>
                      </a:r>
                      <a:r>
                        <a:rPr lang="en-US" sz="1800" dirty="0" err="1" smtClean="0"/>
                        <a:t>ebx</a:t>
                      </a:r>
                      <a:r>
                        <a:rPr lang="en-US" sz="1800" dirty="0" smtClean="0"/>
                        <a:t>), %</a:t>
                      </a:r>
                      <a:r>
                        <a:rPr lang="en-US" sz="1800" dirty="0" err="1" smtClean="0"/>
                        <a:t>ecx</a:t>
                      </a:r>
                      <a:r>
                        <a:rPr lang="en-US" sz="1800" dirty="0" smtClean="0"/>
                        <a:t>; (…); ret</a:t>
                      </a:r>
                      <a:endParaRPr lang="en-US" sz="1800" b="0" dirty="0" smtClean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/>
                        <a:t>ArithmeticStoreG</a:t>
                      </a:r>
                      <a:endParaRPr lang="en-US" sz="2200" b="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M[</a:t>
                      </a:r>
                      <a:r>
                        <a:rPr lang="en-US" sz="2200" dirty="0" err="1" smtClean="0"/>
                        <a:t>Addr</a:t>
                      </a:r>
                      <a:r>
                        <a:rPr lang="en-US" sz="2200" dirty="0" smtClean="0"/>
                        <a:t> + Offset] +&lt;- In </a:t>
                      </a:r>
                      <a:endParaRPr lang="en-US" sz="2200" b="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    %al, 0x5de474c0(%</a:t>
                      </a:r>
                      <a:r>
                        <a:rPr lang="en-US" sz="1800" dirty="0" err="1" smtClean="0"/>
                        <a:t>ebp</a:t>
                      </a:r>
                      <a:r>
                        <a:rPr lang="en-US" sz="1800" dirty="0" smtClean="0"/>
                        <a:t>); ret </a:t>
                      </a:r>
                      <a:endParaRPr lang="en-US" sz="1800" b="0" dirty="0" smtClean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51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8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280"/>
    </mc:Choice>
    <mc:Fallback xmlns="">
      <p:transition xmlns:p14="http://schemas.microsoft.com/office/powerpoint/2010/main" spd="slow" advTm="21280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Randomized </a:t>
            </a:r>
            <a:r>
              <a:rPr lang="en-US" sz="3600" dirty="0"/>
              <a:t>t</a:t>
            </a:r>
            <a:r>
              <a:rPr lang="en-US" sz="3600" dirty="0" smtClean="0"/>
              <a:t>esting quickly rules out </a:t>
            </a:r>
            <a:br>
              <a:rPr lang="en-US" sz="3600" dirty="0" smtClean="0"/>
            </a:br>
            <a:r>
              <a:rPr lang="en-US" sz="3600" dirty="0" smtClean="0"/>
              <a:t>non-gadgets</a:t>
            </a:r>
          </a:p>
          <a:p>
            <a:pPr lvl="1"/>
            <a:r>
              <a:rPr lang="en-US" dirty="0" smtClean="0"/>
              <a:t>Fast</a:t>
            </a:r>
          </a:p>
          <a:p>
            <a:pPr lvl="1"/>
            <a:r>
              <a:rPr lang="en-US" dirty="0" smtClean="0"/>
              <a:t>Enables more expensive second stage</a:t>
            </a:r>
          </a:p>
          <a:p>
            <a:pPr lvl="1"/>
            <a:endParaRPr lang="en-US" b="1" dirty="0" smtClean="0"/>
          </a:p>
          <a:p>
            <a:r>
              <a:rPr lang="en-US" sz="3600" dirty="0" smtClean="0"/>
              <a:t>Second stage: </a:t>
            </a:r>
            <a:r>
              <a:rPr lang="en-US" sz="3600" dirty="0"/>
              <a:t>p</a:t>
            </a:r>
            <a:r>
              <a:rPr lang="en-US" sz="3600" dirty="0" smtClean="0"/>
              <a:t>rogram verification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Randomized Testing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52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90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16"/>
    </mc:Choice>
    <mc:Fallback xmlns="">
      <p:transition xmlns:p14="http://schemas.microsoft.com/office/powerpoint/2010/main" spd="slow" advTm="306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Connection to Program Verification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747839D-A323-47F3-909F-548499399628}" type="slidenum">
              <a:rPr lang="en-US" smtClean="0"/>
              <a:t>53</a:t>
            </a:fld>
            <a:endParaRPr lang="en-US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5334000" y="1919407"/>
            <a:ext cx="3352800" cy="1077218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sbb</a:t>
            </a:r>
            <a: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%</a:t>
            </a:r>
            <a:r>
              <a:rPr lang="en-US" sz="3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eax</a:t>
            </a:r>
            <a: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, %</a:t>
            </a:r>
            <a:r>
              <a:rPr lang="en-US" sz="3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eax</a:t>
            </a:r>
            <a:endParaRPr lang="en-US" sz="3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sz="3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eg</a:t>
            </a:r>
            <a: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%</a:t>
            </a:r>
            <a:r>
              <a:rPr lang="en-US" sz="3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eax</a:t>
            </a:r>
            <a: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 ret</a:t>
            </a: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5334000" y="2996625"/>
            <a:ext cx="3355848" cy="58477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EAX &lt;- CF</a:t>
            </a: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609600" y="838200"/>
            <a:ext cx="3352800" cy="255454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dirty="0" smtClean="0">
                <a:latin typeface="Calibri" pitchFamily="34" charset="0"/>
                <a:cs typeface="Calibri" pitchFamily="34" charset="0"/>
              </a:rPr>
              <a:t>sum = 0</a:t>
            </a:r>
          </a:p>
          <a:p>
            <a:r>
              <a:rPr lang="en-US" sz="3200" dirty="0" smtClean="0">
                <a:latin typeface="Calibri" pitchFamily="34" charset="0"/>
                <a:cs typeface="Calibri" pitchFamily="34" charset="0"/>
              </a:rPr>
              <a:t>while (</a:t>
            </a:r>
            <a:r>
              <a:rPr lang="en-US" sz="3200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 &gt; 0) {</a:t>
            </a:r>
          </a:p>
          <a:p>
            <a:r>
              <a:rPr lang="en-US" sz="3200" dirty="0" smtClean="0">
                <a:latin typeface="Calibri" pitchFamily="34" charset="0"/>
                <a:cs typeface="Calibri" pitchFamily="34" charset="0"/>
              </a:rPr>
              <a:t>  sum += </a:t>
            </a:r>
            <a:r>
              <a:rPr lang="en-US" sz="3200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;</a:t>
            </a:r>
          </a:p>
          <a:p>
            <a:r>
              <a:rPr lang="en-US" sz="32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--;</a:t>
            </a:r>
            <a:endParaRPr lang="en-US" sz="3200" dirty="0">
              <a:latin typeface="Calibri" pitchFamily="34" charset="0"/>
              <a:cs typeface="Calibri" pitchFamily="34" charset="0"/>
            </a:endParaRPr>
          </a:p>
          <a:p>
            <a:r>
              <a:rPr lang="en-US" sz="3200" dirty="0" smtClean="0">
                <a:latin typeface="Calibri" pitchFamily="34" charset="0"/>
                <a:cs typeface="Calibri" pitchFamily="34" charset="0"/>
              </a:rPr>
              <a:t>}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9600" y="3276600"/>
            <a:ext cx="3352800" cy="1279526"/>
            <a:chOff x="609600" y="4267200"/>
            <a:chExt cx="3352800" cy="1279526"/>
          </a:xfrm>
        </p:grpSpPr>
        <p:sp>
          <p:nvSpPr>
            <p:cNvPr id="11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609600" y="4337746"/>
              <a:ext cx="3352800" cy="1208980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endParaRPr lang="en-US" sz="3200" dirty="0" smtClean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71600" y="4689157"/>
              <a:ext cx="1447800" cy="492443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>
                <a:buClr>
                  <a:schemeClr val="accent1"/>
                </a:buClr>
              </a:pPr>
              <a:r>
                <a:rPr lang="en-US" sz="3200" dirty="0" smtClean="0">
                  <a:latin typeface="Calibri"/>
                  <a:cs typeface="Calibri"/>
                </a:rPr>
                <a:t>sum =</a:t>
              </a:r>
              <a:endParaRPr lang="en-US" sz="3200" dirty="0">
                <a:latin typeface="Calibri"/>
                <a:cs typeface="Calibri"/>
              </a:endParaRPr>
            </a:p>
          </p:txBody>
        </p:sp>
        <p:graphicFrame>
          <p:nvGraphicFramePr>
            <p:cNvPr id="12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3522260"/>
                </p:ext>
              </p:extLst>
            </p:nvPr>
          </p:nvGraphicFramePr>
          <p:xfrm>
            <a:off x="2438400" y="4267200"/>
            <a:ext cx="711200" cy="1279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75" name="Equation" r:id="rId9" imgW="254000" imgH="457200" progId="Equation.3">
                    <p:embed/>
                  </p:oleObj>
                </mc:Choice>
                <mc:Fallback>
                  <p:oleObj name="Equation" r:id="rId9" imgW="254000" imgH="45720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438400" y="4267200"/>
                          <a:ext cx="711200" cy="12795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Rounded Rectangle 15"/>
          <p:cNvSpPr/>
          <p:nvPr/>
        </p:nvSpPr>
        <p:spPr>
          <a:xfrm>
            <a:off x="1066800" y="4876800"/>
            <a:ext cx="7010400" cy="100647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Does the post-condition always hold after executing program?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500376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602"/>
    </mc:Choice>
    <mc:Fallback xmlns="">
      <p:transition xmlns:p14="http://schemas.microsoft.com/office/powerpoint/2010/main" spd="slow" advTm="426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Gadget Verification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747839D-A323-47F3-909F-548499399628}" type="slidenum">
              <a:rPr lang="en-US" smtClean="0"/>
              <a:t>54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52400" y="1035904"/>
            <a:ext cx="3355848" cy="1661993"/>
            <a:chOff x="152400" y="1538407"/>
            <a:chExt cx="3355848" cy="1661993"/>
          </a:xfrm>
        </p:grpSpPr>
        <p:sp>
          <p:nvSpPr>
            <p:cNvPr id="6" name="TextBox 5"/>
            <p:cNvSpPr txBox="1"/>
            <p:nvPr>
              <p:custDataLst>
                <p:tags r:id="rId9"/>
              </p:custDataLst>
            </p:nvPr>
          </p:nvSpPr>
          <p:spPr>
            <a:xfrm>
              <a:off x="153924" y="1538407"/>
              <a:ext cx="3352800" cy="1077218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3200" dirty="0" err="1" smtClean="0">
                  <a:latin typeface="Consolas" panose="020B0609020204030204" pitchFamily="49" charset="0"/>
                  <a:cs typeface="Consolas" panose="020B0609020204030204" pitchFamily="49" charset="0"/>
                </a:rPr>
                <a:t>sbb</a:t>
              </a:r>
              <a:r>
                <a:rPr lang="en-US" sz="32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 %</a:t>
              </a:r>
              <a:r>
                <a:rPr lang="en-US" sz="3200" dirty="0" err="1" smtClean="0">
                  <a:latin typeface="Consolas" panose="020B0609020204030204" pitchFamily="49" charset="0"/>
                  <a:cs typeface="Consolas" panose="020B0609020204030204" pitchFamily="49" charset="0"/>
                </a:rPr>
                <a:t>eax</a:t>
              </a:r>
              <a:r>
                <a:rPr lang="en-US" sz="32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, %</a:t>
              </a:r>
              <a:r>
                <a:rPr lang="en-US" sz="3200" dirty="0" err="1" smtClean="0">
                  <a:latin typeface="Consolas" panose="020B0609020204030204" pitchFamily="49" charset="0"/>
                  <a:cs typeface="Consolas" panose="020B0609020204030204" pitchFamily="49" charset="0"/>
                </a:rPr>
                <a:t>eax</a:t>
              </a:r>
              <a:endParaRPr lang="en-US" sz="3200" dirty="0" smtClean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32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sz="3200" dirty="0" err="1" smtClean="0">
                  <a:latin typeface="Consolas" panose="020B0609020204030204" pitchFamily="49" charset="0"/>
                  <a:cs typeface="Consolas" panose="020B0609020204030204" pitchFamily="49" charset="0"/>
                </a:rPr>
                <a:t>eg</a:t>
              </a:r>
              <a:r>
                <a:rPr lang="en-US" sz="32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 %</a:t>
              </a:r>
              <a:r>
                <a:rPr lang="en-US" sz="3200" dirty="0" err="1" smtClean="0">
                  <a:latin typeface="Consolas" panose="020B0609020204030204" pitchFamily="49" charset="0"/>
                  <a:cs typeface="Consolas" panose="020B0609020204030204" pitchFamily="49" charset="0"/>
                </a:rPr>
                <a:t>eax</a:t>
              </a:r>
              <a:r>
                <a:rPr lang="en-US" sz="32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; ret</a:t>
              </a:r>
            </a:p>
          </p:txBody>
        </p:sp>
        <p:sp>
          <p:nvSpPr>
            <p:cNvPr id="16" name="TextBox 15"/>
            <p:cNvSpPr txBox="1"/>
            <p:nvPr>
              <p:custDataLst>
                <p:tags r:id="rId10"/>
              </p:custDataLst>
            </p:nvPr>
          </p:nvSpPr>
          <p:spPr>
            <a:xfrm>
              <a:off x="152400" y="2615625"/>
              <a:ext cx="3355848" cy="584775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200" dirty="0" smtClean="0">
                  <a:latin typeface="Calibri" pitchFamily="34" charset="0"/>
                  <a:cs typeface="Calibri" pitchFamily="34" charset="0"/>
                </a:rPr>
                <a:t>EAX &lt;- CF</a:t>
              </a:r>
            </a:p>
          </p:txBody>
        </p:sp>
      </p:grpSp>
      <p:sp>
        <p:nvSpPr>
          <p:cNvPr id="5" name="Right Arrow 4"/>
          <p:cNvSpPr/>
          <p:nvPr>
            <p:custDataLst>
              <p:tags r:id="rId3"/>
            </p:custDataLst>
          </p:nvPr>
        </p:nvSpPr>
        <p:spPr>
          <a:xfrm>
            <a:off x="3657600" y="838200"/>
            <a:ext cx="3733800" cy="205740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Weakest Precondition</a:t>
            </a:r>
          </a:p>
        </p:txBody>
      </p:sp>
      <p:sp>
        <p:nvSpPr>
          <p:cNvPr id="8" name="Rectangle 7"/>
          <p:cNvSpPr/>
          <p:nvPr>
            <p:custDataLst>
              <p:tags r:id="rId4"/>
            </p:custDataLst>
          </p:nvPr>
        </p:nvSpPr>
        <p:spPr>
          <a:xfrm>
            <a:off x="7620000" y="1181100"/>
            <a:ext cx="1009650" cy="13716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>
                <a:latin typeface="Calibri" pitchFamily="34" charset="0"/>
                <a:cs typeface="Calibri" pitchFamily="34" charset="0"/>
              </a:rPr>
              <a:t>Θ</a:t>
            </a:r>
            <a:endParaRPr lang="en-US" sz="48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" name="Rectangle 17"/>
          <p:cNvSpPr/>
          <p:nvPr>
            <p:custDataLst>
              <p:tags r:id="rId5"/>
            </p:custDataLst>
          </p:nvPr>
        </p:nvSpPr>
        <p:spPr>
          <a:xfrm>
            <a:off x="381000" y="4191000"/>
            <a:ext cx="1009650" cy="13716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 smtClean="0">
                <a:latin typeface="Calibri" pitchFamily="34" charset="0"/>
                <a:cs typeface="Calibri" pitchFamily="34" charset="0"/>
              </a:rPr>
              <a:t>Θ</a:t>
            </a:r>
            <a:endParaRPr lang="en-US" sz="4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" name="Right Arrow 20"/>
          <p:cNvSpPr/>
          <p:nvPr>
            <p:custDataLst>
              <p:tags r:id="rId6"/>
            </p:custDataLst>
          </p:nvPr>
        </p:nvSpPr>
        <p:spPr>
          <a:xfrm>
            <a:off x="1828800" y="3848100"/>
            <a:ext cx="3733800" cy="205740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Validity Check</a:t>
            </a:r>
          </a:p>
        </p:txBody>
      </p:sp>
      <p:sp>
        <p:nvSpPr>
          <p:cNvPr id="19" name="Rectangle 18"/>
          <p:cNvSpPr/>
          <p:nvPr>
            <p:custDataLst>
              <p:tags r:id="rId7"/>
            </p:custDataLst>
          </p:nvPr>
        </p:nvSpPr>
        <p:spPr>
          <a:xfrm>
            <a:off x="5943600" y="3962400"/>
            <a:ext cx="3124200" cy="1866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Valid (Gadget)</a:t>
            </a:r>
          </a:p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Invalid (not Gadget)</a:t>
            </a:r>
          </a:p>
        </p:txBody>
      </p:sp>
      <p:cxnSp>
        <p:nvCxnSpPr>
          <p:cNvPr id="25" name="Straight Connector 24"/>
          <p:cNvCxnSpPr/>
          <p:nvPr>
            <p:custDataLst>
              <p:tags r:id="rId8"/>
            </p:custDataLst>
          </p:nvPr>
        </p:nvCxnSpPr>
        <p:spPr>
          <a:xfrm>
            <a:off x="0" y="3352800"/>
            <a:ext cx="9144000" cy="0"/>
          </a:xfrm>
          <a:prstGeom prst="line">
            <a:avLst/>
          </a:prstGeom>
          <a:ln w="762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23385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276"/>
    </mc:Choice>
    <mc:Fallback xmlns="">
      <p:transition xmlns:p14="http://schemas.microsoft.com/office/powerpoint/2010/main" spd="slow" advTm="462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8" grpId="0" animBg="1"/>
      <p:bldP spid="21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Q is better at finding gadgets than I am!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Semantic-based Gadget Discovery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76113883"/>
              </p:ext>
            </p:extLst>
          </p:nvPr>
        </p:nvGraphicFramePr>
        <p:xfrm>
          <a:off x="21771" y="2667000"/>
          <a:ext cx="9122229" cy="2667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550229"/>
                <a:gridCol w="4572000"/>
              </a:tblGrid>
              <a:tr h="86360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imul</a:t>
                      </a:r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$1, %</a:t>
                      </a:r>
                      <a:r>
                        <a:rPr lang="en-US" sz="240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eax</a:t>
                      </a:r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%</a:t>
                      </a:r>
                      <a:r>
                        <a:rPr lang="en-US" sz="240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ebx</a:t>
                      </a:r>
                      <a:endParaRPr lang="en-US" sz="2400" dirty="0" smtClean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ret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Move %</a:t>
                      </a:r>
                      <a:r>
                        <a:rPr lang="en-US" sz="2800" dirty="0" err="1" smtClean="0"/>
                        <a:t>eax</a:t>
                      </a:r>
                      <a:r>
                        <a:rPr lang="en-US" sz="2800" dirty="0" smtClean="0"/>
                        <a:t> to %</a:t>
                      </a:r>
                      <a:r>
                        <a:rPr lang="en-US" sz="2800" dirty="0" err="1" smtClean="0"/>
                        <a:t>ebx</a:t>
                      </a:r>
                      <a:endParaRPr lang="en-US" sz="2800" dirty="0"/>
                    </a:p>
                  </a:txBody>
                  <a:tcPr/>
                </a:tc>
              </a:tr>
              <a:tr h="86360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lea (%ebx,%ecx,1), %</a:t>
                      </a:r>
                      <a:r>
                        <a:rPr lang="en-US" sz="240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eax</a:t>
                      </a:r>
                      <a:endParaRPr lang="en-US" sz="2400" dirty="0" smtClean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ret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Store</a:t>
                      </a:r>
                      <a:r>
                        <a:rPr lang="en-US" sz="2800" baseline="0" dirty="0" smtClean="0"/>
                        <a:t> %</a:t>
                      </a:r>
                      <a:r>
                        <a:rPr lang="en-US" sz="2800" baseline="0" dirty="0" err="1" smtClean="0"/>
                        <a:t>ebx</a:t>
                      </a:r>
                      <a:r>
                        <a:rPr lang="en-US" sz="2800" baseline="0" dirty="0" smtClean="0"/>
                        <a:t>+%</a:t>
                      </a:r>
                      <a:r>
                        <a:rPr lang="en-US" sz="2800" baseline="0" dirty="0" err="1" smtClean="0"/>
                        <a:t>ecx</a:t>
                      </a:r>
                      <a:r>
                        <a:rPr lang="en-US" sz="2800" baseline="0" dirty="0" smtClean="0"/>
                        <a:t> in %</a:t>
                      </a:r>
                      <a:r>
                        <a:rPr lang="en-US" sz="2800" baseline="0" dirty="0" err="1" smtClean="0"/>
                        <a:t>eax</a:t>
                      </a:r>
                      <a:endParaRPr lang="en-US" sz="2800" dirty="0"/>
                    </a:p>
                  </a:txBody>
                  <a:tcPr/>
                </a:tc>
              </a:tr>
              <a:tr h="93980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sbb</a:t>
                      </a:r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%</a:t>
                      </a:r>
                      <a:r>
                        <a:rPr lang="en-US" sz="240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eax</a:t>
                      </a:r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%</a:t>
                      </a:r>
                      <a:r>
                        <a:rPr lang="en-US" sz="240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eax</a:t>
                      </a:r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</a:t>
                      </a:r>
                      <a:r>
                        <a:rPr lang="en-US" sz="240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neg</a:t>
                      </a:r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%</a:t>
                      </a:r>
                      <a:r>
                        <a:rPr lang="en-US" sz="240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eax</a:t>
                      </a:r>
                      <a:endParaRPr lang="en-US" sz="2400" dirty="0" smtClean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ret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Move carry flag to %</a:t>
                      </a:r>
                      <a:r>
                        <a:rPr lang="en-US" sz="2800" dirty="0" err="1" smtClean="0"/>
                        <a:t>eax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55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6187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603"/>
    </mc:Choice>
    <mc:Fallback xmlns="">
      <p:transition xmlns:p14="http://schemas.microsoft.com/office/powerpoint/2010/main" spd="slow" advTm="37603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68580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fld id="{D72DCFC7-CCD2-4D18-A5A6-8AD55EBAF26B}" type="slidenum">
              <a:rPr lang="en-US" smtClean="0"/>
              <a:t>56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-228600" y="5943600"/>
            <a:ext cx="9601200" cy="1066800"/>
          </a:xfrm>
          <a:prstGeom prst="rect">
            <a:avLst/>
          </a:prstGeom>
          <a:solidFill>
            <a:schemeClr val="bg1"/>
          </a:soli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 rot="21234222">
            <a:off x="-1068453" y="-734822"/>
            <a:ext cx="11362376" cy="8251447"/>
            <a:chOff x="-1301680" y="-864895"/>
            <a:chExt cx="11362376" cy="8251447"/>
          </a:xfrm>
        </p:grpSpPr>
        <p:sp>
          <p:nvSpPr>
            <p:cNvPr id="18" name="Rectangle 17"/>
            <p:cNvSpPr/>
            <p:nvPr/>
          </p:nvSpPr>
          <p:spPr>
            <a:xfrm>
              <a:off x="-1293104" y="-864895"/>
              <a:ext cx="11353800" cy="3624699"/>
            </a:xfrm>
            <a:prstGeom prst="rect">
              <a:avLst/>
            </a:prstGeom>
            <a:solidFill>
              <a:schemeClr val="accent5">
                <a:alpha val="70000"/>
              </a:schemeClr>
            </a:solidFill>
            <a:ln w="28575" cap="rnd" cmpd="sng">
              <a:noFill/>
              <a:prstDash val="solid"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endParaRPr lang="en-US" sz="2400" dirty="0" smtClean="0">
                <a:solidFill>
                  <a:schemeClr val="bg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-1301680" y="2755502"/>
              <a:ext cx="11353800" cy="4631050"/>
            </a:xfrm>
            <a:prstGeom prst="rect">
              <a:avLst/>
            </a:prstGeom>
            <a:solidFill>
              <a:schemeClr val="accent3">
                <a:alpha val="70000"/>
              </a:schemeClr>
            </a:solidFill>
            <a:ln w="28575" cap="rnd" cmpd="sng">
              <a:noFill/>
              <a:prstDash val="solid"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endParaRPr lang="en-US" sz="2400" dirty="0" smtClean="0">
                <a:solidFill>
                  <a:schemeClr val="bg1"/>
                </a:solidFill>
              </a:endParaRP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-228600" y="2781300"/>
              <a:ext cx="9525000" cy="0"/>
            </a:xfrm>
            <a:prstGeom prst="line">
              <a:avLst/>
            </a:prstGeom>
            <a:ln w="69850" cap="rnd" cmpd="sng">
              <a:solidFill>
                <a:schemeClr val="tx1"/>
              </a:solidFill>
              <a:prstDash val="dash"/>
              <a:miter lim="800000"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noFill/>
        </p:spPr>
        <p:txBody>
          <a:bodyPr>
            <a:normAutofit fontScale="90000"/>
          </a:bodyPr>
          <a:lstStyle/>
          <a:p>
            <a:r>
              <a:rPr lang="en-US" dirty="0" smtClean="0"/>
              <a:t>Q: ROP Overview</a:t>
            </a:r>
            <a:endParaRPr lang="en-US" dirty="0"/>
          </a:p>
        </p:txBody>
      </p:sp>
      <p:sp>
        <p:nvSpPr>
          <p:cNvPr id="7" name="Rectangle 6"/>
          <p:cNvSpPr/>
          <p:nvPr>
            <p:custDataLst>
              <p:tags r:id="rId3"/>
            </p:custDataLst>
          </p:nvPr>
        </p:nvSpPr>
        <p:spPr>
          <a:xfrm>
            <a:off x="228600" y="1295400"/>
            <a:ext cx="2667000" cy="137160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Source P</a:t>
            </a:r>
          </a:p>
        </p:txBody>
      </p:sp>
      <p:sp>
        <p:nvSpPr>
          <p:cNvPr id="8" name="Rectangle 7"/>
          <p:cNvSpPr/>
          <p:nvPr>
            <p:custDataLst>
              <p:tags r:id="rId4"/>
            </p:custDataLst>
          </p:nvPr>
        </p:nvSpPr>
        <p:spPr>
          <a:xfrm>
            <a:off x="228600" y="4343400"/>
            <a:ext cx="2667000" cy="137160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Computation</a:t>
            </a:r>
          </a:p>
        </p:txBody>
      </p:sp>
      <p:sp>
        <p:nvSpPr>
          <p:cNvPr id="15" name="Rectangle 14"/>
          <p:cNvSpPr/>
          <p:nvPr>
            <p:custDataLst>
              <p:tags r:id="rId5"/>
            </p:custDataLst>
          </p:nvPr>
        </p:nvSpPr>
        <p:spPr>
          <a:xfrm>
            <a:off x="3581400" y="4343400"/>
            <a:ext cx="2819400" cy="137160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Arrangement</a:t>
            </a:r>
          </a:p>
        </p:txBody>
      </p:sp>
      <p:sp>
        <p:nvSpPr>
          <p:cNvPr id="16" name="Rectangle 15"/>
          <p:cNvSpPr/>
          <p:nvPr>
            <p:custDataLst>
              <p:tags r:id="rId6"/>
            </p:custDataLst>
          </p:nvPr>
        </p:nvSpPr>
        <p:spPr>
          <a:xfrm>
            <a:off x="3581400" y="1295400"/>
            <a:ext cx="2819400" cy="137160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Discovery</a:t>
            </a:r>
          </a:p>
        </p:txBody>
      </p:sp>
      <p:sp>
        <p:nvSpPr>
          <p:cNvPr id="17" name="Rectangle 16"/>
          <p:cNvSpPr/>
          <p:nvPr>
            <p:custDataLst>
              <p:tags r:id="rId7"/>
            </p:custDataLst>
          </p:nvPr>
        </p:nvSpPr>
        <p:spPr>
          <a:xfrm>
            <a:off x="6221186" y="2819400"/>
            <a:ext cx="2819400" cy="137160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Assignment</a:t>
            </a:r>
          </a:p>
        </p:txBody>
      </p:sp>
      <p:cxnSp>
        <p:nvCxnSpPr>
          <p:cNvPr id="19" name="Straight Arrow Connector 18"/>
          <p:cNvCxnSpPr>
            <a:stCxn id="7" idx="3"/>
            <a:endCxn id="16" idx="1"/>
          </p:cNvCxnSpPr>
          <p:nvPr>
            <p:custDataLst>
              <p:tags r:id="rId8"/>
            </p:custDataLst>
          </p:nvPr>
        </p:nvCxnSpPr>
        <p:spPr>
          <a:xfrm>
            <a:off x="2895600" y="1981200"/>
            <a:ext cx="685800" cy="0"/>
          </a:xfrm>
          <a:prstGeom prst="straightConnector1">
            <a:avLst/>
          </a:prstGeom>
          <a:ln>
            <a:tailEnd type="arrow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15" idx="1"/>
          </p:cNvCxnSpPr>
          <p:nvPr>
            <p:custDataLst>
              <p:tags r:id="rId9"/>
            </p:custDataLst>
          </p:nvPr>
        </p:nvCxnSpPr>
        <p:spPr>
          <a:xfrm flipV="1">
            <a:off x="2895600" y="5029200"/>
            <a:ext cx="685800" cy="5443"/>
          </a:xfrm>
          <a:prstGeom prst="straightConnector1">
            <a:avLst/>
          </a:prstGeom>
          <a:ln>
            <a:tailEnd type="arrow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6" idx="3"/>
            <a:endCxn id="17" idx="0"/>
          </p:cNvCxnSpPr>
          <p:nvPr>
            <p:custDataLst>
              <p:tags r:id="rId10"/>
            </p:custDataLst>
          </p:nvPr>
        </p:nvCxnSpPr>
        <p:spPr>
          <a:xfrm>
            <a:off x="6400800" y="1981200"/>
            <a:ext cx="1230086" cy="838200"/>
          </a:xfrm>
          <a:prstGeom prst="curvedConnector2">
            <a:avLst/>
          </a:prstGeom>
          <a:ln>
            <a:tailEnd type="arrow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2"/>
          <p:cNvCxnSpPr>
            <a:stCxn id="15" idx="3"/>
            <a:endCxn id="17" idx="2"/>
          </p:cNvCxnSpPr>
          <p:nvPr>
            <p:custDataLst>
              <p:tags r:id="rId11"/>
            </p:custDataLst>
          </p:nvPr>
        </p:nvCxnSpPr>
        <p:spPr>
          <a:xfrm flipV="1">
            <a:off x="6400800" y="4191000"/>
            <a:ext cx="1230086" cy="838200"/>
          </a:xfrm>
          <a:prstGeom prst="curvedConnector2">
            <a:avLst/>
          </a:prstGeom>
          <a:ln>
            <a:tailEnd type="arrow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705600" y="996315"/>
            <a:ext cx="2971800" cy="9848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3200" dirty="0" smtClean="0">
                <a:solidFill>
                  <a:schemeClr val="bg1"/>
                </a:solidFill>
              </a:rPr>
              <a:t>Abstraction Recovery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29400" y="5187315"/>
            <a:ext cx="2971800" cy="9848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3200" dirty="0" smtClean="0">
                <a:solidFill>
                  <a:schemeClr val="bg1"/>
                </a:solidFill>
              </a:rPr>
              <a:t>High-level</a:t>
            </a:r>
          </a:p>
          <a:p>
            <a:pPr>
              <a:buClr>
                <a:schemeClr val="accent1"/>
              </a:buClr>
            </a:pPr>
            <a:r>
              <a:rPr lang="en-US" sz="3200" dirty="0" smtClean="0">
                <a:solidFill>
                  <a:schemeClr val="bg1"/>
                </a:solidFill>
              </a:rPr>
              <a:t>Reasoning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0459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96"/>
    </mc:Choice>
    <mc:Fallback xmlns="">
      <p:transition xmlns:p14="http://schemas.microsoft.com/office/powerpoint/2010/main" spd="slow" advTm="6696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447800"/>
            <a:ext cx="8229600" cy="46783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000" dirty="0" smtClean="0"/>
          </a:p>
          <a:p>
            <a:pPr marL="0" indent="0">
              <a:buNone/>
            </a:pPr>
            <a:r>
              <a:rPr lang="en-US" sz="4000" dirty="0" smtClean="0"/>
              <a:t>How much </a:t>
            </a:r>
            <a:r>
              <a:rPr lang="en-US" sz="4000" dirty="0" err="1" smtClean="0"/>
              <a:t>unrandomized</a:t>
            </a:r>
            <a:r>
              <a:rPr lang="en-US" sz="4000" dirty="0"/>
              <a:t> </a:t>
            </a:r>
            <a:r>
              <a:rPr lang="en-US" sz="4000" dirty="0" smtClean="0"/>
              <a:t>code is sufficient to create ROP payloads?</a:t>
            </a:r>
          </a:p>
          <a:p>
            <a:pPr lvl="1"/>
            <a:r>
              <a:rPr lang="en-US" dirty="0" smtClean="0"/>
              <a:t>Detail</a:t>
            </a:r>
            <a:r>
              <a:rPr lang="en-US" dirty="0"/>
              <a:t>: payloads call </a:t>
            </a:r>
            <a:r>
              <a:rPr lang="en-US" dirty="0" smtClean="0"/>
              <a:t>any </a:t>
            </a:r>
            <a:r>
              <a:rPr lang="en-US" dirty="0"/>
              <a:t>functions in </a:t>
            </a:r>
            <a:r>
              <a:rPr lang="en-US" dirty="0" err="1"/>
              <a:t>libc</a:t>
            </a:r>
            <a:endParaRPr lang="en-US" dirty="0">
              <a:solidFill>
                <a:srgbClr val="FF0000"/>
              </a:solidFill>
            </a:endParaRPr>
          </a:p>
          <a:p>
            <a:pPr lvl="3"/>
            <a:r>
              <a:rPr lang="en-US" dirty="0">
                <a:latin typeface="Consolas"/>
                <a:cs typeface="Consolas"/>
              </a:rPr>
              <a:t>system, </a:t>
            </a:r>
            <a:r>
              <a:rPr lang="en-US" dirty="0" err="1">
                <a:latin typeface="Consolas"/>
                <a:cs typeface="Consolas"/>
              </a:rPr>
              <a:t>execv</a:t>
            </a:r>
            <a:r>
              <a:rPr lang="en-US" dirty="0">
                <a:latin typeface="Consolas"/>
                <a:cs typeface="Consolas"/>
              </a:rPr>
              <a:t>, connect, </a:t>
            </a:r>
            <a:r>
              <a:rPr lang="en-US" dirty="0" err="1">
                <a:latin typeface="Consolas"/>
                <a:cs typeface="Consolas"/>
              </a:rPr>
              <a:t>mprotect</a:t>
            </a:r>
            <a:endParaRPr lang="en-US" dirty="0">
              <a:latin typeface="Consolas"/>
              <a:cs typeface="Consolas"/>
            </a:endParaRPr>
          </a:p>
          <a:p>
            <a:pPr marL="1257300" lvl="1" indent="-914400">
              <a:buFont typeface="+mj-lt"/>
              <a:buAutoNum type="arabicPeriod"/>
            </a:pPr>
            <a:endParaRPr lang="en-US" sz="4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Research Questions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mtClean="0"/>
              <a:t>12/9/2014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mtClean="0"/>
              <a:t>PPREW: Abstraction Recovery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prstGeom prst="rect">
            <a:avLst/>
          </a:prstGeom>
        </p:spPr>
        <p:txBody>
          <a:bodyPr/>
          <a:lstStyle/>
          <a:p>
            <a:fld id="{D72DCFC7-CCD2-4D18-A5A6-8AD55EBAF26B}" type="slidenum">
              <a:rPr lang="en-US" smtClean="0"/>
              <a:t>57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7397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7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ed\Dropbox\Temp\exp1-slides-updated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762000"/>
            <a:ext cx="86360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ROP Success Probability</a:t>
            </a:r>
            <a:endParaRPr lang="en-US" dirty="0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237292" y="762000"/>
            <a:ext cx="677108" cy="51816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Probability that attack works</a:t>
            </a:r>
          </a:p>
        </p:txBody>
      </p:sp>
      <p:sp>
        <p:nvSpPr>
          <p:cNvPr id="11" name="Rounded Rectangular Callout 10"/>
          <p:cNvSpPr/>
          <p:nvPr>
            <p:custDataLst>
              <p:tags r:id="rId4"/>
            </p:custDataLst>
          </p:nvPr>
        </p:nvSpPr>
        <p:spPr>
          <a:xfrm>
            <a:off x="2286000" y="3505200"/>
            <a:ext cx="6172200" cy="990600"/>
          </a:xfrm>
          <a:prstGeom prst="wedgeRoundRectCallout">
            <a:avLst>
              <a:gd name="adj1" fmla="val -43680"/>
              <a:gd name="adj2" fmla="val -129606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Call </a:t>
            </a:r>
            <a:r>
              <a:rPr lang="en-US" sz="3600" dirty="0" err="1" smtClean="0">
                <a:latin typeface="Calibri" pitchFamily="34" charset="0"/>
                <a:cs typeface="Calibri" pitchFamily="34" charset="0"/>
              </a:rPr>
              <a:t>libc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 functions in 80% of programs &gt;= </a:t>
            </a:r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true 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(20KB)</a:t>
            </a:r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1524000" y="5181600"/>
            <a:ext cx="7162800" cy="6096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Program Size (bytes)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58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105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474"/>
    </mc:Choice>
    <mc:Fallback xmlns="">
      <p:transition xmlns:p14="http://schemas.microsoft.com/office/powerpoint/2010/main" spd="slow" advTm="484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71500" y="2362200"/>
            <a:ext cx="8001000" cy="3763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 smtClean="0"/>
              <a:t>Can Q automatically add ROP payloads to existing exploits</a:t>
            </a:r>
            <a:br>
              <a:rPr lang="en-US" sz="4000" dirty="0" smtClean="0"/>
            </a:br>
            <a:r>
              <a:rPr lang="en-US" sz="4000" dirty="0" smtClean="0"/>
              <a:t> for real programs?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Research Questions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mtClean="0"/>
              <a:t>12/9/2014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mtClean="0"/>
              <a:t>PPREW: Abstraction Recovery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prstGeom prst="rect">
            <a:avLst/>
          </a:prstGeom>
        </p:spPr>
        <p:txBody>
          <a:bodyPr/>
          <a:lstStyle/>
          <a:p>
            <a:fld id="{D72DCFC7-CCD2-4D18-A5A6-8AD55EBAF26B}" type="slidenum">
              <a:rPr lang="en-US" smtClean="0"/>
              <a:t>59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1193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7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Real Exploits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 smtClean="0"/>
              <a:t>Q was able to </a:t>
            </a:r>
            <a:r>
              <a:rPr lang="en-US" u="sng" dirty="0" smtClean="0"/>
              <a:t>automatically</a:t>
            </a:r>
            <a:r>
              <a:rPr lang="en-US" dirty="0" smtClean="0"/>
              <a:t> add ROP to nine exploits downloaded from exploit-db.com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mtClean="0"/>
              <a:t>12/9/2014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mtClean="0"/>
              <a:t>PPREW: Abstraction Recovery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prstGeom prst="rect">
            <a:avLst/>
          </a:prstGeom>
        </p:spPr>
        <p:txBody>
          <a:bodyPr/>
          <a:lstStyle/>
          <a:p>
            <a:fld id="{D72DCFC7-CCD2-4D18-A5A6-8AD55EBAF26B}" type="slidenum">
              <a:rPr lang="en-US" smtClean="0"/>
              <a:t>60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7"/>
            </p:custDataLst>
            <p:extLst/>
          </p:nvPr>
        </p:nvGraphicFramePr>
        <p:xfrm>
          <a:off x="603104" y="1752600"/>
          <a:ext cx="7931296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152"/>
                <a:gridCol w="1628559"/>
                <a:gridCol w="1702585"/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Name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Total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dirty="0" smtClean="0"/>
                        <a:t>Time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OS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Free CD to MP3 Converter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130s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Windows 7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Fatplayer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133s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Windows 7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A-PDF Converter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378s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Windows 7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A-PDF Converter</a:t>
                      </a:r>
                      <a:r>
                        <a:rPr lang="en-US" sz="2400" baseline="0" dirty="0" smtClean="0"/>
                        <a:t> (SEH exploit)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357s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Windows 7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MP3</a:t>
                      </a:r>
                      <a:r>
                        <a:rPr lang="en-US" sz="2400" baseline="0" dirty="0" smtClean="0"/>
                        <a:t> CD Converter Pro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158s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Windows 7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rsync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65s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Linux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opendchub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225s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Linux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gv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237s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Linux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Proftpd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44s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Linux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27612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224"/>
    </mc:Choice>
    <mc:Fallback xmlns="">
      <p:transition spd="slow" advTm="26224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Demo!</a:t>
            </a:r>
            <a:endParaRPr lang="en-US" dirty="0"/>
          </a:p>
        </p:txBody>
      </p:sp>
      <p:pic>
        <p:nvPicPr>
          <p:cNvPr id="7" name="demo.mpeg">
            <a:hlinkClick r:id="" action="ppaction://media"/>
          </p:cNvPr>
          <p:cNvPicPr>
            <a:picLocks noGrp="1" noChangeAspect="1"/>
          </p:cNvPicPr>
          <p:nvPr>
            <p:ph idx="1"/>
            <a:videoFile r:link="rId4"/>
            <p:custDataLst>
              <p:tags r:id="rId5"/>
            </p:custDataLst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57200" y="708025"/>
            <a:ext cx="8229600" cy="5394325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mtClean="0"/>
              <a:t>12/9/2014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mtClean="0"/>
              <a:t>PPREW: Abstraction Recovery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prstGeom prst="rect">
            <a:avLst/>
          </a:prstGeom>
        </p:spPr>
        <p:txBody>
          <a:bodyPr/>
          <a:lstStyle/>
          <a:p>
            <a:fld id="{D72DCFC7-CCD2-4D18-A5A6-8AD55EBAF26B}" type="slidenum">
              <a:rPr lang="en-US" smtClean="0"/>
              <a:t>61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9154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130"/>
    </mc:Choice>
    <mc:Fallback xmlns="">
      <p:transition spd="slow" advTm="3513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  <p:extLst mod="1">
    <p:ext uri="{E180D4A7-C9FB-4DFB-919C-405C955672EB}">
      <p14:showEvtLst xmlns:p14="http://schemas.microsoft.com/office/powerpoint/2010/main">
        <p14:playEvt time="3148" objId="7"/>
        <p14:triggerEvt type="onClick" time="3148" objId="7"/>
        <p14:stopEvt time="30638" objId="7"/>
      </p14:showEvtLst>
    </p:ext>
  </p:extLs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Recovering Abstractions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lvl="1"/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C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bstractions (Phoenix </a:t>
            </a:r>
            <a:r>
              <a:rPr lang="en-US" dirty="0" err="1" smtClean="0">
                <a:solidFill>
                  <a:schemeClr val="bg1">
                    <a:lumMod val="85000"/>
                  </a:schemeClr>
                </a:solidFill>
              </a:rPr>
              <a:t>Decompiler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lvl="1"/>
            <a:r>
              <a:rPr lang="en-US" u="sng" dirty="0" smtClean="0">
                <a:solidFill>
                  <a:schemeClr val="bg1">
                    <a:lumMod val="85000"/>
                  </a:schemeClr>
                </a:solidFill>
              </a:rPr>
              <a:t>Gadget abstractions (Q ROP Compiler)</a:t>
            </a:r>
          </a:p>
          <a:p>
            <a:endParaRPr lang="en-US" dirty="0" smtClean="0"/>
          </a:p>
          <a:p>
            <a:r>
              <a:rPr lang="en-US" u="sng" dirty="0" smtClean="0"/>
              <a:t>Future Work and Conclusions</a:t>
            </a:r>
            <a:endParaRPr lang="en-US" u="sn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75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813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Abstraction Recovery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u="sng" dirty="0" smtClean="0"/>
              <a:t>Systems</a:t>
            </a:r>
            <a:r>
              <a:rPr lang="en-US" dirty="0" smtClean="0"/>
              <a:t>: How </a:t>
            </a:r>
            <a:r>
              <a:rPr lang="en-US" dirty="0"/>
              <a:t>do we build systems that </a:t>
            </a:r>
            <a:endParaRPr lang="en-US" dirty="0" smtClean="0"/>
          </a:p>
          <a:p>
            <a:pPr lvl="1"/>
            <a:r>
              <a:rPr lang="en-US" dirty="0"/>
              <a:t>R</a:t>
            </a:r>
            <a:r>
              <a:rPr lang="en-US" dirty="0" smtClean="0"/>
              <a:t>ecover </a:t>
            </a:r>
            <a:r>
              <a:rPr lang="en-US" dirty="0"/>
              <a:t>abstractions?</a:t>
            </a:r>
          </a:p>
          <a:p>
            <a:pPr lvl="1"/>
            <a:r>
              <a:rPr lang="en-US" dirty="0" smtClean="0"/>
              <a:t>Use </a:t>
            </a:r>
            <a:r>
              <a:rPr lang="en-US" dirty="0"/>
              <a:t>abstractions</a:t>
            </a:r>
            <a:r>
              <a:rPr lang="en-US" dirty="0" smtClean="0"/>
              <a:t>?</a:t>
            </a:r>
            <a:endParaRPr lang="en-US" b="1" dirty="0" smtClean="0"/>
          </a:p>
          <a:p>
            <a:endParaRPr lang="en-US" b="1" dirty="0"/>
          </a:p>
          <a:p>
            <a:r>
              <a:rPr lang="en-US" u="sng" dirty="0" smtClean="0"/>
              <a:t>Theory</a:t>
            </a:r>
            <a:r>
              <a:rPr lang="en-US" dirty="0" smtClean="0"/>
              <a:t>: When is it possible to recover abstractions?</a:t>
            </a:r>
          </a:p>
          <a:p>
            <a:pPr lvl="1"/>
            <a:r>
              <a:rPr lang="en-US" dirty="0" smtClean="0"/>
              <a:t>Observable behaviors preserved by compilation</a:t>
            </a:r>
          </a:p>
          <a:p>
            <a:pPr marL="0" indent="0">
              <a:buNone/>
            </a:pPr>
            <a:endParaRPr lang="en-US" b="1" dirty="0" smtClean="0"/>
          </a:p>
          <a:p>
            <a:r>
              <a:rPr lang="en-US" u="sng" dirty="0" smtClean="0"/>
              <a:t>Scalability</a:t>
            </a:r>
            <a:r>
              <a:rPr lang="en-US" dirty="0" smtClean="0"/>
              <a:t>: How does recovering and utilizing abstractions improve scalability?</a:t>
            </a:r>
          </a:p>
          <a:p>
            <a:pPr lvl="1"/>
            <a:r>
              <a:rPr lang="en-US" dirty="0" smtClean="0"/>
              <a:t>ROP (150x)</a:t>
            </a:r>
          </a:p>
          <a:p>
            <a:pPr lvl="1"/>
            <a:r>
              <a:rPr lang="en-US" dirty="0" smtClean="0"/>
              <a:t>C verification (15x)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4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6617726" cy="4754563"/>
          </a:xfrm>
        </p:spPr>
        <p:txBody>
          <a:bodyPr>
            <a:normAutofit/>
          </a:bodyPr>
          <a:lstStyle/>
          <a:p>
            <a:r>
              <a:rPr lang="en-US" sz="2800" dirty="0"/>
              <a:t>Certified </a:t>
            </a:r>
            <a:r>
              <a:rPr lang="en-US" sz="2800" dirty="0" err="1"/>
              <a:t>decompilation</a:t>
            </a:r>
            <a:endParaRPr lang="en-US" sz="2800" dirty="0"/>
          </a:p>
          <a:p>
            <a:pPr lvl="1"/>
            <a:r>
              <a:rPr lang="en-US" sz="2000" dirty="0"/>
              <a:t>Prove that binary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 C translation is correct</a:t>
            </a:r>
          </a:p>
          <a:p>
            <a:endParaRPr lang="en-US" sz="2800" dirty="0" smtClean="0"/>
          </a:p>
          <a:p>
            <a:r>
              <a:rPr lang="en-US" sz="2800" dirty="0"/>
              <a:t>Optimal abstraction recovery</a:t>
            </a:r>
          </a:p>
          <a:p>
            <a:pPr lvl="1"/>
            <a:r>
              <a:rPr lang="en-US" sz="2000" dirty="0"/>
              <a:t>Provably optimal algorithms (i.e., minimum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goto</a:t>
            </a:r>
            <a:r>
              <a:rPr lang="en-US" sz="2000" dirty="0" err="1"/>
              <a:t>s</a:t>
            </a:r>
            <a:r>
              <a:rPr lang="en-US" sz="2000" dirty="0"/>
              <a:t>)</a:t>
            </a:r>
          </a:p>
          <a:p>
            <a:endParaRPr lang="en-US" sz="2800" dirty="0" smtClean="0"/>
          </a:p>
          <a:p>
            <a:r>
              <a:rPr lang="en-US" sz="2800" dirty="0" smtClean="0"/>
              <a:t>Additional abstractions &amp; architectures</a:t>
            </a:r>
          </a:p>
          <a:p>
            <a:pPr lvl="1"/>
            <a:r>
              <a:rPr lang="en-US" sz="2000" dirty="0" smtClean="0"/>
              <a:t>C++, ARM, </a:t>
            </a:r>
            <a:r>
              <a:rPr lang="en-US" sz="2000" dirty="0" err="1" smtClean="0"/>
              <a:t>Dalvik</a:t>
            </a:r>
            <a:endParaRPr lang="en-US" sz="2800" dirty="0"/>
          </a:p>
          <a:p>
            <a:endParaRPr lang="en-US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926" y="1371600"/>
            <a:ext cx="1916674" cy="2832100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0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Thanks to My Great Co-authors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65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843421"/>
            <a:ext cx="1828800" cy="1828800"/>
          </a:xfrm>
          <a:prstGeom prst="rect">
            <a:avLst/>
          </a:prstGeom>
        </p:spPr>
      </p:pic>
      <p:pic>
        <p:nvPicPr>
          <p:cNvPr id="6146" name="Picture 2" descr="http://bap.ece.cmu.edu/images/shrink_dbrumley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732" y="1843421"/>
            <a:ext cx="1828799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://www.cs.cmu.edu/~maverick/images/2013-cv-DSCF242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798" y="1843421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http://jonghyup.com/img/jonghyup_photo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127"/>
          <a:stretch/>
        </p:blipFill>
        <p:spPr bwMode="auto">
          <a:xfrm>
            <a:off x="4758264" y="1828800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81000" y="3862108"/>
            <a:ext cx="1905000" cy="9848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US" sz="3200" dirty="0" err="1"/>
              <a:t>Thanassis</a:t>
            </a:r>
            <a:r>
              <a:rPr lang="en-US" sz="3200" dirty="0"/>
              <a:t> Avgerinos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3650" y="3862108"/>
            <a:ext cx="1905000" cy="9848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US" sz="3200" dirty="0" smtClean="0"/>
              <a:t>David </a:t>
            </a:r>
            <a:r>
              <a:rPr lang="en-US" sz="3200" dirty="0" err="1" smtClean="0"/>
              <a:t>Brumley</a:t>
            </a:r>
            <a:endParaRPr lang="en-US" sz="3200" dirty="0"/>
          </a:p>
        </p:txBody>
      </p:sp>
      <p:sp>
        <p:nvSpPr>
          <p:cNvPr id="14" name="TextBox 13"/>
          <p:cNvSpPr txBox="1"/>
          <p:nvPr/>
        </p:nvSpPr>
        <p:spPr>
          <a:xfrm>
            <a:off x="6838949" y="3862108"/>
            <a:ext cx="1905000" cy="9848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US" sz="3200" dirty="0" smtClean="0"/>
              <a:t>Maverick Woo</a:t>
            </a:r>
            <a:endParaRPr lang="en-US" sz="3200" dirty="0"/>
          </a:p>
        </p:txBody>
      </p:sp>
      <p:sp>
        <p:nvSpPr>
          <p:cNvPr id="15" name="TextBox 14"/>
          <p:cNvSpPr txBox="1"/>
          <p:nvPr/>
        </p:nvSpPr>
        <p:spPr>
          <a:xfrm>
            <a:off x="4686300" y="3862108"/>
            <a:ext cx="1905000" cy="9848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US" sz="3200" dirty="0" err="1" smtClean="0"/>
              <a:t>JongHyup</a:t>
            </a:r>
            <a:r>
              <a:rPr lang="en-US" sz="3200" dirty="0" smtClean="0"/>
              <a:t> Lee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6657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Abstraction Recovery</a:t>
            </a:r>
          </a:p>
          <a:p>
            <a:pPr lvl="1"/>
            <a:r>
              <a:rPr lang="en-US" sz="2000" dirty="0"/>
              <a:t>R</a:t>
            </a:r>
            <a:r>
              <a:rPr lang="en-US" sz="2000" dirty="0" smtClean="0"/>
              <a:t>ecovering </a:t>
            </a:r>
            <a:r>
              <a:rPr lang="en-US" sz="2000" dirty="0"/>
              <a:t>abstractions </a:t>
            </a:r>
            <a:r>
              <a:rPr lang="en-US" sz="2000" dirty="0" smtClean="0"/>
              <a:t>helps static binary analysis</a:t>
            </a:r>
            <a:endParaRPr lang="en-US" dirty="0" smtClean="0"/>
          </a:p>
          <a:p>
            <a:endParaRPr lang="en-US" sz="2800" dirty="0" smtClean="0"/>
          </a:p>
          <a:p>
            <a:r>
              <a:rPr lang="en-US" sz="2800" dirty="0" smtClean="0"/>
              <a:t>Phoenix </a:t>
            </a:r>
            <a:r>
              <a:rPr lang="en-US" sz="2800" dirty="0" err="1" smtClean="0"/>
              <a:t>decompiler</a:t>
            </a:r>
            <a:endParaRPr lang="en-US" sz="2800" dirty="0" smtClean="0"/>
          </a:p>
          <a:p>
            <a:pPr lvl="1"/>
            <a:r>
              <a:rPr lang="en-US" sz="2000" dirty="0" smtClean="0"/>
              <a:t>Goal: Correct, effective </a:t>
            </a:r>
            <a:r>
              <a:rPr lang="en-US" sz="2000" dirty="0" err="1" smtClean="0"/>
              <a:t>decompilation</a:t>
            </a:r>
            <a:endParaRPr lang="en-US" sz="2000" dirty="0" smtClean="0"/>
          </a:p>
          <a:p>
            <a:pPr lvl="1"/>
            <a:r>
              <a:rPr lang="en-US" sz="2000" dirty="0" smtClean="0"/>
              <a:t>New control-flow structuring algorithm</a:t>
            </a:r>
          </a:p>
          <a:p>
            <a:pPr lvl="1"/>
            <a:endParaRPr lang="en-US" dirty="0"/>
          </a:p>
          <a:p>
            <a:r>
              <a:rPr lang="en-US" sz="2800" dirty="0" smtClean="0"/>
              <a:t>Q ROP Compiler</a:t>
            </a:r>
          </a:p>
          <a:p>
            <a:pPr lvl="1"/>
            <a:r>
              <a:rPr lang="en-US" sz="2000" dirty="0" smtClean="0"/>
              <a:t>Takeaway: Unrandomized code is dangerous</a:t>
            </a:r>
          </a:p>
          <a:p>
            <a:pPr lvl="1"/>
            <a:r>
              <a:rPr lang="en-US" sz="2000" dirty="0" smtClean="0"/>
              <a:t>20KB makes DEP+ASLR ineffective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47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Edward J. Schwartz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eschwartz@cert.org</a:t>
            </a:r>
          </a:p>
          <a:p>
            <a:pPr marL="0" indent="0">
              <a:buNone/>
            </a:pPr>
            <a:r>
              <a:rPr lang="en-US" dirty="0" smtClean="0"/>
              <a:t>http://www.ece.cmu.edu/~ejschwar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Thanks </a:t>
            </a:r>
            <a:r>
              <a:rPr lang="en-US" dirty="0" smtClean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prstGeom prst="rect">
            <a:avLst/>
          </a:prstGeom>
        </p:spPr>
        <p:txBody>
          <a:bodyPr/>
          <a:lstStyle/>
          <a:p>
            <a:fld id="{D72DCFC7-CCD2-4D18-A5A6-8AD55EBAF26B}" type="slidenum">
              <a:rPr lang="en-US" smtClean="0"/>
              <a:t>67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5988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09"/>
    </mc:Choice>
    <mc:Fallback xmlns="">
      <p:transition xmlns:p14="http://schemas.microsoft.com/office/powerpoint/2010/main" spd="slow" advTm="3709"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12/9/2014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PPREW: Abstraction Recovery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2D39CAA-FDAE-426B-B1D5-1BDE8EF82146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98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aEgROsvYJr9WlM1wRei0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o2HWuJV9V0smEon833pS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ZyBZkxJBNCN0cZvZL09X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xl98tW482U5y9yxXQxUeK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P2pIhzqOomffMJobGx7WB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Zh0mnJPcxXhtguRpmTGS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Zh0mnJPcxXhtguRpmTGS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TRa7ggC9TgYEEpfxHOdmv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iF9AlbcRmpT8DUszyJvhO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BWe54aJHs4EAfMB75wL1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zPoT13JbwJyJILYBGNzM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PuaqH871DqlPjSYRNl0I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RmUTP9kjiP9IBlueIyK9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WecSixJZPOwdFJ1M6HuO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AjkX92CCWHGpNZtnbgn6H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cXSkes18nG2RSsKTrzoqb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3|36|0.9|0.7|0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g5HUCQoNE65kVM6hGj93VT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7rZ9FDgYQYSMyoG7nntlE7"/>
  <p:tag name="TIMING" val="|11.2|13.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Pgoy6HVtx98LAwd7nH0Is"/>
  <p:tag name="TIMING" val="|19.8|15.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3|36|0.9|0.7|0.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3|16.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3|16.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2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5.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dSFznfBYpzoiD8v3pEk1xN"/>
  <p:tag name="TIMING" val="|7.5|7.9|13.9|12.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3|7.8|5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VfPpm1ZrOnFh5NNqdHAN1k"/>
  <p:tag name="TIMING" val="|5.9|6.8|1.9|0.9|5.6|2.3|0.7|1.3|4.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Aiyy9RZkC9geaqkjfc7p7B"/>
  <p:tag name="TIMING" val="|13.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Aiyy9RZkC9geaqkjfc7p7B"/>
  <p:tag name="TIMING" val="|13.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vgmXJrcvKv1RAy7EYgaSCt"/>
  <p:tag name="TIMING" val="|22.7|2.4|5.7|9.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Aiyy9RZkC9geaqkjfc7p7B"/>
  <p:tag name="TIMING" val="|13.8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Aiyy9RZkC9geaqkjfc7p7B"/>
  <p:tag name="TIMING" val="|13.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|2.9|7.2|1.5|1.6|7.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1.2|4.4|4.6|1.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dLNxruQ5UN6f9gAB6PhaIm"/>
  <p:tag name="TIMING" val="|32.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dLNxruQ5UN6f9gAB6PhaIm"/>
  <p:tag name="TIMING" val="|32.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7|17.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7|17.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7|17.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J2KotcdHCQPQ1n0Q2GPwae"/>
  <p:tag name="TIMING" val="|28.9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h2Ixx20ZulUbZyXXgqLlxa"/>
  <p:tag name="TIMING" val="|10.7|2.8|5.8|5.3|7.2|15.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l03Hkes6llqETRd9qDP8J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XVA8FNWDgn8DMBDae1P3X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bZyw32t9Sg2j8AZydS6ux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bcxaTX1WcjXd364Zclk9O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NgOIB50CFBKqNlYT9w7W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VwTtdFKanXRpgmalWWz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sDiI1jcN1Sg4USbIBNWU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tWWHwYbbZu4ZtTALcmym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AkltZCl9CKU5amMjMdCQS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1j1DGQQN9LmEILLKFmSvN6"/>
  <p:tag name="TIMING" val="|8.8|11.7|6.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nmaq47h1bOZqlBvzshux6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F0ONN3KuGSjQE7hKCcCGk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ZuIgCQzpjnkER58q66aN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Y9QFpFOIMv1C1j4wrUVgy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wZfcCc6wvx1wwzqXrTAB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Df3OlzFgRKU2DQqc3CBgZ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BuNv5tt1GXlHmZ8NRxRfF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CtWAxePYZkP9Ez1PtbMQ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HVtq3fK4pKOlSjzvWfbIY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SdlzM13FtPbFM066aAdVV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kiGIgXexEmYG3g4ttI0Jh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fpKtr2CKTJZqLVVg5FaySE"/>
  <p:tag name="TIMING" val="|15.9|19.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H5WP1H6uVcNl9tbGyos2S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wPZK4ZA5wSOHhQ8bxSnf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M9tgNkg9kL3FOf7nueoyq9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3FZW58gRI7aNbeVvr9Iwo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7Fd2iCsBt52YlJ4TJRNuc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EhZPOohckfeAEPmef1YoxG"/>
  <p:tag name="TIMING" val="|12.9|6.2|11.7|29.6|10.2|6.6|25.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OtLXUQ8js5MCuP2zSd9U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jBrd4DhzUQ8yE0i4mYQy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TgE4nbV9Sh4MOIJM8zR7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BJIS8tOrNGTazvjQtWojd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xI1jP65z3jCkEUlu3rkr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TE8esi6UIIl6b0ROEImeC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xfQouYTWYL19OmbADMs8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YxIkCeMC5fLj6Tn4N71MK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52buD34zLtZEgjG9lEal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ovghczZk7O8osG88BIyw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H8iydD3QWiPe2Pss3yMK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DDwtzQdqZx5UVGwmnCMR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fr8yULke9j3axJ1Wvoja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DruSgr8U5mymo4l1Vs6Lo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8amxq5exBRvIlqyNOvxRd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CNlRGc19EFBT0LanSzqW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qxQZVwx3PQjLwudlWRPN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RIUsW6cuNWqgLSPnZABC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b4RTUNH0p18KauYtz8KG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Ys6qoBvI3hraaGbO6Huq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jsD4nEMnBoUiEGelRuAq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vSQZ0d2rNaj6bOE8blyJc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u91sTfR3V2U7WKdoDykaB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STuFkaemu8LvR1qZmyUny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rj60TDLQsvjQs65ObkeHCH"/>
  <p:tag name="TIMING" val="|58.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3hZ4YgmP20QUFsuhafTQkv"/>
  <p:tag name="TIMING" val="|24|5.9|6.3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BJCCYSfeft3Tjlm3QvAxi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LhOOPsBjv8PxbRAVwrRrd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Z1Tf6no4Ohhb7SUIeGg2b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Ws9bZgxJdJY6N8AeOCKB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lv388SfC5YSGMub4oE9kB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D3eVfFIvZRN7FAIZRZoFu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8xncwkCq2qu9RZUdDzUzY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TEOAlpMaVVHWVGx28nSzP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DwIJ4ElOLUI8EInVYdERv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Y7H53mSw2onFGicRVe72u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ciMhgYqkL4D8mMLumPZou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jqB7NtKrs8Xh5klZPrN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mFnaBzBbBGYrmWjAYKokV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lKf66TgmKajpZnuS2MIs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7igdGBqqabziEvoNZdqN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huFOUXI18BSHCXQTdFVjZ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lK3pTZ6BUIekhNo7QLCiQ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gleER4eTixrrxaE9vVKRF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7G60ZvJFvyROTBcMiAVt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mFnaBzBbBGYrmWjAYKokV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lKf66TgmKajpZnuS2MIs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7igdGBqqabziEvoNZdqN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huFOUXI18BSHCXQTdFVjZ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lK3pTZ6BUIekhNo7QLCi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gleER4eTixrrxaE9vVKRF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7G60ZvJFvyROTBcMiAVt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h4Yz9FnQaFKvrhyWkZekwH"/>
  <p:tag name="TIMING" val="|17.4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ucw30NvjL4EGEsOpEVqQ4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Hp7mD6P87aOMrLSYonmZF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DIrkyJIsWoq226YJdjFkd"/>
  <p:tag name="TIMING" val="|6.5|5.5|0.7|0.7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SyoyOcJjyFwHKZ5g5NySN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JDIx5QF7KryxSLxjD7m03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vzwltUJyzd5sCv7jJzT0M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RVOWmsHWdRjmGQfMCj16K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SuYr36GciXRhHAxxxgRCZ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oFINZCe03kluyZnzPTKwm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KNZyjrLSRD5IULNLgJMr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XtKMQ6WIBn6cdVpAWmzKp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VwVMFUlCmtRUHkIgvFd3fQ"/>
  <p:tag name="TIMING" val="|24.7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Tzp20lWSVCEie1tcYVJRF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K5KfFKzbw6eBycbDJxHOw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Tp9mcLgdteAbFFqRfqkrtG"/>
  <p:tag name="TIMING" val="|13.9|8.5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chiIYPIDBOA2hT3FHUDkJ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bPVQxjCWdzstas4WkZ28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8WHIvSruOCtbcFIUJ9fhC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z1gqkihm3FF9GZ9PNKuIK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ZZfoeqgTSzponGr5x9dry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v3YJLUluMUZI1haW3R6aN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JiBsnHckujhbtbpvElxnM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oEFaUB6mko0okG7jwEirp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qPNZwycKCpkdUXMcMBe7Y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b4QJnkOT5k5IdQnV5yaAL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Hp8wyY3nnhuR6vGbazSlOv"/>
  <p:tag name="TIMING" val="|7.8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x1unxC8ui1KmfwE5lCP2B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2U8hamL7UCmL8d7Vtd1Gv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zFZXU6dcQGOm1Jb67YI5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vI3ygiHfqNutsOnAH2h6b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R0oGyWprNFzKVqrpn9rOvX"/>
  <p:tag name="TIMING" val="|1.2|7.5|2.2|22.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xSuVTevRjwpK9hUmPUuAg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DDb7HSXMYPfcBWZX3HRzJ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Z5r3OT6F9iU24txaMC44I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FiYLDTSMzmkwD6GD33FjG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iySvqSUevFpip953gcNnI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oMbaGm76Vos9SFOcFYg8n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4n0EBz4nhpyHEX4wXq84M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7lGwy0NswjeLQkFZoLGuh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hH9Fa8JNvoF3quKXAydVS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udyyruB5Enn63YmSPEJIN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6MTaeqa7hl8zdW6CHebpK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wbRnb2PBb0fKBzxpODUGY6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Ll6Nxvg3c7EJJeSJlEWgf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YYy02GwVEaetd1nnousPJ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Rxza9ns3mGgyeFX3m7pHP"/>
  <p:tag name="TIMING" val="|22.3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f7qxdSkK6nD5vFMRDhAa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WZCg955tpggEHtHqA1jT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2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psqySWcdv3V8rIyNIsShh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rueSa18u16RJMiGJeEaJq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psqySWcdv3V8rIyNIsShh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rueSa18u16RJMiGJeEaJq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T3Ze24hZFDpzgDK9EGEl1i"/>
  <p:tag name="TIMING" val="|16.5|6.7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0cL6i6BmXV6MKFb14Oouq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RCestg6WC9ZL0VkZLa51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gHWf7Ydd7yeoDCEHyRn4t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K1iLpeT0Eo12lxwe98Ip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xChHl3CeEWlyXUXlyZj7T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mBg6ajHfm3GjuFtHSQoqK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GMAChNzI6UxHfGqeSiwo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psqySWcdv3V8rIyNIsShh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rueSa18u16RJMiGJeEaJq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6|9.9|7.5|7.6"/>
  <p:tag name="DVSECTIONID" val="jCvpFakmFpCdl2C4lPq1D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4N3x6O999xuT9hm7WcFN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LMpMgEY5TltoTWbZVJCDb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pZH6oYei0OhwtEgwe6f8t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Tp9mcLgdteAbFFqRfqkrtG"/>
  <p:tag name="TIMING" val="|7.3|15.6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chiIYPIDBOA2hT3FHUDkJ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bPVQxjCWdzstas4WkZ28Q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8WHIvSruOCtbcFIUJ9fhC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z1gqkihm3FF9GZ9PNKuIK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ZZfoeqgTSzponGr5x9dry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v3YJLUluMUZI1haW3R6aN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JiBsnHckujhbtbpvElxnM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oEFaUB6mko0okG7jwEirp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qPNZwycKCpkdUXMcMBe7Y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b4QJnkOT5k5IdQnV5yaAL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GjHjkCj0vCIDLh6PlQrjD2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7CyTMZZWsCG4vvpCouT1p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3xBVAKHp7dMByrRbgEA4R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hwp00fy4RPTMGOYizKnj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HLL2cY5QGykfucIPBWCSX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2dhaEBsZR6E3f5vAKrQ2m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ABtmti9mJ1EYZ3cJPkhmk8"/>
  <p:tag name="TIMING" val="|13.8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v8ktR1G2UoknFRWvLHhlo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SgD8QKzcho20pXXybF0g4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t35RloKHIzbnTUoHzL59M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ZqqX0pQWJAQGhQHIIY980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GjHjkCj0vCIDLh6PlQrjD2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7CyTMZZWsCG4vvpCouT1p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3xBVAKHp7dMByrRbgEA4R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hwp00fy4RPTMGOYizKnj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HLL2cY5QGykfucIPBWCSX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2dhaEBsZR6E3f5vAKrQ2m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THDVLC1Gp9vEfTm9HZ2HQR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I0BjRVPTqt0TD8tjb6RK6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vCeV1IYMExxll5k8QtPbL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ypGcpZy7YVo1Uyit746yb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1U66QtyfdSHZ6g3d3zOn0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4BSh84iNaE0ZsbCEvQliv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s6Pxkn0RtjjLAjOURvepk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6afXhwqOA4Dp0GpQGYPdz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EmY35DqfmoJyr0hj8bflp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DtUoG9f6OE5kbBxuAIxv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FkFJo9Hi8B8OstyghmqeW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qDxNKSTSVaqKiDRzw9W5r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21RODym39YfgGEolehx4f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61AJ2C3Y2hmhq3ASWm52QB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UE7PSEGOsHojbk7CarKml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IitsmEkuFQT0Ang9TT5k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grJGrbaa1yhajhjOJjXXl"/>
</p:tagLst>
</file>

<file path=ppt/theme/theme1.xml><?xml version="1.0" encoding="utf-8"?>
<a:theme xmlns:a="http://schemas.openxmlformats.org/drawingml/2006/main" name="template">
  <a:themeElements>
    <a:clrScheme name="Ed's colors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2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ＭＳ Ｐ明朝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 w="28575" cap="rnd" cmpd="sng">
          <a:noFill/>
          <a:prstDash val="solid"/>
          <a:miter lim="800000"/>
        </a:ln>
        <a:effectLst/>
      </a:spPr>
      <a:bodyPr wrap="square" lIns="0" tIns="0" rIns="0" bIns="0" rtlCol="0" anchor="ctr" anchorCtr="1">
        <a:noAutofit/>
      </a:bodyPr>
      <a:lstStyle>
        <a:defPPr algn="ctr">
          <a:defRPr sz="2400" dirty="0" smtClean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 cap="rnd" cmpd="sng">
          <a:solidFill>
            <a:schemeClr val="tx1"/>
          </a:solidFill>
          <a:miter lim="800000"/>
          <a:headEnd type="none"/>
          <a:tailEnd type="none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buClr>
            <a:schemeClr val="accent1"/>
          </a:buClr>
          <a:defRPr sz="32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2498</Words>
  <Application>Microsoft Office PowerPoint</Application>
  <PresentationFormat>On-screen Show (4:3)</PresentationFormat>
  <Paragraphs>921</Paragraphs>
  <Slides>68</Slides>
  <Notes>66</Notes>
  <HiddenSlides>0</HiddenSlides>
  <MMClips>1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7" baseType="lpstr">
      <vt:lpstr>Times New Roman</vt:lpstr>
      <vt:lpstr>Wingdings</vt:lpstr>
      <vt:lpstr>Arial</vt:lpstr>
      <vt:lpstr>Consolas</vt:lpstr>
      <vt:lpstr>ＭＳ Ｐゴシック</vt:lpstr>
      <vt:lpstr>Cambria</vt:lpstr>
      <vt:lpstr>Calibri</vt:lpstr>
      <vt:lpstr>template</vt:lpstr>
      <vt:lpstr>Equation</vt:lpstr>
      <vt:lpstr>Abstraction Recovery for Scalable Static Binary Analysis</vt:lpstr>
      <vt:lpstr>The Gap Between  Binary and Source Code</vt:lpstr>
      <vt:lpstr>Static Binary Analysis</vt:lpstr>
      <vt:lpstr>Static Binary Analysis Strengths</vt:lpstr>
      <vt:lpstr>Primary Challenge: Scalability</vt:lpstr>
      <vt:lpstr>The Gap Between  Binary and Source Code</vt:lpstr>
      <vt:lpstr>Abstraction Recovery</vt:lpstr>
      <vt:lpstr>Reverse Engineering</vt:lpstr>
      <vt:lpstr>Reverse Engineering</vt:lpstr>
      <vt:lpstr>Abstraction Recovery</vt:lpstr>
      <vt:lpstr>Outline</vt:lpstr>
      <vt:lpstr>PowerPoint Presentation</vt:lpstr>
      <vt:lpstr>The Phoenix Decompiler</vt:lpstr>
      <vt:lpstr>Phoenix Overview</vt:lpstr>
      <vt:lpstr>Control Flow Structuring</vt:lpstr>
      <vt:lpstr>Structural Analysis</vt:lpstr>
      <vt:lpstr>Structural Analysis Example</vt:lpstr>
      <vt:lpstr>Structural Analysis Property Checklist</vt:lpstr>
      <vt:lpstr>Structural Analysis Property Checklist</vt:lpstr>
      <vt:lpstr>Semantics Preservation</vt:lpstr>
      <vt:lpstr>Structural Analysis Property Checklist</vt:lpstr>
      <vt:lpstr>Structural Analysis Property Checklist</vt:lpstr>
      <vt:lpstr>Unrecovered Structure</vt:lpstr>
      <vt:lpstr>Iterative Refinement</vt:lpstr>
      <vt:lpstr>Iterative Refinement</vt:lpstr>
      <vt:lpstr>Large Scale Experiment Details</vt:lpstr>
      <vt:lpstr>Large Scale Experiment Details</vt:lpstr>
      <vt:lpstr>Large Scale Experiment Details</vt:lpstr>
      <vt:lpstr>Number of Correct Utilities</vt:lpstr>
      <vt:lpstr>Number of Correct Utilities</vt:lpstr>
      <vt:lpstr>Number of Correct Utilities</vt:lpstr>
      <vt:lpstr>Correctness</vt:lpstr>
      <vt:lpstr>Control Flow Structure: Gotos Emitted (Fewer is Better)</vt:lpstr>
      <vt:lpstr>Control Flow Structure: Gotos Emitted (Fewer is Better)</vt:lpstr>
      <vt:lpstr>Outline</vt:lpstr>
      <vt:lpstr>OS Defenses</vt:lpstr>
      <vt:lpstr>Simple Control-Flow Hijack Exploit</vt:lpstr>
      <vt:lpstr>Data Execution Prevention (DEP)</vt:lpstr>
      <vt:lpstr>Bypassing DEP</vt:lpstr>
      <vt:lpstr>Return-oriented Programming</vt:lpstr>
      <vt:lpstr>Return-oriented Programming</vt:lpstr>
      <vt:lpstr>Gadgets as Abstractions</vt:lpstr>
      <vt:lpstr>Address Space Layout Randomization (ASLR)</vt:lpstr>
      <vt:lpstr>Return-oriented Programming + ASLR</vt:lpstr>
      <vt:lpstr>(Typical) Randomized Code in Linux</vt:lpstr>
      <vt:lpstr>Modern Exploitation using ROP</vt:lpstr>
      <vt:lpstr>Q: Automatic ROP System</vt:lpstr>
      <vt:lpstr>Q: ROP Overview</vt:lpstr>
      <vt:lpstr>Gadget Discovery</vt:lpstr>
      <vt:lpstr>Randomized Testing</vt:lpstr>
      <vt:lpstr>Q’s Semantic Definitions/ Gadget Types</vt:lpstr>
      <vt:lpstr>Randomized Testing</vt:lpstr>
      <vt:lpstr>Connection to Program Verification</vt:lpstr>
      <vt:lpstr>Gadget Verification</vt:lpstr>
      <vt:lpstr>Semantic-based Gadget Discovery</vt:lpstr>
      <vt:lpstr>Q: ROP Overview</vt:lpstr>
      <vt:lpstr>Research Questions</vt:lpstr>
      <vt:lpstr>ROP Success Probability</vt:lpstr>
      <vt:lpstr>Research Questions</vt:lpstr>
      <vt:lpstr>Real Exploits</vt:lpstr>
      <vt:lpstr>Demo!</vt:lpstr>
      <vt:lpstr>Outline</vt:lpstr>
      <vt:lpstr>Abstraction Recovery Questions</vt:lpstr>
      <vt:lpstr>Future Work</vt:lpstr>
      <vt:lpstr>Thanks to My Great Co-authors</vt:lpstr>
      <vt:lpstr>Conclusion</vt:lpstr>
      <vt:lpstr>Thanks 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2014-12-10T00:50:43Z</dcterms:created>
  <dcterms:modified xsi:type="dcterms:W3CDTF">2014-12-10T00:54:21Z</dcterms:modified>
</cp:coreProperties>
</file>