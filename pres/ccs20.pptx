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1" r:id="rId1"/>
    <p:sldMasterId id="2147483660" r:id="rId2"/>
    <p:sldMasterId id="2147483688" r:id="rId3"/>
  </p:sldMasterIdLst>
  <p:notesMasterIdLst>
    <p:notesMasterId r:id="rId23"/>
  </p:notesMasterIdLst>
  <p:handoutMasterIdLst>
    <p:handoutMasterId r:id="rId24"/>
  </p:handoutMasterIdLst>
  <p:sldIdLst>
    <p:sldId id="672" r:id="rId4"/>
    <p:sldId id="1099" r:id="rId5"/>
    <p:sldId id="1129" r:id="rId6"/>
    <p:sldId id="1101" r:id="rId7"/>
    <p:sldId id="1126" r:id="rId8"/>
    <p:sldId id="718" r:id="rId9"/>
    <p:sldId id="1116" r:id="rId10"/>
    <p:sldId id="1106" r:id="rId11"/>
    <p:sldId id="1130" r:id="rId12"/>
    <p:sldId id="681" r:id="rId13"/>
    <p:sldId id="739" r:id="rId14"/>
    <p:sldId id="1114" r:id="rId15"/>
    <p:sldId id="1112" r:id="rId16"/>
    <p:sldId id="723" r:id="rId17"/>
    <p:sldId id="1109" r:id="rId18"/>
    <p:sldId id="1108" r:id="rId19"/>
    <p:sldId id="735" r:id="rId20"/>
    <p:sldId id="1128" r:id="rId21"/>
    <p:sldId id="737" r:id="rId22"/>
  </p:sldIdLst>
  <p:sldSz cx="9144000" cy="5143500" type="screen16x9"/>
  <p:notesSz cx="69469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390996F-7027-48D9-8F06-05A97E8F0523}">
          <p14:sldIdLst>
            <p14:sldId id="672"/>
          </p14:sldIdLst>
        </p14:section>
        <p14:section name="Background Condensed" id="{46860493-EDD0-4C18-AF73-C53008EA9D58}">
          <p14:sldIdLst>
            <p14:sldId id="1099"/>
            <p14:sldId id="1129"/>
            <p14:sldId id="1101"/>
            <p14:sldId id="1126"/>
            <p14:sldId id="718"/>
            <p14:sldId id="1116"/>
            <p14:sldId id="1106"/>
          </p14:sldIdLst>
        </p14:section>
        <p14:section name="Related Work" id="{CE325080-E0F6-46BA-909C-A06C8E079B3F}">
          <p14:sldIdLst>
            <p14:sldId id="1130"/>
          </p14:sldIdLst>
        </p14:section>
        <p14:section name="Idea" id="{2DAE1B87-C9CE-4587-98A1-2E67D3333FB4}">
          <p14:sldIdLst>
            <p14:sldId id="681"/>
            <p14:sldId id="739"/>
          </p14:sldIdLst>
        </p14:section>
        <p14:section name="Implementation" id="{FD9934B9-40F7-4E5B-A9D3-1AF5C5D72623}">
          <p14:sldIdLst>
            <p14:sldId id="1114"/>
            <p14:sldId id="1112"/>
            <p14:sldId id="723"/>
          </p14:sldIdLst>
        </p14:section>
        <p14:section name="Eval: CFI" id="{F47366D5-8385-4121-9A3B-FAE3A24106B9}">
          <p14:sldIdLst>
            <p14:sldId id="1109"/>
            <p14:sldId id="1108"/>
          </p14:sldIdLst>
        </p14:section>
        <p14:section name="Limitations" id="{E3359D10-4581-4B44-AB8E-E0F7C829BD8C}">
          <p14:sldIdLst>
            <p14:sldId id="735"/>
          </p14:sldIdLst>
        </p14:section>
        <p14:section name="Conclusion" id="{E1758216-54F0-4011-864F-4846BA380F22}">
          <p14:sldIdLst>
            <p14:sldId id="1128"/>
            <p14:sldId id="737"/>
          </p14:sldIdLst>
        </p14:section>
      </p14:sectionLst>
    </p:ext>
    <p:ext uri="{EFAFB233-063F-42B5-8137-9DF3F51BA10A}">
      <p15:sldGuideLst xmlns:p15="http://schemas.microsoft.com/office/powerpoint/2012/main">
        <p15:guide id="6" pos="2880">
          <p15:clr>
            <a:srgbClr val="A4A3A4"/>
          </p15:clr>
        </p15:guide>
        <p15:guide id="7" orient="horz" pos="23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4" userDrawn="1">
          <p15:clr>
            <a:srgbClr val="A4A3A4"/>
          </p15:clr>
        </p15:guide>
        <p15:guide id="2" pos="218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2B2"/>
    <a:srgbClr val="FFFAC1"/>
    <a:srgbClr val="B4FFB4"/>
    <a:srgbClr val="70AD47"/>
    <a:srgbClr val="FDF6E3"/>
    <a:srgbClr val="A81523"/>
    <a:srgbClr val="C00000"/>
    <a:srgbClr val="7030A0"/>
    <a:srgbClr val="FFC000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82973" autoAdjust="0"/>
  </p:normalViewPr>
  <p:slideViewPr>
    <p:cSldViewPr snapToGrid="0" showGuides="1">
      <p:cViewPr varScale="1">
        <p:scale>
          <a:sx n="156" d="100"/>
          <a:sy n="156" d="100"/>
        </p:scale>
        <p:origin x="4362" y="138"/>
      </p:cViewPr>
      <p:guideLst>
        <p:guide pos="2880"/>
        <p:guide orient="horz" pos="23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6552"/>
    </p:cViewPr>
  </p:sorterViewPr>
  <p:notesViewPr>
    <p:cSldViewPr snapToGrid="0" showGuides="1">
      <p:cViewPr>
        <p:scale>
          <a:sx n="148" d="100"/>
          <a:sy n="148" d="100"/>
        </p:scale>
        <p:origin x="4440" y="512"/>
      </p:cViewPr>
      <p:guideLst>
        <p:guide orient="horz" pos="2904"/>
        <p:guide pos="218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483773" y="8757592"/>
            <a:ext cx="463127" cy="462609"/>
          </a:xfrm>
          <a:prstGeom prst="rect">
            <a:avLst/>
          </a:prstGeom>
        </p:spPr>
        <p:txBody>
          <a:bodyPr vert="horz" lIns="92374" tIns="46188" rIns="92374" bIns="46188" rtlCol="0" anchor="ctr"/>
          <a:lstStyle>
            <a:lvl1pPr algn="r">
              <a:defRPr sz="1200"/>
            </a:lvl1pPr>
          </a:lstStyle>
          <a:p>
            <a:pPr algn="l"/>
            <a:fld id="{697B12D4-4E44-48C5-B3AA-ECDAF4D2CE64}" type="slidenum">
              <a:rPr lang="en-US" b="1" smtClean="0"/>
              <a:pPr algn="l"/>
              <a:t>‹#›</a:t>
            </a:fld>
            <a:endParaRPr lang="en-US" b="1" dirty="0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/>
          </p:nvPr>
        </p:nvSpPr>
        <p:spPr>
          <a:xfrm>
            <a:off x="560970" y="103883"/>
            <a:ext cx="5803096" cy="462611"/>
          </a:xfrm>
          <a:prstGeom prst="rect">
            <a:avLst/>
          </a:prstGeom>
        </p:spPr>
        <p:txBody>
          <a:bodyPr vert="horz" lIns="0" tIns="92374" rIns="0" bIns="92374" rtlCol="0"/>
          <a:lstStyle>
            <a:lvl1pPr algn="l">
              <a:defRPr sz="1200"/>
            </a:lvl1pPr>
          </a:lstStyle>
          <a:p>
            <a:endParaRPr lang="en-US" dirty="0">
              <a:latin typeface="Arial"/>
              <a:cs typeface="Arial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560972" y="8757591"/>
            <a:ext cx="583800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971" y="8864003"/>
            <a:ext cx="1363330" cy="2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21843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pos="3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8025" y="1152525"/>
            <a:ext cx="5530850" cy="3111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74" tIns="46188" rIns="92374" bIns="4618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4690" y="4437222"/>
            <a:ext cx="5557520" cy="3630454"/>
          </a:xfrm>
          <a:prstGeom prst="rect">
            <a:avLst/>
          </a:prstGeom>
        </p:spPr>
        <p:txBody>
          <a:bodyPr vert="horz" lIns="92374" tIns="46188" rIns="92374" bIns="4618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4301" y="8757592"/>
            <a:ext cx="463127" cy="462609"/>
          </a:xfrm>
          <a:prstGeom prst="rect">
            <a:avLst/>
          </a:prstGeom>
        </p:spPr>
        <p:txBody>
          <a:bodyPr vert="horz" lIns="92374" tIns="46188" rIns="92374" bIns="46188" rtlCol="0" anchor="ctr"/>
          <a:lstStyle>
            <a:lvl1pPr algn="l">
              <a:defRPr sz="1200" b="1"/>
            </a:lvl1pPr>
          </a:lstStyle>
          <a:p>
            <a:fld id="{30F18498-1159-498D-8DC7-E1A69C582DF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560972" y="8757591"/>
            <a:ext cx="583800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Header Placeholder 13"/>
          <p:cNvSpPr>
            <a:spLocks noGrp="1"/>
          </p:cNvSpPr>
          <p:nvPr>
            <p:ph type="hdr" sz="quarter"/>
          </p:nvPr>
        </p:nvSpPr>
        <p:spPr>
          <a:xfrm>
            <a:off x="540314" y="97392"/>
            <a:ext cx="4769335" cy="462611"/>
          </a:xfrm>
          <a:prstGeom prst="rect">
            <a:avLst/>
          </a:prstGeom>
        </p:spPr>
        <p:txBody>
          <a:bodyPr vert="horz" lIns="0" tIns="92374" rIns="0" bIns="92374" rtlCol="0"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71" y="8864003"/>
            <a:ext cx="1363330" cy="2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9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3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08025" y="1152525"/>
            <a:ext cx="5530850" cy="3111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18498-1159-498D-8DC7-E1A69C582DF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053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18498-1159-498D-8DC7-E1A69C582DF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483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8498-1159-498D-8DC7-E1A69C582DF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234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18498-1159-498D-8DC7-E1A69C582DF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480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18498-1159-498D-8DC7-E1A69C582DF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229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8498-1159-498D-8DC7-E1A69C582DF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879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8498-1159-498D-8DC7-E1A69C582DF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5864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8498-1159-498D-8DC7-E1A69C582DF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666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8498-1159-498D-8DC7-E1A69C582DF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737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8498-1159-498D-8DC7-E1A69C582DF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2493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8498-1159-498D-8DC7-E1A69C582DF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272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1338"/>
            <a:ext cx="9144000" cy="4727734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4752788"/>
            <a:ext cx="9144000" cy="411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1538380"/>
            <a:ext cx="4800601" cy="155067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1001" y="4002817"/>
            <a:ext cx="198119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Engineering Institute</a:t>
            </a:r>
          </a:p>
          <a:p>
            <a:r>
              <a:rPr lang="en-US" sz="8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Carnegie Mellon University</a:t>
            </a:r>
          </a:p>
          <a:p>
            <a:r>
              <a:rPr lang="en-US" sz="8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Pittsburgh, PA  15213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81001" y="3243565"/>
            <a:ext cx="3390900" cy="6159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6057900" y="4833649"/>
            <a:ext cx="2095500" cy="69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450" dirty="0">
                <a:solidFill>
                  <a:srgbClr val="000000"/>
                </a:solidFill>
                <a:latin typeface="Arial"/>
                <a:cs typeface="Arial"/>
              </a:rPr>
              <a:t>[Distribution Statement A] Approved for public release and unlimited distribution.</a:t>
            </a:r>
            <a:endParaRPr lang="en-US" sz="375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4739072"/>
            <a:ext cx="9144000" cy="137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4836583"/>
            <a:ext cx="1435608" cy="24378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3907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4752788"/>
            <a:ext cx="9144000" cy="411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1538380"/>
            <a:ext cx="4800601" cy="155067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81001" y="3243565"/>
            <a:ext cx="3390900" cy="6159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057900" y="4833649"/>
            <a:ext cx="2095500" cy="69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450" dirty="0">
                <a:solidFill>
                  <a:srgbClr val="000000"/>
                </a:solidFill>
                <a:latin typeface="Arial"/>
                <a:cs typeface="Arial"/>
              </a:rPr>
              <a:t>[Distribution Statement A] Approved for public release and unlimited distribution.</a:t>
            </a:r>
            <a:endParaRPr lang="en-US" sz="375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0" y="4739072"/>
            <a:ext cx="9144000" cy="137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4836583"/>
            <a:ext cx="1435608" cy="24378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71740"/>
            <a:ext cx="7772400" cy="6395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1" y="924503"/>
            <a:ext cx="8340968" cy="36626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8657616" y="0"/>
            <a:ext cx="486383" cy="48006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600"/>
            </a:lvl1pPr>
          </a:lstStyle>
          <a:p>
            <a:r>
              <a:rPr lang="en-US" dirty="0"/>
              <a:t>Picture (Optional)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2031"/>
            <a:ext cx="5524500" cy="106859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675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(optional)</a:t>
            </a:r>
          </a:p>
        </p:txBody>
      </p:sp>
    </p:spTree>
    <p:extLst>
      <p:ext uri="{BB962C8B-B14F-4D97-AF65-F5344CB8AC3E}">
        <p14:creationId xmlns:p14="http://schemas.microsoft.com/office/powerpoint/2010/main" val="3927262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38501" y="807673"/>
            <a:ext cx="5486399" cy="3764327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2031"/>
            <a:ext cx="5524500" cy="106859"/>
          </a:xfrm>
        </p:spPr>
        <p:txBody>
          <a:bodyPr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675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(optional)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8657616" y="0"/>
            <a:ext cx="486383" cy="480060"/>
          </a:xfrm>
        </p:spPr>
        <p:txBody>
          <a:bodyPr anchor="ctr" anchorCtr="0">
            <a:normAutofit/>
          </a:bodyPr>
          <a:lstStyle>
            <a:lvl1pPr algn="ctr">
              <a:defRPr sz="600"/>
            </a:lvl1pPr>
          </a:lstStyle>
          <a:p>
            <a:r>
              <a:rPr lang="en-US" dirty="0"/>
              <a:t>Picture (Optional)</a:t>
            </a:r>
          </a:p>
        </p:txBody>
      </p:sp>
    </p:spTree>
    <p:extLst>
      <p:ext uri="{BB962C8B-B14F-4D97-AF65-F5344CB8AC3E}">
        <p14:creationId xmlns:p14="http://schemas.microsoft.com/office/powerpoint/2010/main" val="3355324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1" y="924503"/>
            <a:ext cx="8340968" cy="36626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8657616" y="0"/>
            <a:ext cx="486383" cy="480060"/>
          </a:xfrm>
        </p:spPr>
        <p:txBody>
          <a:bodyPr anchor="ctr" anchorCtr="0">
            <a:normAutofit/>
          </a:bodyPr>
          <a:lstStyle>
            <a:lvl1pPr algn="ctr">
              <a:defRPr sz="600"/>
            </a:lvl1pPr>
          </a:lstStyle>
          <a:p>
            <a:r>
              <a:rPr lang="en-US" dirty="0"/>
              <a:t>Picture (Optional)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2031"/>
            <a:ext cx="5524500" cy="106859"/>
          </a:xfrm>
        </p:spPr>
        <p:txBody>
          <a:bodyPr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675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(optional)</a:t>
            </a:r>
          </a:p>
        </p:txBody>
      </p:sp>
    </p:spTree>
    <p:extLst>
      <p:ext uri="{BB962C8B-B14F-4D97-AF65-F5344CB8AC3E}">
        <p14:creationId xmlns:p14="http://schemas.microsoft.com/office/powerpoint/2010/main" val="86351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918186"/>
            <a:ext cx="4114800" cy="36992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918186"/>
            <a:ext cx="4076699" cy="3699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2031"/>
            <a:ext cx="5524500" cy="106859"/>
          </a:xfrm>
        </p:spPr>
        <p:txBody>
          <a:bodyPr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675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(optional)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8657616" y="0"/>
            <a:ext cx="486383" cy="480060"/>
          </a:xfrm>
        </p:spPr>
        <p:txBody>
          <a:bodyPr anchor="ctr" anchorCtr="0">
            <a:normAutofit/>
          </a:bodyPr>
          <a:lstStyle>
            <a:lvl1pPr algn="ctr">
              <a:defRPr sz="600"/>
            </a:lvl1pPr>
          </a:lstStyle>
          <a:p>
            <a:r>
              <a:rPr lang="en-US" dirty="0"/>
              <a:t>Picture (Optional)</a:t>
            </a:r>
          </a:p>
        </p:txBody>
      </p:sp>
    </p:spTree>
    <p:extLst>
      <p:ext uri="{BB962C8B-B14F-4D97-AF65-F5344CB8AC3E}">
        <p14:creationId xmlns:p14="http://schemas.microsoft.com/office/powerpoint/2010/main" val="1367020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71740"/>
            <a:ext cx="7620000" cy="68550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918186"/>
            <a:ext cx="2705100" cy="370433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3238501" y="918186"/>
            <a:ext cx="2666999" cy="370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4"/>
          </p:nvPr>
        </p:nvSpPr>
        <p:spPr>
          <a:xfrm>
            <a:off x="6057900" y="918186"/>
            <a:ext cx="2667000" cy="370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2031"/>
            <a:ext cx="5524500" cy="106859"/>
          </a:xfrm>
        </p:spPr>
        <p:txBody>
          <a:bodyPr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675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(optional)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8657616" y="0"/>
            <a:ext cx="486383" cy="480060"/>
          </a:xfrm>
        </p:spPr>
        <p:txBody>
          <a:bodyPr anchor="ctr" anchorCtr="0">
            <a:normAutofit/>
          </a:bodyPr>
          <a:lstStyle>
            <a:lvl1pPr algn="ctr">
              <a:defRPr sz="600"/>
            </a:lvl1pPr>
          </a:lstStyle>
          <a:p>
            <a:r>
              <a:rPr lang="en-US" dirty="0"/>
              <a:t>Picture (Optional)</a:t>
            </a:r>
          </a:p>
        </p:txBody>
      </p:sp>
    </p:spTree>
    <p:extLst>
      <p:ext uri="{BB962C8B-B14F-4D97-AF65-F5344CB8AC3E}">
        <p14:creationId xmlns:p14="http://schemas.microsoft.com/office/powerpoint/2010/main" val="148712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915259"/>
            <a:ext cx="1981200" cy="3717291"/>
          </a:xfrm>
        </p:spPr>
        <p:txBody>
          <a:bodyPr/>
          <a:lstStyle>
            <a:lvl1pPr>
              <a:defRPr sz="1400"/>
            </a:lvl1pPr>
            <a:lvl2pPr>
              <a:spcBef>
                <a:spcPts val="200"/>
              </a:spcBef>
              <a:defRPr sz="1400"/>
            </a:lvl2pPr>
            <a:lvl3pPr>
              <a:spcBef>
                <a:spcPts val="200"/>
              </a:spcBef>
              <a:defRPr sz="1200"/>
            </a:lvl3pPr>
            <a:lvl4pPr>
              <a:spcBef>
                <a:spcPts val="200"/>
              </a:spcBef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2031"/>
            <a:ext cx="5524500" cy="106859"/>
          </a:xfrm>
        </p:spPr>
        <p:txBody>
          <a:bodyPr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675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(optional)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8657616" y="0"/>
            <a:ext cx="486383" cy="480060"/>
          </a:xfrm>
        </p:spPr>
        <p:txBody>
          <a:bodyPr anchor="ctr" anchorCtr="0">
            <a:normAutofit/>
          </a:bodyPr>
          <a:lstStyle>
            <a:lvl1pPr algn="ctr">
              <a:defRPr sz="600"/>
            </a:lvl1pPr>
          </a:lstStyle>
          <a:p>
            <a:r>
              <a:rPr lang="en-US" dirty="0"/>
              <a:t>Picture (Optional)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sz="half" idx="12"/>
          </p:nvPr>
        </p:nvSpPr>
        <p:spPr>
          <a:xfrm>
            <a:off x="2514600" y="915259"/>
            <a:ext cx="1981200" cy="3717291"/>
          </a:xfrm>
        </p:spPr>
        <p:txBody>
          <a:bodyPr/>
          <a:lstStyle>
            <a:lvl1pPr>
              <a:defRPr sz="1400"/>
            </a:lvl1pPr>
            <a:lvl2pPr>
              <a:spcBef>
                <a:spcPts val="200"/>
              </a:spcBef>
              <a:defRPr sz="1400"/>
            </a:lvl2pPr>
            <a:lvl3pPr>
              <a:spcBef>
                <a:spcPts val="200"/>
              </a:spcBef>
              <a:defRPr sz="1200"/>
            </a:lvl3pPr>
            <a:lvl4pPr>
              <a:spcBef>
                <a:spcPts val="200"/>
              </a:spcBef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3"/>
          </p:nvPr>
        </p:nvSpPr>
        <p:spPr>
          <a:xfrm>
            <a:off x="4648200" y="915259"/>
            <a:ext cx="1981200" cy="3717291"/>
          </a:xfrm>
        </p:spPr>
        <p:txBody>
          <a:bodyPr/>
          <a:lstStyle>
            <a:lvl1pPr>
              <a:defRPr sz="1400"/>
            </a:lvl1pPr>
            <a:lvl2pPr>
              <a:spcBef>
                <a:spcPts val="200"/>
              </a:spcBef>
              <a:defRPr sz="1400"/>
            </a:lvl2pPr>
            <a:lvl3pPr>
              <a:spcBef>
                <a:spcPts val="200"/>
              </a:spcBef>
              <a:defRPr sz="1200"/>
            </a:lvl3pPr>
            <a:lvl4pPr>
              <a:spcBef>
                <a:spcPts val="200"/>
              </a:spcBef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>
          <a:xfrm>
            <a:off x="6781800" y="915259"/>
            <a:ext cx="1943100" cy="3717291"/>
          </a:xfrm>
        </p:spPr>
        <p:txBody>
          <a:bodyPr/>
          <a:lstStyle>
            <a:lvl1pPr>
              <a:defRPr sz="1400"/>
            </a:lvl1pPr>
            <a:lvl2pPr>
              <a:spcBef>
                <a:spcPts val="200"/>
              </a:spcBef>
              <a:defRPr sz="1400"/>
            </a:lvl2pPr>
            <a:lvl3pPr>
              <a:spcBef>
                <a:spcPts val="200"/>
              </a:spcBef>
              <a:defRPr sz="1200"/>
            </a:lvl3pPr>
            <a:lvl4pPr>
              <a:spcBef>
                <a:spcPts val="200"/>
              </a:spcBef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975094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o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971550"/>
            <a:ext cx="2705100" cy="35433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insert Image or Table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38501" y="918187"/>
            <a:ext cx="5486399" cy="3689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2031"/>
            <a:ext cx="5524500" cy="106859"/>
          </a:xfrm>
        </p:spPr>
        <p:txBody>
          <a:bodyPr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675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(optional)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8657616" y="0"/>
            <a:ext cx="486383" cy="480060"/>
          </a:xfrm>
        </p:spPr>
        <p:txBody>
          <a:bodyPr anchor="ctr" anchorCtr="0">
            <a:normAutofit/>
          </a:bodyPr>
          <a:lstStyle>
            <a:lvl1pPr algn="ctr">
              <a:defRPr sz="600"/>
            </a:lvl1pPr>
          </a:lstStyle>
          <a:p>
            <a:r>
              <a:rPr lang="en-US" dirty="0"/>
              <a:t>Picture (Optional)</a:t>
            </a:r>
          </a:p>
        </p:txBody>
      </p:sp>
    </p:spTree>
    <p:extLst>
      <p:ext uri="{BB962C8B-B14F-4D97-AF65-F5344CB8AC3E}">
        <p14:creationId xmlns:p14="http://schemas.microsoft.com/office/powerpoint/2010/main" val="302465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1" y="967763"/>
            <a:ext cx="5524499" cy="3547087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insert Image or Table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57901" y="918187"/>
            <a:ext cx="2666999" cy="3694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2031"/>
            <a:ext cx="5524500" cy="106859"/>
          </a:xfrm>
        </p:spPr>
        <p:txBody>
          <a:bodyPr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675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(optional)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8657616" y="0"/>
            <a:ext cx="486383" cy="480060"/>
          </a:xfrm>
        </p:spPr>
        <p:txBody>
          <a:bodyPr anchor="ctr" anchorCtr="0">
            <a:normAutofit/>
          </a:bodyPr>
          <a:lstStyle>
            <a:lvl1pPr algn="ctr">
              <a:defRPr sz="600"/>
            </a:lvl1pPr>
          </a:lstStyle>
          <a:p>
            <a:r>
              <a:rPr lang="en-US" dirty="0"/>
              <a:t>Picture (Optional)</a:t>
            </a:r>
          </a:p>
        </p:txBody>
      </p:sp>
    </p:spTree>
    <p:extLst>
      <p:ext uri="{BB962C8B-B14F-4D97-AF65-F5344CB8AC3E}">
        <p14:creationId xmlns:p14="http://schemas.microsoft.com/office/powerpoint/2010/main" val="3312680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2031"/>
            <a:ext cx="5524500" cy="106859"/>
          </a:xfrm>
        </p:spPr>
        <p:txBody>
          <a:bodyPr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675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(optional)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381001" y="904296"/>
            <a:ext cx="8343900" cy="3613387"/>
            <a:chOff x="381001" y="679174"/>
            <a:chExt cx="8343900" cy="3838509"/>
          </a:xfrm>
        </p:grpSpPr>
        <p:sp>
          <p:nvSpPr>
            <p:cNvPr id="7" name="Rectangle 6"/>
            <p:cNvSpPr/>
            <p:nvPr userDrawn="1"/>
          </p:nvSpPr>
          <p:spPr>
            <a:xfrm>
              <a:off x="1117410" y="951718"/>
              <a:ext cx="554274" cy="415706"/>
            </a:xfrm>
            <a:prstGeom prst="rect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117410" y="1505930"/>
              <a:ext cx="554274" cy="415706"/>
            </a:xfrm>
            <a:prstGeom prst="rect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1117410" y="2074778"/>
              <a:ext cx="554274" cy="415706"/>
            </a:xfrm>
            <a:prstGeom prst="rect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1117410" y="2771106"/>
              <a:ext cx="554274" cy="415706"/>
            </a:xfrm>
            <a:prstGeom prst="rect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117410" y="3504011"/>
              <a:ext cx="554274" cy="415706"/>
            </a:xfrm>
            <a:prstGeom prst="rect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1117410" y="4101977"/>
              <a:ext cx="554274" cy="415706"/>
            </a:xfrm>
            <a:prstGeom prst="rect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1804310" y="951718"/>
              <a:ext cx="554274" cy="415706"/>
            </a:xfrm>
            <a:prstGeom prst="rect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1804310" y="1505930"/>
              <a:ext cx="554274" cy="415706"/>
            </a:xfrm>
            <a:prstGeom prst="rect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1804310" y="2074778"/>
              <a:ext cx="554274" cy="415706"/>
            </a:xfrm>
            <a:prstGeom prst="rect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1804310" y="2771106"/>
              <a:ext cx="554274" cy="415706"/>
            </a:xfrm>
            <a:prstGeom prst="rect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804310" y="3504011"/>
              <a:ext cx="554274" cy="415706"/>
            </a:xfrm>
            <a:prstGeom prst="rect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1804310" y="4101977"/>
              <a:ext cx="554274" cy="415706"/>
            </a:xfrm>
            <a:prstGeom prst="rect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2491210" y="951718"/>
              <a:ext cx="554274" cy="41570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2491210" y="1505930"/>
              <a:ext cx="554274" cy="415706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2491210" y="2074778"/>
              <a:ext cx="554274" cy="415706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2491210" y="2771106"/>
              <a:ext cx="554274" cy="415706"/>
            </a:xfrm>
            <a:prstGeom prst="rect">
              <a:avLst/>
            </a:prstGeom>
            <a:solidFill>
              <a:schemeClr val="bg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2491210" y="3504011"/>
              <a:ext cx="554274" cy="41570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2491210" y="4101977"/>
              <a:ext cx="554274" cy="41570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3234302" y="951718"/>
              <a:ext cx="554274" cy="41570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3234302" y="1505930"/>
              <a:ext cx="554274" cy="41570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7" name="Rectangle 26"/>
            <p:cNvSpPr/>
            <p:nvPr userDrawn="1"/>
          </p:nvSpPr>
          <p:spPr>
            <a:xfrm>
              <a:off x="3234302" y="2074778"/>
              <a:ext cx="554274" cy="415706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3234302" y="2771106"/>
              <a:ext cx="554274" cy="415706"/>
            </a:xfrm>
            <a:prstGeom prst="rect">
              <a:avLst/>
            </a:prstGeom>
            <a:solidFill>
              <a:schemeClr val="tx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9" name="Rectangle 28"/>
            <p:cNvSpPr/>
            <p:nvPr userDrawn="1"/>
          </p:nvSpPr>
          <p:spPr>
            <a:xfrm>
              <a:off x="3234302" y="3504011"/>
              <a:ext cx="554274" cy="415706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0" name="Rectangle 29"/>
            <p:cNvSpPr/>
            <p:nvPr userDrawn="1"/>
          </p:nvSpPr>
          <p:spPr>
            <a:xfrm>
              <a:off x="3234302" y="4101977"/>
              <a:ext cx="554274" cy="415706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1" name="Rectangle 30"/>
            <p:cNvSpPr/>
            <p:nvPr userDrawn="1"/>
          </p:nvSpPr>
          <p:spPr>
            <a:xfrm>
              <a:off x="4294863" y="951718"/>
              <a:ext cx="554274" cy="41570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4294863" y="1505930"/>
              <a:ext cx="554274" cy="41570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3" name="Rectangle 32"/>
            <p:cNvSpPr/>
            <p:nvPr userDrawn="1"/>
          </p:nvSpPr>
          <p:spPr>
            <a:xfrm>
              <a:off x="4294863" y="2074778"/>
              <a:ext cx="554274" cy="41570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4" name="Rectangle 33"/>
            <p:cNvSpPr/>
            <p:nvPr userDrawn="1"/>
          </p:nvSpPr>
          <p:spPr>
            <a:xfrm>
              <a:off x="4294863" y="2771106"/>
              <a:ext cx="554274" cy="415706"/>
            </a:xfrm>
            <a:prstGeom prst="rect">
              <a:avLst/>
            </a:prstGeom>
            <a:solidFill>
              <a:schemeClr val="accent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Rectangle 34"/>
            <p:cNvSpPr/>
            <p:nvPr userDrawn="1"/>
          </p:nvSpPr>
          <p:spPr>
            <a:xfrm>
              <a:off x="4294863" y="3504011"/>
              <a:ext cx="554274" cy="41570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6" name="Rectangle 35"/>
            <p:cNvSpPr/>
            <p:nvPr userDrawn="1"/>
          </p:nvSpPr>
          <p:spPr>
            <a:xfrm>
              <a:off x="4294863" y="4101977"/>
              <a:ext cx="554274" cy="41570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Rectangle 36"/>
            <p:cNvSpPr/>
            <p:nvPr userDrawn="1"/>
          </p:nvSpPr>
          <p:spPr>
            <a:xfrm>
              <a:off x="5032903" y="951718"/>
              <a:ext cx="554274" cy="41570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Rectangle 37"/>
            <p:cNvSpPr/>
            <p:nvPr userDrawn="1"/>
          </p:nvSpPr>
          <p:spPr>
            <a:xfrm>
              <a:off x="5032903" y="1505930"/>
              <a:ext cx="554274" cy="41570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9" name="Rectangle 38"/>
            <p:cNvSpPr/>
            <p:nvPr userDrawn="1"/>
          </p:nvSpPr>
          <p:spPr>
            <a:xfrm>
              <a:off x="5032903" y="2074778"/>
              <a:ext cx="554274" cy="41570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0" name="Rectangle 39"/>
            <p:cNvSpPr/>
            <p:nvPr userDrawn="1"/>
          </p:nvSpPr>
          <p:spPr>
            <a:xfrm>
              <a:off x="5032903" y="2771106"/>
              <a:ext cx="554274" cy="415706"/>
            </a:xfrm>
            <a:prstGeom prst="rect">
              <a:avLst/>
            </a:prstGeom>
            <a:solidFill>
              <a:schemeClr val="accent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1" name="Rectangle 40"/>
            <p:cNvSpPr/>
            <p:nvPr userDrawn="1"/>
          </p:nvSpPr>
          <p:spPr>
            <a:xfrm>
              <a:off x="5032903" y="3504011"/>
              <a:ext cx="554274" cy="41570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2" name="Rectangle 41"/>
            <p:cNvSpPr/>
            <p:nvPr userDrawn="1"/>
          </p:nvSpPr>
          <p:spPr>
            <a:xfrm>
              <a:off x="5032903" y="4101977"/>
              <a:ext cx="554274" cy="41570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3" name="Rectangle 42"/>
            <p:cNvSpPr/>
            <p:nvPr userDrawn="1"/>
          </p:nvSpPr>
          <p:spPr>
            <a:xfrm>
              <a:off x="5770943" y="951718"/>
              <a:ext cx="554274" cy="41570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4" name="Rectangle 43"/>
            <p:cNvSpPr/>
            <p:nvPr userDrawn="1"/>
          </p:nvSpPr>
          <p:spPr>
            <a:xfrm>
              <a:off x="5770943" y="1505930"/>
              <a:ext cx="554274" cy="41570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5" name="Rectangle 44"/>
            <p:cNvSpPr/>
            <p:nvPr userDrawn="1"/>
          </p:nvSpPr>
          <p:spPr>
            <a:xfrm>
              <a:off x="5770943" y="2074778"/>
              <a:ext cx="554274" cy="41570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6" name="Rectangle 45"/>
            <p:cNvSpPr/>
            <p:nvPr userDrawn="1"/>
          </p:nvSpPr>
          <p:spPr>
            <a:xfrm>
              <a:off x="5770943" y="2771106"/>
              <a:ext cx="554274" cy="415706"/>
            </a:xfrm>
            <a:prstGeom prst="rect">
              <a:avLst/>
            </a:prstGeom>
            <a:solidFill>
              <a:schemeClr val="accent3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5770943" y="3504011"/>
              <a:ext cx="554274" cy="415706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8" name="Rectangle 47"/>
            <p:cNvSpPr/>
            <p:nvPr userDrawn="1"/>
          </p:nvSpPr>
          <p:spPr>
            <a:xfrm>
              <a:off x="5770943" y="4101977"/>
              <a:ext cx="554274" cy="415706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9" name="Rectangle 48"/>
            <p:cNvSpPr/>
            <p:nvPr userDrawn="1"/>
          </p:nvSpPr>
          <p:spPr>
            <a:xfrm>
              <a:off x="6508983" y="951718"/>
              <a:ext cx="554274" cy="41570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0" name="Rectangle 49"/>
            <p:cNvSpPr/>
            <p:nvPr userDrawn="1"/>
          </p:nvSpPr>
          <p:spPr>
            <a:xfrm>
              <a:off x="6508983" y="1505930"/>
              <a:ext cx="554274" cy="41570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Rectangle 50"/>
            <p:cNvSpPr/>
            <p:nvPr userDrawn="1"/>
          </p:nvSpPr>
          <p:spPr>
            <a:xfrm>
              <a:off x="6508983" y="2074778"/>
              <a:ext cx="554274" cy="41570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Rectangle 51"/>
            <p:cNvSpPr/>
            <p:nvPr userDrawn="1"/>
          </p:nvSpPr>
          <p:spPr>
            <a:xfrm>
              <a:off x="6508983" y="2771106"/>
              <a:ext cx="554274" cy="415706"/>
            </a:xfrm>
            <a:prstGeom prst="rect">
              <a:avLst/>
            </a:prstGeom>
            <a:solidFill>
              <a:schemeClr val="accent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3" name="Rectangle 52"/>
            <p:cNvSpPr/>
            <p:nvPr userDrawn="1"/>
          </p:nvSpPr>
          <p:spPr>
            <a:xfrm>
              <a:off x="6508983" y="3504011"/>
              <a:ext cx="554274" cy="41570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4" name="Rectangle 53"/>
            <p:cNvSpPr/>
            <p:nvPr userDrawn="1"/>
          </p:nvSpPr>
          <p:spPr>
            <a:xfrm>
              <a:off x="6508983" y="4101977"/>
              <a:ext cx="554274" cy="415706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5" name="Rectangle 54"/>
            <p:cNvSpPr/>
            <p:nvPr userDrawn="1"/>
          </p:nvSpPr>
          <p:spPr>
            <a:xfrm>
              <a:off x="7247023" y="951718"/>
              <a:ext cx="554274" cy="41570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6" name="Rectangle 55"/>
            <p:cNvSpPr/>
            <p:nvPr userDrawn="1"/>
          </p:nvSpPr>
          <p:spPr>
            <a:xfrm>
              <a:off x="7247023" y="1505930"/>
              <a:ext cx="554274" cy="41570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7" name="Rectangle 56"/>
            <p:cNvSpPr/>
            <p:nvPr userDrawn="1"/>
          </p:nvSpPr>
          <p:spPr>
            <a:xfrm>
              <a:off x="7247023" y="2074778"/>
              <a:ext cx="554274" cy="41570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8" name="Rectangle 57"/>
            <p:cNvSpPr/>
            <p:nvPr userDrawn="1"/>
          </p:nvSpPr>
          <p:spPr>
            <a:xfrm>
              <a:off x="7247023" y="2771106"/>
              <a:ext cx="554274" cy="415706"/>
            </a:xfrm>
            <a:prstGeom prst="rect">
              <a:avLst/>
            </a:prstGeom>
            <a:solidFill>
              <a:schemeClr val="accent5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Rectangle 58"/>
            <p:cNvSpPr/>
            <p:nvPr userDrawn="1"/>
          </p:nvSpPr>
          <p:spPr>
            <a:xfrm>
              <a:off x="7247023" y="3504011"/>
              <a:ext cx="554274" cy="41570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Rectangle 59"/>
            <p:cNvSpPr/>
            <p:nvPr userDrawn="1"/>
          </p:nvSpPr>
          <p:spPr>
            <a:xfrm>
              <a:off x="7247023" y="4101977"/>
              <a:ext cx="554274" cy="41570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1" name="Rectangle 60"/>
            <p:cNvSpPr/>
            <p:nvPr userDrawn="1"/>
          </p:nvSpPr>
          <p:spPr>
            <a:xfrm>
              <a:off x="7985061" y="951718"/>
              <a:ext cx="554274" cy="41570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2" name="Rectangle 61"/>
            <p:cNvSpPr/>
            <p:nvPr userDrawn="1"/>
          </p:nvSpPr>
          <p:spPr>
            <a:xfrm>
              <a:off x="7985061" y="1505930"/>
              <a:ext cx="554274" cy="41570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3" name="Rectangle 62"/>
            <p:cNvSpPr/>
            <p:nvPr userDrawn="1"/>
          </p:nvSpPr>
          <p:spPr>
            <a:xfrm>
              <a:off x="7985061" y="2074778"/>
              <a:ext cx="554274" cy="41570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4" name="Rectangle 63"/>
            <p:cNvSpPr/>
            <p:nvPr userDrawn="1"/>
          </p:nvSpPr>
          <p:spPr>
            <a:xfrm>
              <a:off x="7985061" y="2771106"/>
              <a:ext cx="554274" cy="415706"/>
            </a:xfrm>
            <a:prstGeom prst="rect">
              <a:avLst/>
            </a:prstGeom>
            <a:solidFill>
              <a:schemeClr val="accent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5" name="Rectangle 64"/>
            <p:cNvSpPr/>
            <p:nvPr userDrawn="1"/>
          </p:nvSpPr>
          <p:spPr>
            <a:xfrm>
              <a:off x="7985061" y="3504011"/>
              <a:ext cx="554274" cy="41570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6" name="Rectangle 65"/>
            <p:cNvSpPr/>
            <p:nvPr userDrawn="1"/>
          </p:nvSpPr>
          <p:spPr>
            <a:xfrm>
              <a:off x="7985061" y="4101977"/>
              <a:ext cx="554274" cy="41570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7" name="Rectangle 66"/>
            <p:cNvSpPr/>
            <p:nvPr userDrawn="1"/>
          </p:nvSpPr>
          <p:spPr>
            <a:xfrm>
              <a:off x="952500" y="2647940"/>
              <a:ext cx="7772401" cy="673811"/>
            </a:xfrm>
            <a:prstGeom prst="rect">
              <a:avLst/>
            </a:prstGeom>
            <a:noFill/>
            <a:ln w="9525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8" name="TextBox 67"/>
            <p:cNvSpPr txBox="1"/>
            <p:nvPr userDrawn="1"/>
          </p:nvSpPr>
          <p:spPr>
            <a:xfrm>
              <a:off x="381001" y="2766392"/>
              <a:ext cx="33342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900" dirty="0">
                  <a:latin typeface="Arial" charset="0"/>
                  <a:ea typeface="Arial" charset="0"/>
                  <a:cs typeface="Arial" charset="0"/>
                </a:rPr>
                <a:t>Basic </a:t>
              </a:r>
            </a:p>
            <a:p>
              <a:r>
                <a:rPr lang="en-US" sz="900" dirty="0">
                  <a:latin typeface="Arial" charset="0"/>
                  <a:ea typeface="Arial" charset="0"/>
                  <a:cs typeface="Arial" charset="0"/>
                </a:rPr>
                <a:t>Colors</a:t>
              </a:r>
            </a:p>
          </p:txBody>
        </p:sp>
        <p:sp>
          <p:nvSpPr>
            <p:cNvPr id="69" name="TextBox 68"/>
            <p:cNvSpPr txBox="1"/>
            <p:nvPr userDrawn="1"/>
          </p:nvSpPr>
          <p:spPr>
            <a:xfrm>
              <a:off x="381001" y="1601888"/>
              <a:ext cx="4680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900" dirty="0">
                  <a:latin typeface="Arial" charset="0"/>
                  <a:ea typeface="Arial" charset="0"/>
                  <a:cs typeface="Arial" charset="0"/>
                </a:rPr>
                <a:t>3 shades</a:t>
              </a:r>
            </a:p>
            <a:p>
              <a:r>
                <a:rPr lang="en-US" sz="900" dirty="0">
                  <a:latin typeface="Arial" charset="0"/>
                  <a:ea typeface="Arial" charset="0"/>
                  <a:cs typeface="Arial" charset="0"/>
                </a:rPr>
                <a:t>lighter</a:t>
              </a:r>
            </a:p>
          </p:txBody>
        </p:sp>
        <p:sp>
          <p:nvSpPr>
            <p:cNvPr id="70" name="TextBox 69"/>
            <p:cNvSpPr txBox="1"/>
            <p:nvPr userDrawn="1"/>
          </p:nvSpPr>
          <p:spPr>
            <a:xfrm>
              <a:off x="381001" y="3890576"/>
              <a:ext cx="4680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900" dirty="0">
                  <a:latin typeface="Arial" charset="0"/>
                  <a:ea typeface="Arial" charset="0"/>
                  <a:cs typeface="Arial" charset="0"/>
                </a:rPr>
                <a:t>2 shades</a:t>
              </a:r>
              <a:br>
                <a:rPr lang="en-US" sz="9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900" dirty="0">
                  <a:latin typeface="Arial" charset="0"/>
                  <a:ea typeface="Arial" charset="0"/>
                  <a:cs typeface="Arial" charset="0"/>
                </a:rPr>
                <a:t>darker</a:t>
              </a:r>
            </a:p>
          </p:txBody>
        </p:sp>
        <p:sp>
          <p:nvSpPr>
            <p:cNvPr id="71" name="TextBox 70"/>
            <p:cNvSpPr txBox="1"/>
            <p:nvPr userDrawn="1"/>
          </p:nvSpPr>
          <p:spPr>
            <a:xfrm>
              <a:off x="1579219" y="679174"/>
              <a:ext cx="171173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Arial" charset="0"/>
                  <a:ea typeface="Arial" charset="0"/>
                  <a:cs typeface="Arial" charset="0"/>
                </a:rPr>
                <a:t>Corporate colors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4294863" y="679174"/>
              <a:ext cx="424447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Arial" charset="0"/>
                  <a:ea typeface="Arial" charset="0"/>
                  <a:cs typeface="Arial" charset="0"/>
                </a:rPr>
                <a:t>Accent colors (used in charts and tables)</a:t>
              </a:r>
            </a:p>
          </p:txBody>
        </p:sp>
      </p:grpSp>
      <p:sp>
        <p:nvSpPr>
          <p:cNvPr id="73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8657616" y="0"/>
            <a:ext cx="486383" cy="480060"/>
          </a:xfrm>
        </p:spPr>
        <p:txBody>
          <a:bodyPr anchor="ctr" anchorCtr="0">
            <a:normAutofit/>
          </a:bodyPr>
          <a:lstStyle>
            <a:lvl1pPr algn="ctr">
              <a:defRPr sz="600"/>
            </a:lvl1pPr>
          </a:lstStyle>
          <a:p>
            <a:r>
              <a:rPr lang="en-US" dirty="0"/>
              <a:t>Picture (Optional)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1338"/>
            <a:ext cx="9144000" cy="4727734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4752788"/>
            <a:ext cx="9144000" cy="411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1538380"/>
            <a:ext cx="4800601" cy="155067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81001" y="3243565"/>
            <a:ext cx="3390900" cy="6159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6057900" y="4833649"/>
            <a:ext cx="2095500" cy="69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450" dirty="0">
                <a:solidFill>
                  <a:srgbClr val="000000"/>
                </a:solidFill>
                <a:latin typeface="Arial"/>
                <a:cs typeface="Arial"/>
              </a:rPr>
              <a:t>[Distribution Statement A] Approved for public release and unlimited distribution.</a:t>
            </a:r>
            <a:endParaRPr lang="en-US" sz="375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4739072"/>
            <a:ext cx="9144000" cy="137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4836583"/>
            <a:ext cx="1435608" cy="24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8279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4687491"/>
            <a:ext cx="1905000" cy="34170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/>
            <a:endParaRPr lang="en-US" sz="135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2396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4738279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381001" y="1898252"/>
            <a:ext cx="4800599" cy="21159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200" b="0" cap="none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Presentation Title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81002" y="2131716"/>
            <a:ext cx="4800600" cy="352425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6057900" y="-1"/>
            <a:ext cx="2667000" cy="47355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05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381001" y="1898252"/>
            <a:ext cx="4800599" cy="21159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200" b="0" cap="none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Presentation Title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81002" y="2131716"/>
            <a:ext cx="4800600" cy="352425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44000" cy="475259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381001" y="1898252"/>
            <a:ext cx="4800599" cy="21159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200" b="0" cap="none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Presentation Title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81002" y="2131716"/>
            <a:ext cx="4800600" cy="352425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4.em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.emf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05097"/>
            <a:ext cx="9144000" cy="4638403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6057900" y="141626"/>
            <a:ext cx="2095500" cy="126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450" dirty="0">
                <a:solidFill>
                  <a:srgbClr val="000000"/>
                </a:solidFill>
                <a:latin typeface="Arial"/>
                <a:cs typeface="Arial"/>
              </a:rPr>
              <a:t>[</a:t>
            </a:r>
            <a:r>
              <a:rPr lang="en-US" sz="375" dirty="0">
                <a:solidFill>
                  <a:srgbClr val="000000"/>
                </a:solidFill>
                <a:latin typeface="Arial"/>
                <a:cs typeface="Arial"/>
              </a:rPr>
              <a:t>DISTRIBUTION STATEMENT Please copy and paste the appropriate distribution statement into this space.]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492397"/>
            <a:ext cx="9144000" cy="137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144560"/>
            <a:ext cx="1435608" cy="24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03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6" r:id="rId2"/>
    <p:sldLayoutId id="2147483724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None/>
        <a:defRPr sz="16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55985" indent="-127397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71488" indent="-128588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-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85800" indent="-132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1500" kern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" userDrawn="1">
          <p15:clr>
            <a:srgbClr val="A4A3A4"/>
          </p15:clr>
        </p15:guide>
        <p15:guide id="2" pos="240">
          <p15:clr>
            <a:srgbClr val="A4A3A4"/>
          </p15:clr>
        </p15:guide>
        <p15:guide id="3" pos="600">
          <p15:clr>
            <a:srgbClr val="A4A3A4"/>
          </p15:clr>
        </p15:guide>
        <p15:guide id="4" pos="696">
          <p15:clr>
            <a:srgbClr val="A4A3A4"/>
          </p15:clr>
        </p15:guide>
        <p15:guide id="5" pos="1056">
          <p15:clr>
            <a:srgbClr val="A4A3A4"/>
          </p15:clr>
        </p15:guide>
        <p15:guide id="6" pos="1152">
          <p15:clr>
            <a:srgbClr val="A4A3A4"/>
          </p15:clr>
        </p15:guide>
        <p15:guide id="7" pos="1488">
          <p15:clr>
            <a:srgbClr val="A4A3A4"/>
          </p15:clr>
        </p15:guide>
        <p15:guide id="8" pos="1584">
          <p15:clr>
            <a:srgbClr val="A4A3A4"/>
          </p15:clr>
        </p15:guide>
        <p15:guide id="9" pos="1944">
          <p15:clr>
            <a:srgbClr val="A4A3A4"/>
          </p15:clr>
        </p15:guide>
        <p15:guide id="10" pos="2040">
          <p15:clr>
            <a:srgbClr val="A4A3A4"/>
          </p15:clr>
        </p15:guide>
        <p15:guide id="11" pos="2376">
          <p15:clr>
            <a:srgbClr val="A4A3A4"/>
          </p15:clr>
        </p15:guide>
        <p15:guide id="12" pos="2472">
          <p15:clr>
            <a:srgbClr val="A4A3A4"/>
          </p15:clr>
        </p15:guide>
        <p15:guide id="13" pos="2832">
          <p15:clr>
            <a:srgbClr val="A4A3A4"/>
          </p15:clr>
        </p15:guide>
        <p15:guide id="14" pos="2928">
          <p15:clr>
            <a:srgbClr val="A4A3A4"/>
          </p15:clr>
        </p15:guide>
        <p15:guide id="15" pos="3264">
          <p15:clr>
            <a:srgbClr val="A4A3A4"/>
          </p15:clr>
        </p15:guide>
        <p15:guide id="16" pos="3360">
          <p15:clr>
            <a:srgbClr val="A4A3A4"/>
          </p15:clr>
        </p15:guide>
        <p15:guide id="17" pos="3720">
          <p15:clr>
            <a:srgbClr val="A4A3A4"/>
          </p15:clr>
        </p15:guide>
        <p15:guide id="18" pos="3816">
          <p15:clr>
            <a:srgbClr val="A4A3A4"/>
          </p15:clr>
        </p15:guide>
        <p15:guide id="19" pos="4176">
          <p15:clr>
            <a:srgbClr val="A4A3A4"/>
          </p15:clr>
        </p15:guide>
        <p15:guide id="20" pos="4272">
          <p15:clr>
            <a:srgbClr val="A4A3A4"/>
          </p15:clr>
        </p15:guide>
        <p15:guide id="21" pos="4608">
          <p15:clr>
            <a:srgbClr val="A4A3A4"/>
          </p15:clr>
        </p15:guide>
        <p15:guide id="22" pos="4704">
          <p15:clr>
            <a:srgbClr val="A4A3A4"/>
          </p15:clr>
        </p15:guide>
        <p15:guide id="23" pos="5040">
          <p15:clr>
            <a:srgbClr val="A4A3A4"/>
          </p15:clr>
        </p15:guide>
        <p15:guide id="24" pos="5136">
          <p15:clr>
            <a:srgbClr val="A4A3A4"/>
          </p15:clr>
        </p15:guide>
        <p15:guide id="25" pos="5496">
          <p15:clr>
            <a:srgbClr val="A4A3A4"/>
          </p15:clr>
        </p15:guide>
        <p15:guide id="26" orient="horz" pos="540" userDrawn="1">
          <p15:clr>
            <a:srgbClr val="A4A3A4"/>
          </p15:clr>
        </p15:guide>
        <p15:guide id="27" orient="horz" pos="612" userDrawn="1">
          <p15:clr>
            <a:srgbClr val="A4A3A4"/>
          </p15:clr>
        </p15:guide>
        <p15:guide id="28" orient="horz" pos="924" userDrawn="1">
          <p15:clr>
            <a:srgbClr val="A4A3A4"/>
          </p15:clr>
        </p15:guide>
        <p15:guide id="29" orient="horz" pos="996" userDrawn="1">
          <p15:clr>
            <a:srgbClr val="A4A3A4"/>
          </p15:clr>
        </p15:guide>
        <p15:guide id="30" orient="horz" pos="1308" userDrawn="1">
          <p15:clr>
            <a:srgbClr val="A4A3A4"/>
          </p15:clr>
        </p15:guide>
        <p15:guide id="31" orient="horz" pos="1380" userDrawn="1">
          <p15:clr>
            <a:srgbClr val="A4A3A4"/>
          </p15:clr>
        </p15:guide>
        <p15:guide id="33" orient="horz" pos="1692" userDrawn="1">
          <p15:clr>
            <a:srgbClr val="A4A3A4"/>
          </p15:clr>
        </p15:guide>
        <p15:guide id="34" orient="horz" pos="1764" userDrawn="1">
          <p15:clr>
            <a:srgbClr val="A4A3A4"/>
          </p15:clr>
        </p15:guide>
        <p15:guide id="35" orient="horz" pos="2076" userDrawn="1">
          <p15:clr>
            <a:srgbClr val="A4A3A4"/>
          </p15:clr>
        </p15:guide>
        <p15:guide id="36" orient="horz" pos="2148" userDrawn="1">
          <p15:clr>
            <a:srgbClr val="A4A3A4"/>
          </p15:clr>
        </p15:guide>
        <p15:guide id="37" orient="horz" pos="2460" userDrawn="1">
          <p15:clr>
            <a:srgbClr val="A4A3A4"/>
          </p15:clr>
        </p15:guide>
        <p15:guide id="38" orient="horz" pos="2532" userDrawn="1">
          <p15:clr>
            <a:srgbClr val="A4A3A4"/>
          </p15:clr>
        </p15:guide>
        <p15:guide id="39" orient="horz" pos="2844" userDrawn="1">
          <p15:clr>
            <a:srgbClr val="A4A3A4"/>
          </p15:clr>
        </p15:guide>
        <p15:guide id="40" orient="horz" pos="2916">
          <p15:clr>
            <a:srgbClr val="A4A3A4"/>
          </p15:clr>
        </p15:guide>
        <p15:guide id="41" pos="2880">
          <p15:clr>
            <a:srgbClr val="F26B43"/>
          </p15:clr>
        </p15:guide>
        <p15:guide id="42" orient="horz" pos="1620">
          <p15:clr>
            <a:srgbClr val="F26B43"/>
          </p15:clr>
        </p15:guide>
        <p15:guide id="43" orient="horz" pos="324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171740"/>
            <a:ext cx="7772400" cy="63957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1" y="933450"/>
            <a:ext cx="8340968" cy="36385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8691825" y="4815275"/>
            <a:ext cx="401455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32F7E23-1C34-42C1-89D5-26D10EBDB3B3}" type="slidenum">
              <a:rPr lang="en-US" sz="105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ctangle 73"/>
          <p:cNvSpPr>
            <a:spLocks noChangeArrowheads="1"/>
          </p:cNvSpPr>
          <p:nvPr userDrawn="1"/>
        </p:nvSpPr>
        <p:spPr bwMode="white">
          <a:xfrm>
            <a:off x="2813538" y="4833649"/>
            <a:ext cx="3091963" cy="150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34286" bIns="0" anchor="t" anchorCtr="0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sz="525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CCS 2020: A Generic Technique for Automatically Finding Defense-Aware Code Reuse Attacks</a:t>
            </a:r>
          </a:p>
          <a:p>
            <a:pPr eaLnBrk="0" hangingPunct="0">
              <a:spcBef>
                <a:spcPct val="0"/>
              </a:spcBef>
            </a:pPr>
            <a:r>
              <a:rPr lang="en-US" sz="45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2020 Carnegie Mellon University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6057900" y="4833649"/>
            <a:ext cx="2095500" cy="69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450" dirty="0">
                <a:solidFill>
                  <a:srgbClr val="000000"/>
                </a:solidFill>
                <a:latin typeface="Arial"/>
                <a:cs typeface="Arial"/>
              </a:rPr>
              <a:t>[Distribution Statement A] Approved for public release and unlimited distribution.</a:t>
            </a:r>
            <a:endParaRPr lang="en-US" sz="375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0" y="4739072"/>
            <a:ext cx="9144000" cy="1371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1" y="4836583"/>
            <a:ext cx="1435608" cy="24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173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62" r:id="rId2"/>
    <p:sldLayoutId id="2147483664" r:id="rId3"/>
    <p:sldLayoutId id="2147483672" r:id="rId4"/>
    <p:sldLayoutId id="2147483673" r:id="rId5"/>
    <p:sldLayoutId id="2147483674" r:id="rId6"/>
    <p:sldLayoutId id="2147483675" r:id="rId7"/>
    <p:sldLayoutId id="2147483708" r:id="rId8"/>
    <p:sldLayoutId id="2147483825" r:id="rId9"/>
    <p:sldLayoutId id="2147483826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55985" indent="-127397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71488" indent="-128588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-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85800" indent="-132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2" userDrawn="1">
          <p15:clr>
            <a:srgbClr val="A4A3A4"/>
          </p15:clr>
        </p15:guide>
        <p15:guide id="2" pos="240" userDrawn="1">
          <p15:clr>
            <a:srgbClr val="A4A3A4"/>
          </p15:clr>
        </p15:guide>
        <p15:guide id="3" pos="600" userDrawn="1">
          <p15:clr>
            <a:srgbClr val="A4A3A4"/>
          </p15:clr>
        </p15:guide>
        <p15:guide id="4" pos="696" userDrawn="1">
          <p15:clr>
            <a:srgbClr val="A4A3A4"/>
          </p15:clr>
        </p15:guide>
        <p15:guide id="5" pos="1056" userDrawn="1">
          <p15:clr>
            <a:srgbClr val="A4A3A4"/>
          </p15:clr>
        </p15:guide>
        <p15:guide id="6" pos="1152" userDrawn="1">
          <p15:clr>
            <a:srgbClr val="A4A3A4"/>
          </p15:clr>
        </p15:guide>
        <p15:guide id="7" pos="1488" userDrawn="1">
          <p15:clr>
            <a:srgbClr val="A4A3A4"/>
          </p15:clr>
        </p15:guide>
        <p15:guide id="8" pos="1584" userDrawn="1">
          <p15:clr>
            <a:srgbClr val="A4A3A4"/>
          </p15:clr>
        </p15:guide>
        <p15:guide id="9" pos="1944" userDrawn="1">
          <p15:clr>
            <a:srgbClr val="A4A3A4"/>
          </p15:clr>
        </p15:guide>
        <p15:guide id="10" pos="2040" userDrawn="1">
          <p15:clr>
            <a:srgbClr val="A4A3A4"/>
          </p15:clr>
        </p15:guide>
        <p15:guide id="11" pos="2376" userDrawn="1">
          <p15:clr>
            <a:srgbClr val="A4A3A4"/>
          </p15:clr>
        </p15:guide>
        <p15:guide id="12" pos="2472" userDrawn="1">
          <p15:clr>
            <a:srgbClr val="A4A3A4"/>
          </p15:clr>
        </p15:guide>
        <p15:guide id="13" pos="2832" userDrawn="1">
          <p15:clr>
            <a:srgbClr val="A4A3A4"/>
          </p15:clr>
        </p15:guide>
        <p15:guide id="14" pos="2928" userDrawn="1">
          <p15:clr>
            <a:srgbClr val="A4A3A4"/>
          </p15:clr>
        </p15:guide>
        <p15:guide id="15" pos="3264" userDrawn="1">
          <p15:clr>
            <a:srgbClr val="A4A3A4"/>
          </p15:clr>
        </p15:guide>
        <p15:guide id="16" pos="3360" userDrawn="1">
          <p15:clr>
            <a:srgbClr val="A4A3A4"/>
          </p15:clr>
        </p15:guide>
        <p15:guide id="17" pos="3720" userDrawn="1">
          <p15:clr>
            <a:srgbClr val="A4A3A4"/>
          </p15:clr>
        </p15:guide>
        <p15:guide id="18" pos="3816" userDrawn="1">
          <p15:clr>
            <a:srgbClr val="A4A3A4"/>
          </p15:clr>
        </p15:guide>
        <p15:guide id="19" pos="4176" userDrawn="1">
          <p15:clr>
            <a:srgbClr val="A4A3A4"/>
          </p15:clr>
        </p15:guide>
        <p15:guide id="20" pos="4272" userDrawn="1">
          <p15:clr>
            <a:srgbClr val="A4A3A4"/>
          </p15:clr>
        </p15:guide>
        <p15:guide id="21" pos="4608" userDrawn="1">
          <p15:clr>
            <a:srgbClr val="A4A3A4"/>
          </p15:clr>
        </p15:guide>
        <p15:guide id="22" pos="4704" userDrawn="1">
          <p15:clr>
            <a:srgbClr val="A4A3A4"/>
          </p15:clr>
        </p15:guide>
        <p15:guide id="23" pos="5040" userDrawn="1">
          <p15:clr>
            <a:srgbClr val="A4A3A4"/>
          </p15:clr>
        </p15:guide>
        <p15:guide id="24" pos="5136" userDrawn="1">
          <p15:clr>
            <a:srgbClr val="A4A3A4"/>
          </p15:clr>
        </p15:guide>
        <p15:guide id="25" pos="5496" userDrawn="1">
          <p15:clr>
            <a:srgbClr val="A4A3A4"/>
          </p15:clr>
        </p15:guide>
        <p15:guide id="26" orient="horz" pos="516" userDrawn="1">
          <p15:clr>
            <a:srgbClr val="A4A3A4"/>
          </p15:clr>
        </p15:guide>
        <p15:guide id="27" orient="horz" pos="612" userDrawn="1">
          <p15:clr>
            <a:srgbClr val="A4A3A4"/>
          </p15:clr>
        </p15:guide>
        <p15:guide id="28" orient="horz" pos="924" userDrawn="1">
          <p15:clr>
            <a:srgbClr val="A4A3A4"/>
          </p15:clr>
        </p15:guide>
        <p15:guide id="29" orient="horz" pos="996" userDrawn="1">
          <p15:clr>
            <a:srgbClr val="A4A3A4"/>
          </p15:clr>
        </p15:guide>
        <p15:guide id="31" orient="horz" pos="1308" userDrawn="1">
          <p15:clr>
            <a:srgbClr val="A4A3A4"/>
          </p15:clr>
        </p15:guide>
        <p15:guide id="33" orient="horz" pos="1380" userDrawn="1">
          <p15:clr>
            <a:srgbClr val="A4A3A4"/>
          </p15:clr>
        </p15:guide>
        <p15:guide id="34" orient="horz" pos="1692" userDrawn="1">
          <p15:clr>
            <a:srgbClr val="A4A3A4"/>
          </p15:clr>
        </p15:guide>
        <p15:guide id="35" orient="horz" pos="1764" userDrawn="1">
          <p15:clr>
            <a:srgbClr val="A4A3A4"/>
          </p15:clr>
        </p15:guide>
        <p15:guide id="36" orient="horz" pos="2076" userDrawn="1">
          <p15:clr>
            <a:srgbClr val="A4A3A4"/>
          </p15:clr>
        </p15:guide>
        <p15:guide id="37" orient="horz" pos="2148" userDrawn="1">
          <p15:clr>
            <a:srgbClr val="A4A3A4"/>
          </p15:clr>
        </p15:guide>
        <p15:guide id="38" orient="horz" pos="2460" userDrawn="1">
          <p15:clr>
            <a:srgbClr val="A4A3A4"/>
          </p15:clr>
        </p15:guide>
        <p15:guide id="39" orient="horz" pos="2532" userDrawn="1">
          <p15:clr>
            <a:srgbClr val="A4A3A4"/>
          </p15:clr>
        </p15:guide>
        <p15:guide id="40" orient="horz" pos="2844" userDrawn="1">
          <p15:clr>
            <a:srgbClr val="A4A3A4"/>
          </p15:clr>
        </p15:guide>
        <p15:guide id="41" pos="2880" userDrawn="1">
          <p15:clr>
            <a:srgbClr val="F26B43"/>
          </p15:clr>
        </p15:guide>
        <p15:guide id="42" orient="horz" pos="162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4739072"/>
            <a:ext cx="9144000" cy="137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4836583"/>
            <a:ext cx="1435608" cy="24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223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None/>
        <a:defRPr sz="16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55985" indent="-127397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71488" indent="-128588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-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85800" indent="-132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1500" kern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6" userDrawn="1">
          <p15:clr>
            <a:srgbClr val="A4A3A4"/>
          </p15:clr>
        </p15:guide>
        <p15:guide id="2" pos="240" userDrawn="1">
          <p15:clr>
            <a:srgbClr val="A4A3A4"/>
          </p15:clr>
        </p15:guide>
        <p15:guide id="3" pos="600" userDrawn="1">
          <p15:clr>
            <a:srgbClr val="A4A3A4"/>
          </p15:clr>
        </p15:guide>
        <p15:guide id="4" pos="696" userDrawn="1">
          <p15:clr>
            <a:srgbClr val="A4A3A4"/>
          </p15:clr>
        </p15:guide>
        <p15:guide id="5" pos="1056" userDrawn="1">
          <p15:clr>
            <a:srgbClr val="A4A3A4"/>
          </p15:clr>
        </p15:guide>
        <p15:guide id="6" pos="1152" userDrawn="1">
          <p15:clr>
            <a:srgbClr val="A4A3A4"/>
          </p15:clr>
        </p15:guide>
        <p15:guide id="7" pos="1488" userDrawn="1">
          <p15:clr>
            <a:srgbClr val="A4A3A4"/>
          </p15:clr>
        </p15:guide>
        <p15:guide id="8" pos="1584" userDrawn="1">
          <p15:clr>
            <a:srgbClr val="A4A3A4"/>
          </p15:clr>
        </p15:guide>
        <p15:guide id="9" pos="1944" userDrawn="1">
          <p15:clr>
            <a:srgbClr val="A4A3A4"/>
          </p15:clr>
        </p15:guide>
        <p15:guide id="10" pos="2040" userDrawn="1">
          <p15:clr>
            <a:srgbClr val="A4A3A4"/>
          </p15:clr>
        </p15:guide>
        <p15:guide id="11" pos="2376" userDrawn="1">
          <p15:clr>
            <a:srgbClr val="A4A3A4"/>
          </p15:clr>
        </p15:guide>
        <p15:guide id="12" pos="2472" userDrawn="1">
          <p15:clr>
            <a:srgbClr val="A4A3A4"/>
          </p15:clr>
        </p15:guide>
        <p15:guide id="13" pos="2832" userDrawn="1">
          <p15:clr>
            <a:srgbClr val="A4A3A4"/>
          </p15:clr>
        </p15:guide>
        <p15:guide id="14" pos="2928" userDrawn="1">
          <p15:clr>
            <a:srgbClr val="A4A3A4"/>
          </p15:clr>
        </p15:guide>
        <p15:guide id="15" pos="3264" userDrawn="1">
          <p15:clr>
            <a:srgbClr val="A4A3A4"/>
          </p15:clr>
        </p15:guide>
        <p15:guide id="16" pos="3360" userDrawn="1">
          <p15:clr>
            <a:srgbClr val="A4A3A4"/>
          </p15:clr>
        </p15:guide>
        <p15:guide id="17" pos="3720" userDrawn="1">
          <p15:clr>
            <a:srgbClr val="A4A3A4"/>
          </p15:clr>
        </p15:guide>
        <p15:guide id="18" pos="3816" userDrawn="1">
          <p15:clr>
            <a:srgbClr val="A4A3A4"/>
          </p15:clr>
        </p15:guide>
        <p15:guide id="19" pos="4176" userDrawn="1">
          <p15:clr>
            <a:srgbClr val="A4A3A4"/>
          </p15:clr>
        </p15:guide>
        <p15:guide id="20" pos="4272" userDrawn="1">
          <p15:clr>
            <a:srgbClr val="A4A3A4"/>
          </p15:clr>
        </p15:guide>
        <p15:guide id="21" pos="4608" userDrawn="1">
          <p15:clr>
            <a:srgbClr val="A4A3A4"/>
          </p15:clr>
        </p15:guide>
        <p15:guide id="22" pos="4704" userDrawn="1">
          <p15:clr>
            <a:srgbClr val="A4A3A4"/>
          </p15:clr>
        </p15:guide>
        <p15:guide id="23" pos="5040" userDrawn="1">
          <p15:clr>
            <a:srgbClr val="A4A3A4"/>
          </p15:clr>
        </p15:guide>
        <p15:guide id="24" pos="5136" userDrawn="1">
          <p15:clr>
            <a:srgbClr val="A4A3A4"/>
          </p15:clr>
        </p15:guide>
        <p15:guide id="25" pos="5496" userDrawn="1">
          <p15:clr>
            <a:srgbClr val="A4A3A4"/>
          </p15:clr>
        </p15:guide>
        <p15:guide id="26" orient="horz" pos="540" userDrawn="1">
          <p15:clr>
            <a:srgbClr val="A4A3A4"/>
          </p15:clr>
        </p15:guide>
        <p15:guide id="27" orient="horz" pos="612" userDrawn="1">
          <p15:clr>
            <a:srgbClr val="A4A3A4"/>
          </p15:clr>
        </p15:guide>
        <p15:guide id="28" orient="horz" pos="924" userDrawn="1">
          <p15:clr>
            <a:srgbClr val="A4A3A4"/>
          </p15:clr>
        </p15:guide>
        <p15:guide id="29" orient="horz" pos="996" userDrawn="1">
          <p15:clr>
            <a:srgbClr val="A4A3A4"/>
          </p15:clr>
        </p15:guide>
        <p15:guide id="32" orient="horz" pos="1308" userDrawn="1">
          <p15:clr>
            <a:srgbClr val="A4A3A4"/>
          </p15:clr>
        </p15:guide>
        <p15:guide id="33" orient="horz" pos="1380" userDrawn="1">
          <p15:clr>
            <a:srgbClr val="A4A3A4"/>
          </p15:clr>
        </p15:guide>
        <p15:guide id="34" orient="horz" pos="1692" userDrawn="1">
          <p15:clr>
            <a:srgbClr val="A4A3A4"/>
          </p15:clr>
        </p15:guide>
        <p15:guide id="35" orient="horz" pos="1764" userDrawn="1">
          <p15:clr>
            <a:srgbClr val="A4A3A4"/>
          </p15:clr>
        </p15:guide>
        <p15:guide id="36" orient="horz" pos="2076" userDrawn="1">
          <p15:clr>
            <a:srgbClr val="A4A3A4"/>
          </p15:clr>
        </p15:guide>
        <p15:guide id="37" orient="horz" pos="2148" userDrawn="1">
          <p15:clr>
            <a:srgbClr val="A4A3A4"/>
          </p15:clr>
        </p15:guide>
        <p15:guide id="38" orient="horz" pos="2532" userDrawn="1">
          <p15:clr>
            <a:srgbClr val="A4A3A4"/>
          </p15:clr>
        </p15:guide>
        <p15:guide id="39" orient="horz" pos="2460" userDrawn="1">
          <p15:clr>
            <a:srgbClr val="A4A3A4"/>
          </p15:clr>
        </p15:guide>
        <p15:guide id="40" orient="horz" pos="2844" userDrawn="1">
          <p15:clr>
            <a:srgbClr val="A4A3A4"/>
          </p15:clr>
        </p15:guide>
        <p15:guide id="41" pos="2880" userDrawn="1">
          <p15:clr>
            <a:srgbClr val="F26B43"/>
          </p15:clr>
        </p15:guide>
        <p15:guide id="42" orient="horz" pos="16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mailto:eschwartz@cert.org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lIns="0" tIns="0" rIns="0" bIns="0" anchor="t" anchorCtr="0">
            <a:normAutofit/>
          </a:bodyPr>
          <a:lstStyle/>
          <a:p>
            <a:r>
              <a:rPr lang="en-US" sz="2400" i="1" dirty="0"/>
              <a:t>A Generic Technique for Automatically Finding Defense-Aware Code Reuse Attacks</a:t>
            </a:r>
            <a:endParaRPr lang="en-US" sz="21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3089051"/>
            <a:ext cx="4019165" cy="525592"/>
          </a:xfrm>
        </p:spPr>
        <p:txBody>
          <a:bodyPr>
            <a:normAutofit/>
          </a:bodyPr>
          <a:lstStyle/>
          <a:p>
            <a:r>
              <a:rPr lang="en-US" sz="1200" u="sng" dirty="0"/>
              <a:t>Edward J. Schwartz</a:t>
            </a:r>
            <a:r>
              <a:rPr lang="en-US" sz="1200" dirty="0"/>
              <a:t>, Cory F. Cohen, Jeffrey S. Gennari</a:t>
            </a:r>
          </a:p>
          <a:p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AD4D34-AC3D-4102-B931-D6C3C4B369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290789"/>
            <a:ext cx="2500532" cy="2804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898DA4-BE3B-4677-A1E4-0B00353766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053359"/>
            <a:ext cx="1687140" cy="230206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71880E40-4CDC-415A-B358-92090A988BE5}"/>
              </a:ext>
            </a:extLst>
          </p:cNvPr>
          <p:cNvSpPr txBox="1">
            <a:spLocks/>
          </p:cNvSpPr>
          <p:nvPr/>
        </p:nvSpPr>
        <p:spPr>
          <a:xfrm>
            <a:off x="380999" y="3816381"/>
            <a:ext cx="4019165" cy="13479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indent="0" algn="ctr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85800" indent="0" algn="ctr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028700" indent="0" algn="ctr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Stephanie M. Schwartz</a:t>
            </a:r>
          </a:p>
        </p:txBody>
      </p:sp>
    </p:spTree>
    <p:extLst>
      <p:ext uri="{BB962C8B-B14F-4D97-AF65-F5344CB8AC3E}">
        <p14:creationId xmlns:p14="http://schemas.microsoft.com/office/powerpoint/2010/main" val="2802233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2DB84C3-C335-4B27-9449-0D85B602C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F79C05-A2A1-4A60-BC39-18BC89DCAF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D0286D-DF40-4FA2-ACB9-6CBF76BF9504}"/>
              </a:ext>
            </a:extLst>
          </p:cNvPr>
          <p:cNvSpPr/>
          <p:nvPr/>
        </p:nvSpPr>
        <p:spPr>
          <a:xfrm>
            <a:off x="1396148" y="1429901"/>
            <a:ext cx="6351704" cy="165082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/>
              <a:t>A Very, Very Short Crash Course</a:t>
            </a:r>
            <a:br>
              <a:rPr lang="en-US" sz="3600" dirty="0"/>
            </a:br>
            <a:r>
              <a:rPr lang="en-US" sz="3600" dirty="0"/>
              <a:t>on Code Reuse Attacks</a:t>
            </a:r>
          </a:p>
        </p:txBody>
      </p:sp>
    </p:spTree>
    <p:extLst>
      <p:ext uri="{BB962C8B-B14F-4D97-AF65-F5344CB8AC3E}">
        <p14:creationId xmlns:p14="http://schemas.microsoft.com/office/powerpoint/2010/main" val="4289231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8C890-A25B-45C4-9D66-D4D6C66C1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Background: Shellcode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21F71E9-0C53-44CC-8864-E80728B449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3FC92A-6A67-4A5D-B004-1DAC29FDD1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E9888E2-17E0-4E58-8811-FC9BEC0ACF05}"/>
              </a:ext>
            </a:extLst>
          </p:cNvPr>
          <p:cNvGrpSpPr/>
          <p:nvPr/>
        </p:nvGrpSpPr>
        <p:grpSpPr>
          <a:xfrm>
            <a:off x="5673845" y="76994"/>
            <a:ext cx="3633371" cy="3927186"/>
            <a:chOff x="5496038" y="649643"/>
            <a:chExt cx="3633371" cy="392718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5BD010D-9DEB-421E-8EDA-7CFDD50BCA6D}"/>
                </a:ext>
              </a:extLst>
            </p:cNvPr>
            <p:cNvGrpSpPr/>
            <p:nvPr/>
          </p:nvGrpSpPr>
          <p:grpSpPr>
            <a:xfrm>
              <a:off x="5929009" y="649643"/>
              <a:ext cx="3200400" cy="3857163"/>
              <a:chOff x="5624208" y="844377"/>
              <a:chExt cx="3200400" cy="3857163"/>
            </a:xfrm>
          </p:grpSpPr>
          <p:sp>
            <p:nvSpPr>
              <p:cNvPr id="13" name="Rounded Rectangle 18">
                <a:extLst>
                  <a:ext uri="{FF2B5EF4-FFF2-40B4-BE49-F238E27FC236}">
                    <a16:creationId xmlns:a16="http://schemas.microsoft.com/office/drawing/2014/main" id="{26CA74E5-9F7C-42D7-9F7E-226733DA3EC1}"/>
                  </a:ext>
                </a:extLst>
              </p:cNvPr>
              <p:cNvSpPr/>
              <p:nvPr/>
            </p:nvSpPr>
            <p:spPr>
              <a:xfrm>
                <a:off x="5791200" y="914400"/>
                <a:ext cx="2810933" cy="3787140"/>
              </a:xfrm>
              <a:prstGeom prst="roundRect">
                <a:avLst>
                  <a:gd name="adj" fmla="val 7933"/>
                </a:avLst>
              </a:prstGeom>
              <a:solidFill>
                <a:schemeClr val="dk1">
                  <a:alpha val="12000"/>
                </a:schemeClr>
              </a:solidFill>
              <a:ln w="31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3600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2583CDA-9D39-4CF1-80B7-30AFCD0A462D}"/>
                  </a:ext>
                </a:extLst>
              </p:cNvPr>
              <p:cNvSpPr/>
              <p:nvPr/>
            </p:nvSpPr>
            <p:spPr>
              <a:xfrm>
                <a:off x="5905500" y="2537635"/>
                <a:ext cx="2590800" cy="502920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/>
                  <a:t>Library Code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EEB39ED-1507-4670-9CFC-FCDD7B96B24B}"/>
                  </a:ext>
                </a:extLst>
              </p:cNvPr>
              <p:cNvGrpSpPr/>
              <p:nvPr/>
            </p:nvGrpSpPr>
            <p:grpSpPr>
              <a:xfrm>
                <a:off x="5905500" y="1512467"/>
                <a:ext cx="2590800" cy="1010252"/>
                <a:chOff x="5905500" y="979073"/>
                <a:chExt cx="2590800" cy="1010252"/>
              </a:xfrm>
            </p:grpSpPr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88F30A05-B828-419E-AD4D-CFF80DB50B13}"/>
                    </a:ext>
                  </a:extLst>
                </p:cNvPr>
                <p:cNvSpPr/>
                <p:nvPr/>
              </p:nvSpPr>
              <p:spPr>
                <a:xfrm>
                  <a:off x="5905500" y="989056"/>
                  <a:ext cx="2590800" cy="1000269"/>
                </a:xfrm>
                <a:custGeom>
                  <a:avLst/>
                  <a:gdLst>
                    <a:gd name="connsiteX0" fmla="*/ 83822 w 2590800"/>
                    <a:gd name="connsiteY0" fmla="*/ 0 h 1000269"/>
                    <a:gd name="connsiteX1" fmla="*/ 2506978 w 2590800"/>
                    <a:gd name="connsiteY1" fmla="*/ 0 h 1000269"/>
                    <a:gd name="connsiteX2" fmla="*/ 2590800 w 2590800"/>
                    <a:gd name="connsiteY2" fmla="*/ 83822 h 1000269"/>
                    <a:gd name="connsiteX3" fmla="*/ 2590800 w 2590800"/>
                    <a:gd name="connsiteY3" fmla="*/ 419098 h 1000269"/>
                    <a:gd name="connsiteX4" fmla="*/ 2506978 w 2590800"/>
                    <a:gd name="connsiteY4" fmla="*/ 502920 h 1000269"/>
                    <a:gd name="connsiteX5" fmla="*/ 1396365 w 2590800"/>
                    <a:gd name="connsiteY5" fmla="*/ 502920 h 1000269"/>
                    <a:gd name="connsiteX6" fmla="*/ 1396365 w 2590800"/>
                    <a:gd name="connsiteY6" fmla="*/ 798339 h 1000269"/>
                    <a:gd name="connsiteX7" fmla="*/ 1497330 w 2590800"/>
                    <a:gd name="connsiteY7" fmla="*/ 798339 h 1000269"/>
                    <a:gd name="connsiteX8" fmla="*/ 1295400 w 2590800"/>
                    <a:gd name="connsiteY8" fmla="*/ 1000269 h 1000269"/>
                    <a:gd name="connsiteX9" fmla="*/ 1093470 w 2590800"/>
                    <a:gd name="connsiteY9" fmla="*/ 798339 h 1000269"/>
                    <a:gd name="connsiteX10" fmla="*/ 1194435 w 2590800"/>
                    <a:gd name="connsiteY10" fmla="*/ 798339 h 1000269"/>
                    <a:gd name="connsiteX11" fmla="*/ 1194435 w 2590800"/>
                    <a:gd name="connsiteY11" fmla="*/ 502920 h 1000269"/>
                    <a:gd name="connsiteX12" fmla="*/ 83822 w 2590800"/>
                    <a:gd name="connsiteY12" fmla="*/ 502920 h 1000269"/>
                    <a:gd name="connsiteX13" fmla="*/ 0 w 2590800"/>
                    <a:gd name="connsiteY13" fmla="*/ 419098 h 1000269"/>
                    <a:gd name="connsiteX14" fmla="*/ 0 w 2590800"/>
                    <a:gd name="connsiteY14" fmla="*/ 83822 h 1000269"/>
                    <a:gd name="connsiteX15" fmla="*/ 83822 w 2590800"/>
                    <a:gd name="connsiteY15" fmla="*/ 0 h 1000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590800" h="1000269">
                      <a:moveTo>
                        <a:pt x="83822" y="0"/>
                      </a:moveTo>
                      <a:lnTo>
                        <a:pt x="2506978" y="0"/>
                      </a:lnTo>
                      <a:cubicBezTo>
                        <a:pt x="2553272" y="0"/>
                        <a:pt x="2590800" y="37528"/>
                        <a:pt x="2590800" y="83822"/>
                      </a:cubicBezTo>
                      <a:lnTo>
                        <a:pt x="2590800" y="419098"/>
                      </a:lnTo>
                      <a:cubicBezTo>
                        <a:pt x="2590800" y="465392"/>
                        <a:pt x="2553272" y="502920"/>
                        <a:pt x="2506978" y="502920"/>
                      </a:cubicBezTo>
                      <a:lnTo>
                        <a:pt x="1396365" y="502920"/>
                      </a:lnTo>
                      <a:lnTo>
                        <a:pt x="1396365" y="798339"/>
                      </a:lnTo>
                      <a:lnTo>
                        <a:pt x="1497330" y="798339"/>
                      </a:lnTo>
                      <a:lnTo>
                        <a:pt x="1295400" y="1000269"/>
                      </a:lnTo>
                      <a:lnTo>
                        <a:pt x="1093470" y="798339"/>
                      </a:lnTo>
                      <a:lnTo>
                        <a:pt x="1194435" y="798339"/>
                      </a:lnTo>
                      <a:lnTo>
                        <a:pt x="1194435" y="502920"/>
                      </a:lnTo>
                      <a:lnTo>
                        <a:pt x="83822" y="502920"/>
                      </a:lnTo>
                      <a:cubicBezTo>
                        <a:pt x="37528" y="502920"/>
                        <a:pt x="0" y="465392"/>
                        <a:pt x="0" y="419098"/>
                      </a:cubicBezTo>
                      <a:lnTo>
                        <a:pt x="0" y="83822"/>
                      </a:lnTo>
                      <a:cubicBezTo>
                        <a:pt x="0" y="37528"/>
                        <a:pt x="37528" y="0"/>
                        <a:pt x="83822" y="0"/>
                      </a:cubicBezTo>
                      <a:close/>
                    </a:path>
                  </a:pathLst>
                </a:cu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9B659F2-1BD1-40D8-8427-07B7D886C9FA}"/>
                    </a:ext>
                  </a:extLst>
                </p:cNvPr>
                <p:cNvSpPr txBox="1"/>
                <p:nvPr/>
              </p:nvSpPr>
              <p:spPr>
                <a:xfrm>
                  <a:off x="6582833" y="979073"/>
                  <a:ext cx="1236134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3200" dirty="0">
                      <a:cs typeface="Arial"/>
                    </a:rPr>
                    <a:t>Stack</a:t>
                  </a: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E3307A4-61D3-4432-9717-5D5F77890753}"/>
                  </a:ext>
                </a:extLst>
              </p:cNvPr>
              <p:cNvGrpSpPr/>
              <p:nvPr/>
            </p:nvGrpSpPr>
            <p:grpSpPr>
              <a:xfrm>
                <a:off x="5905500" y="3061041"/>
                <a:ext cx="2590800" cy="1005840"/>
                <a:chOff x="5905500" y="3077975"/>
                <a:chExt cx="2590800" cy="1005840"/>
              </a:xfrm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4598E2C0-18E1-48B2-B2D1-A01322CC6684}"/>
                    </a:ext>
                  </a:extLst>
                </p:cNvPr>
                <p:cNvSpPr/>
                <p:nvPr/>
              </p:nvSpPr>
              <p:spPr>
                <a:xfrm>
                  <a:off x="5905500" y="3077975"/>
                  <a:ext cx="2590800" cy="1005840"/>
                </a:xfrm>
                <a:custGeom>
                  <a:avLst/>
                  <a:gdLst>
                    <a:gd name="connsiteX0" fmla="*/ 1295400 w 2590800"/>
                    <a:gd name="connsiteY0" fmla="*/ 0 h 1005840"/>
                    <a:gd name="connsiteX1" fmla="*/ 1497330 w 2590800"/>
                    <a:gd name="connsiteY1" fmla="*/ 201930 h 1005840"/>
                    <a:gd name="connsiteX2" fmla="*/ 1396365 w 2590800"/>
                    <a:gd name="connsiteY2" fmla="*/ 201930 h 1005840"/>
                    <a:gd name="connsiteX3" fmla="*/ 1396365 w 2590800"/>
                    <a:gd name="connsiteY3" fmla="*/ 502920 h 1005840"/>
                    <a:gd name="connsiteX4" fmla="*/ 2506978 w 2590800"/>
                    <a:gd name="connsiteY4" fmla="*/ 502920 h 1005840"/>
                    <a:gd name="connsiteX5" fmla="*/ 2590800 w 2590800"/>
                    <a:gd name="connsiteY5" fmla="*/ 586742 h 1005840"/>
                    <a:gd name="connsiteX6" fmla="*/ 2590800 w 2590800"/>
                    <a:gd name="connsiteY6" fmla="*/ 922018 h 1005840"/>
                    <a:gd name="connsiteX7" fmla="*/ 2506978 w 2590800"/>
                    <a:gd name="connsiteY7" fmla="*/ 1005840 h 1005840"/>
                    <a:gd name="connsiteX8" fmla="*/ 83822 w 2590800"/>
                    <a:gd name="connsiteY8" fmla="*/ 1005840 h 1005840"/>
                    <a:gd name="connsiteX9" fmla="*/ 0 w 2590800"/>
                    <a:gd name="connsiteY9" fmla="*/ 922018 h 1005840"/>
                    <a:gd name="connsiteX10" fmla="*/ 0 w 2590800"/>
                    <a:gd name="connsiteY10" fmla="*/ 586742 h 1005840"/>
                    <a:gd name="connsiteX11" fmla="*/ 83822 w 2590800"/>
                    <a:gd name="connsiteY11" fmla="*/ 502920 h 1005840"/>
                    <a:gd name="connsiteX12" fmla="*/ 1194435 w 2590800"/>
                    <a:gd name="connsiteY12" fmla="*/ 502920 h 1005840"/>
                    <a:gd name="connsiteX13" fmla="*/ 1194435 w 2590800"/>
                    <a:gd name="connsiteY13" fmla="*/ 201930 h 1005840"/>
                    <a:gd name="connsiteX14" fmla="*/ 1093470 w 2590800"/>
                    <a:gd name="connsiteY14" fmla="*/ 201930 h 10058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590800" h="1005840">
                      <a:moveTo>
                        <a:pt x="1295400" y="0"/>
                      </a:moveTo>
                      <a:lnTo>
                        <a:pt x="1497330" y="201930"/>
                      </a:lnTo>
                      <a:lnTo>
                        <a:pt x="1396365" y="201930"/>
                      </a:lnTo>
                      <a:lnTo>
                        <a:pt x="1396365" y="502920"/>
                      </a:lnTo>
                      <a:lnTo>
                        <a:pt x="2506978" y="502920"/>
                      </a:lnTo>
                      <a:cubicBezTo>
                        <a:pt x="2553272" y="502920"/>
                        <a:pt x="2590800" y="540448"/>
                        <a:pt x="2590800" y="586742"/>
                      </a:cubicBezTo>
                      <a:lnTo>
                        <a:pt x="2590800" y="922018"/>
                      </a:lnTo>
                      <a:cubicBezTo>
                        <a:pt x="2590800" y="968312"/>
                        <a:pt x="2553272" y="1005840"/>
                        <a:pt x="2506978" y="1005840"/>
                      </a:cubicBezTo>
                      <a:lnTo>
                        <a:pt x="83822" y="1005840"/>
                      </a:lnTo>
                      <a:cubicBezTo>
                        <a:pt x="37528" y="1005840"/>
                        <a:pt x="0" y="968312"/>
                        <a:pt x="0" y="922018"/>
                      </a:cubicBezTo>
                      <a:lnTo>
                        <a:pt x="0" y="586742"/>
                      </a:lnTo>
                      <a:cubicBezTo>
                        <a:pt x="0" y="540448"/>
                        <a:pt x="37528" y="502920"/>
                        <a:pt x="83822" y="502920"/>
                      </a:cubicBezTo>
                      <a:lnTo>
                        <a:pt x="1194435" y="502920"/>
                      </a:lnTo>
                      <a:lnTo>
                        <a:pt x="1194435" y="201930"/>
                      </a:lnTo>
                      <a:lnTo>
                        <a:pt x="1093470" y="201930"/>
                      </a:lnTo>
                      <a:close/>
                    </a:path>
                  </a:pathLst>
                </a:cu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dirty="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D24B1B8-2BDC-4666-82FA-8F161453F746}"/>
                    </a:ext>
                  </a:extLst>
                </p:cNvPr>
                <p:cNvSpPr txBox="1"/>
                <p:nvPr/>
              </p:nvSpPr>
              <p:spPr>
                <a:xfrm>
                  <a:off x="6582833" y="3565745"/>
                  <a:ext cx="1236134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3200" dirty="0">
                      <a:cs typeface="Arial"/>
                    </a:rPr>
                    <a:t>Heap</a:t>
                  </a:r>
                </a:p>
              </p:txBody>
            </p:sp>
          </p:grp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E3C25407-DA0B-4296-96B9-31DFB357BE06}"/>
                  </a:ext>
                </a:extLst>
              </p:cNvPr>
              <p:cNvSpPr/>
              <p:nvPr/>
            </p:nvSpPr>
            <p:spPr>
              <a:xfrm>
                <a:off x="5905500" y="4108369"/>
                <a:ext cx="2590800" cy="502920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/>
                  <a:t>Program Code</a:t>
                </a:r>
              </a:p>
            </p:txBody>
          </p:sp>
          <p:sp>
            <p:nvSpPr>
              <p:cNvPr id="18" name="TextBox 20">
                <a:extLst>
                  <a:ext uri="{FF2B5EF4-FFF2-40B4-BE49-F238E27FC236}">
                    <a16:creationId xmlns:a16="http://schemas.microsoft.com/office/drawing/2014/main" id="{8AF41B81-AB8A-44D7-BB8C-68690CFD95BC}"/>
                  </a:ext>
                </a:extLst>
              </p:cNvPr>
              <p:cNvSpPr txBox="1"/>
              <p:nvPr/>
            </p:nvSpPr>
            <p:spPr>
              <a:xfrm>
                <a:off x="5624208" y="844377"/>
                <a:ext cx="3200400" cy="6858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4000" dirty="0">
                    <a:latin typeface="Calibri" pitchFamily="34" charset="0"/>
                    <a:cs typeface="Calibri" pitchFamily="34" charset="0"/>
                  </a:rPr>
                  <a:t>Memory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8C70B6-899B-447F-9EF3-334605BD4BBE}"/>
                </a:ext>
              </a:extLst>
            </p:cNvPr>
            <p:cNvSpPr txBox="1"/>
            <p:nvPr/>
          </p:nvSpPr>
          <p:spPr>
            <a:xfrm>
              <a:off x="5496039" y="4238275"/>
              <a:ext cx="1032933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Arial"/>
                </a:rPr>
                <a:t>Low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2AC06A-85A3-492C-ABF1-3F4B669BCE82}"/>
                </a:ext>
              </a:extLst>
            </p:cNvPr>
            <p:cNvSpPr txBox="1"/>
            <p:nvPr/>
          </p:nvSpPr>
          <p:spPr>
            <a:xfrm>
              <a:off x="5496038" y="1126234"/>
              <a:ext cx="1032933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Arial"/>
                </a:rPr>
                <a:t>High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A388A91-78A1-44CE-A9D5-4632BCFB286F}"/>
              </a:ext>
            </a:extLst>
          </p:cNvPr>
          <p:cNvSpPr txBox="1"/>
          <p:nvPr/>
        </p:nvSpPr>
        <p:spPr>
          <a:xfrm>
            <a:off x="921015" y="822880"/>
            <a:ext cx="2737524" cy="340519"/>
          </a:xfrm>
          <a:prstGeom prst="roundRect">
            <a:avLst/>
          </a:prstGeom>
          <a:solidFill>
            <a:srgbClr val="FDF6E3"/>
          </a:solidFill>
          <a:ln w="9525">
            <a:solidFill>
              <a:schemeClr val="accent6"/>
            </a:solidFill>
          </a:ln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000" dirty="0" err="1">
                <a:solidFill>
                  <a:srgbClr val="B58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movl</a:t>
            </a:r>
            <a:r>
              <a:rPr lang="en-US" sz="2000" dirty="0">
                <a:solidFill>
                  <a:srgbClr val="657B83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B58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$42</a:t>
            </a:r>
            <a:r>
              <a:rPr lang="en-US" sz="2000" dirty="0">
                <a:solidFill>
                  <a:srgbClr val="586E75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657B83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2AA198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0x8048423</a:t>
            </a:r>
            <a:endParaRPr lang="en-US" sz="2000" dirty="0">
              <a:latin typeface="Consolas" panose="020B0609020204030204" pitchFamily="49" charset="0"/>
              <a:cs typeface="Arial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427CC73-0BD0-47A9-863C-24CD1A7479A0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658539" y="993140"/>
            <a:ext cx="2729569" cy="23922"/>
          </a:xfrm>
          <a:prstGeom prst="straightConnector1">
            <a:avLst/>
          </a:prstGeom>
          <a:ln w="57150">
            <a:tailEnd type="triangle" w="lg" len="lg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4161987-638C-42F4-9731-680FF9588B4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658539" y="993140"/>
            <a:ext cx="2729569" cy="1887260"/>
          </a:xfrm>
          <a:prstGeom prst="straightConnector1">
            <a:avLst/>
          </a:prstGeom>
          <a:ln w="57150">
            <a:tailEnd type="triangle" w="lg" len="lg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758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6DF7B-1620-45ED-A67B-BB042C538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Background: Data Execution Prevention (DEP)</a:t>
            </a:r>
            <a:br>
              <a:rPr lang="en-US" dirty="0"/>
            </a:br>
            <a:endParaRPr lang="en-US" sz="2000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C150CAE-DA1F-410B-B8CA-39FF508CF1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7BFDCF-E27D-4DA6-86A4-28CAC49F3453}"/>
              </a:ext>
            </a:extLst>
          </p:cNvPr>
          <p:cNvSpPr/>
          <p:nvPr/>
        </p:nvSpPr>
        <p:spPr>
          <a:xfrm>
            <a:off x="954545" y="3236463"/>
            <a:ext cx="7234910" cy="104367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45720" rIns="45720" rtlCol="0" anchor="ctr"/>
          <a:lstStyle/>
          <a:p>
            <a:pPr marL="0" lvl="1" algn="ctr"/>
            <a:r>
              <a:rPr lang="en-US" sz="2400" dirty="0"/>
              <a:t>Memory should never be </a:t>
            </a:r>
            <a:br>
              <a:rPr lang="en-US" sz="2400" dirty="0"/>
            </a:br>
            <a:r>
              <a:rPr lang="en-US" sz="2400" u="sng" dirty="0">
                <a:solidFill>
                  <a:schemeClr val="accent6"/>
                </a:solidFill>
              </a:rPr>
              <a:t>writable</a:t>
            </a:r>
            <a:r>
              <a:rPr lang="en-US" sz="2400" dirty="0"/>
              <a:t> and </a:t>
            </a:r>
            <a:r>
              <a:rPr lang="en-US" sz="2400" u="sng" dirty="0">
                <a:solidFill>
                  <a:schemeClr val="accent1"/>
                </a:solidFill>
              </a:rPr>
              <a:t>executable</a:t>
            </a:r>
            <a:r>
              <a:rPr lang="en-US" sz="2400" dirty="0"/>
              <a:t> at the same time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4727999-05C6-4B2E-B487-9DECC7F4549F}"/>
              </a:ext>
            </a:extLst>
          </p:cNvPr>
          <p:cNvSpPr/>
          <p:nvPr/>
        </p:nvSpPr>
        <p:spPr>
          <a:xfrm>
            <a:off x="954545" y="1303315"/>
            <a:ext cx="7234910" cy="104367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sz="2400" dirty="0"/>
              <a:t>Prevent attacker from inserting </a:t>
            </a:r>
            <a:r>
              <a:rPr lang="en-US" sz="2400" u="sng" dirty="0"/>
              <a:t>executable</a:t>
            </a:r>
            <a:r>
              <a:rPr lang="en-US" sz="2400" dirty="0"/>
              <a:t> code into memory (for the exploit's computation)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52F675-1836-4694-88C6-95CCEE42DFAF}"/>
              </a:ext>
            </a:extLst>
          </p:cNvPr>
          <p:cNvSpPr txBox="1"/>
          <p:nvPr/>
        </p:nvSpPr>
        <p:spPr>
          <a:xfrm>
            <a:off x="956432" y="964761"/>
            <a:ext cx="2270657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200" dirty="0">
                <a:cs typeface="Arial"/>
              </a:rPr>
              <a:t>Goal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EA4DC0-598C-4032-B95D-B701D077872F}"/>
              </a:ext>
            </a:extLst>
          </p:cNvPr>
          <p:cNvSpPr txBox="1"/>
          <p:nvPr/>
        </p:nvSpPr>
        <p:spPr>
          <a:xfrm>
            <a:off x="954545" y="2877581"/>
            <a:ext cx="2270657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200" dirty="0">
                <a:cs typeface="Arial"/>
              </a:rPr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52548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C7DA366-C31A-481C-86E1-9F60EC0D76EB}"/>
              </a:ext>
            </a:extLst>
          </p:cNvPr>
          <p:cNvSpPr/>
          <p:nvPr/>
        </p:nvSpPr>
        <p:spPr>
          <a:xfrm>
            <a:off x="822346" y="1264401"/>
            <a:ext cx="2579371" cy="3416888"/>
          </a:xfrm>
          <a:prstGeom prst="roundRect">
            <a:avLst>
              <a:gd name="adj" fmla="val 5122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8C890-A25B-45C4-9D66-D4D6C66C1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Background: Code Reuse Attacks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21F71E9-0C53-44CC-8864-E80728B449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3FC92A-6A67-4A5D-B004-1DAC29FDD1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E9888E2-17E0-4E58-8811-FC9BEC0ACF05}"/>
              </a:ext>
            </a:extLst>
          </p:cNvPr>
          <p:cNvGrpSpPr/>
          <p:nvPr/>
        </p:nvGrpSpPr>
        <p:grpSpPr>
          <a:xfrm>
            <a:off x="5673845" y="76994"/>
            <a:ext cx="3633371" cy="3927186"/>
            <a:chOff x="5496038" y="649643"/>
            <a:chExt cx="3633371" cy="392718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5BD010D-9DEB-421E-8EDA-7CFDD50BCA6D}"/>
                </a:ext>
              </a:extLst>
            </p:cNvPr>
            <p:cNvGrpSpPr/>
            <p:nvPr/>
          </p:nvGrpSpPr>
          <p:grpSpPr>
            <a:xfrm>
              <a:off x="5929009" y="649643"/>
              <a:ext cx="3200400" cy="3857163"/>
              <a:chOff x="5624208" y="844377"/>
              <a:chExt cx="3200400" cy="3857163"/>
            </a:xfrm>
          </p:grpSpPr>
          <p:sp>
            <p:nvSpPr>
              <p:cNvPr id="13" name="Rounded Rectangle 18">
                <a:extLst>
                  <a:ext uri="{FF2B5EF4-FFF2-40B4-BE49-F238E27FC236}">
                    <a16:creationId xmlns:a16="http://schemas.microsoft.com/office/drawing/2014/main" id="{26CA74E5-9F7C-42D7-9F7E-226733DA3EC1}"/>
                  </a:ext>
                </a:extLst>
              </p:cNvPr>
              <p:cNvSpPr/>
              <p:nvPr/>
            </p:nvSpPr>
            <p:spPr>
              <a:xfrm>
                <a:off x="5791200" y="914400"/>
                <a:ext cx="2810933" cy="3787140"/>
              </a:xfrm>
              <a:prstGeom prst="roundRect">
                <a:avLst>
                  <a:gd name="adj" fmla="val 7933"/>
                </a:avLst>
              </a:prstGeom>
              <a:solidFill>
                <a:schemeClr val="dk1">
                  <a:alpha val="12000"/>
                </a:schemeClr>
              </a:solidFill>
              <a:ln w="31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3600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2583CDA-9D39-4CF1-80B7-30AFCD0A462D}"/>
                  </a:ext>
                </a:extLst>
              </p:cNvPr>
              <p:cNvSpPr/>
              <p:nvPr/>
            </p:nvSpPr>
            <p:spPr>
              <a:xfrm>
                <a:off x="5905500" y="2537635"/>
                <a:ext cx="2590800" cy="502920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/>
                  <a:t>Library Code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EEB39ED-1507-4670-9CFC-FCDD7B96B24B}"/>
                  </a:ext>
                </a:extLst>
              </p:cNvPr>
              <p:cNvGrpSpPr/>
              <p:nvPr/>
            </p:nvGrpSpPr>
            <p:grpSpPr>
              <a:xfrm>
                <a:off x="5905500" y="1512467"/>
                <a:ext cx="2590800" cy="1010252"/>
                <a:chOff x="5905500" y="979073"/>
                <a:chExt cx="2590800" cy="1010252"/>
              </a:xfrm>
            </p:grpSpPr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88F30A05-B828-419E-AD4D-CFF80DB50B13}"/>
                    </a:ext>
                  </a:extLst>
                </p:cNvPr>
                <p:cNvSpPr/>
                <p:nvPr/>
              </p:nvSpPr>
              <p:spPr>
                <a:xfrm>
                  <a:off x="5905500" y="989056"/>
                  <a:ext cx="2590800" cy="1000269"/>
                </a:xfrm>
                <a:custGeom>
                  <a:avLst/>
                  <a:gdLst>
                    <a:gd name="connsiteX0" fmla="*/ 83822 w 2590800"/>
                    <a:gd name="connsiteY0" fmla="*/ 0 h 1000269"/>
                    <a:gd name="connsiteX1" fmla="*/ 2506978 w 2590800"/>
                    <a:gd name="connsiteY1" fmla="*/ 0 h 1000269"/>
                    <a:gd name="connsiteX2" fmla="*/ 2590800 w 2590800"/>
                    <a:gd name="connsiteY2" fmla="*/ 83822 h 1000269"/>
                    <a:gd name="connsiteX3" fmla="*/ 2590800 w 2590800"/>
                    <a:gd name="connsiteY3" fmla="*/ 419098 h 1000269"/>
                    <a:gd name="connsiteX4" fmla="*/ 2506978 w 2590800"/>
                    <a:gd name="connsiteY4" fmla="*/ 502920 h 1000269"/>
                    <a:gd name="connsiteX5" fmla="*/ 1396365 w 2590800"/>
                    <a:gd name="connsiteY5" fmla="*/ 502920 h 1000269"/>
                    <a:gd name="connsiteX6" fmla="*/ 1396365 w 2590800"/>
                    <a:gd name="connsiteY6" fmla="*/ 798339 h 1000269"/>
                    <a:gd name="connsiteX7" fmla="*/ 1497330 w 2590800"/>
                    <a:gd name="connsiteY7" fmla="*/ 798339 h 1000269"/>
                    <a:gd name="connsiteX8" fmla="*/ 1295400 w 2590800"/>
                    <a:gd name="connsiteY8" fmla="*/ 1000269 h 1000269"/>
                    <a:gd name="connsiteX9" fmla="*/ 1093470 w 2590800"/>
                    <a:gd name="connsiteY9" fmla="*/ 798339 h 1000269"/>
                    <a:gd name="connsiteX10" fmla="*/ 1194435 w 2590800"/>
                    <a:gd name="connsiteY10" fmla="*/ 798339 h 1000269"/>
                    <a:gd name="connsiteX11" fmla="*/ 1194435 w 2590800"/>
                    <a:gd name="connsiteY11" fmla="*/ 502920 h 1000269"/>
                    <a:gd name="connsiteX12" fmla="*/ 83822 w 2590800"/>
                    <a:gd name="connsiteY12" fmla="*/ 502920 h 1000269"/>
                    <a:gd name="connsiteX13" fmla="*/ 0 w 2590800"/>
                    <a:gd name="connsiteY13" fmla="*/ 419098 h 1000269"/>
                    <a:gd name="connsiteX14" fmla="*/ 0 w 2590800"/>
                    <a:gd name="connsiteY14" fmla="*/ 83822 h 1000269"/>
                    <a:gd name="connsiteX15" fmla="*/ 83822 w 2590800"/>
                    <a:gd name="connsiteY15" fmla="*/ 0 h 1000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590800" h="1000269">
                      <a:moveTo>
                        <a:pt x="83822" y="0"/>
                      </a:moveTo>
                      <a:lnTo>
                        <a:pt x="2506978" y="0"/>
                      </a:lnTo>
                      <a:cubicBezTo>
                        <a:pt x="2553272" y="0"/>
                        <a:pt x="2590800" y="37528"/>
                        <a:pt x="2590800" y="83822"/>
                      </a:cubicBezTo>
                      <a:lnTo>
                        <a:pt x="2590800" y="419098"/>
                      </a:lnTo>
                      <a:cubicBezTo>
                        <a:pt x="2590800" y="465392"/>
                        <a:pt x="2553272" y="502920"/>
                        <a:pt x="2506978" y="502920"/>
                      </a:cubicBezTo>
                      <a:lnTo>
                        <a:pt x="1396365" y="502920"/>
                      </a:lnTo>
                      <a:lnTo>
                        <a:pt x="1396365" y="798339"/>
                      </a:lnTo>
                      <a:lnTo>
                        <a:pt x="1497330" y="798339"/>
                      </a:lnTo>
                      <a:lnTo>
                        <a:pt x="1295400" y="1000269"/>
                      </a:lnTo>
                      <a:lnTo>
                        <a:pt x="1093470" y="798339"/>
                      </a:lnTo>
                      <a:lnTo>
                        <a:pt x="1194435" y="798339"/>
                      </a:lnTo>
                      <a:lnTo>
                        <a:pt x="1194435" y="502920"/>
                      </a:lnTo>
                      <a:lnTo>
                        <a:pt x="83822" y="502920"/>
                      </a:lnTo>
                      <a:cubicBezTo>
                        <a:pt x="37528" y="502920"/>
                        <a:pt x="0" y="465392"/>
                        <a:pt x="0" y="419098"/>
                      </a:cubicBezTo>
                      <a:lnTo>
                        <a:pt x="0" y="83822"/>
                      </a:lnTo>
                      <a:cubicBezTo>
                        <a:pt x="0" y="37528"/>
                        <a:pt x="37528" y="0"/>
                        <a:pt x="83822" y="0"/>
                      </a:cubicBezTo>
                      <a:close/>
                    </a:path>
                  </a:pathLst>
                </a:cu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9B659F2-1BD1-40D8-8427-07B7D886C9FA}"/>
                    </a:ext>
                  </a:extLst>
                </p:cNvPr>
                <p:cNvSpPr txBox="1"/>
                <p:nvPr/>
              </p:nvSpPr>
              <p:spPr>
                <a:xfrm>
                  <a:off x="6582833" y="979073"/>
                  <a:ext cx="1236134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3200" dirty="0">
                      <a:cs typeface="Arial"/>
                    </a:rPr>
                    <a:t>Stack</a:t>
                  </a: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E3307A4-61D3-4432-9717-5D5F77890753}"/>
                  </a:ext>
                </a:extLst>
              </p:cNvPr>
              <p:cNvGrpSpPr/>
              <p:nvPr/>
            </p:nvGrpSpPr>
            <p:grpSpPr>
              <a:xfrm>
                <a:off x="5905500" y="3061041"/>
                <a:ext cx="2590800" cy="1005840"/>
                <a:chOff x="5905500" y="3077975"/>
                <a:chExt cx="2590800" cy="1005840"/>
              </a:xfrm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4598E2C0-18E1-48B2-B2D1-A01322CC6684}"/>
                    </a:ext>
                  </a:extLst>
                </p:cNvPr>
                <p:cNvSpPr/>
                <p:nvPr/>
              </p:nvSpPr>
              <p:spPr>
                <a:xfrm>
                  <a:off x="5905500" y="3077975"/>
                  <a:ext cx="2590800" cy="1005840"/>
                </a:xfrm>
                <a:custGeom>
                  <a:avLst/>
                  <a:gdLst>
                    <a:gd name="connsiteX0" fmla="*/ 1295400 w 2590800"/>
                    <a:gd name="connsiteY0" fmla="*/ 0 h 1005840"/>
                    <a:gd name="connsiteX1" fmla="*/ 1497330 w 2590800"/>
                    <a:gd name="connsiteY1" fmla="*/ 201930 h 1005840"/>
                    <a:gd name="connsiteX2" fmla="*/ 1396365 w 2590800"/>
                    <a:gd name="connsiteY2" fmla="*/ 201930 h 1005840"/>
                    <a:gd name="connsiteX3" fmla="*/ 1396365 w 2590800"/>
                    <a:gd name="connsiteY3" fmla="*/ 502920 h 1005840"/>
                    <a:gd name="connsiteX4" fmla="*/ 2506978 w 2590800"/>
                    <a:gd name="connsiteY4" fmla="*/ 502920 h 1005840"/>
                    <a:gd name="connsiteX5" fmla="*/ 2590800 w 2590800"/>
                    <a:gd name="connsiteY5" fmla="*/ 586742 h 1005840"/>
                    <a:gd name="connsiteX6" fmla="*/ 2590800 w 2590800"/>
                    <a:gd name="connsiteY6" fmla="*/ 922018 h 1005840"/>
                    <a:gd name="connsiteX7" fmla="*/ 2506978 w 2590800"/>
                    <a:gd name="connsiteY7" fmla="*/ 1005840 h 1005840"/>
                    <a:gd name="connsiteX8" fmla="*/ 83822 w 2590800"/>
                    <a:gd name="connsiteY8" fmla="*/ 1005840 h 1005840"/>
                    <a:gd name="connsiteX9" fmla="*/ 0 w 2590800"/>
                    <a:gd name="connsiteY9" fmla="*/ 922018 h 1005840"/>
                    <a:gd name="connsiteX10" fmla="*/ 0 w 2590800"/>
                    <a:gd name="connsiteY10" fmla="*/ 586742 h 1005840"/>
                    <a:gd name="connsiteX11" fmla="*/ 83822 w 2590800"/>
                    <a:gd name="connsiteY11" fmla="*/ 502920 h 1005840"/>
                    <a:gd name="connsiteX12" fmla="*/ 1194435 w 2590800"/>
                    <a:gd name="connsiteY12" fmla="*/ 502920 h 1005840"/>
                    <a:gd name="connsiteX13" fmla="*/ 1194435 w 2590800"/>
                    <a:gd name="connsiteY13" fmla="*/ 201930 h 1005840"/>
                    <a:gd name="connsiteX14" fmla="*/ 1093470 w 2590800"/>
                    <a:gd name="connsiteY14" fmla="*/ 201930 h 10058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590800" h="1005840">
                      <a:moveTo>
                        <a:pt x="1295400" y="0"/>
                      </a:moveTo>
                      <a:lnTo>
                        <a:pt x="1497330" y="201930"/>
                      </a:lnTo>
                      <a:lnTo>
                        <a:pt x="1396365" y="201930"/>
                      </a:lnTo>
                      <a:lnTo>
                        <a:pt x="1396365" y="502920"/>
                      </a:lnTo>
                      <a:lnTo>
                        <a:pt x="2506978" y="502920"/>
                      </a:lnTo>
                      <a:cubicBezTo>
                        <a:pt x="2553272" y="502920"/>
                        <a:pt x="2590800" y="540448"/>
                        <a:pt x="2590800" y="586742"/>
                      </a:cubicBezTo>
                      <a:lnTo>
                        <a:pt x="2590800" y="922018"/>
                      </a:lnTo>
                      <a:cubicBezTo>
                        <a:pt x="2590800" y="968312"/>
                        <a:pt x="2553272" y="1005840"/>
                        <a:pt x="2506978" y="1005840"/>
                      </a:cubicBezTo>
                      <a:lnTo>
                        <a:pt x="83822" y="1005840"/>
                      </a:lnTo>
                      <a:cubicBezTo>
                        <a:pt x="37528" y="1005840"/>
                        <a:pt x="0" y="968312"/>
                        <a:pt x="0" y="922018"/>
                      </a:cubicBezTo>
                      <a:lnTo>
                        <a:pt x="0" y="586742"/>
                      </a:lnTo>
                      <a:cubicBezTo>
                        <a:pt x="0" y="540448"/>
                        <a:pt x="37528" y="502920"/>
                        <a:pt x="83822" y="502920"/>
                      </a:cubicBezTo>
                      <a:lnTo>
                        <a:pt x="1194435" y="502920"/>
                      </a:lnTo>
                      <a:lnTo>
                        <a:pt x="1194435" y="201930"/>
                      </a:lnTo>
                      <a:lnTo>
                        <a:pt x="1093470" y="201930"/>
                      </a:lnTo>
                      <a:close/>
                    </a:path>
                  </a:pathLst>
                </a:cu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dirty="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D24B1B8-2BDC-4666-82FA-8F161453F746}"/>
                    </a:ext>
                  </a:extLst>
                </p:cNvPr>
                <p:cNvSpPr txBox="1"/>
                <p:nvPr/>
              </p:nvSpPr>
              <p:spPr>
                <a:xfrm>
                  <a:off x="6582833" y="3565745"/>
                  <a:ext cx="1236134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3200" dirty="0">
                      <a:cs typeface="Arial"/>
                    </a:rPr>
                    <a:t>Heap</a:t>
                  </a:r>
                </a:p>
              </p:txBody>
            </p:sp>
          </p:grp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E3C25407-DA0B-4296-96B9-31DFB357BE06}"/>
                  </a:ext>
                </a:extLst>
              </p:cNvPr>
              <p:cNvSpPr/>
              <p:nvPr/>
            </p:nvSpPr>
            <p:spPr>
              <a:xfrm>
                <a:off x="5905500" y="4108369"/>
                <a:ext cx="2590800" cy="502920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/>
                  <a:t>Program Code</a:t>
                </a:r>
              </a:p>
            </p:txBody>
          </p:sp>
          <p:sp>
            <p:nvSpPr>
              <p:cNvPr id="18" name="TextBox 20">
                <a:extLst>
                  <a:ext uri="{FF2B5EF4-FFF2-40B4-BE49-F238E27FC236}">
                    <a16:creationId xmlns:a16="http://schemas.microsoft.com/office/drawing/2014/main" id="{8AF41B81-AB8A-44D7-BB8C-68690CFD95BC}"/>
                  </a:ext>
                </a:extLst>
              </p:cNvPr>
              <p:cNvSpPr txBox="1"/>
              <p:nvPr/>
            </p:nvSpPr>
            <p:spPr>
              <a:xfrm>
                <a:off x="5624208" y="844377"/>
                <a:ext cx="3200400" cy="6858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4000" dirty="0">
                    <a:latin typeface="Calibri" pitchFamily="34" charset="0"/>
                    <a:cs typeface="Calibri" pitchFamily="34" charset="0"/>
                  </a:rPr>
                  <a:t>Memory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8C70B6-899B-447F-9EF3-334605BD4BBE}"/>
                </a:ext>
              </a:extLst>
            </p:cNvPr>
            <p:cNvSpPr txBox="1"/>
            <p:nvPr/>
          </p:nvSpPr>
          <p:spPr>
            <a:xfrm>
              <a:off x="5496039" y="4238275"/>
              <a:ext cx="1032933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Arial"/>
                </a:rPr>
                <a:t>Low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2AC06A-85A3-492C-ABF1-3F4B669BCE82}"/>
                </a:ext>
              </a:extLst>
            </p:cNvPr>
            <p:cNvSpPr txBox="1"/>
            <p:nvPr/>
          </p:nvSpPr>
          <p:spPr>
            <a:xfrm>
              <a:off x="5496038" y="1126234"/>
              <a:ext cx="1032933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2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Arial"/>
                </a:rPr>
                <a:t>High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39591C6-F5ED-4D69-9789-D2139689D5A6}"/>
              </a:ext>
            </a:extLst>
          </p:cNvPr>
          <p:cNvSpPr txBox="1"/>
          <p:nvPr/>
        </p:nvSpPr>
        <p:spPr>
          <a:xfrm>
            <a:off x="6465455" y="4004180"/>
            <a:ext cx="2429163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200" dirty="0">
                <a:solidFill>
                  <a:schemeClr val="accent6"/>
                </a:solidFill>
                <a:cs typeface="Arial"/>
              </a:rPr>
              <a:t>Writable</a:t>
            </a:r>
          </a:p>
          <a:p>
            <a:pPr algn="ctr"/>
            <a:r>
              <a:rPr lang="en-US" sz="2200" dirty="0">
                <a:solidFill>
                  <a:schemeClr val="accent1"/>
                </a:solidFill>
                <a:cs typeface="Arial"/>
              </a:rPr>
              <a:t>Executable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88A91-78A1-44CE-A9D5-4632BCFB286F}"/>
              </a:ext>
            </a:extLst>
          </p:cNvPr>
          <p:cNvSpPr txBox="1"/>
          <p:nvPr/>
        </p:nvSpPr>
        <p:spPr>
          <a:xfrm>
            <a:off x="921015" y="822880"/>
            <a:ext cx="2737524" cy="340519"/>
          </a:xfrm>
          <a:prstGeom prst="roundRect">
            <a:avLst/>
          </a:prstGeom>
          <a:solidFill>
            <a:srgbClr val="FDF6E3"/>
          </a:solidFill>
          <a:ln w="9525">
            <a:solidFill>
              <a:schemeClr val="accent6"/>
            </a:solidFill>
          </a:ln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000" dirty="0" err="1">
                <a:solidFill>
                  <a:srgbClr val="B58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movl</a:t>
            </a:r>
            <a:r>
              <a:rPr lang="en-US" sz="2000" dirty="0">
                <a:solidFill>
                  <a:srgbClr val="657B83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B58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$42</a:t>
            </a:r>
            <a:r>
              <a:rPr lang="en-US" sz="2000" dirty="0">
                <a:solidFill>
                  <a:srgbClr val="586E75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657B83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2AA198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0x8048423</a:t>
            </a:r>
            <a:endParaRPr lang="en-US" sz="2000" dirty="0">
              <a:latin typeface="Consolas" panose="020B0609020204030204" pitchFamily="49" charset="0"/>
              <a:cs typeface="Arial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F7CF08F-6EB1-474F-9E4E-89CB775DCEE9}"/>
              </a:ext>
            </a:extLst>
          </p:cNvPr>
          <p:cNvSpPr/>
          <p:nvPr/>
        </p:nvSpPr>
        <p:spPr>
          <a:xfrm>
            <a:off x="932908" y="1374009"/>
            <a:ext cx="1256268" cy="959048"/>
          </a:xfrm>
          <a:prstGeom prst="roundRect">
            <a:avLst>
              <a:gd name="adj" fmla="val 7383"/>
            </a:avLst>
          </a:prstGeom>
          <a:solidFill>
            <a:srgbClr val="FDF6E3"/>
          </a:solidFill>
          <a:ln>
            <a:solidFill>
              <a:schemeClr val="accent6"/>
            </a:solidFill>
          </a:ln>
        </p:spPr>
        <p:txBody>
          <a:bodyPr wrap="none" lIns="45720" tIns="0" rIns="45720" bIns="0">
            <a:spAutoFit/>
          </a:bodyPr>
          <a:lstStyle/>
          <a:p>
            <a:r>
              <a:rPr lang="en-US" sz="2000" dirty="0">
                <a:solidFill>
                  <a:srgbClr val="B58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addr1</a:t>
            </a:r>
            <a:r>
              <a:rPr lang="en-US" sz="2000" dirty="0">
                <a:solidFill>
                  <a:srgbClr val="586E75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:</a:t>
            </a:r>
            <a:endParaRPr lang="en-US" sz="2000" dirty="0">
              <a:solidFill>
                <a:srgbClr val="657B83"/>
              </a:solidFill>
              <a:highlight>
                <a:srgbClr val="FDF6E3"/>
              </a:highlight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859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pop</a:t>
            </a:r>
            <a:r>
              <a:rPr lang="en-US" sz="2000" dirty="0">
                <a:solidFill>
                  <a:srgbClr val="657B83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B58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%</a:t>
            </a:r>
            <a:r>
              <a:rPr lang="en-US" sz="2000" dirty="0" err="1">
                <a:solidFill>
                  <a:srgbClr val="B58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eax</a:t>
            </a:r>
            <a:endParaRPr lang="en-US" sz="2000" dirty="0">
              <a:solidFill>
                <a:srgbClr val="657B83"/>
              </a:solidFill>
              <a:highlight>
                <a:srgbClr val="FDF6E3"/>
              </a:highlight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859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ret</a:t>
            </a:r>
            <a:endParaRPr lang="en-US" sz="440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25361DD-D2FF-46BF-8B13-962596E01D73}"/>
              </a:ext>
            </a:extLst>
          </p:cNvPr>
          <p:cNvSpPr/>
          <p:nvPr/>
        </p:nvSpPr>
        <p:spPr>
          <a:xfrm>
            <a:off x="932908" y="2519817"/>
            <a:ext cx="1256268" cy="959048"/>
          </a:xfrm>
          <a:prstGeom prst="roundRect">
            <a:avLst>
              <a:gd name="adj" fmla="val 7383"/>
            </a:avLst>
          </a:prstGeom>
          <a:solidFill>
            <a:srgbClr val="FDF6E3"/>
          </a:solidFill>
          <a:ln>
            <a:solidFill>
              <a:schemeClr val="accent6"/>
            </a:solidFill>
          </a:ln>
        </p:spPr>
        <p:txBody>
          <a:bodyPr wrap="none" lIns="45720" tIns="0" rIns="45720" bIns="0">
            <a:spAutoFit/>
          </a:bodyPr>
          <a:lstStyle/>
          <a:p>
            <a:r>
              <a:rPr lang="en-US" sz="2000" dirty="0">
                <a:solidFill>
                  <a:srgbClr val="B58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addr2</a:t>
            </a:r>
            <a:r>
              <a:rPr lang="en-US" sz="2000" dirty="0">
                <a:solidFill>
                  <a:srgbClr val="586E75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:</a:t>
            </a:r>
            <a:endParaRPr lang="en-US" sz="2000" dirty="0">
              <a:solidFill>
                <a:srgbClr val="657B83"/>
              </a:solidFill>
              <a:highlight>
                <a:srgbClr val="FDF6E3"/>
              </a:highlight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859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pop</a:t>
            </a:r>
            <a:r>
              <a:rPr lang="en-US" sz="2000" dirty="0">
                <a:solidFill>
                  <a:srgbClr val="657B83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B58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%</a:t>
            </a:r>
            <a:r>
              <a:rPr lang="en-US" sz="2000" dirty="0" err="1">
                <a:solidFill>
                  <a:srgbClr val="B58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ebx</a:t>
            </a:r>
            <a:endParaRPr lang="en-US" sz="2000" dirty="0">
              <a:solidFill>
                <a:srgbClr val="657B83"/>
              </a:solidFill>
              <a:highlight>
                <a:srgbClr val="FDF6E3"/>
              </a:highlight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859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ret</a:t>
            </a:r>
            <a:endParaRPr lang="en-US" sz="4400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9D0C862-0701-41B2-A0D9-D26261E2BB6A}"/>
              </a:ext>
            </a:extLst>
          </p:cNvPr>
          <p:cNvSpPr/>
          <p:nvPr/>
        </p:nvSpPr>
        <p:spPr>
          <a:xfrm>
            <a:off x="932907" y="3665625"/>
            <a:ext cx="2372082" cy="959048"/>
          </a:xfrm>
          <a:prstGeom prst="roundRect">
            <a:avLst>
              <a:gd name="adj" fmla="val 7383"/>
            </a:avLst>
          </a:prstGeom>
          <a:solidFill>
            <a:srgbClr val="FDF6E3"/>
          </a:solidFill>
          <a:ln>
            <a:solidFill>
              <a:schemeClr val="accent6"/>
            </a:solidFill>
          </a:ln>
        </p:spPr>
        <p:txBody>
          <a:bodyPr wrap="none" lIns="45720" tIns="0" rIns="45720" bIns="0">
            <a:spAutoFit/>
          </a:bodyPr>
          <a:lstStyle/>
          <a:p>
            <a:r>
              <a:rPr lang="en-US" sz="2000" dirty="0">
                <a:solidFill>
                  <a:srgbClr val="B58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addr3</a:t>
            </a:r>
            <a:r>
              <a:rPr lang="en-US" sz="2000" dirty="0">
                <a:solidFill>
                  <a:srgbClr val="586E75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:</a:t>
            </a:r>
            <a:endParaRPr lang="en-US" sz="2000" dirty="0">
              <a:solidFill>
                <a:srgbClr val="657B83"/>
              </a:solidFill>
              <a:highlight>
                <a:srgbClr val="FDF6E3"/>
              </a:highlight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859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mov</a:t>
            </a:r>
            <a:r>
              <a:rPr lang="en-US" sz="2000" dirty="0">
                <a:solidFill>
                  <a:srgbClr val="657B83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B58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%</a:t>
            </a:r>
            <a:r>
              <a:rPr lang="en-US" sz="2000" dirty="0" err="1">
                <a:solidFill>
                  <a:srgbClr val="B58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ebx</a:t>
            </a:r>
            <a:r>
              <a:rPr lang="en-US" sz="2000" dirty="0">
                <a:solidFill>
                  <a:srgbClr val="586E75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657B83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586E75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(%</a:t>
            </a:r>
            <a:r>
              <a:rPr lang="en-US" sz="2000" dirty="0" err="1">
                <a:solidFill>
                  <a:srgbClr val="CB4B16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eax</a:t>
            </a:r>
            <a:r>
              <a:rPr lang="en-US" sz="2000" dirty="0">
                <a:solidFill>
                  <a:srgbClr val="586E75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)</a:t>
            </a:r>
            <a:endParaRPr lang="en-US" sz="2000" dirty="0">
              <a:solidFill>
                <a:srgbClr val="657B83"/>
              </a:solidFill>
              <a:highlight>
                <a:srgbClr val="FDF6E3"/>
              </a:highlight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859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ret</a:t>
            </a:r>
            <a:endParaRPr lang="en-US" sz="2000" dirty="0">
              <a:solidFill>
                <a:srgbClr val="657B83"/>
              </a:solidFill>
              <a:highlight>
                <a:srgbClr val="FDF6E3"/>
              </a:highlight>
              <a:latin typeface="Consolas" panose="020B0609020204030204" pitchFamily="49" charset="0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9AE8812-62D8-471F-BF0A-FD202E068566}"/>
              </a:ext>
            </a:extLst>
          </p:cNvPr>
          <p:cNvCxnSpPr>
            <a:cxnSpLocks/>
            <a:stCxn id="37" idx="3"/>
            <a:endCxn id="14" idx="1"/>
          </p:cNvCxnSpPr>
          <p:nvPr/>
        </p:nvCxnSpPr>
        <p:spPr>
          <a:xfrm>
            <a:off x="2189176" y="1853533"/>
            <a:ext cx="4198932" cy="168179"/>
          </a:xfrm>
          <a:prstGeom prst="straightConnector1">
            <a:avLst/>
          </a:prstGeom>
          <a:ln w="57150">
            <a:tailEnd type="triangle" w="lg" len="lg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4222D86-60EE-4BC5-AF57-5BAA41DE033C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>
            <a:off x="3658539" y="993140"/>
            <a:ext cx="2729569" cy="1028572"/>
          </a:xfrm>
          <a:prstGeom prst="straightConnector1">
            <a:avLst/>
          </a:prstGeom>
          <a:ln w="57150">
            <a:tailEnd type="triangle" w="lg" len="lg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B9F4CC4-99A7-4217-BA2E-7B914BF01459}"/>
              </a:ext>
            </a:extLst>
          </p:cNvPr>
          <p:cNvCxnSpPr>
            <a:cxnSpLocks/>
            <a:stCxn id="38" idx="3"/>
            <a:endCxn id="14" idx="1"/>
          </p:cNvCxnSpPr>
          <p:nvPr/>
        </p:nvCxnSpPr>
        <p:spPr>
          <a:xfrm flipV="1">
            <a:off x="2189176" y="2021712"/>
            <a:ext cx="4198932" cy="977629"/>
          </a:xfrm>
          <a:prstGeom prst="straightConnector1">
            <a:avLst/>
          </a:prstGeom>
          <a:ln w="57150">
            <a:tailEnd type="triangle" w="lg" len="lg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0B72102-0C61-4F64-A07A-CE6385BFBBBC}"/>
              </a:ext>
            </a:extLst>
          </p:cNvPr>
          <p:cNvCxnSpPr>
            <a:cxnSpLocks/>
            <a:stCxn id="39" idx="3"/>
            <a:endCxn id="14" idx="1"/>
          </p:cNvCxnSpPr>
          <p:nvPr/>
        </p:nvCxnSpPr>
        <p:spPr>
          <a:xfrm flipV="1">
            <a:off x="3304989" y="2021712"/>
            <a:ext cx="3083119" cy="2123437"/>
          </a:xfrm>
          <a:prstGeom prst="straightConnector1">
            <a:avLst/>
          </a:prstGeom>
          <a:ln w="57150">
            <a:tailEnd type="triangle" w="lg" len="lg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427CC73-0BD0-47A9-863C-24CD1A7479A0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658539" y="993140"/>
            <a:ext cx="2729569" cy="23922"/>
          </a:xfrm>
          <a:prstGeom prst="straightConnector1">
            <a:avLst/>
          </a:prstGeom>
          <a:ln w="57150">
            <a:tailEnd type="triangle" w="lg" len="lg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469BAC7-B7FB-4EF6-832D-8510B926074A}"/>
              </a:ext>
            </a:extLst>
          </p:cNvPr>
          <p:cNvSpPr txBox="1"/>
          <p:nvPr/>
        </p:nvSpPr>
        <p:spPr>
          <a:xfrm rot="1212710">
            <a:off x="4339165" y="1252836"/>
            <a:ext cx="1792546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200" dirty="0">
                <a:cs typeface="Arial"/>
              </a:rPr>
              <a:t>Return-to-libc</a:t>
            </a:r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36909F28-A91A-416D-B3BF-B3C5862539DC}"/>
              </a:ext>
            </a:extLst>
          </p:cNvPr>
          <p:cNvSpPr/>
          <p:nvPr/>
        </p:nvSpPr>
        <p:spPr>
          <a:xfrm>
            <a:off x="487672" y="1264400"/>
            <a:ext cx="328539" cy="3416888"/>
          </a:xfrm>
          <a:prstGeom prst="leftBrace">
            <a:avLst>
              <a:gd name="adj1" fmla="val 111070"/>
              <a:gd name="adj2" fmla="val 46587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EDD81D-9D02-45A6-BC6D-3E2363B9B5EF}"/>
              </a:ext>
            </a:extLst>
          </p:cNvPr>
          <p:cNvSpPr txBox="1"/>
          <p:nvPr/>
        </p:nvSpPr>
        <p:spPr>
          <a:xfrm rot="5400000">
            <a:off x="-1978308" y="2803567"/>
            <a:ext cx="4504466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200" dirty="0">
                <a:cs typeface="Arial"/>
              </a:rPr>
              <a:t>Return-oriented programming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703391-1641-44AB-B593-4D446F231E22}"/>
              </a:ext>
            </a:extLst>
          </p:cNvPr>
          <p:cNvSpPr txBox="1"/>
          <p:nvPr/>
        </p:nvSpPr>
        <p:spPr>
          <a:xfrm>
            <a:off x="4037956" y="695872"/>
            <a:ext cx="1792546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200" dirty="0">
                <a:cs typeface="Arial"/>
              </a:rPr>
              <a:t>Shellcode</a:t>
            </a:r>
          </a:p>
        </p:txBody>
      </p:sp>
    </p:spTree>
    <p:extLst>
      <p:ext uri="{BB962C8B-B14F-4D97-AF65-F5344CB8AC3E}">
        <p14:creationId xmlns:p14="http://schemas.microsoft.com/office/powerpoint/2010/main" val="236585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7" grpId="0" animBg="1"/>
      <p:bldP spid="38" grpId="0" animBg="1"/>
      <p:bldP spid="39" grpId="0" animBg="1"/>
      <p:bldP spid="34" grpId="0" build="allAtOnce"/>
      <p:bldP spid="36" grpId="0" animBg="1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8C890-A25B-45C4-9D66-D4D6C66C1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Background: Code Reuse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8635D-EBC0-49D3-804D-2A86BAE6A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924503"/>
            <a:ext cx="8340968" cy="3769417"/>
          </a:xfrm>
        </p:spPr>
        <p:txBody>
          <a:bodyPr>
            <a:normAutofit/>
          </a:bodyPr>
          <a:lstStyle/>
          <a:p>
            <a:r>
              <a:rPr lang="en-US" sz="2000" dirty="0"/>
              <a:t>Return Oriented Programming (ROP)</a:t>
            </a:r>
          </a:p>
          <a:p>
            <a:pPr lvl="1"/>
            <a:r>
              <a:rPr lang="en-US" sz="1800" dirty="0"/>
              <a:t>ROP </a:t>
            </a:r>
            <a:r>
              <a:rPr lang="en-US" sz="1800" dirty="0">
                <a:ea typeface="Segoe UI Symbol" panose="020B0502040204020203" pitchFamily="34" charset="0"/>
              </a:rPr>
              <a:t>⊂ Code Reuse</a:t>
            </a:r>
            <a:endParaRPr lang="en-US" sz="1800" dirty="0"/>
          </a:p>
          <a:p>
            <a:pPr lvl="1"/>
            <a:r>
              <a:rPr lang="en-US" sz="1800" dirty="0"/>
              <a:t>Find </a:t>
            </a:r>
            <a:r>
              <a:rPr lang="en-US" sz="1800" i="1" dirty="0"/>
              <a:t>gadgets</a:t>
            </a:r>
            <a:r>
              <a:rPr lang="en-US" sz="1800" dirty="0"/>
              <a:t>, code sequences ending in </a:t>
            </a:r>
            <a:r>
              <a:rPr lang="en-US" sz="1800" dirty="0">
                <a:latin typeface="Consolas" panose="020B0609020204030204" pitchFamily="49" charset="0"/>
              </a:rPr>
              <a:t>ret</a:t>
            </a:r>
            <a:r>
              <a:rPr lang="en-US" sz="1800" dirty="0"/>
              <a:t>, that perform useful actions</a:t>
            </a:r>
          </a:p>
          <a:p>
            <a:pPr lvl="2"/>
            <a:r>
              <a:rPr lang="en-US" sz="1600" dirty="0"/>
              <a:t>Very similar to processor instructions</a:t>
            </a:r>
          </a:p>
          <a:p>
            <a:pPr lvl="2"/>
            <a:endParaRPr lang="en-US" sz="1600" dirty="0">
              <a:latin typeface="Consolas" panose="020B0609020204030204" pitchFamily="49" charset="0"/>
            </a:endParaRPr>
          </a:p>
          <a:p>
            <a:pPr lvl="2"/>
            <a:endParaRPr lang="en-US" sz="1600" dirty="0">
              <a:latin typeface="Consolas" panose="020B0609020204030204" pitchFamily="49" charset="0"/>
            </a:endParaRPr>
          </a:p>
          <a:p>
            <a:pPr lvl="2"/>
            <a:endParaRPr lang="en-US" sz="1600" dirty="0">
              <a:latin typeface="Consolas" panose="020B0609020204030204" pitchFamily="49" charset="0"/>
            </a:endParaRPr>
          </a:p>
          <a:p>
            <a:pPr lvl="2"/>
            <a:endParaRPr lang="en-US" sz="1600" dirty="0">
              <a:latin typeface="Consolas" panose="020B0609020204030204" pitchFamily="49" charset="0"/>
            </a:endParaRPr>
          </a:p>
          <a:p>
            <a:pPr lvl="2"/>
            <a:endParaRPr lang="en-US" sz="1600" dirty="0">
              <a:latin typeface="Consolas" panose="020B0609020204030204" pitchFamily="49" charset="0"/>
            </a:endParaRPr>
          </a:p>
          <a:p>
            <a:pPr lvl="1"/>
            <a:r>
              <a:rPr lang="en-US" sz="1800" dirty="0">
                <a:solidFill>
                  <a:srgbClr val="859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ret</a:t>
            </a:r>
            <a:r>
              <a:rPr lang="en-US" sz="1800" dirty="0"/>
              <a:t> allows gadgets to be chained together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21F71E9-0C53-44CC-8864-E80728B449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3FC92A-6A67-4A5D-B004-1DAC29FDD1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AB6E89-97D8-4915-A82B-9BC0D1EFE5CE}"/>
              </a:ext>
            </a:extLst>
          </p:cNvPr>
          <p:cNvSpPr/>
          <p:nvPr/>
        </p:nvSpPr>
        <p:spPr>
          <a:xfrm>
            <a:off x="936372" y="2428577"/>
            <a:ext cx="1399309" cy="1015663"/>
          </a:xfrm>
          <a:prstGeom prst="rect">
            <a:avLst/>
          </a:prstGeom>
          <a:solidFill>
            <a:srgbClr val="FDF6E3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B58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addr1</a:t>
            </a:r>
            <a:r>
              <a:rPr lang="en-US" sz="2000" dirty="0">
                <a:solidFill>
                  <a:srgbClr val="586E75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:</a:t>
            </a:r>
            <a:endParaRPr lang="en-US" sz="2000" dirty="0">
              <a:solidFill>
                <a:srgbClr val="657B83"/>
              </a:solidFill>
              <a:highlight>
                <a:srgbClr val="FDF6E3"/>
              </a:highlight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859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pop</a:t>
            </a:r>
            <a:r>
              <a:rPr lang="en-US" sz="2000" dirty="0">
                <a:solidFill>
                  <a:srgbClr val="657B83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B58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%</a:t>
            </a:r>
            <a:r>
              <a:rPr lang="en-US" sz="2000" dirty="0" err="1">
                <a:solidFill>
                  <a:srgbClr val="B58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eax</a:t>
            </a:r>
            <a:endParaRPr lang="en-US" sz="2000" dirty="0">
              <a:solidFill>
                <a:srgbClr val="657B83"/>
              </a:solidFill>
              <a:highlight>
                <a:srgbClr val="FDF6E3"/>
              </a:highlight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859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ret</a:t>
            </a:r>
            <a:endParaRPr lang="en-US" sz="4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919B62-872E-400E-9B1A-AE8CA5A63AB6}"/>
              </a:ext>
            </a:extLst>
          </p:cNvPr>
          <p:cNvSpPr/>
          <p:nvPr/>
        </p:nvSpPr>
        <p:spPr>
          <a:xfrm>
            <a:off x="3367520" y="2428577"/>
            <a:ext cx="1399309" cy="1015663"/>
          </a:xfrm>
          <a:prstGeom prst="rect">
            <a:avLst/>
          </a:prstGeom>
          <a:solidFill>
            <a:srgbClr val="FDF6E3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B58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addr2</a:t>
            </a:r>
            <a:r>
              <a:rPr lang="en-US" sz="2000" dirty="0">
                <a:solidFill>
                  <a:srgbClr val="586E75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:</a:t>
            </a:r>
            <a:endParaRPr lang="en-US" sz="2000" dirty="0">
              <a:solidFill>
                <a:srgbClr val="657B83"/>
              </a:solidFill>
              <a:highlight>
                <a:srgbClr val="FDF6E3"/>
              </a:highlight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859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pop</a:t>
            </a:r>
            <a:r>
              <a:rPr lang="en-US" sz="2000" dirty="0">
                <a:solidFill>
                  <a:srgbClr val="657B83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B58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%</a:t>
            </a:r>
            <a:r>
              <a:rPr lang="en-US" sz="2000" dirty="0" err="1">
                <a:solidFill>
                  <a:srgbClr val="B58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ebx</a:t>
            </a:r>
            <a:endParaRPr lang="en-US" sz="2000" dirty="0">
              <a:solidFill>
                <a:srgbClr val="657B83"/>
              </a:solidFill>
              <a:highlight>
                <a:srgbClr val="FDF6E3"/>
              </a:highlight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859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ret</a:t>
            </a:r>
            <a:endParaRPr lang="en-US" sz="4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D8EFC2-CD7A-437F-B9BB-4543E43B754B}"/>
              </a:ext>
            </a:extLst>
          </p:cNvPr>
          <p:cNvSpPr/>
          <p:nvPr/>
        </p:nvSpPr>
        <p:spPr>
          <a:xfrm>
            <a:off x="5763456" y="2428577"/>
            <a:ext cx="2525570" cy="1015663"/>
          </a:xfrm>
          <a:prstGeom prst="rect">
            <a:avLst/>
          </a:prstGeom>
          <a:solidFill>
            <a:srgbClr val="FDF6E3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B58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addr3</a:t>
            </a:r>
            <a:r>
              <a:rPr lang="en-US" sz="2000" dirty="0">
                <a:solidFill>
                  <a:srgbClr val="586E75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:</a:t>
            </a:r>
            <a:endParaRPr lang="en-US" sz="2000" dirty="0">
              <a:solidFill>
                <a:srgbClr val="657B83"/>
              </a:solidFill>
              <a:highlight>
                <a:srgbClr val="FDF6E3"/>
              </a:highlight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859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mov</a:t>
            </a:r>
            <a:r>
              <a:rPr lang="en-US" sz="2000" dirty="0">
                <a:solidFill>
                  <a:srgbClr val="657B83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B58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%</a:t>
            </a:r>
            <a:r>
              <a:rPr lang="en-US" sz="2000" dirty="0" err="1">
                <a:solidFill>
                  <a:srgbClr val="B58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ebx</a:t>
            </a:r>
            <a:r>
              <a:rPr lang="en-US" sz="2000" dirty="0">
                <a:solidFill>
                  <a:srgbClr val="586E75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657B83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586E75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(%</a:t>
            </a:r>
            <a:r>
              <a:rPr lang="en-US" sz="2000" dirty="0" err="1">
                <a:solidFill>
                  <a:srgbClr val="CB4B16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eax</a:t>
            </a:r>
            <a:r>
              <a:rPr lang="en-US" sz="2000" dirty="0">
                <a:solidFill>
                  <a:srgbClr val="586E75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)</a:t>
            </a:r>
            <a:endParaRPr lang="en-US" sz="2000" dirty="0">
              <a:solidFill>
                <a:srgbClr val="657B83"/>
              </a:solidFill>
              <a:highlight>
                <a:srgbClr val="FDF6E3"/>
              </a:highlight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859900"/>
                </a:solidFill>
                <a:highlight>
                  <a:srgbClr val="FDF6E3"/>
                </a:highlight>
                <a:latin typeface="Consolas" panose="020B0609020204030204" pitchFamily="49" charset="0"/>
              </a:rPr>
              <a:t>ret</a:t>
            </a:r>
            <a:endParaRPr lang="en-US" sz="2000" dirty="0">
              <a:solidFill>
                <a:srgbClr val="657B83"/>
              </a:solidFill>
              <a:highlight>
                <a:srgbClr val="FDF6E3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602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D3094-5E21-4D37-94DD-FDA316A45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239562"/>
            <a:ext cx="7772400" cy="639577"/>
          </a:xfrm>
        </p:spPr>
        <p:txBody>
          <a:bodyPr/>
          <a:lstStyle/>
          <a:p>
            <a:pPr algn="ctr"/>
            <a:r>
              <a:rPr lang="en-US" sz="3600" dirty="0">
                <a:latin typeface="+mn-lt"/>
              </a:rPr>
              <a:t>Control Flow Integrity (CFI)</a:t>
            </a:r>
            <a:br>
              <a:rPr lang="en-US" sz="3600" dirty="0">
                <a:latin typeface="+mn-lt"/>
              </a:rPr>
            </a:br>
            <a:br>
              <a:rPr lang="en-US" sz="3600" dirty="0">
                <a:latin typeface="+mn-lt"/>
              </a:rPr>
            </a:br>
            <a:endParaRPr lang="en-US" sz="3600" dirty="0">
              <a:latin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46358-E026-4247-86CE-38C23C2F56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6C56A80-6413-46FC-8C24-FF0B71E78425}"/>
              </a:ext>
            </a:extLst>
          </p:cNvPr>
          <p:cNvSpPr/>
          <p:nvPr/>
        </p:nvSpPr>
        <p:spPr>
          <a:xfrm>
            <a:off x="892921" y="2177621"/>
            <a:ext cx="7358158" cy="111176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sz="2400" dirty="0"/>
              <a:t>Determine valid control flow transitions at </a:t>
            </a:r>
            <a:r>
              <a:rPr lang="en-US" sz="2400" u="sng" dirty="0"/>
              <a:t>compile</a:t>
            </a:r>
            <a:r>
              <a:rPr lang="en-US" sz="2400" dirty="0"/>
              <a:t> time and prevent invalid transitions at </a:t>
            </a:r>
            <a:r>
              <a:rPr lang="en-US" sz="2400" u="sng" dirty="0"/>
              <a:t>run</a:t>
            </a:r>
            <a:r>
              <a:rPr lang="en-US" sz="2400" dirty="0"/>
              <a:t> time</a:t>
            </a:r>
          </a:p>
        </p:txBody>
      </p:sp>
    </p:spTree>
    <p:extLst>
      <p:ext uri="{BB962C8B-B14F-4D97-AF65-F5344CB8AC3E}">
        <p14:creationId xmlns:p14="http://schemas.microsoft.com/office/powerpoint/2010/main" val="2348520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46358-E026-4247-86CE-38C23C2F56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4F4C651-6B39-4D3A-AE82-C2B7CD40F16A}"/>
              </a:ext>
            </a:extLst>
          </p:cNvPr>
          <p:cNvSpPr/>
          <p:nvPr/>
        </p:nvSpPr>
        <p:spPr>
          <a:xfrm>
            <a:off x="1449300" y="1251003"/>
            <a:ext cx="6245400" cy="215018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Defenses </a:t>
            </a:r>
            <a:r>
              <a:rPr lang="en-US" sz="3200" dirty="0">
                <a:sym typeface="Wingdings" panose="05000000000000000000" pitchFamily="2" charset="2"/>
              </a:rPr>
              <a:t> </a:t>
            </a:r>
            <a:r>
              <a:rPr lang="en-US" sz="3200" b="1" dirty="0">
                <a:sym typeface="Wingdings" panose="05000000000000000000" pitchFamily="2" charset="2"/>
              </a:rPr>
              <a:t>Substantially</a:t>
            </a:r>
            <a:r>
              <a:rPr lang="en-US" sz="3200" dirty="0">
                <a:sym typeface="Wingdings" panose="05000000000000000000" pitchFamily="2" charset="2"/>
              </a:rPr>
              <a:t> Less Code Available for Reuse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57914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EB042-5D4E-4863-A675-2982022B3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Work in </a:t>
            </a:r>
            <a:r>
              <a:rPr lang="en-US" u="sng" dirty="0"/>
              <a:t>Automating</a:t>
            </a:r>
            <a:r>
              <a:rPr lang="en-US" dirty="0"/>
              <a:t> Code Reuse Attacks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8DD0B7C-834C-4703-BC47-1D2F47C29E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8562873"/>
              </p:ext>
            </p:extLst>
          </p:nvPr>
        </p:nvGraphicFramePr>
        <p:xfrm>
          <a:off x="1240166" y="1259334"/>
          <a:ext cx="6676552" cy="3460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138">
                  <a:extLst>
                    <a:ext uri="{9D8B030D-6E8A-4147-A177-3AD203B41FA5}">
                      <a16:colId xmlns:a16="http://schemas.microsoft.com/office/drawing/2014/main" val="1524669405"/>
                    </a:ext>
                  </a:extLst>
                </a:gridCol>
                <a:gridCol w="1669138">
                  <a:extLst>
                    <a:ext uri="{9D8B030D-6E8A-4147-A177-3AD203B41FA5}">
                      <a16:colId xmlns:a16="http://schemas.microsoft.com/office/drawing/2014/main" val="2605277931"/>
                    </a:ext>
                  </a:extLst>
                </a:gridCol>
                <a:gridCol w="1669138">
                  <a:extLst>
                    <a:ext uri="{9D8B030D-6E8A-4147-A177-3AD203B41FA5}">
                      <a16:colId xmlns:a16="http://schemas.microsoft.com/office/drawing/2014/main" val="894929565"/>
                    </a:ext>
                  </a:extLst>
                </a:gridCol>
                <a:gridCol w="1669138">
                  <a:extLst>
                    <a:ext uri="{9D8B030D-6E8A-4147-A177-3AD203B41FA5}">
                      <a16:colId xmlns:a16="http://schemas.microsoft.com/office/drawing/2014/main" val="4021883526"/>
                    </a:ext>
                  </a:extLst>
                </a:gridCol>
              </a:tblGrid>
              <a:tr h="394107">
                <a:tc>
                  <a:txBody>
                    <a:bodyPr/>
                    <a:lstStyle/>
                    <a:p>
                      <a:r>
                        <a:rPr lang="en-US" dirty="0"/>
                        <a:t>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 (Only)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CFI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Generic Defense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1600287"/>
                  </a:ext>
                </a:extLst>
              </a:tr>
              <a:tr h="511079">
                <a:tc>
                  <a:txBody>
                    <a:bodyPr/>
                    <a:lstStyle/>
                    <a:p>
                      <a:r>
                        <a:rPr lang="en-US" dirty="0"/>
                        <a:t>traitor</a:t>
                      </a:r>
                      <a:br>
                        <a:rPr lang="en-US" dirty="0"/>
                      </a:br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Roemer 2009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✔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✘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✘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372788"/>
                  </a:ext>
                </a:extLst>
              </a:tr>
              <a:tr h="511079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Kornau</a:t>
                      </a:r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2009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✔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✘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✘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077637"/>
                  </a:ext>
                </a:extLst>
              </a:tr>
              <a:tr h="511079"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Schwartz 2011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✔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✘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✘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2388839"/>
                  </a:ext>
                </a:extLst>
              </a:tr>
              <a:tr h="511079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Wollgast</a:t>
                      </a:r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2016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✔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✔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✘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0065745"/>
                  </a:ext>
                </a:extLst>
              </a:tr>
              <a:tr h="511079">
                <a:tc>
                  <a:txBody>
                    <a:bodyPr/>
                    <a:lstStyle/>
                    <a:p>
                      <a:r>
                        <a:rPr lang="en-US" dirty="0"/>
                        <a:t>BOPC</a:t>
                      </a:r>
                    </a:p>
                    <a:p>
                      <a:r>
                        <a:rPr lang="en-US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Ispoglou</a:t>
                      </a:r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2018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✘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✔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✘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963892"/>
                  </a:ext>
                </a:extLst>
              </a:tr>
              <a:tr h="511079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Our 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✔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✔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✔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337742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185C038D-7F00-49B1-B605-16332A958501}"/>
              </a:ext>
            </a:extLst>
          </p:cNvPr>
          <p:cNvSpPr/>
          <p:nvPr/>
        </p:nvSpPr>
        <p:spPr>
          <a:xfrm>
            <a:off x="355940" y="4209926"/>
            <a:ext cx="8628499" cy="5216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24FAFB-A042-46FA-8AD0-75A5383E79E1}"/>
              </a:ext>
            </a:extLst>
          </p:cNvPr>
          <p:cNvSpPr/>
          <p:nvPr/>
        </p:nvSpPr>
        <p:spPr>
          <a:xfrm>
            <a:off x="6247377" y="1213829"/>
            <a:ext cx="1773567" cy="3437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BF2406-5DEA-49E9-BD05-C2DE010A8178}"/>
              </a:ext>
            </a:extLst>
          </p:cNvPr>
          <p:cNvSpPr txBox="1"/>
          <p:nvPr/>
        </p:nvSpPr>
        <p:spPr>
          <a:xfrm>
            <a:off x="4792927" y="3504899"/>
            <a:ext cx="117828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latin typeface="Arial"/>
                <a:cs typeface="Arial"/>
              </a:rPr>
              <a:t>(coarse-grained)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FBFC85-4050-4385-BAC3-D0558F118D7E}"/>
              </a:ext>
            </a:extLst>
          </p:cNvPr>
          <p:cNvSpPr/>
          <p:nvPr/>
        </p:nvSpPr>
        <p:spPr>
          <a:xfrm>
            <a:off x="1123056" y="568109"/>
            <a:ext cx="6897889" cy="63957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Existing Work is Hard-coded to Specific Configuration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83ABA7-AAD8-4052-B585-90BD3261AED9}"/>
              </a:ext>
            </a:extLst>
          </p:cNvPr>
          <p:cNvSpPr txBox="1"/>
          <p:nvPr/>
        </p:nvSpPr>
        <p:spPr>
          <a:xfrm>
            <a:off x="4792927" y="4024979"/>
            <a:ext cx="117828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latin typeface="Arial"/>
                <a:cs typeface="Arial"/>
              </a:rPr>
              <a:t>(fine-grained)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97D35A-3CBC-4666-9B89-0E243F50158A}"/>
              </a:ext>
            </a:extLst>
          </p:cNvPr>
          <p:cNvSpPr/>
          <p:nvPr/>
        </p:nvSpPr>
        <p:spPr>
          <a:xfrm>
            <a:off x="355941" y="3191194"/>
            <a:ext cx="8628499" cy="10985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FCE9CC-3E21-45AD-BD1C-796D12719F2C}"/>
              </a:ext>
            </a:extLst>
          </p:cNvPr>
          <p:cNvSpPr/>
          <p:nvPr/>
        </p:nvSpPr>
        <p:spPr>
          <a:xfrm>
            <a:off x="4584273" y="1207686"/>
            <a:ext cx="1663103" cy="35122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4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7" grpId="0" animBg="1"/>
      <p:bldP spid="4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F1681-6CC4-4FBB-941D-25992B60F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504505"/>
            <a:ext cx="8340968" cy="3172176"/>
          </a:xfrm>
        </p:spPr>
        <p:txBody>
          <a:bodyPr/>
          <a:lstStyle/>
          <a:p>
            <a:r>
              <a:rPr lang="en-US" sz="1800" dirty="0"/>
              <a:t>A </a:t>
            </a:r>
            <a:r>
              <a:rPr lang="en-US" sz="1800" u="sng" dirty="0"/>
              <a:t>code reuse attack</a:t>
            </a:r>
            <a:r>
              <a:rPr lang="en-US" sz="1800" dirty="0"/>
              <a:t> is a program execution:</a:t>
            </a:r>
          </a:p>
          <a:p>
            <a:pPr lvl="1"/>
            <a:r>
              <a:rPr lang="en-US" sz="1800" dirty="0"/>
              <a:t>That respects DEP</a:t>
            </a:r>
          </a:p>
          <a:p>
            <a:pPr lvl="1"/>
            <a:r>
              <a:rPr lang="en-US" sz="1800" dirty="0"/>
              <a:t>Starts from a specific vulnerability</a:t>
            </a:r>
          </a:p>
          <a:p>
            <a:pPr lvl="2"/>
            <a:r>
              <a:rPr lang="en-US" dirty="0"/>
              <a:t>Different vulnerabilities yield different amounts of control over the program state</a:t>
            </a:r>
          </a:p>
          <a:p>
            <a:pPr lvl="1"/>
            <a:r>
              <a:rPr lang="en-US" sz="1800" dirty="0"/>
              <a:t>Reaches a goal state</a:t>
            </a:r>
          </a:p>
          <a:p>
            <a:pPr lvl="2"/>
            <a:r>
              <a:rPr lang="en-US" dirty="0"/>
              <a:t>Depends on the attacker's goals</a:t>
            </a:r>
          </a:p>
          <a:p>
            <a:pPr lvl="2"/>
            <a:r>
              <a:rPr lang="en-US" dirty="0"/>
              <a:t>Spawning a shell or writing a particular value to memory</a:t>
            </a:r>
          </a:p>
          <a:p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5ADEAC-C407-4B76-9AEB-F28BB734F7D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E3C987-4FAD-4393-B446-68CA975CD4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ACE66D-CC81-4A42-BBD8-92240A97E7BD}"/>
              </a:ext>
            </a:extLst>
          </p:cNvPr>
          <p:cNvSpPr/>
          <p:nvPr/>
        </p:nvSpPr>
        <p:spPr>
          <a:xfrm>
            <a:off x="1412993" y="240030"/>
            <a:ext cx="6318015" cy="79501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What </a:t>
            </a:r>
            <a:r>
              <a:rPr lang="en-US" sz="2400" i="1" dirty="0"/>
              <a:t>is</a:t>
            </a:r>
            <a:r>
              <a:rPr lang="en-US" sz="2400" dirty="0"/>
              <a:t> a code reuse attack?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7EBA02-BE74-452B-85D5-8B0727FFD1BF}"/>
              </a:ext>
            </a:extLst>
          </p:cNvPr>
          <p:cNvSpPr/>
          <p:nvPr/>
        </p:nvSpPr>
        <p:spPr>
          <a:xfrm>
            <a:off x="1412993" y="3969410"/>
            <a:ext cx="6318015" cy="70727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This sounds like software model checking…</a:t>
            </a:r>
          </a:p>
        </p:txBody>
      </p:sp>
    </p:spTree>
    <p:extLst>
      <p:ext uri="{BB962C8B-B14F-4D97-AF65-F5344CB8AC3E}">
        <p14:creationId xmlns:p14="http://schemas.microsoft.com/office/powerpoint/2010/main" val="2321247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E43330D-924C-4006-A4AC-18C87636356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47AF9F-3609-4964-BC49-EC8293B4CC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1D349F7-1EFB-4AB7-95F5-5C119CAF2740}"/>
              </a:ext>
            </a:extLst>
          </p:cNvPr>
          <p:cNvGrpSpPr/>
          <p:nvPr/>
        </p:nvGrpSpPr>
        <p:grpSpPr>
          <a:xfrm>
            <a:off x="708660" y="3888"/>
            <a:ext cx="7726680" cy="1380794"/>
            <a:chOff x="594360" y="781128"/>
            <a:chExt cx="7726680" cy="1380794"/>
          </a:xfrm>
          <a:effectLst/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4510850-DCFF-4DCE-A707-741694E10546}"/>
                </a:ext>
              </a:extLst>
            </p:cNvPr>
            <p:cNvSpPr/>
            <p:nvPr/>
          </p:nvSpPr>
          <p:spPr>
            <a:xfrm>
              <a:off x="594360" y="844167"/>
              <a:ext cx="7726680" cy="1317755"/>
            </a:xfrm>
            <a:prstGeom prst="roundRect">
              <a:avLst>
                <a:gd name="adj" fmla="val 8571"/>
              </a:avLst>
            </a:prstGeom>
            <a:solidFill>
              <a:schemeClr val="dk1">
                <a:alpha val="12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E666E98-ADB0-40E1-A3E8-9DCC3C7A59D9}"/>
                </a:ext>
              </a:extLst>
            </p:cNvPr>
            <p:cNvSpPr/>
            <p:nvPr/>
          </p:nvSpPr>
          <p:spPr>
            <a:xfrm>
              <a:off x="792480" y="1254444"/>
              <a:ext cx="1059180" cy="80772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Entry</a:t>
              </a:r>
            </a:p>
            <a:p>
              <a:pPr algn="ctr"/>
              <a:r>
                <a:rPr lang="en-US" dirty="0"/>
                <a:t>Point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379ABA6-3ECB-437B-9C2B-2F7DF9545C97}"/>
                </a:ext>
              </a:extLst>
            </p:cNvPr>
            <p:cNvSpPr/>
            <p:nvPr/>
          </p:nvSpPr>
          <p:spPr>
            <a:xfrm>
              <a:off x="7056120" y="1254444"/>
              <a:ext cx="1059180" cy="80772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Error State</a:t>
              </a:r>
            </a:p>
          </p:txBody>
        </p:sp>
        <p:sp>
          <p:nvSpPr>
            <p:cNvPr id="8" name="Cloud 7">
              <a:extLst>
                <a:ext uri="{FF2B5EF4-FFF2-40B4-BE49-F238E27FC236}">
                  <a16:creationId xmlns:a16="http://schemas.microsoft.com/office/drawing/2014/main" id="{05E43395-DA10-4C48-811C-45C1C8F2E3F6}"/>
                </a:ext>
              </a:extLst>
            </p:cNvPr>
            <p:cNvSpPr/>
            <p:nvPr/>
          </p:nvSpPr>
          <p:spPr>
            <a:xfrm>
              <a:off x="2484120" y="1266918"/>
              <a:ext cx="3939540" cy="782772"/>
            </a:xfrm>
            <a:prstGeom prst="clou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Program Behavior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3196F65-D4A7-4B35-9896-E541690EA438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1860597" y="1658304"/>
              <a:ext cx="635743" cy="0"/>
            </a:xfrm>
            <a:prstGeom prst="straightConnector1">
              <a:avLst/>
            </a:prstGeom>
            <a:ln w="57150">
              <a:tailEnd type="triangle" w="lg" len="lg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4BCED56-26CA-4484-A69F-D2B6CC2AF6C7}"/>
                </a:ext>
              </a:extLst>
            </p:cNvPr>
            <p:cNvCxnSpPr>
              <a:cxnSpLocks/>
              <a:stCxn id="8" idx="0"/>
              <a:endCxn id="7" idx="1"/>
            </p:cNvCxnSpPr>
            <p:nvPr/>
          </p:nvCxnSpPr>
          <p:spPr>
            <a:xfrm>
              <a:off x="6420377" y="1658304"/>
              <a:ext cx="635743" cy="0"/>
            </a:xfrm>
            <a:prstGeom prst="straightConnector1">
              <a:avLst/>
            </a:prstGeom>
            <a:ln w="57150">
              <a:tailEnd type="triangle" w="lg" len="lg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18" name="TextBox 20">
              <a:extLst>
                <a:ext uri="{FF2B5EF4-FFF2-40B4-BE49-F238E27FC236}">
                  <a16:creationId xmlns:a16="http://schemas.microsoft.com/office/drawing/2014/main" id="{86A8AB8D-5413-4D62-A086-4B615D2F7F55}"/>
                </a:ext>
              </a:extLst>
            </p:cNvPr>
            <p:cNvSpPr txBox="1"/>
            <p:nvPr/>
          </p:nvSpPr>
          <p:spPr>
            <a:xfrm>
              <a:off x="1328092" y="781128"/>
              <a:ext cx="6259216" cy="6858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800" dirty="0">
                  <a:latin typeface="Calibri" pitchFamily="34" charset="0"/>
                  <a:cs typeface="Calibri" pitchFamily="34" charset="0"/>
                </a:rPr>
                <a:t>Software Model Checking</a:t>
              </a: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AF0AB5A-AD50-4FDC-AA97-B18092246174}"/>
              </a:ext>
            </a:extLst>
          </p:cNvPr>
          <p:cNvSpPr/>
          <p:nvPr/>
        </p:nvSpPr>
        <p:spPr>
          <a:xfrm>
            <a:off x="1009650" y="1489457"/>
            <a:ext cx="7124700" cy="59817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Is the error state reachable from the entry point?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93DCE37-9384-43D8-BF92-6B6B79B57BAB}"/>
              </a:ext>
            </a:extLst>
          </p:cNvPr>
          <p:cNvGrpSpPr/>
          <p:nvPr/>
        </p:nvGrpSpPr>
        <p:grpSpPr>
          <a:xfrm>
            <a:off x="708660" y="2366088"/>
            <a:ext cx="7726680" cy="1380794"/>
            <a:chOff x="594360" y="781128"/>
            <a:chExt cx="7726680" cy="1380794"/>
          </a:xfrm>
          <a:effectLst/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029E4A4B-210B-45F3-BE33-7A795B71C7F8}"/>
                </a:ext>
              </a:extLst>
            </p:cNvPr>
            <p:cNvSpPr/>
            <p:nvPr/>
          </p:nvSpPr>
          <p:spPr>
            <a:xfrm>
              <a:off x="594360" y="844167"/>
              <a:ext cx="7726680" cy="1317755"/>
            </a:xfrm>
            <a:prstGeom prst="roundRect">
              <a:avLst>
                <a:gd name="adj" fmla="val 8571"/>
              </a:avLst>
            </a:prstGeom>
            <a:solidFill>
              <a:schemeClr val="dk1">
                <a:alpha val="12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4B72D46E-884B-4C20-BAD1-74531CEAE209}"/>
                </a:ext>
              </a:extLst>
            </p:cNvPr>
            <p:cNvSpPr/>
            <p:nvPr/>
          </p:nvSpPr>
          <p:spPr>
            <a:xfrm>
              <a:off x="792480" y="1254444"/>
              <a:ext cx="1059180" cy="80772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Vulnera-bility</a:t>
              </a:r>
              <a:endParaRPr lang="en-US" dirty="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D198F2F6-4B50-460A-A43B-03702A9FD24A}"/>
                </a:ext>
              </a:extLst>
            </p:cNvPr>
            <p:cNvSpPr/>
            <p:nvPr/>
          </p:nvSpPr>
          <p:spPr>
            <a:xfrm>
              <a:off x="7056120" y="1254444"/>
              <a:ext cx="1059180" cy="80772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Goal State</a:t>
              </a:r>
            </a:p>
          </p:txBody>
        </p:sp>
        <p:sp>
          <p:nvSpPr>
            <p:cNvPr id="38" name="Cloud 37">
              <a:extLst>
                <a:ext uri="{FF2B5EF4-FFF2-40B4-BE49-F238E27FC236}">
                  <a16:creationId xmlns:a16="http://schemas.microsoft.com/office/drawing/2014/main" id="{85AE4963-93CD-47A8-9563-C682F587910B}"/>
                </a:ext>
              </a:extLst>
            </p:cNvPr>
            <p:cNvSpPr/>
            <p:nvPr/>
          </p:nvSpPr>
          <p:spPr>
            <a:xfrm>
              <a:off x="2484120" y="1266918"/>
              <a:ext cx="3939540" cy="782772"/>
            </a:xfrm>
            <a:prstGeom prst="clou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Behavior of Reused Code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DFE8722E-3772-415E-AA23-7F19F7C9214D}"/>
                </a:ext>
              </a:extLst>
            </p:cNvPr>
            <p:cNvCxnSpPr>
              <a:cxnSpLocks/>
              <a:endCxn id="38" idx="2"/>
            </p:cNvCxnSpPr>
            <p:nvPr/>
          </p:nvCxnSpPr>
          <p:spPr>
            <a:xfrm>
              <a:off x="1860597" y="1658304"/>
              <a:ext cx="635743" cy="0"/>
            </a:xfrm>
            <a:prstGeom prst="straightConnector1">
              <a:avLst/>
            </a:prstGeom>
            <a:ln w="57150">
              <a:tailEnd type="triangle" w="lg" len="lg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DE4A6DD-1DD7-426A-840A-B5865D50411B}"/>
                </a:ext>
              </a:extLst>
            </p:cNvPr>
            <p:cNvCxnSpPr>
              <a:cxnSpLocks/>
              <a:stCxn id="38" idx="0"/>
              <a:endCxn id="37" idx="1"/>
            </p:cNvCxnSpPr>
            <p:nvPr/>
          </p:nvCxnSpPr>
          <p:spPr>
            <a:xfrm>
              <a:off x="6420377" y="1658304"/>
              <a:ext cx="635743" cy="0"/>
            </a:xfrm>
            <a:prstGeom prst="straightConnector1">
              <a:avLst/>
            </a:prstGeom>
            <a:ln w="57150">
              <a:tailEnd type="triangle" w="lg" len="lg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41" name="TextBox 20">
              <a:extLst>
                <a:ext uri="{FF2B5EF4-FFF2-40B4-BE49-F238E27FC236}">
                  <a16:creationId xmlns:a16="http://schemas.microsoft.com/office/drawing/2014/main" id="{BB4D1000-5D24-4FCF-B290-32A7EE8A5D75}"/>
                </a:ext>
              </a:extLst>
            </p:cNvPr>
            <p:cNvSpPr txBox="1"/>
            <p:nvPr/>
          </p:nvSpPr>
          <p:spPr>
            <a:xfrm>
              <a:off x="1328092" y="781128"/>
              <a:ext cx="6259216" cy="685800"/>
            </a:xfrm>
            <a:prstGeom prst="rect">
              <a:avLst/>
            </a:prstGeom>
            <a:noFill/>
            <a:effectLst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800" dirty="0">
                  <a:latin typeface="Calibri" pitchFamily="34" charset="0"/>
                  <a:cs typeface="Calibri" pitchFamily="34" charset="0"/>
                </a:rPr>
                <a:t>Code Reuse Attacks</a:t>
              </a:r>
            </a:p>
          </p:txBody>
        </p:sp>
      </p:grp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1BCAA8A-13D5-4C4D-BDD8-0D7949B23AED}"/>
              </a:ext>
            </a:extLst>
          </p:cNvPr>
          <p:cNvSpPr/>
          <p:nvPr/>
        </p:nvSpPr>
        <p:spPr>
          <a:xfrm>
            <a:off x="1009650" y="3851657"/>
            <a:ext cx="7124700" cy="59817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Is the goal state reachable from the vulnerability?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D53C15D-E2A3-4678-8F21-9471BF01833C}"/>
              </a:ext>
            </a:extLst>
          </p:cNvPr>
          <p:cNvCxnSpPr>
            <a:cxnSpLocks/>
          </p:cNvCxnSpPr>
          <p:nvPr/>
        </p:nvCxnSpPr>
        <p:spPr>
          <a:xfrm>
            <a:off x="0" y="2255520"/>
            <a:ext cx="914399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6D9DCFE9-E3B7-4A7A-A698-3A162B1DDA43}"/>
              </a:ext>
            </a:extLst>
          </p:cNvPr>
          <p:cNvSpPr/>
          <p:nvPr/>
        </p:nvSpPr>
        <p:spPr>
          <a:xfrm>
            <a:off x="-99060" y="-92330"/>
            <a:ext cx="9334499" cy="224328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02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42E6398-8A2A-4E79-9E27-D9EB0A05CECD}"/>
              </a:ext>
            </a:extLst>
          </p:cNvPr>
          <p:cNvSpPr/>
          <p:nvPr/>
        </p:nvSpPr>
        <p:spPr>
          <a:xfrm>
            <a:off x="319118" y="1942715"/>
            <a:ext cx="8542583" cy="125806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Cast </a:t>
            </a:r>
            <a:r>
              <a:rPr lang="en-US" sz="2800" u="sng" dirty="0"/>
              <a:t>code reuse attacks</a:t>
            </a:r>
            <a:r>
              <a:rPr lang="en-US" sz="2800" dirty="0"/>
              <a:t> as a </a:t>
            </a:r>
            <a:r>
              <a:rPr lang="en-US" sz="2800" u="sng" dirty="0"/>
              <a:t>software model checking </a:t>
            </a:r>
            <a:r>
              <a:rPr lang="en-US" sz="2800" dirty="0"/>
              <a:t>problem and solve it using an existing technique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896207-3F50-4695-9278-03C025329BFB}"/>
              </a:ext>
            </a:extLst>
          </p:cNvPr>
          <p:cNvSpPr txBox="1"/>
          <p:nvPr/>
        </p:nvSpPr>
        <p:spPr>
          <a:xfrm>
            <a:off x="1963812" y="764320"/>
            <a:ext cx="5191828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dirty="0">
                <a:cs typeface="Arial" panose="020B0604020202020204" pitchFamily="34" charset="0"/>
              </a:rPr>
              <a:t>The Big Idea</a:t>
            </a:r>
          </a:p>
        </p:txBody>
      </p:sp>
    </p:spTree>
    <p:extLst>
      <p:ext uri="{BB962C8B-B14F-4D97-AF65-F5344CB8AC3E}">
        <p14:creationId xmlns:p14="http://schemas.microsoft.com/office/powerpoint/2010/main" val="1802709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2220A-6BF4-44FB-8FCD-DF4432C46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Limbo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CEF4D-E7A4-4572-98FE-6F79ABEFB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963495"/>
            <a:ext cx="8340968" cy="3623661"/>
          </a:xfrm>
        </p:spPr>
        <p:txBody>
          <a:bodyPr/>
          <a:lstStyle/>
          <a:p>
            <a:r>
              <a:rPr lang="en-US" sz="2000" dirty="0"/>
              <a:t>We created a prototype called </a:t>
            </a:r>
            <a:r>
              <a:rPr lang="en-US" sz="2000" u="sng" dirty="0"/>
              <a:t>Limbo</a:t>
            </a:r>
            <a:r>
              <a:rPr lang="en-US" sz="2000" dirty="0"/>
              <a:t> based on these ideas</a:t>
            </a:r>
          </a:p>
          <a:p>
            <a:pPr lvl="1"/>
            <a:endParaRPr lang="en-US" dirty="0"/>
          </a:p>
          <a:p>
            <a:pPr lvl="1"/>
            <a:r>
              <a:rPr lang="en-US" sz="2000" dirty="0"/>
              <a:t>Reasons about code reuse attacks in a very general way</a:t>
            </a:r>
          </a:p>
          <a:p>
            <a:pPr lvl="2"/>
            <a:r>
              <a:rPr lang="en-US" dirty="0"/>
              <a:t>Because it searches based on reachability</a:t>
            </a:r>
            <a:endParaRPr lang="en-US" dirty="0">
              <a:sym typeface="Wingdings" panose="05000000000000000000" pitchFamily="2" charset="2"/>
            </a:endParaRPr>
          </a:p>
          <a:p>
            <a:pPr lvl="2"/>
            <a:r>
              <a:rPr lang="en-US" dirty="0">
                <a:sym typeface="Wingdings" panose="05000000000000000000" pitchFamily="2" charset="2"/>
              </a:rPr>
              <a:t>Other automated techniques implement a predefined strategy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sz="2000" dirty="0"/>
              <a:t>Can search for attacks even in the presence of unknown defenses</a:t>
            </a:r>
          </a:p>
          <a:p>
            <a:pPr lvl="2"/>
            <a:r>
              <a:rPr lang="en-US" dirty="0"/>
              <a:t>Implementation of defense must be observable</a:t>
            </a:r>
          </a:p>
          <a:p>
            <a:pPr lvl="1"/>
            <a:endParaRPr lang="en-US" dirty="0"/>
          </a:p>
          <a:p>
            <a:pPr lvl="1"/>
            <a:r>
              <a:rPr lang="en-US" sz="2000" dirty="0"/>
              <a:t>Built on top of </a:t>
            </a:r>
            <a:r>
              <a:rPr lang="en-US" sz="2000" dirty="0" err="1"/>
              <a:t>ForAllSecure's</a:t>
            </a:r>
            <a:r>
              <a:rPr lang="en-US" sz="2000" dirty="0"/>
              <a:t> Mayhem concolic executor</a:t>
            </a:r>
          </a:p>
          <a:p>
            <a:pPr lvl="2"/>
            <a:r>
              <a:rPr lang="en-US" sz="1600" dirty="0"/>
              <a:t>Helps solve the software model checking problem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1670F51-5C4D-444D-A0BD-96A5D4598C5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C8B961-960A-4839-A5A0-2D29BD6965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91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33D4C-B036-451C-A318-D5C289926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Concolic Execution Search Heuristics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19AB93-0234-48DF-842A-D2933A49D0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1" y="646545"/>
                <a:ext cx="8340968" cy="3940611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1900" dirty="0"/>
                  <a:t>The search space is large so we use heuristics to guide execution to more promising execution paths</a:t>
                </a:r>
              </a:p>
              <a:p>
                <a:pPr lvl="1"/>
                <a:r>
                  <a:rPr lang="en-US" sz="1700" dirty="0"/>
                  <a:t>Limbo would get "stuck" exploring complex functions</a:t>
                </a:r>
              </a:p>
              <a:p>
                <a:pPr lvl="1"/>
                <a:endParaRPr lang="en-US" sz="1800" dirty="0"/>
              </a:p>
              <a:p>
                <a:r>
                  <a:rPr lang="en-US" sz="1900" b="1" dirty="0"/>
                  <a:t>Prefer states with more symbolic control</a:t>
                </a:r>
              </a:p>
              <a:p>
                <a:pPr lvl="1"/>
                <a:r>
                  <a:rPr lang="en-US" sz="1700" dirty="0">
                    <a:solidFill>
                      <a:srgbClr val="859900"/>
                    </a:solidFill>
                    <a:highlight>
                      <a:srgbClr val="FDF6E3"/>
                    </a:highlight>
                    <a:latin typeface="Consolas" panose="020B0609020204030204" pitchFamily="49" charset="0"/>
                  </a:rPr>
                  <a:t>mov</a:t>
                </a:r>
                <a:r>
                  <a:rPr lang="en-US" sz="1700" dirty="0">
                    <a:solidFill>
                      <a:srgbClr val="657B83"/>
                    </a:solidFill>
                    <a:highlight>
                      <a:srgbClr val="FDF6E3"/>
                    </a:highlight>
                    <a:latin typeface="Consolas" panose="020B0609020204030204" pitchFamily="49" charset="0"/>
                  </a:rPr>
                  <a:t> </a:t>
                </a:r>
                <a:r>
                  <a:rPr lang="en-US" sz="1700" dirty="0">
                    <a:solidFill>
                      <a:srgbClr val="B58900"/>
                    </a:solidFill>
                    <a:highlight>
                      <a:srgbClr val="FDF6E3"/>
                    </a:highlight>
                    <a:latin typeface="Consolas" panose="020B0609020204030204" pitchFamily="49" charset="0"/>
                  </a:rPr>
                  <a:t>%</a:t>
                </a:r>
                <a:r>
                  <a:rPr lang="en-US" sz="1700" dirty="0" err="1">
                    <a:solidFill>
                      <a:srgbClr val="B58900"/>
                    </a:solidFill>
                    <a:highlight>
                      <a:srgbClr val="FDF6E3"/>
                    </a:highlight>
                    <a:latin typeface="Consolas" panose="020B0609020204030204" pitchFamily="49" charset="0"/>
                  </a:rPr>
                  <a:t>eax</a:t>
                </a:r>
                <a:r>
                  <a:rPr lang="en-US" sz="1700" dirty="0">
                    <a:solidFill>
                      <a:srgbClr val="586E75"/>
                    </a:solidFill>
                    <a:highlight>
                      <a:srgbClr val="FDF6E3"/>
                    </a:highlight>
                    <a:latin typeface="Consolas" panose="020B0609020204030204" pitchFamily="49" charset="0"/>
                  </a:rPr>
                  <a:t>,</a:t>
                </a:r>
                <a:r>
                  <a:rPr lang="en-US" sz="1700" dirty="0">
                    <a:solidFill>
                      <a:srgbClr val="657B83"/>
                    </a:solidFill>
                    <a:highlight>
                      <a:srgbClr val="FDF6E3"/>
                    </a:highlight>
                    <a:latin typeface="Consolas" panose="020B0609020204030204" pitchFamily="49" charset="0"/>
                  </a:rPr>
                  <a:t> </a:t>
                </a:r>
                <a:r>
                  <a:rPr lang="en-US" sz="1700" dirty="0">
                    <a:solidFill>
                      <a:srgbClr val="586E75"/>
                    </a:solidFill>
                    <a:highlight>
                      <a:srgbClr val="FDF6E3"/>
                    </a:highlight>
                    <a:latin typeface="Consolas" panose="020B0609020204030204" pitchFamily="49" charset="0"/>
                  </a:rPr>
                  <a:t>(%</a:t>
                </a:r>
                <a:r>
                  <a:rPr lang="en-US" sz="1700" dirty="0" err="1">
                    <a:solidFill>
                      <a:srgbClr val="CB4B16"/>
                    </a:solidFill>
                    <a:highlight>
                      <a:srgbClr val="FDF6E3"/>
                    </a:highlight>
                    <a:latin typeface="Consolas" panose="020B0609020204030204" pitchFamily="49" charset="0"/>
                  </a:rPr>
                  <a:t>ebx</a:t>
                </a:r>
                <a:r>
                  <a:rPr lang="en-US" sz="1700" dirty="0">
                    <a:solidFill>
                      <a:srgbClr val="586E75"/>
                    </a:solidFill>
                    <a:highlight>
                      <a:srgbClr val="FDF6E3"/>
                    </a:highlight>
                    <a:latin typeface="Consolas" panose="020B0609020204030204" pitchFamily="49" charset="0"/>
                  </a:rPr>
                  <a:t>)</a:t>
                </a:r>
                <a:r>
                  <a:rPr lang="en-US" sz="1700" dirty="0"/>
                  <a:t> with concrete vs. symbolic operands</a:t>
                </a:r>
              </a:p>
              <a:p>
                <a:pPr lvl="1"/>
                <a:r>
                  <a:rPr lang="en-US" sz="1700" dirty="0"/>
                  <a:t>Award +1 point for each symbolic bit in a register</a:t>
                </a:r>
              </a:p>
              <a:p>
                <a:pPr lvl="1"/>
                <a:r>
                  <a:rPr lang="en-US" sz="1700" dirty="0"/>
                  <a:t>Award +1 point for each symbolic memory byte located in the scratch storage area</a:t>
                </a:r>
              </a:p>
              <a:p>
                <a:endParaRPr lang="en-US" dirty="0"/>
              </a:p>
              <a:p>
                <a:r>
                  <a:rPr lang="en-US" sz="1900" b="1" dirty="0"/>
                  <a:t>Prefer a smaller state space</a:t>
                </a:r>
              </a:p>
              <a:p>
                <a:pPr lvl="1"/>
                <a:r>
                  <a:rPr lang="en-US" sz="1700" dirty="0"/>
                  <a:t>Each indirect jump significantly increases the size of the state space</a:t>
                </a:r>
              </a:p>
              <a:p>
                <a:pPr lvl="1"/>
                <a:r>
                  <a:rPr lang="en-US" sz="1700" dirty="0"/>
                  <a:t>First symbolic indirect jump is charged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3∗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700" dirty="0"/>
                  <a:t> where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700" dirty="0"/>
                  <a:t> is pointer width</a:t>
                </a:r>
              </a:p>
              <a:p>
                <a:pPr lvl="1"/>
                <a:r>
                  <a:rPr lang="en-US" sz="1700" dirty="0"/>
                  <a:t>Subsequent symbolic indirect jumps are only charged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700" dirty="0"/>
              </a:p>
              <a:p>
                <a:pPr lvl="2"/>
                <a:endParaRPr lang="en-US" sz="165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19AB93-0234-48DF-842A-D2933A49D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1" y="646545"/>
                <a:ext cx="8340968" cy="3940611"/>
              </a:xfrm>
              <a:blipFill>
                <a:blip r:embed="rId3"/>
                <a:stretch>
                  <a:fillRect l="-1754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EF31448-9887-483B-8E40-CB22D918DD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E26B72-1E10-43D5-B174-FB9AC6F3A6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8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D2E7C3-3A36-400C-B828-BE1C34DD3C42}"/>
              </a:ext>
            </a:extLst>
          </p:cNvPr>
          <p:cNvSpPr/>
          <p:nvPr/>
        </p:nvSpPr>
        <p:spPr>
          <a:xfrm>
            <a:off x="381000" y="811317"/>
            <a:ext cx="7725862" cy="96225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876DE3-0E5F-472E-9B2F-A344B6D53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71955-7729-46AE-B0F4-B5A2DB820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400" dirty="0"/>
              <a:t>RQ1: Can Limbo discover code reuse attacks in the presence of fine-grained CFI?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RQ2: How much executable code does Limbo require to produce code reuse attacks?</a:t>
            </a:r>
          </a:p>
          <a:p>
            <a:pPr marL="128588" lvl="1" indent="0">
              <a:buNone/>
            </a:pPr>
            <a:endParaRPr lang="en-US" sz="2400" dirty="0"/>
          </a:p>
          <a:p>
            <a:pPr lvl="1"/>
            <a:r>
              <a:rPr lang="en-US" sz="2400" dirty="0"/>
              <a:t>RQ3: How sensitive is Limbo to its heuristics?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RQ4: Can Limbo discover new techniques? 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56479D7-1A7F-4997-ABDB-BF4F46F0AB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189D88-B0F9-49FC-BA49-B996E569AB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0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E0BB7-8063-445B-B338-B2F27D5CF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sz="2400" dirty="0"/>
              <a:t>RQ1: Can Limbo discover code reuse attacks in the presence of fine-grained CFI?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AE6CE8E-C1FD-443E-996C-7C582E45AD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975" y="1018727"/>
            <a:ext cx="9086049" cy="1985872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D18B7DA-F6B9-42FD-8AB4-FCE4465CBCF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70B94-D709-4FAB-B0E8-FD6E48A427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7BA5F0-7FA5-44C9-AF4A-E443212EB42F}"/>
              </a:ext>
            </a:extLst>
          </p:cNvPr>
          <p:cNvSpPr txBox="1"/>
          <p:nvPr/>
        </p:nvSpPr>
        <p:spPr>
          <a:xfrm>
            <a:off x="1614432" y="3006343"/>
            <a:ext cx="797798" cy="4078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highlight>
                  <a:srgbClr val="B4FFB4"/>
                </a:highlight>
                <a:latin typeface="Arial"/>
                <a:cs typeface="Arial"/>
              </a:rPr>
              <a:t>4</a:t>
            </a:r>
            <a:r>
              <a:rPr lang="en-US" sz="1600" dirty="0">
                <a:latin typeface="Arial"/>
                <a:cs typeface="Arial"/>
              </a:rPr>
              <a:t>-</a:t>
            </a:r>
            <a:r>
              <a:rPr lang="en-US" sz="1600" dirty="0">
                <a:highlight>
                  <a:srgbClr val="FFB2B2"/>
                </a:highlight>
                <a:latin typeface="Arial"/>
                <a:cs typeface="Arial"/>
              </a:rPr>
              <a:t>0</a:t>
            </a:r>
            <a:r>
              <a:rPr lang="en-US" sz="1600" dirty="0">
                <a:latin typeface="Arial"/>
                <a:cs typeface="Arial"/>
              </a:rPr>
              <a:t>-</a:t>
            </a:r>
            <a:r>
              <a:rPr lang="en-US" sz="1600" dirty="0">
                <a:highlight>
                  <a:srgbClr val="FFFAC1"/>
                </a:highlight>
                <a:latin typeface="Arial"/>
                <a:cs typeface="Arial"/>
              </a:rPr>
              <a:t>0</a:t>
            </a:r>
            <a:br>
              <a:rPr lang="en-US" sz="1600" dirty="0">
                <a:latin typeface="Arial"/>
                <a:cs typeface="Arial"/>
              </a:rPr>
            </a:br>
            <a:r>
              <a:rPr lang="en-US" sz="1050" dirty="0">
                <a:highlight>
                  <a:srgbClr val="B4FFB4"/>
                </a:highlight>
                <a:latin typeface="Arial"/>
                <a:cs typeface="Arial"/>
              </a:rPr>
              <a:t>Win</a:t>
            </a:r>
            <a:r>
              <a:rPr lang="en-US" sz="1050" dirty="0">
                <a:latin typeface="Arial"/>
                <a:cs typeface="Arial"/>
              </a:rPr>
              <a:t>-</a:t>
            </a:r>
            <a:r>
              <a:rPr lang="en-US" sz="1050" dirty="0">
                <a:highlight>
                  <a:srgbClr val="FFB2B2"/>
                </a:highlight>
                <a:latin typeface="Arial"/>
                <a:cs typeface="Arial"/>
              </a:rPr>
              <a:t>Loss</a:t>
            </a:r>
            <a:r>
              <a:rPr lang="en-US" sz="1050" dirty="0">
                <a:latin typeface="Arial"/>
                <a:cs typeface="Arial"/>
              </a:rPr>
              <a:t>-</a:t>
            </a:r>
            <a:r>
              <a:rPr lang="en-US" sz="1050" dirty="0">
                <a:highlight>
                  <a:srgbClr val="FFFAC1"/>
                </a:highlight>
                <a:latin typeface="Arial"/>
                <a:cs typeface="Arial"/>
              </a:rPr>
              <a:t>Tie</a:t>
            </a:r>
            <a:endParaRPr lang="en-US" sz="1050" dirty="0">
              <a:highlight>
                <a:srgbClr val="FFFF00"/>
              </a:highlight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B9D4E9-D0CA-4592-A0D2-EFF1D0842D7C}"/>
              </a:ext>
            </a:extLst>
          </p:cNvPr>
          <p:cNvSpPr txBox="1"/>
          <p:nvPr/>
        </p:nvSpPr>
        <p:spPr>
          <a:xfrm>
            <a:off x="2595314" y="2984492"/>
            <a:ext cx="79779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highlight>
                  <a:srgbClr val="B4FFB4"/>
                </a:highlight>
                <a:latin typeface="Arial"/>
                <a:cs typeface="Arial"/>
              </a:rPr>
              <a:t>10</a:t>
            </a:r>
            <a:r>
              <a:rPr lang="en-US" sz="1600" dirty="0">
                <a:latin typeface="Arial"/>
                <a:cs typeface="Arial"/>
              </a:rPr>
              <a:t>-</a:t>
            </a:r>
            <a:r>
              <a:rPr lang="en-US" sz="1600" dirty="0">
                <a:highlight>
                  <a:srgbClr val="FFB2B2"/>
                </a:highlight>
                <a:latin typeface="Arial"/>
                <a:cs typeface="Arial"/>
              </a:rPr>
              <a:t>0</a:t>
            </a:r>
            <a:r>
              <a:rPr lang="en-US" sz="1600" dirty="0">
                <a:latin typeface="Arial"/>
                <a:cs typeface="Arial"/>
              </a:rPr>
              <a:t>-</a:t>
            </a:r>
            <a:r>
              <a:rPr lang="en-US" sz="1600" dirty="0">
                <a:highlight>
                  <a:srgbClr val="FFFAC1"/>
                </a:highlight>
                <a:latin typeface="Arial"/>
                <a:cs typeface="Arial"/>
              </a:rPr>
              <a:t>0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E3B209-F7C0-4DAD-935C-11DDB397930D}"/>
              </a:ext>
            </a:extLst>
          </p:cNvPr>
          <p:cNvSpPr txBox="1"/>
          <p:nvPr/>
        </p:nvSpPr>
        <p:spPr>
          <a:xfrm>
            <a:off x="3717348" y="2971195"/>
            <a:ext cx="79779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highlight>
                  <a:srgbClr val="B4FFB4"/>
                </a:highlight>
                <a:latin typeface="Arial"/>
                <a:cs typeface="Arial"/>
              </a:rPr>
              <a:t>7</a:t>
            </a:r>
            <a:r>
              <a:rPr lang="en-US" sz="1600" dirty="0">
                <a:latin typeface="Arial"/>
                <a:cs typeface="Arial"/>
              </a:rPr>
              <a:t>-</a:t>
            </a:r>
            <a:r>
              <a:rPr lang="en-US" sz="1600" dirty="0">
                <a:highlight>
                  <a:srgbClr val="FFB2B2"/>
                </a:highlight>
                <a:latin typeface="Arial"/>
                <a:cs typeface="Arial"/>
              </a:rPr>
              <a:t>0</a:t>
            </a:r>
            <a:r>
              <a:rPr lang="en-US" sz="1600" dirty="0">
                <a:latin typeface="Arial"/>
                <a:cs typeface="Arial"/>
              </a:rPr>
              <a:t>-</a:t>
            </a:r>
            <a:r>
              <a:rPr lang="en-US" sz="1600" dirty="0">
                <a:highlight>
                  <a:srgbClr val="FFFAC1"/>
                </a:highlight>
                <a:latin typeface="Arial"/>
                <a:cs typeface="Arial"/>
              </a:rPr>
              <a:t>3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B094F7-0061-491C-A434-A4BCF17FC08A}"/>
              </a:ext>
            </a:extLst>
          </p:cNvPr>
          <p:cNvSpPr txBox="1"/>
          <p:nvPr/>
        </p:nvSpPr>
        <p:spPr>
          <a:xfrm>
            <a:off x="4808695" y="2971194"/>
            <a:ext cx="79779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highlight>
                  <a:srgbClr val="B4FFB4"/>
                </a:highlight>
                <a:latin typeface="Arial"/>
                <a:cs typeface="Arial"/>
              </a:rPr>
              <a:t>1</a:t>
            </a:r>
            <a:r>
              <a:rPr lang="en-US" sz="1600" dirty="0">
                <a:latin typeface="Arial"/>
                <a:cs typeface="Arial"/>
              </a:rPr>
              <a:t>-</a:t>
            </a:r>
            <a:r>
              <a:rPr lang="en-US" sz="1600" dirty="0">
                <a:highlight>
                  <a:srgbClr val="FFB2B2"/>
                </a:highlight>
                <a:latin typeface="Arial"/>
                <a:cs typeface="Arial"/>
              </a:rPr>
              <a:t>1</a:t>
            </a:r>
            <a:r>
              <a:rPr lang="en-US" sz="1600" dirty="0">
                <a:latin typeface="Arial"/>
                <a:cs typeface="Arial"/>
              </a:rPr>
              <a:t>-</a:t>
            </a:r>
            <a:r>
              <a:rPr lang="en-US" sz="1600" dirty="0">
                <a:highlight>
                  <a:srgbClr val="FFFAC1"/>
                </a:highlight>
                <a:latin typeface="Arial"/>
                <a:cs typeface="Arial"/>
              </a:rPr>
              <a:t>1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9C6FF1-1AE3-4D1D-A6F3-71AA6CDCB8D1}"/>
              </a:ext>
            </a:extLst>
          </p:cNvPr>
          <p:cNvSpPr txBox="1"/>
          <p:nvPr/>
        </p:nvSpPr>
        <p:spPr>
          <a:xfrm>
            <a:off x="5961412" y="2982747"/>
            <a:ext cx="79779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highlight>
                  <a:srgbClr val="B4FFB4"/>
                </a:highlight>
                <a:latin typeface="Arial"/>
                <a:cs typeface="Arial"/>
              </a:rPr>
              <a:t>1</a:t>
            </a:r>
            <a:r>
              <a:rPr lang="en-US" sz="1600" dirty="0">
                <a:latin typeface="Arial"/>
                <a:cs typeface="Arial"/>
              </a:rPr>
              <a:t>-</a:t>
            </a:r>
            <a:r>
              <a:rPr lang="en-US" sz="1600" dirty="0">
                <a:highlight>
                  <a:srgbClr val="FFB2B2"/>
                </a:highlight>
                <a:latin typeface="Arial"/>
                <a:cs typeface="Arial"/>
              </a:rPr>
              <a:t>0</a:t>
            </a:r>
            <a:r>
              <a:rPr lang="en-US" sz="1600" dirty="0">
                <a:latin typeface="Arial"/>
                <a:cs typeface="Arial"/>
              </a:rPr>
              <a:t>-</a:t>
            </a:r>
            <a:r>
              <a:rPr lang="en-US" sz="1600" dirty="0">
                <a:highlight>
                  <a:srgbClr val="FFFAC1"/>
                </a:highlight>
                <a:latin typeface="Arial"/>
                <a:cs typeface="Arial"/>
              </a:rPr>
              <a:t>0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A2F901-32F2-48D4-9577-2085F7030960}"/>
              </a:ext>
            </a:extLst>
          </p:cNvPr>
          <p:cNvSpPr txBox="1"/>
          <p:nvPr/>
        </p:nvSpPr>
        <p:spPr>
          <a:xfrm>
            <a:off x="6998260" y="2982746"/>
            <a:ext cx="79779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highlight>
                  <a:srgbClr val="B4FFB4"/>
                </a:highlight>
                <a:latin typeface="Arial"/>
                <a:cs typeface="Arial"/>
              </a:rPr>
              <a:t>1</a:t>
            </a:r>
            <a:r>
              <a:rPr lang="en-US" sz="1600" dirty="0">
                <a:latin typeface="Arial"/>
                <a:cs typeface="Arial"/>
              </a:rPr>
              <a:t>-</a:t>
            </a:r>
            <a:r>
              <a:rPr lang="en-US" sz="1600" dirty="0">
                <a:highlight>
                  <a:srgbClr val="FFB2B2"/>
                </a:highlight>
                <a:latin typeface="Arial"/>
                <a:cs typeface="Arial"/>
              </a:rPr>
              <a:t>0</a:t>
            </a:r>
            <a:r>
              <a:rPr lang="en-US" sz="1600" dirty="0">
                <a:latin typeface="Arial"/>
                <a:cs typeface="Arial"/>
              </a:rPr>
              <a:t>-</a:t>
            </a:r>
            <a:r>
              <a:rPr lang="en-US" sz="1600" dirty="0">
                <a:highlight>
                  <a:srgbClr val="FFFAC1"/>
                </a:highlight>
                <a:latin typeface="Arial"/>
                <a:cs typeface="Arial"/>
              </a:rPr>
              <a:t>9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07E0CF-8B9E-4479-B4EF-72143EB97F53}"/>
              </a:ext>
            </a:extLst>
          </p:cNvPr>
          <p:cNvSpPr txBox="1"/>
          <p:nvPr/>
        </p:nvSpPr>
        <p:spPr>
          <a:xfrm>
            <a:off x="8103009" y="2982745"/>
            <a:ext cx="79779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highlight>
                  <a:srgbClr val="B4FFB4"/>
                </a:highlight>
                <a:latin typeface="Arial"/>
                <a:cs typeface="Arial"/>
              </a:rPr>
              <a:t>0</a:t>
            </a:r>
            <a:r>
              <a:rPr lang="en-US" sz="1600" dirty="0">
                <a:latin typeface="Arial"/>
                <a:cs typeface="Arial"/>
              </a:rPr>
              <a:t>-</a:t>
            </a:r>
            <a:r>
              <a:rPr lang="en-US" sz="1600" dirty="0">
                <a:highlight>
                  <a:srgbClr val="FFB2B2"/>
                </a:highlight>
                <a:latin typeface="Arial"/>
                <a:cs typeface="Arial"/>
              </a:rPr>
              <a:t>2</a:t>
            </a:r>
            <a:r>
              <a:rPr lang="en-US" sz="1600" dirty="0">
                <a:latin typeface="Arial"/>
                <a:cs typeface="Arial"/>
              </a:rPr>
              <a:t>-</a:t>
            </a:r>
            <a:r>
              <a:rPr lang="en-US" sz="1600" dirty="0">
                <a:highlight>
                  <a:srgbClr val="FFFAC1"/>
                </a:highlight>
                <a:latin typeface="Arial"/>
                <a:cs typeface="Arial"/>
              </a:rPr>
              <a:t>6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F33BC9-0F94-4B92-9180-D649632FE032}"/>
              </a:ext>
            </a:extLst>
          </p:cNvPr>
          <p:cNvSpPr/>
          <p:nvPr/>
        </p:nvSpPr>
        <p:spPr>
          <a:xfrm>
            <a:off x="2541106" y="1032824"/>
            <a:ext cx="1210653" cy="21961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AF4581-8ABC-42D4-B07B-9D6ADE86C04C}"/>
              </a:ext>
            </a:extLst>
          </p:cNvPr>
          <p:cNvSpPr/>
          <p:nvPr/>
        </p:nvSpPr>
        <p:spPr>
          <a:xfrm>
            <a:off x="3614987" y="1061683"/>
            <a:ext cx="1210653" cy="2258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89226C-C30E-45F1-AEE2-4A84400DA783}"/>
              </a:ext>
            </a:extLst>
          </p:cNvPr>
          <p:cNvSpPr/>
          <p:nvPr/>
        </p:nvSpPr>
        <p:spPr>
          <a:xfrm>
            <a:off x="4688867" y="1067820"/>
            <a:ext cx="1210653" cy="21611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FB82F1-56A2-4E41-AFD9-5C34C34399B4}"/>
              </a:ext>
            </a:extLst>
          </p:cNvPr>
          <p:cNvSpPr/>
          <p:nvPr/>
        </p:nvSpPr>
        <p:spPr>
          <a:xfrm>
            <a:off x="5848477" y="1073957"/>
            <a:ext cx="1124923" cy="2204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443492-7B13-4716-B637-298DE302EB2D}"/>
              </a:ext>
            </a:extLst>
          </p:cNvPr>
          <p:cNvSpPr/>
          <p:nvPr/>
        </p:nvSpPr>
        <p:spPr>
          <a:xfrm>
            <a:off x="6904027" y="1067821"/>
            <a:ext cx="1143254" cy="21896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64FACA-5A7C-4C43-87EE-95BB0138ED4E}"/>
              </a:ext>
            </a:extLst>
          </p:cNvPr>
          <p:cNvSpPr/>
          <p:nvPr/>
        </p:nvSpPr>
        <p:spPr>
          <a:xfrm>
            <a:off x="7977906" y="1018726"/>
            <a:ext cx="1143255" cy="2301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D5221ABF-05D0-4F4A-B8F6-46A3F4FEE88A}"/>
              </a:ext>
            </a:extLst>
          </p:cNvPr>
          <p:cNvSpPr txBox="1">
            <a:spLocks/>
          </p:cNvSpPr>
          <p:nvPr/>
        </p:nvSpPr>
        <p:spPr>
          <a:xfrm>
            <a:off x="381001" y="3527480"/>
            <a:ext cx="8340968" cy="1059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55985" indent="-127397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71488" indent="-128588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13216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Experimental configuration similar to state-of-the-art (BOPC, </a:t>
            </a:r>
            <a:r>
              <a:rPr lang="en-US" dirty="0" err="1"/>
              <a:t>Ispoglou</a:t>
            </a:r>
            <a:r>
              <a:rPr lang="en-US" dirty="0"/>
              <a:t> 2018)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634CF1B-18DF-4BE8-9F83-5FEAFFC1EEA9}"/>
              </a:ext>
            </a:extLst>
          </p:cNvPr>
          <p:cNvSpPr/>
          <p:nvPr/>
        </p:nvSpPr>
        <p:spPr>
          <a:xfrm>
            <a:off x="1446910" y="1031076"/>
            <a:ext cx="1210653" cy="2106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46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2" grpId="0" animBg="1"/>
      <p:bldP spid="11" grpId="0" animBg="1"/>
      <p:bldP spid="10" grpId="0" animBg="1"/>
      <p:bldP spid="9" grpId="0" animBg="1"/>
      <p:bldP spid="7" grpId="0" animBg="1"/>
      <p:bldP spid="8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E9360-26BA-48AC-9E88-83AFF3199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66B7E-B789-47C5-9A2B-2500170CE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Inherited by concolic execution</a:t>
            </a:r>
          </a:p>
          <a:p>
            <a:pPr lvl="1"/>
            <a:r>
              <a:rPr lang="en-US" dirty="0"/>
              <a:t>Constraints take too many resources to solve</a:t>
            </a:r>
          </a:p>
          <a:p>
            <a:pPr lvl="1"/>
            <a:r>
              <a:rPr lang="en-US" dirty="0"/>
              <a:t>Path explosion problem</a:t>
            </a:r>
          </a:p>
          <a:p>
            <a:pPr lvl="2"/>
            <a:r>
              <a:rPr lang="en-US" sz="1200" dirty="0"/>
              <a:t>Mitigated by Limbo's heuristics</a:t>
            </a:r>
          </a:p>
          <a:p>
            <a:pPr lvl="2"/>
            <a:r>
              <a:rPr lang="en-US" sz="1200" dirty="0"/>
              <a:t>More of a problem on larger programs, complex goals </a:t>
            </a:r>
            <a:r>
              <a:rPr lang="en-US" sz="1200" dirty="0">
                <a:sym typeface="Wingdings" panose="05000000000000000000" pitchFamily="2" charset="2"/>
              </a:rPr>
              <a:t></a:t>
            </a:r>
            <a:endParaRPr lang="en-US" sz="1200" dirty="0"/>
          </a:p>
          <a:p>
            <a:endParaRPr lang="en-US" dirty="0"/>
          </a:p>
          <a:p>
            <a:r>
              <a:rPr lang="en-US" sz="2000" dirty="0"/>
              <a:t>Implementation</a:t>
            </a:r>
          </a:p>
          <a:p>
            <a:pPr lvl="1"/>
            <a:r>
              <a:rPr lang="en-US" sz="1600" dirty="0"/>
              <a:t>Mayhem only supports 32-bit Linux executables </a:t>
            </a:r>
            <a:r>
              <a:rPr lang="en-US" sz="1600" dirty="0">
                <a:sym typeface="Wingdings" panose="05000000000000000000" pitchFamily="2" charset="2"/>
              </a:rPr>
              <a:t></a:t>
            </a:r>
            <a:endParaRPr lang="en-US" sz="1600" dirty="0"/>
          </a:p>
          <a:p>
            <a:pPr lvl="1"/>
            <a:r>
              <a:rPr lang="en-US" sz="1600" dirty="0"/>
              <a:t>Limbo's heuristics are designed to be platform agnostic </a:t>
            </a:r>
            <a:r>
              <a:rPr lang="en-US" sz="1600" dirty="0">
                <a:sym typeface="Wingdings" panose="05000000000000000000" pitchFamily="2" charset="2"/>
              </a:rPr>
              <a:t>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We have a post-publication prototype in </a:t>
            </a:r>
            <a:r>
              <a:rPr lang="en-US" dirty="0" err="1">
                <a:sym typeface="Wingdings" panose="05000000000000000000" pitchFamily="2" charset="2"/>
              </a:rPr>
              <a:t>angr</a:t>
            </a:r>
            <a:r>
              <a:rPr lang="en-US" dirty="0">
                <a:sym typeface="Wingdings" panose="05000000000000000000" pitchFamily="2" charset="2"/>
              </a:rPr>
              <a:t> that is multi-platform</a:t>
            </a:r>
          </a:p>
          <a:p>
            <a:pPr lvl="2"/>
            <a:r>
              <a:rPr lang="en-US" sz="1200" dirty="0">
                <a:sym typeface="Wingdings" panose="05000000000000000000" pitchFamily="2" charset="2"/>
              </a:rPr>
              <a:t>Ask questions!</a:t>
            </a:r>
            <a:endParaRPr lang="en-US" sz="1200" dirty="0"/>
          </a:p>
          <a:p>
            <a:pPr lvl="1"/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FA44F10-BC96-4F5C-AE63-C45ED91B64C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BC5F9-C646-4F5A-9D2D-7BC494FB63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72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45192-CF21-4790-B3D7-257418070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29190-AC5A-4AC4-9717-AC8A7F2C9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2853664"/>
            <a:ext cx="8340968" cy="1733492"/>
          </a:xfrm>
        </p:spPr>
        <p:txBody>
          <a:bodyPr/>
          <a:lstStyle/>
          <a:p>
            <a:r>
              <a:rPr lang="en-US" sz="2200" dirty="0"/>
              <a:t>Cast </a:t>
            </a:r>
            <a:r>
              <a:rPr lang="en-US" sz="2200" u="sng" dirty="0"/>
              <a:t>code reuse attacks</a:t>
            </a:r>
            <a:r>
              <a:rPr lang="en-US" sz="2200" dirty="0"/>
              <a:t> as a </a:t>
            </a:r>
            <a:r>
              <a:rPr lang="en-US" sz="2200" u="sng" dirty="0"/>
              <a:t>software model checking</a:t>
            </a:r>
            <a:r>
              <a:rPr lang="en-US" sz="2200" dirty="0"/>
              <a:t> problem</a:t>
            </a:r>
          </a:p>
          <a:p>
            <a:pPr lvl="1"/>
            <a:r>
              <a:rPr lang="en-US" dirty="0"/>
              <a:t>Can reason about defenses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Does not use a fixed strategy 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Very computationally expensive 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Performs better on smaller programs </a:t>
            </a: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08CAC10-F534-4AEB-9F13-56CB3980965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D8E854-CD2F-437C-BB14-A89A9BE12D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4754EB-C7F2-47E9-8D10-265F8F1D2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55" y="617687"/>
            <a:ext cx="3657600" cy="2060448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97E61C2-4FD4-4629-96C6-A93479DA1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345" y="617687"/>
            <a:ext cx="3657600" cy="2060448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90988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F508B-4602-4CB7-9172-0B32E5924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EB838-0849-46BE-9FB6-58E3F389C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8588" lvl="1" indent="0">
              <a:buNone/>
            </a:pPr>
            <a:r>
              <a:rPr lang="en-US" b="1" dirty="0">
                <a:sym typeface="Wingdings" panose="05000000000000000000" pitchFamily="2" charset="2"/>
              </a:rPr>
              <a:t>Contact</a:t>
            </a:r>
          </a:p>
          <a:p>
            <a:pPr marL="128588" lvl="1" indent="0">
              <a:buNone/>
            </a:pPr>
            <a:r>
              <a:rPr lang="en-US" dirty="0">
                <a:sym typeface="Wingdings" panose="05000000000000000000" pitchFamily="2" charset="2"/>
              </a:rPr>
              <a:t>Edward J. Schwartz</a:t>
            </a:r>
          </a:p>
          <a:p>
            <a:pPr marL="128588" lvl="1" indent="0">
              <a:buNone/>
            </a:pPr>
            <a:r>
              <a:rPr lang="en-US" dirty="0">
                <a:sym typeface="Wingdings" panose="05000000000000000000" pitchFamily="2" charset="2"/>
              </a:rPr>
              <a:t>Senior Research Scientist</a:t>
            </a:r>
          </a:p>
          <a:p>
            <a:pPr marL="128588" lvl="1" indent="0">
              <a:buNone/>
            </a:pPr>
            <a:r>
              <a:rPr lang="en-US" dirty="0">
                <a:sym typeface="Wingdings" panose="05000000000000000000" pitchFamily="2" charset="2"/>
              </a:rPr>
              <a:t>CMU/SEI/CERT/Threat Analysis</a:t>
            </a:r>
          </a:p>
          <a:p>
            <a:pPr marL="128588" lvl="1" indent="0">
              <a:buNone/>
            </a:pPr>
            <a:r>
              <a:rPr lang="en-US" dirty="0">
                <a:sym typeface="Wingdings" panose="05000000000000000000" pitchFamily="2" charset="2"/>
                <a:hlinkClick r:id="rId2"/>
              </a:rPr>
              <a:t>eschwartz@cert.org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051FCB1-126C-4D7D-B79A-AEEACC895C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0AF1A3-A6BF-4306-9DED-A7979E5708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57009"/>
      </p:ext>
    </p:extLst>
  </p:cSld>
  <p:clrMapOvr>
    <a:masterClrMapping/>
  </p:clrMapOvr>
</p:sld>
</file>

<file path=ppt/theme/theme1.xml><?xml version="1.0" encoding="utf-8"?>
<a:theme xmlns:a="http://schemas.openxmlformats.org/drawingml/2006/main" name="1. Title Slides">
  <a:themeElements>
    <a:clrScheme name="SEI_color_17">
      <a:dk1>
        <a:srgbClr val="000000"/>
      </a:dk1>
      <a:lt1>
        <a:srgbClr val="FFFFFF"/>
      </a:lt1>
      <a:dk2>
        <a:srgbClr val="1D4477"/>
      </a:dk2>
      <a:lt2>
        <a:srgbClr val="A4A4A4"/>
      </a:lt2>
      <a:accent1>
        <a:srgbClr val="1D4477"/>
      </a:accent1>
      <a:accent2>
        <a:srgbClr val="E38B33"/>
      </a:accent2>
      <a:accent3>
        <a:srgbClr val="048956"/>
      </a:accent3>
      <a:accent4>
        <a:srgbClr val="FF6E00"/>
      </a:accent4>
      <a:accent5>
        <a:srgbClr val="126676"/>
      </a:accent5>
      <a:accent6>
        <a:srgbClr val="E1041B"/>
      </a:accent6>
      <a:hlink>
        <a:srgbClr val="0A50E1"/>
      </a:hlink>
      <a:folHlink>
        <a:srgbClr val="6EB2E6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sz="2200" dirty="0" smtClean="0">
            <a:latin typeface="Arial"/>
            <a:cs typeface="Arial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82C362B3-2D75-1A46-8500-5589E8596692}" vid="{30DE5F88-65B9-1041-910C-2A52D41D8DC4}"/>
    </a:ext>
  </a:extLst>
</a:theme>
</file>

<file path=ppt/theme/theme2.xml><?xml version="1.0" encoding="utf-8"?>
<a:theme xmlns:a="http://schemas.openxmlformats.org/drawingml/2006/main" name="2. Content Slides">
  <a:themeElements>
    <a:clrScheme name="Custom 11">
      <a:dk1>
        <a:srgbClr val="000000"/>
      </a:dk1>
      <a:lt1>
        <a:srgbClr val="FFFFFF"/>
      </a:lt1>
      <a:dk2>
        <a:srgbClr val="1D4477"/>
      </a:dk2>
      <a:lt2>
        <a:srgbClr val="A4A4A4"/>
      </a:lt2>
      <a:accent1>
        <a:srgbClr val="1D4477"/>
      </a:accent1>
      <a:accent2>
        <a:srgbClr val="996729"/>
      </a:accent2>
      <a:accent3>
        <a:srgbClr val="28773C"/>
      </a:accent3>
      <a:accent4>
        <a:srgbClr val="E8A813"/>
      </a:accent4>
      <a:accent5>
        <a:srgbClr val="178AA0"/>
      </a:accent5>
      <a:accent6>
        <a:srgbClr val="B73529"/>
      </a:accent6>
      <a:hlink>
        <a:srgbClr val="0A50E1"/>
      </a:hlink>
      <a:folHlink>
        <a:srgbClr val="6EB2E6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sz="2200" dirty="0" smtClean="0">
            <a:latin typeface="Arial"/>
            <a:cs typeface="Arial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82C362B3-2D75-1A46-8500-5589E8596692}" vid="{07F07C88-8D2B-9C42-87C5-E100EAD76826}"/>
    </a:ext>
  </a:extLst>
</a:theme>
</file>

<file path=ppt/theme/theme3.xml><?xml version="1.0" encoding="utf-8"?>
<a:theme xmlns:a="http://schemas.openxmlformats.org/drawingml/2006/main" name="3. Divider Slides">
  <a:themeElements>
    <a:clrScheme name="SEI_color_17">
      <a:dk1>
        <a:srgbClr val="000000"/>
      </a:dk1>
      <a:lt1>
        <a:srgbClr val="FFFFFF"/>
      </a:lt1>
      <a:dk2>
        <a:srgbClr val="1D4477"/>
      </a:dk2>
      <a:lt2>
        <a:srgbClr val="A4A4A4"/>
      </a:lt2>
      <a:accent1>
        <a:srgbClr val="1D4477"/>
      </a:accent1>
      <a:accent2>
        <a:srgbClr val="E38B33"/>
      </a:accent2>
      <a:accent3>
        <a:srgbClr val="048956"/>
      </a:accent3>
      <a:accent4>
        <a:srgbClr val="FF6E00"/>
      </a:accent4>
      <a:accent5>
        <a:srgbClr val="126676"/>
      </a:accent5>
      <a:accent6>
        <a:srgbClr val="E1041B"/>
      </a:accent6>
      <a:hlink>
        <a:srgbClr val="0A50E1"/>
      </a:hlink>
      <a:folHlink>
        <a:srgbClr val="6EB2E6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sz="2200" dirty="0" smtClean="0">
            <a:latin typeface="Arial"/>
            <a:cs typeface="Arial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82C362B3-2D75-1A46-8500-5589E8596692}" vid="{C2B57C61-9C44-5940-9D51-1AFD75B2EC6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SEI_template_wide</Template>
  <TotalTime>0</TotalTime>
  <Words>806</Words>
  <Application>Microsoft Office PowerPoint</Application>
  <PresentationFormat>On-screen Show (16:9)</PresentationFormat>
  <Paragraphs>199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Cambria Math</vt:lpstr>
      <vt:lpstr>Consolas</vt:lpstr>
      <vt:lpstr>Segoe UI Symbol</vt:lpstr>
      <vt:lpstr>1. Title Slides</vt:lpstr>
      <vt:lpstr>2. Content Slides</vt:lpstr>
      <vt:lpstr>3. Divider Slides</vt:lpstr>
      <vt:lpstr>A Generic Technique for Automatically Finding Defense-Aware Code Reuse Attacks</vt:lpstr>
      <vt:lpstr>PowerPoint Presentation</vt:lpstr>
      <vt:lpstr>Background: Shellcode</vt:lpstr>
      <vt:lpstr>Background: Data Execution Prevention (DEP) </vt:lpstr>
      <vt:lpstr>Background: Code Reuse Attacks</vt:lpstr>
      <vt:lpstr>Background: Code Reuse Attacks</vt:lpstr>
      <vt:lpstr>Control Flow Integrity (CFI)  </vt:lpstr>
      <vt:lpstr>PowerPoint Presentation</vt:lpstr>
      <vt:lpstr>Existing Work in Automating Code Reuse Attacks</vt:lpstr>
      <vt:lpstr>PowerPoint Presentation</vt:lpstr>
      <vt:lpstr>PowerPoint Presentation</vt:lpstr>
      <vt:lpstr>PowerPoint Presentation</vt:lpstr>
      <vt:lpstr>Limbo</vt:lpstr>
      <vt:lpstr>Concolic Execution Search Heuristics</vt:lpstr>
      <vt:lpstr>Research Questions</vt:lpstr>
      <vt:lpstr>RQ1: Can Limbo discover code reuse attacks in the presence of fine-grained CFI?</vt:lpstr>
      <vt:lpstr>Limitations</vt:lpstr>
      <vt:lpstr>Conclusion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2021-01-13T13:58:48Z</dcterms:created>
  <dcterms:modified xsi:type="dcterms:W3CDTF">2021-01-13T14:00:27Z</dcterms:modified>
</cp:coreProperties>
</file>