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heme/theme3.xml" ContentType="application/vnd.openxmlformats-officedocument.theme+xml"/>
  <Override PartName="/ppt/theme/theme4.xml" ContentType="application/vnd.openxmlformats-officedocument.theme+xml"/>
  <Override PartName="/ppt/tags/tag107.xml" ContentType="application/vnd.openxmlformats-officedocument.presentationml.tags+xml"/>
  <Override PartName="/ppt/notesSlides/notesSlide1.xml" ContentType="application/vnd.openxmlformats-officedocument.presentationml.notesSlide+xml"/>
  <Override PartName="/ppt/tags/tag108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ags/tag109.xml" ContentType="application/vnd.openxmlformats-officedocument.presentationml.tag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tags/tag110.xml" ContentType="application/vnd.openxmlformats-officedocument.presentationml.tags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tags/tag111.xml" ContentType="application/vnd.openxmlformats-officedocument.presentationml.tags+xml"/>
  <Override PartName="/ppt/notesSlides/notesSlide14.xml" ContentType="application/vnd.openxmlformats-officedocument.presentationml.notesSlide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notesSlides/notesSlide15.xml" ContentType="application/vnd.openxmlformats-officedocument.presentationml.notesSlide+xml"/>
  <Override PartName="/ppt/tags/tag114.xml" ContentType="application/vnd.openxmlformats-officedocument.presentationml.tags+xml"/>
  <Override PartName="/ppt/notesSlides/notesSlide16.xml" ContentType="application/vnd.openxmlformats-officedocument.presentationml.notesSlide+xml"/>
  <Override PartName="/ppt/tags/tag115.xml" ContentType="application/vnd.openxmlformats-officedocument.presentationml.tags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notesSlides/notesSlide19.xml" ContentType="application/vnd.openxmlformats-officedocument.presentationml.notesSlide+xml"/>
  <Override PartName="/ppt/tags/tag120.xml" ContentType="application/vnd.openxmlformats-officedocument.presentationml.tags+xml"/>
  <Override PartName="/ppt/notesSlides/notesSlide20.xml" ContentType="application/vnd.openxmlformats-officedocument.presentationml.notesSlide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notesSlides/notesSlide21.xml" ContentType="application/vnd.openxmlformats-officedocument.presentationml.notesSlide+xml"/>
  <Override PartName="/ppt/tags/tag124.xml" ContentType="application/vnd.openxmlformats-officedocument.presentationml.tags+xml"/>
  <Override PartName="/ppt/notesSlides/notesSlide22.xml" ContentType="application/vnd.openxmlformats-officedocument.presentationml.notesSlide+xml"/>
  <Override PartName="/ppt/tags/tag125.xml" ContentType="application/vnd.openxmlformats-officedocument.presentationml.tags+xml"/>
  <Override PartName="/ppt/notesSlides/notesSlide23.xml" ContentType="application/vnd.openxmlformats-officedocument.presentationml.notesSlide+xml"/>
  <Override PartName="/ppt/tags/tag126.xml" ContentType="application/vnd.openxmlformats-officedocument.presentationml.tags+xml"/>
  <Override PartName="/ppt/notesSlides/notesSlide24.xml" ContentType="application/vnd.openxmlformats-officedocument.presentationml.notesSlide+xml"/>
  <Override PartName="/ppt/tags/tag127.xml" ContentType="application/vnd.openxmlformats-officedocument.presentationml.tag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theme/themeOverride1.xml" ContentType="application/vnd.openxmlformats-officedocument.themeOverr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tags/tag128.xml" ContentType="application/vnd.openxmlformats-officedocument.presentationml.tags+xml"/>
  <Override PartName="/ppt/notesSlides/notesSlide27.xml" ContentType="application/vnd.openxmlformats-officedocument.presentationml.notesSlide+xml"/>
  <Override PartName="/ppt/charts/chart3.xml" ContentType="application/vnd.openxmlformats-officedocument.drawingml.chart+xml"/>
  <Override PartName="/ppt/tags/tag129.xml" ContentType="application/vnd.openxmlformats-officedocument.presentationml.tags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tags/tag130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removePersonalInfoOnSave="1" saveSubsetFonts="1">
  <p:sldMasterIdLst>
    <p:sldMasterId id="2147483660" r:id="rId1"/>
    <p:sldMasterId id="2147483674" r:id="rId2"/>
  </p:sldMasterIdLst>
  <p:notesMasterIdLst>
    <p:notesMasterId r:id="rId46"/>
  </p:notesMasterIdLst>
  <p:handoutMasterIdLst>
    <p:handoutMasterId r:id="rId47"/>
  </p:handoutMasterIdLst>
  <p:sldIdLst>
    <p:sldId id="388" r:id="rId3"/>
    <p:sldId id="852" r:id="rId4"/>
    <p:sldId id="838" r:id="rId5"/>
    <p:sldId id="858" r:id="rId6"/>
    <p:sldId id="804" r:id="rId7"/>
    <p:sldId id="815" r:id="rId8"/>
    <p:sldId id="836" r:id="rId9"/>
    <p:sldId id="855" r:id="rId10"/>
    <p:sldId id="755" r:id="rId11"/>
    <p:sldId id="831" r:id="rId12"/>
    <p:sldId id="863" r:id="rId13"/>
    <p:sldId id="818" r:id="rId14"/>
    <p:sldId id="862" r:id="rId15"/>
    <p:sldId id="860" r:id="rId16"/>
    <p:sldId id="560" r:id="rId17"/>
    <p:sldId id="800" r:id="rId18"/>
    <p:sldId id="702" r:id="rId19"/>
    <p:sldId id="703" r:id="rId20"/>
    <p:sldId id="734" r:id="rId21"/>
    <p:sldId id="704" r:id="rId22"/>
    <p:sldId id="705" r:id="rId23"/>
    <p:sldId id="821" r:id="rId24"/>
    <p:sldId id="824" r:id="rId25"/>
    <p:sldId id="768" r:id="rId26"/>
    <p:sldId id="808" r:id="rId27"/>
    <p:sldId id="819" r:id="rId28"/>
    <p:sldId id="822" r:id="rId29"/>
    <p:sldId id="823" r:id="rId30"/>
    <p:sldId id="725" r:id="rId31"/>
    <p:sldId id="708" r:id="rId32"/>
    <p:sldId id="569" r:id="rId33"/>
    <p:sldId id="846" r:id="rId34"/>
    <p:sldId id="571" r:id="rId35"/>
    <p:sldId id="570" r:id="rId36"/>
    <p:sldId id="801" r:id="rId37"/>
    <p:sldId id="802" r:id="rId38"/>
    <p:sldId id="833" r:id="rId39"/>
    <p:sldId id="834" r:id="rId40"/>
    <p:sldId id="841" r:id="rId41"/>
    <p:sldId id="788" r:id="rId42"/>
    <p:sldId id="789" r:id="rId43"/>
    <p:sldId id="805" r:id="rId44"/>
    <p:sldId id="387" r:id="rId45"/>
  </p:sldIdLst>
  <p:sldSz cx="9144000" cy="6858000" type="screen4x3"/>
  <p:notesSz cx="7315200" cy="96012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37CD2697-8658-8243-8326-1A6820C2CAE2}">
          <p14:sldIdLst>
            <p14:sldId id="388"/>
            <p14:sldId id="852"/>
            <p14:sldId id="838"/>
            <p14:sldId id="858"/>
            <p14:sldId id="804"/>
            <p14:sldId id="815"/>
            <p14:sldId id="836"/>
            <p14:sldId id="855"/>
            <p14:sldId id="755"/>
          </p14:sldIdLst>
        </p14:section>
        <p14:section name="Architecture" id="{D6D35C86-85AA-47CC-B50A-2010706E7AE0}">
          <p14:sldIdLst>
            <p14:sldId id="831"/>
            <p14:sldId id="863"/>
            <p14:sldId id="818"/>
            <p14:sldId id="862"/>
            <p14:sldId id="860"/>
            <p14:sldId id="560"/>
            <p14:sldId id="800"/>
          </p14:sldIdLst>
        </p14:section>
        <p14:section name="Structuring" id="{9C2073E0-1F47-47DB-B094-55F43652B8A4}">
          <p14:sldIdLst>
            <p14:sldId id="702"/>
            <p14:sldId id="703"/>
            <p14:sldId id="734"/>
            <p14:sldId id="704"/>
            <p14:sldId id="705"/>
          </p14:sldIdLst>
        </p14:section>
        <p14:section name="Our SA Algorithm" id="{B4D477A0-F216-4C01-A085-5CB6FD96E994}">
          <p14:sldIdLst>
            <p14:sldId id="821"/>
            <p14:sldId id="824"/>
            <p14:sldId id="768"/>
            <p14:sldId id="808"/>
            <p14:sldId id="819"/>
            <p14:sldId id="822"/>
            <p14:sldId id="823"/>
            <p14:sldId id="725"/>
            <p14:sldId id="708"/>
          </p14:sldIdLst>
        </p14:section>
        <p14:section name="Evaluation" id="{6F17E98C-4C3D-4E8A-BCD1-4AB5BF37DC3E}">
          <p14:sldIdLst>
            <p14:sldId id="569"/>
            <p14:sldId id="846"/>
            <p14:sldId id="571"/>
            <p14:sldId id="570"/>
            <p14:sldId id="801"/>
            <p14:sldId id="802"/>
            <p14:sldId id="833"/>
            <p14:sldId id="834"/>
            <p14:sldId id="841"/>
            <p14:sldId id="788"/>
          </p14:sldIdLst>
        </p14:section>
        <p14:section name="Future Work and Conclusion" id="{D34EB5AB-00F8-48D8-A8BB-22B1F7673047}">
          <p14:sldIdLst>
            <p14:sldId id="789"/>
            <p14:sldId id="805"/>
            <p14:sldId id="38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orient="horz" pos="1392">
          <p15:clr>
            <a:srgbClr val="A4A3A4"/>
          </p15:clr>
        </p15:guide>
        <p15:guide id="3" pos="3840">
          <p15:clr>
            <a:srgbClr val="A4A3A4"/>
          </p15:clr>
        </p15:guide>
        <p15:guide id="4" pos="19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 userDrawn="1">
          <p15:clr>
            <a:srgbClr val="A4A3A4"/>
          </p15:clr>
        </p15:guide>
        <p15:guide id="2" pos="2304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80"/>
    <a:srgbClr val="0000FF"/>
    <a:srgbClr val="990000"/>
    <a:srgbClr val="FC5C8B"/>
    <a:srgbClr val="FF3300"/>
    <a:srgbClr val="FF0000"/>
    <a:srgbClr val="0080FF"/>
    <a:srgbClr val="3F5842"/>
    <a:srgbClr val="595A5A"/>
    <a:srgbClr val="A32D1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8603FDC-E32A-4AB5-989C-0864C3EAD2B8}" styleName="Themed Style 2 -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932" autoAdjust="0"/>
    <p:restoredTop sz="64991" autoAdjust="0"/>
  </p:normalViewPr>
  <p:slideViewPr>
    <p:cSldViewPr snapToObjects="1">
      <p:cViewPr varScale="1">
        <p:scale>
          <a:sx n="48" d="100"/>
          <a:sy n="48" d="100"/>
        </p:scale>
        <p:origin x="1674" y="54"/>
      </p:cViewPr>
      <p:guideLst>
        <p:guide orient="horz" pos="2880"/>
        <p:guide orient="horz" pos="1392"/>
        <p:guide pos="3840"/>
        <p:guide pos="19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16752"/>
    </p:cViewPr>
  </p:sorterViewPr>
  <p:notesViewPr>
    <p:cSldViewPr snapToGrid="0" snapToObjects="1">
      <p:cViewPr varScale="1">
        <p:scale>
          <a:sx n="59" d="100"/>
          <a:sy n="59" d="100"/>
        </p:scale>
        <p:origin x="-3696" y="-120"/>
      </p:cViewPr>
      <p:guideLst>
        <p:guide orient="horz" pos="3024"/>
        <p:guide pos="2304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handoutMaster" Target="handoutMasters/handoutMaster1.xml"/><Relationship Id="rId50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commentAuthors" Target="commentAuthors.xml"/><Relationship Id="rId8" Type="http://schemas.openxmlformats.org/officeDocument/2006/relationships/slide" Target="slides/slide6.xml"/><Relationship Id="rId51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_Worksheet2.xlsx"/><Relationship Id="rId1" Type="http://schemas.openxmlformats.org/officeDocument/2006/relationships/themeOverride" Target="../theme/themeOverride1.xml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26"/>
    </mc:Choice>
    <mc:Fallback>
      <c:style val="26"/>
    </mc:Fallback>
  </mc:AlternateContent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invertIfNegative val="0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2800" b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Phoenix</c:v>
                </c:pt>
                <c:pt idx="2">
                  <c:v>Hex-Rays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</c:v>
                </c:pt>
                <c:pt idx="2">
                  <c:v>51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75"/>
        <c:overlap val="-25"/>
        <c:axId val="18075400"/>
        <c:axId val="346899552"/>
      </c:barChart>
      <c:catAx>
        <c:axId val="18075400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/>
        </c:spPr>
        <c:txPr>
          <a:bodyPr/>
          <a:lstStyle/>
          <a:p>
            <a:pPr>
              <a:defRPr sz="2000"/>
            </a:pPr>
            <a:endParaRPr lang="en-US"/>
          </a:p>
        </c:txPr>
        <c:crossAx val="346899552"/>
        <c:crosses val="autoZero"/>
        <c:auto val="1"/>
        <c:lblAlgn val="ctr"/>
        <c:lblOffset val="100"/>
        <c:noMultiLvlLbl val="0"/>
      </c:catAx>
      <c:valAx>
        <c:axId val="346899552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8075400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26"/>
    </mc:Choice>
    <mc:Fallback>
      <c:style val="26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invertIfNegative val="0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2800" b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Phoenix</c:v>
                </c:pt>
                <c:pt idx="1">
                  <c:v>Phoenix (orig. structural analysis)</c:v>
                </c:pt>
                <c:pt idx="2">
                  <c:v>Hex-Rays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</c:v>
                </c:pt>
                <c:pt idx="1">
                  <c:v>1229</c:v>
                </c:pt>
                <c:pt idx="2">
                  <c:v>51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75"/>
        <c:overlap val="-25"/>
        <c:axId val="352671312"/>
        <c:axId val="352670136"/>
      </c:barChart>
      <c:catAx>
        <c:axId val="352671312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/>
        </c:spPr>
        <c:txPr>
          <a:bodyPr/>
          <a:lstStyle/>
          <a:p>
            <a:pPr>
              <a:defRPr sz="2000"/>
            </a:pPr>
            <a:endParaRPr lang="en-US"/>
          </a:p>
        </c:txPr>
        <c:crossAx val="352670136"/>
        <c:crosses val="autoZero"/>
        <c:auto val="1"/>
        <c:lblAlgn val="ctr"/>
        <c:lblOffset val="100"/>
        <c:noMultiLvlLbl val="0"/>
      </c:catAx>
      <c:valAx>
        <c:axId val="352670136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2671312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2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26"/>
    </mc:Choice>
    <mc:Fallback>
      <c:style val="26"/>
    </mc:Fallback>
  </mc:AlternateContent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invertIfNegative val="0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2800" b="0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Hex-Rays</c:v>
                </c:pt>
                <c:pt idx="1">
                  <c:v>Phoenix</c:v>
                </c:pt>
                <c:pt idx="2">
                  <c:v>Phoenix (orig. structural analysis)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28</c:v>
                </c:pt>
                <c:pt idx="1">
                  <c:v>60</c:v>
                </c:pt>
                <c:pt idx="2">
                  <c:v>46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75"/>
        <c:overlap val="-25"/>
        <c:axId val="273336280"/>
        <c:axId val="273335888"/>
      </c:barChart>
      <c:catAx>
        <c:axId val="273336280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/>
        </c:spPr>
        <c:txPr>
          <a:bodyPr/>
          <a:lstStyle/>
          <a:p>
            <a:pPr>
              <a:defRPr sz="2000"/>
            </a:pPr>
            <a:endParaRPr lang="en-US"/>
          </a:p>
        </c:txPr>
        <c:crossAx val="273335888"/>
        <c:crosses val="autoZero"/>
        <c:auto val="1"/>
        <c:lblAlgn val="ctr"/>
        <c:lblOffset val="100"/>
        <c:noMultiLvlLbl val="0"/>
      </c:catAx>
      <c:valAx>
        <c:axId val="273335888"/>
        <c:scaling>
          <c:orientation val="minMax"/>
          <c:max val="120"/>
        </c:scaling>
        <c:delete val="0"/>
        <c:axPos val="l"/>
        <c:numFmt formatCode="General" sourceLinked="1"/>
        <c:majorTickMark val="out"/>
        <c:minorTickMark val="none"/>
        <c:tickLblPos val="nextTo"/>
        <c:crossAx val="273336280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0060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7" y="0"/>
            <a:ext cx="3169920" cy="480060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69281C90-955A-E944-AB32-466E55900D6A}" type="datetime1">
              <a:rPr lang="en-US" smtClean="0"/>
              <a:t>8/16/2013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119474"/>
            <a:ext cx="3169920" cy="480060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7" y="9119474"/>
            <a:ext cx="3169920" cy="480060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32BF8D97-067E-974E-BD5D-FA8C0988A6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509196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0060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87" y="0"/>
            <a:ext cx="3169920" cy="480060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9A9EA11A-7C1A-F544-A99B-661F38A45889}" type="datetime1">
              <a:rPr lang="en-US" smtClean="0"/>
              <a:t>8/16/2013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61" tIns="48331" rIns="96661" bIns="48331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0" y="4560570"/>
            <a:ext cx="5852160" cy="4320540"/>
          </a:xfrm>
          <a:prstGeom prst="rect">
            <a:avLst/>
          </a:prstGeom>
        </p:spPr>
        <p:txBody>
          <a:bodyPr vert="horz" lIns="96661" tIns="48331" rIns="96661" bIns="48331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19474"/>
            <a:ext cx="3169920" cy="480060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87" y="9119474"/>
            <a:ext cx="3169920" cy="480060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CC45A8A3-9FBB-431D-AAA8-BEEA360F57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176642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C45A8A3-9FBB-431D-AAA8-BEEA360F570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22808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C45A8A3-9FBB-431D-AAA8-BEEA360F570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3721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C45A8A3-9FBB-431D-AAA8-BEEA360F570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22664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C45A8A3-9FBB-431D-AAA8-BEEA360F570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72983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C45A8A3-9FBB-431D-AAA8-BEEA360F570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8647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C45A8A3-9FBB-431D-AAA8-BEEA360F570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32942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C45A8A3-9FBB-431D-AAA8-BEEA360F570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58243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C45A8A3-9FBB-431D-AAA8-BEEA360F570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81294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C45A8A3-9FBB-431D-AAA8-BEEA360F5701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46211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C45A8A3-9FBB-431D-AAA8-BEEA360F5701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40464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C45A8A3-9FBB-431D-AAA8-BEEA360F5701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2379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C45A8A3-9FBB-431D-AAA8-BEEA360F5701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522201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C45A8A3-9FBB-431D-AAA8-BEEA360F5701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742964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C45A8A3-9FBB-431D-AAA8-BEEA360F5701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863435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C45A8A3-9FBB-431D-AAA8-BEEA360F5701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22435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C45A8A3-9FBB-431D-AAA8-BEEA360F570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699138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C45A8A3-9FBB-431D-AAA8-BEEA360F5701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836286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C45A8A3-9FBB-431D-AAA8-BEEA360F5701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981757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C45A8A3-9FBB-431D-AAA8-BEEA360F5701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657887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C45A8A3-9FBB-431D-AAA8-BEEA360F5701}" type="slidenum">
              <a:rPr lang="en-US" smtClean="0"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995897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C45A8A3-9FBB-431D-AAA8-BEEA360F5701}" type="slidenum">
              <a:rPr lang="en-US" smtClean="0"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244545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C45A8A3-9FBB-431D-AAA8-BEEA360F5701}" type="slidenum">
              <a:rPr lang="en-US" smtClean="0"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823474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C45A8A3-9FBB-431D-AAA8-BEEA360F5701}" type="slidenum">
              <a:rPr lang="en-US" smtClean="0"/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18936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C45A8A3-9FBB-431D-AAA8-BEEA360F5701}" type="slidenum">
              <a:rPr lang="en-US" smtClean="0"/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573695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C45A8A3-9FBB-431D-AAA8-BEEA360F5701}" type="slidenum">
              <a:rPr lang="en-US" smtClean="0"/>
              <a:t>37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861483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C45A8A3-9FBB-431D-AAA8-BEEA360F5701}" type="slidenum">
              <a:rPr lang="en-US" smtClean="0"/>
              <a:t>38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263462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C45A8A3-9FBB-431D-AAA8-BEEA360F5701}" type="slidenum">
              <a:rPr lang="en-US" smtClean="0"/>
              <a:t>39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008006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C45A8A3-9FBB-431D-AAA8-BEEA360F5701}" type="slidenum">
              <a:rPr lang="en-US" smtClean="0"/>
              <a:t>40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91733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C45A8A3-9FBB-431D-AAA8-BEEA360F5701}" type="slidenum">
              <a:rPr lang="en-US" smtClean="0"/>
              <a:t>41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452795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C45A8A3-9FBB-431D-AAA8-BEEA360F5701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4458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tags" Target="../tags/tag8.xml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0.xml"/><Relationship Id="rId4" Type="http://schemas.openxmlformats.org/officeDocument/2006/relationships/tags" Target="../tags/tag9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tags" Target="../tags/tag13.xml"/><Relationship Id="rId2" Type="http://schemas.openxmlformats.org/officeDocument/2006/relationships/tags" Target="../tags/tag12.xml"/><Relationship Id="rId1" Type="http://schemas.openxmlformats.org/officeDocument/2006/relationships/tags" Target="../tags/tag11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5.xml"/><Relationship Id="rId4" Type="http://schemas.openxmlformats.org/officeDocument/2006/relationships/tags" Target="../tags/tag14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tags" Target="../tags/tag18.xml"/><Relationship Id="rId2" Type="http://schemas.openxmlformats.org/officeDocument/2006/relationships/tags" Target="../tags/tag17.xml"/><Relationship Id="rId1" Type="http://schemas.openxmlformats.org/officeDocument/2006/relationships/tags" Target="../tags/tag16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20.xml"/><Relationship Id="rId4" Type="http://schemas.openxmlformats.org/officeDocument/2006/relationships/tags" Target="../tags/tag19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tags" Target="../tags/tag21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25.xml"/><Relationship Id="rId4" Type="http://schemas.openxmlformats.org/officeDocument/2006/relationships/tags" Target="../tags/tag24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tags" Target="../tags/tag28.xml"/><Relationship Id="rId2" Type="http://schemas.openxmlformats.org/officeDocument/2006/relationships/tags" Target="../tags/tag27.xml"/><Relationship Id="rId1" Type="http://schemas.openxmlformats.org/officeDocument/2006/relationships/tags" Target="../tags/tag26.xml"/><Relationship Id="rId4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8" Type="http://schemas.openxmlformats.org/officeDocument/2006/relationships/tags" Target="../tags/tag36.xml"/><Relationship Id="rId3" Type="http://schemas.openxmlformats.org/officeDocument/2006/relationships/tags" Target="../tags/tag31.xml"/><Relationship Id="rId7" Type="http://schemas.openxmlformats.org/officeDocument/2006/relationships/tags" Target="../tags/tag35.xml"/><Relationship Id="rId2" Type="http://schemas.openxmlformats.org/officeDocument/2006/relationships/tags" Target="../tags/tag30.xml"/><Relationship Id="rId1" Type="http://schemas.openxmlformats.org/officeDocument/2006/relationships/tags" Target="../tags/tag29.xml"/><Relationship Id="rId6" Type="http://schemas.openxmlformats.org/officeDocument/2006/relationships/tags" Target="../tags/tag34.xml"/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9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tags" Target="../tags/tag39.xml"/><Relationship Id="rId2" Type="http://schemas.openxmlformats.org/officeDocument/2006/relationships/tags" Target="../tags/tag38.xml"/><Relationship Id="rId1" Type="http://schemas.openxmlformats.org/officeDocument/2006/relationships/tags" Target="../tags/tag37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40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43.xml"/><Relationship Id="rId2" Type="http://schemas.openxmlformats.org/officeDocument/2006/relationships/tags" Target="../tags/tag42.xml"/><Relationship Id="rId1" Type="http://schemas.openxmlformats.org/officeDocument/2006/relationships/tags" Target="../tags/tag41.xml"/><Relationship Id="rId4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tags" Target="../tags/tag46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45.xml"/><Relationship Id="rId1" Type="http://schemas.openxmlformats.org/officeDocument/2006/relationships/tags" Target="../tags/tag44.xml"/><Relationship Id="rId6" Type="http://schemas.openxmlformats.org/officeDocument/2006/relationships/tags" Target="../tags/tag49.xml"/><Relationship Id="rId5" Type="http://schemas.openxmlformats.org/officeDocument/2006/relationships/tags" Target="../tags/tag48.xml"/><Relationship Id="rId4" Type="http://schemas.openxmlformats.org/officeDocument/2006/relationships/tags" Target="../tags/tag47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tags" Target="../tags/tag52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51.xml"/><Relationship Id="rId1" Type="http://schemas.openxmlformats.org/officeDocument/2006/relationships/tags" Target="../tags/tag50.xml"/><Relationship Id="rId6" Type="http://schemas.openxmlformats.org/officeDocument/2006/relationships/tags" Target="../tags/tag55.xml"/><Relationship Id="rId5" Type="http://schemas.openxmlformats.org/officeDocument/2006/relationships/tags" Target="../tags/tag54.xml"/><Relationship Id="rId4" Type="http://schemas.openxmlformats.org/officeDocument/2006/relationships/tags" Target="../tags/tag53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tags" Target="../tags/tag58.xml"/><Relationship Id="rId2" Type="http://schemas.openxmlformats.org/officeDocument/2006/relationships/tags" Target="../tags/tag57.xml"/><Relationship Id="rId1" Type="http://schemas.openxmlformats.org/officeDocument/2006/relationships/tags" Target="../tags/tag56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60.xml"/><Relationship Id="rId4" Type="http://schemas.openxmlformats.org/officeDocument/2006/relationships/tags" Target="../tags/tag59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tags" Target="../tags/tag63.xml"/><Relationship Id="rId2" Type="http://schemas.openxmlformats.org/officeDocument/2006/relationships/tags" Target="../tags/tag62.xml"/><Relationship Id="rId1" Type="http://schemas.openxmlformats.org/officeDocument/2006/relationships/tags" Target="../tags/tag61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65.xml"/><Relationship Id="rId4" Type="http://schemas.openxmlformats.org/officeDocument/2006/relationships/tags" Target="../tags/tag64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tags" Target="../tags/tag81.xml"/><Relationship Id="rId3" Type="http://schemas.openxmlformats.org/officeDocument/2006/relationships/tags" Target="../tags/tag76.xml"/><Relationship Id="rId7" Type="http://schemas.openxmlformats.org/officeDocument/2006/relationships/tags" Target="../tags/tag80.xml"/><Relationship Id="rId12" Type="http://schemas.openxmlformats.org/officeDocument/2006/relationships/image" Target="../media/image1.png"/><Relationship Id="rId2" Type="http://schemas.openxmlformats.org/officeDocument/2006/relationships/tags" Target="../tags/tag75.xml"/><Relationship Id="rId1" Type="http://schemas.openxmlformats.org/officeDocument/2006/relationships/tags" Target="../tags/tag74.xml"/><Relationship Id="rId6" Type="http://schemas.openxmlformats.org/officeDocument/2006/relationships/tags" Target="../tags/tag79.xml"/><Relationship Id="rId11" Type="http://schemas.openxmlformats.org/officeDocument/2006/relationships/slideMaster" Target="../slideMasters/slideMaster2.xml"/><Relationship Id="rId5" Type="http://schemas.openxmlformats.org/officeDocument/2006/relationships/tags" Target="../tags/tag78.xml"/><Relationship Id="rId10" Type="http://schemas.openxmlformats.org/officeDocument/2006/relationships/tags" Target="../tags/tag83.xml"/><Relationship Id="rId4" Type="http://schemas.openxmlformats.org/officeDocument/2006/relationships/tags" Target="../tags/tag77.xml"/><Relationship Id="rId9" Type="http://schemas.openxmlformats.org/officeDocument/2006/relationships/tags" Target="../tags/tag82.xml"/></Relationships>
</file>

<file path=ppt/slideLayouts/_rels/slideLayout15.xml.rels><?xml version="1.0" encoding="UTF-8" standalone="yes"?>
<Relationships xmlns="http://schemas.openxmlformats.org/package/2006/relationships"><Relationship Id="rId8" Type="http://schemas.openxmlformats.org/officeDocument/2006/relationships/tags" Target="../tags/tag91.xml"/><Relationship Id="rId3" Type="http://schemas.openxmlformats.org/officeDocument/2006/relationships/tags" Target="../tags/tag86.xml"/><Relationship Id="rId7" Type="http://schemas.openxmlformats.org/officeDocument/2006/relationships/tags" Target="../tags/tag90.xml"/><Relationship Id="rId2" Type="http://schemas.openxmlformats.org/officeDocument/2006/relationships/tags" Target="../tags/tag85.xml"/><Relationship Id="rId1" Type="http://schemas.openxmlformats.org/officeDocument/2006/relationships/tags" Target="../tags/tag84.xml"/><Relationship Id="rId6" Type="http://schemas.openxmlformats.org/officeDocument/2006/relationships/tags" Target="../tags/tag89.xml"/><Relationship Id="rId5" Type="http://schemas.openxmlformats.org/officeDocument/2006/relationships/tags" Target="../tags/tag88.xml"/><Relationship Id="rId10" Type="http://schemas.openxmlformats.org/officeDocument/2006/relationships/image" Target="../media/image1.png"/><Relationship Id="rId4" Type="http://schemas.openxmlformats.org/officeDocument/2006/relationships/tags" Target="../tags/tag87.xml"/><Relationship Id="rId9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tags" Target="../tags/tag94.xml"/><Relationship Id="rId7" Type="http://schemas.openxmlformats.org/officeDocument/2006/relationships/slideMaster" Target="../slideMasters/slideMaster2.xml"/><Relationship Id="rId2" Type="http://schemas.openxmlformats.org/officeDocument/2006/relationships/tags" Target="../tags/tag93.xml"/><Relationship Id="rId1" Type="http://schemas.openxmlformats.org/officeDocument/2006/relationships/tags" Target="../tags/tag92.xml"/><Relationship Id="rId6" Type="http://schemas.openxmlformats.org/officeDocument/2006/relationships/tags" Target="../tags/tag97.xml"/><Relationship Id="rId5" Type="http://schemas.openxmlformats.org/officeDocument/2006/relationships/tags" Target="../tags/tag96.xml"/><Relationship Id="rId4" Type="http://schemas.openxmlformats.org/officeDocument/2006/relationships/tags" Target="../tags/tag95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98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tags" Target="../tags/tag101.xml"/><Relationship Id="rId2" Type="http://schemas.openxmlformats.org/officeDocument/2006/relationships/tags" Target="../tags/tag100.xml"/><Relationship Id="rId1" Type="http://schemas.openxmlformats.org/officeDocument/2006/relationships/tags" Target="../tags/tag99.xml"/><Relationship Id="rId5" Type="http://schemas.openxmlformats.org/officeDocument/2006/relationships/slideMaster" Target="../slideMasters/slideMaster2.xml"/><Relationship Id="rId4" Type="http://schemas.openxmlformats.org/officeDocument/2006/relationships/tags" Target="../tags/tag102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tags" Target="../tags/tag105.xml"/><Relationship Id="rId2" Type="http://schemas.openxmlformats.org/officeDocument/2006/relationships/tags" Target="../tags/tag104.xml"/><Relationship Id="rId1" Type="http://schemas.openxmlformats.org/officeDocument/2006/relationships/tags" Target="../tags/tag103.xml"/><Relationship Id="rId5" Type="http://schemas.openxmlformats.org/officeDocument/2006/relationships/slideMaster" Target="../slideMasters/slideMaster2.xml"/><Relationship Id="rId4" Type="http://schemas.openxmlformats.org/officeDocument/2006/relationships/tags" Target="../tags/tag10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>
              <a:defRPr b="0" i="0">
                <a:solidFill>
                  <a:schemeClr val="tx2"/>
                </a:solidFill>
                <a:latin typeface="+mj-lt"/>
                <a:cs typeface="Calibri"/>
              </a:defRPr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 b="0" i="0">
                <a:solidFill>
                  <a:srgbClr val="000000"/>
                </a:solidFill>
                <a:latin typeface="+mj-lt"/>
                <a:cs typeface="Calibri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 smtClean="0"/>
              <a:t>8/15/13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en-US" dirty="0" smtClean="0"/>
              <a:t>Usenix Security 2013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B747839D-A323-47F3-909F-5484993996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65758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lstStyle/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 smtClean="0"/>
              <a:t>8/15/13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en-US" dirty="0" smtClean="0"/>
              <a:t>Usenix Security 2013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B747839D-A323-47F3-909F-5484993996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41572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1"/>
            </p:custDataLst>
          </p:nvPr>
        </p:nvSpPr>
        <p:spPr>
          <a:xfrm>
            <a:off x="457200" y="3034508"/>
            <a:ext cx="6951274" cy="1308892"/>
          </a:xfrm>
        </p:spPr>
        <p:txBody>
          <a:bodyPr anchor="t"/>
          <a:lstStyle>
            <a:lvl1pPr algn="l">
              <a:defRPr sz="4000" b="1" i="0" cap="none">
                <a:latin typeface="+mj-lt"/>
                <a:cs typeface="Calibri"/>
              </a:defRPr>
            </a:lvl1pPr>
          </a:lstStyle>
          <a:p>
            <a:r>
              <a:rPr lang="en-US" dirty="0" smtClean="0"/>
              <a:t>Section Header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>
          <a:xfrm>
            <a:off x="474134" y="1524000"/>
            <a:ext cx="6951274" cy="1500187"/>
          </a:xfrm>
        </p:spPr>
        <p:txBody>
          <a:bodyPr lIns="0" rIns="0" anchor="b" anchorCtr="0"/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 smtClean="0"/>
              <a:t>8/15/13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en-US" dirty="0" smtClean="0"/>
              <a:t>Usenix Security 2013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B747839D-A323-47F3-909F-5484993996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51393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1"/>
            </p:custDataLst>
          </p:nvPr>
        </p:nvSpPr>
        <p:spPr>
          <a:xfrm>
            <a:off x="1264380" y="2013343"/>
            <a:ext cx="6951274" cy="753670"/>
          </a:xfrm>
        </p:spPr>
        <p:txBody>
          <a:bodyPr anchor="t"/>
          <a:lstStyle>
            <a:lvl1pPr algn="l">
              <a:defRPr sz="4000" b="0" i="0" cap="none">
                <a:latin typeface="+mj-lt"/>
                <a:cs typeface="Calibri"/>
              </a:defRPr>
            </a:lvl1pPr>
          </a:lstStyle>
          <a:p>
            <a:r>
              <a:rPr lang="en-US" dirty="0" smtClean="0"/>
              <a:t>Section Header 2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>
          <a:xfrm>
            <a:off x="1264380" y="2919413"/>
            <a:ext cx="6951274" cy="1500187"/>
          </a:xfrm>
        </p:spPr>
        <p:txBody>
          <a:bodyPr anchor="t"/>
          <a:lstStyle>
            <a:lvl1pPr marL="457200" indent="-457200" algn="l">
              <a:buFont typeface="+mj-lt"/>
              <a:buAutoNum type="arabicPeriod"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 smtClean="0"/>
              <a:t>8/15/13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en-US" dirty="0" smtClean="0"/>
              <a:t>Usenix Security 2013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B747839D-A323-47F3-909F-5484993996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49816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  <p:custDataLst>
              <p:tags r:id="rId2"/>
            </p:custDataLst>
          </p:nvPr>
        </p:nvSpPr>
        <p:spPr>
          <a:xfrm>
            <a:off x="457200" y="1447800"/>
            <a:ext cx="4038600" cy="4678363"/>
          </a:xfrm>
        </p:spPr>
        <p:txBody>
          <a:bodyPr anchor="t" anchorCtr="0">
            <a:no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4648200" y="1447800"/>
            <a:ext cx="4038600" cy="4678363"/>
          </a:xfrm>
        </p:spPr>
        <p:txBody>
          <a:bodyPr anchor="t" anchorCtr="0">
            <a:no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mtClean="0"/>
              <a:t>8/15/13</a:t>
            </a:r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Usenix Security 2013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7839D-A323-47F3-909F-54849939962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132004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  <p:custDataLst>
              <p:tags r:id="rId2"/>
            </p:custDataLst>
          </p:nvPr>
        </p:nvSpPr>
        <p:spPr>
          <a:xfrm>
            <a:off x="457200" y="1535113"/>
            <a:ext cx="4040188" cy="446087"/>
          </a:xfrm>
        </p:spPr>
        <p:txBody>
          <a:bodyPr anchor="b">
            <a:noAutofit/>
          </a:bodyPr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457200" y="1981200"/>
            <a:ext cx="4040188" cy="4144963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  <p:custDataLst>
              <p:tags r:id="rId4"/>
            </p:custDataLst>
          </p:nvPr>
        </p:nvSpPr>
        <p:spPr>
          <a:xfrm>
            <a:off x="4645025" y="1535113"/>
            <a:ext cx="4041775" cy="446087"/>
          </a:xfrm>
        </p:spPr>
        <p:txBody>
          <a:bodyPr anchor="b">
            <a:noAutofit/>
          </a:bodyPr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  <p:custDataLst>
              <p:tags r:id="rId5"/>
            </p:custDataLst>
          </p:nvPr>
        </p:nvSpPr>
        <p:spPr>
          <a:xfrm>
            <a:off x="4645025" y="1981200"/>
            <a:ext cx="4041775" cy="4144963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en-US" smtClean="0"/>
              <a:t>8/15/13</a:t>
            </a:r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en-US" dirty="0" smtClean="0"/>
              <a:t>Usenix Security 2013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/>
          <a:lstStyle/>
          <a:p>
            <a:fld id="{B747839D-A323-47F3-909F-5484993996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68526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smtClean="0"/>
              <a:t>8/15/13</a:t>
            </a:r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 dirty="0" smtClean="0"/>
              <a:t>Usenix Security 2013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B747839D-A323-47F3-909F-5484993996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07747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 smtClean="0"/>
              <a:t>8/15/13</a:t>
            </a:r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dirty="0" smtClean="0"/>
              <a:t>Usenix Security 2013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B747839D-A323-47F3-909F-5484993996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9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57200" y="273050"/>
            <a:ext cx="3008313" cy="1162050"/>
          </a:xfrm>
        </p:spPr>
        <p:txBody>
          <a:bodyPr anchor="b">
            <a:noAutofit/>
          </a:bodyPr>
          <a:lstStyle>
            <a:lvl1pPr algn="l">
              <a:defRPr sz="4800" b="1"/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3575050" y="1435100"/>
            <a:ext cx="5111750" cy="46910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en-US" smtClean="0"/>
              <a:t>8/15/13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r>
              <a:rPr lang="en-US" dirty="0" smtClean="0"/>
              <a:t>Usenix Security 2013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B747839D-A323-47F3-909F-5484993996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48059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en-US" smtClean="0"/>
              <a:t>8/15/13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r>
              <a:rPr lang="en-US" dirty="0" smtClean="0"/>
              <a:t>Usenix Security 2013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B747839D-A323-47F3-909F-5484993996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2365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  <p:custDataLst>
              <p:tags r:id="rId2"/>
            </p:custDataLst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 smtClean="0"/>
              <a:t>8/15/13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en-US" dirty="0" smtClean="0"/>
              <a:t>Usenix Security 2013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B747839D-A323-47F3-909F-5484993996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371535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  <p:custDataLst>
              <p:tags r:id="rId1"/>
            </p:custDataLst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  <p:custDataLst>
              <p:tags r:id="rId2"/>
            </p:custDataLst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>
            <a:lvl1pPr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 smtClean="0"/>
              <a:t>8/15/13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en-US" dirty="0" smtClean="0"/>
              <a:t>Usenix Security 2013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B747839D-A323-47F3-909F-5484993996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6446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en-GB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8/15/13</a:t>
            </a:r>
            <a:endParaRPr lang="en-GB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 smtClean="0"/>
              <a:t>Usenix Security 2013</a:t>
            </a:r>
            <a:endParaRPr lang="en-GB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AD5B71E-FB01-F541-8DE0-7E75CAB5AD6F}" type="slidenum">
              <a:rPr lang="en-GB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735602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rgbClr val="33669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0" y="6356350"/>
            <a:ext cx="9144000" cy="501650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>
              <a:solidFill>
                <a:prstClr val="black"/>
              </a:solidFill>
            </a:endParaRPr>
          </a:p>
        </p:txBody>
      </p:sp>
      <p:sp>
        <p:nvSpPr>
          <p:cNvPr id="5123" name="Title Placeholder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228600" y="836613"/>
            <a:ext cx="8686800" cy="1470025"/>
          </a:xfrm>
        </p:spPr>
        <p:txBody>
          <a:bodyPr/>
          <a:lstStyle>
            <a:lvl1pPr>
              <a:defRPr sz="4400" baseline="0">
                <a:solidFill>
                  <a:schemeClr val="bg1"/>
                </a:solidFill>
                <a:latin typeface="Calibri" pitchFamily="34" charset="0"/>
              </a:defRPr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5124" name="Text Placeholder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381000" y="3886200"/>
            <a:ext cx="8382000" cy="1752600"/>
          </a:xfrm>
        </p:spPr>
        <p:txBody>
          <a:bodyPr/>
          <a:lstStyle>
            <a:lvl1pPr marL="0" indent="0" algn="ctr">
              <a:buFont typeface="Arial" charset="0"/>
              <a:buNone/>
              <a:defRPr baseline="0">
                <a:solidFill>
                  <a:schemeClr val="bg1"/>
                </a:solidFill>
                <a:latin typeface="Calibri" pitchFamily="34" charset="0"/>
              </a:defRPr>
            </a:lvl1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  <p:custDataLst>
              <p:tags r:id="rId4"/>
            </p:custDataLst>
          </p:nvPr>
        </p:nvSpPr>
        <p:spPr>
          <a:xfrm>
            <a:off x="457200" y="6299200"/>
            <a:ext cx="2133600" cy="476250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Calibri" pitchFamily="34" charset="0"/>
              </a:defRPr>
            </a:lvl1pPr>
          </a:lstStyle>
          <a:p>
            <a:r>
              <a:rPr lang="en-US" smtClean="0">
                <a:solidFill>
                  <a:prstClr val="white"/>
                </a:solidFill>
              </a:rPr>
              <a:t>8/15/13</a:t>
            </a:r>
            <a:endParaRPr lang="en-US">
              <a:solidFill>
                <a:prstClr val="white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  <p:custDataLst>
              <p:tags r:id="rId5"/>
            </p:custDataLst>
          </p:nvPr>
        </p:nvSpPr>
        <p:spPr>
          <a:xfrm>
            <a:off x="6553200" y="6299200"/>
            <a:ext cx="2133600" cy="476250"/>
          </a:xfrm>
          <a:noFill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72DCFC7-CCD2-4D18-A5A6-8AD55EBAF26B}" type="slidenum">
              <a:rPr lang="en-US" smtClean="0">
                <a:solidFill>
                  <a:prstClr val="white"/>
                </a:solidFill>
              </a:rPr>
              <a:pPr/>
              <a:t>‹#›</a:t>
            </a:fld>
            <a:endParaRPr lang="en-US">
              <a:solidFill>
                <a:prstClr val="white"/>
              </a:solidFill>
            </a:endParaRPr>
          </a:p>
        </p:txBody>
      </p:sp>
      <p:pic>
        <p:nvPicPr>
          <p:cNvPr id="5127" name="Picture 7"/>
          <p:cNvPicPr>
            <a:picLocks noChangeAspect="1" noChangeArrowheads="1"/>
          </p:cNvPicPr>
          <p:nvPr>
            <p:custDataLst>
              <p:tags r:id="rId6"/>
            </p:custDataLst>
          </p:nvPr>
        </p:nvPicPr>
        <p:blipFill>
          <a:blip r:embed="rId12" cstate="print"/>
          <a:srcRect/>
          <a:stretch>
            <a:fillRect/>
          </a:stretch>
        </p:blipFill>
        <p:spPr bwMode="auto">
          <a:xfrm>
            <a:off x="3452813" y="6356350"/>
            <a:ext cx="2238375" cy="419100"/>
          </a:xfrm>
          <a:prstGeom prst="rect">
            <a:avLst/>
          </a:prstGeom>
          <a:noFill/>
        </p:spPr>
      </p:pic>
      <p:sp>
        <p:nvSpPr>
          <p:cNvPr id="5128" name="Line 8"/>
          <p:cNvSpPr>
            <a:spLocks noChangeShapeType="1"/>
          </p:cNvSpPr>
          <p:nvPr>
            <p:custDataLst>
              <p:tags r:id="rId7"/>
            </p:custDataLst>
          </p:nvPr>
        </p:nvSpPr>
        <p:spPr bwMode="auto">
          <a:xfrm flipV="1">
            <a:off x="0" y="0"/>
            <a:ext cx="0" cy="63563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>
              <a:solidFill>
                <a:prstClr val="black"/>
              </a:solidFill>
            </a:endParaRPr>
          </a:p>
        </p:txBody>
      </p:sp>
      <p:sp>
        <p:nvSpPr>
          <p:cNvPr id="5129" name="Line 9"/>
          <p:cNvSpPr>
            <a:spLocks noChangeShapeType="1"/>
          </p:cNvSpPr>
          <p:nvPr>
            <p:custDataLst>
              <p:tags r:id="rId8"/>
            </p:custDataLst>
          </p:nvPr>
        </p:nvSpPr>
        <p:spPr bwMode="auto">
          <a:xfrm flipH="1">
            <a:off x="0" y="0"/>
            <a:ext cx="9144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>
              <a:solidFill>
                <a:prstClr val="black"/>
              </a:solidFill>
            </a:endParaRPr>
          </a:p>
        </p:txBody>
      </p:sp>
      <p:sp>
        <p:nvSpPr>
          <p:cNvPr id="5130" name="Line 10"/>
          <p:cNvSpPr>
            <a:spLocks noChangeShapeType="1"/>
          </p:cNvSpPr>
          <p:nvPr>
            <p:custDataLst>
              <p:tags r:id="rId9"/>
            </p:custDataLst>
          </p:nvPr>
        </p:nvSpPr>
        <p:spPr bwMode="auto">
          <a:xfrm>
            <a:off x="457200" y="3068638"/>
            <a:ext cx="8229600" cy="0"/>
          </a:xfrm>
          <a:prstGeom prst="line">
            <a:avLst/>
          </a:prstGeom>
          <a:noFill/>
          <a:ln w="9525">
            <a:solidFill>
              <a:schemeClr val="bg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>
              <a:solidFill>
                <a:prstClr val="black"/>
              </a:solidFill>
            </a:endParaRPr>
          </a:p>
        </p:txBody>
      </p:sp>
      <p:sp>
        <p:nvSpPr>
          <p:cNvPr id="5131" name="Line 11"/>
          <p:cNvSpPr>
            <a:spLocks noChangeShapeType="1"/>
          </p:cNvSpPr>
          <p:nvPr>
            <p:custDataLst>
              <p:tags r:id="rId10"/>
            </p:custDataLst>
          </p:nvPr>
        </p:nvSpPr>
        <p:spPr bwMode="auto">
          <a:xfrm flipV="1">
            <a:off x="9144000" y="0"/>
            <a:ext cx="0" cy="6858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867738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2"/>
          <p:cNvSpPr>
            <a:spLocks noChangeArrowheads="1"/>
          </p:cNvSpPr>
          <p:nvPr userDrawn="1">
            <p:custDataLst>
              <p:tags r:id="rId1"/>
            </p:custDataLst>
          </p:nvPr>
        </p:nvSpPr>
        <p:spPr bwMode="auto">
          <a:xfrm>
            <a:off x="0" y="6356350"/>
            <a:ext cx="9144000" cy="501650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>
              <a:solidFill>
                <a:prstClr val="black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 smtClean="0">
                <a:solidFill>
                  <a:prstClr val="white">
                    <a:lumMod val="75000"/>
                  </a:prstClr>
                </a:solidFill>
              </a:rPr>
              <a:t>8/15/13</a:t>
            </a:r>
            <a:endParaRPr lang="en-US">
              <a:solidFill>
                <a:prstClr val="white">
                  <a:lumMod val="75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  <p:custDataLst>
              <p:tags r:id="rId4"/>
            </p:custDataLst>
          </p:nvPr>
        </p:nvSpPr>
        <p:spPr/>
        <p:txBody>
          <a:bodyPr/>
          <a:lstStyle/>
          <a:p>
            <a:fld id="{D72DCFC7-CCD2-4D18-A5A6-8AD55EBAF26B}" type="slidenum">
              <a:rPr lang="en-US" smtClean="0">
                <a:solidFill>
                  <a:prstClr val="white">
                    <a:lumMod val="75000"/>
                  </a:prstClr>
                </a:solidFill>
              </a:rPr>
              <a:pPr/>
              <a:t>‹#›</a:t>
            </a:fld>
            <a:endParaRPr lang="en-US">
              <a:solidFill>
                <a:prstClr val="white">
                  <a:lumMod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2"/>
            <p:custDataLst>
              <p:tags r:id="rId5"/>
            </p:custDataLst>
          </p:nvPr>
        </p:nvSpPr>
        <p:spPr/>
        <p:txBody>
          <a:bodyPr/>
          <a:lstStyle/>
          <a:p>
            <a:r>
              <a:rPr lang="en-US" dirty="0" smtClean="0">
                <a:solidFill>
                  <a:prstClr val="black">
                    <a:tint val="75000"/>
                  </a:prstClr>
                </a:solidFill>
              </a:rPr>
              <a:t>Usenix Security 2013</a:t>
            </a:r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TextBox 5"/>
          <p:cNvSpPr txBox="1"/>
          <p:nvPr userDrawn="1">
            <p:custDataLst>
              <p:tags r:id="rId6"/>
            </p:custDataLst>
          </p:nvPr>
        </p:nvSpPr>
        <p:spPr>
          <a:xfrm>
            <a:off x="1371600" y="1447800"/>
            <a:ext cx="6400800" cy="25146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ctr"/>
            <a:endParaRPr lang="en-US" sz="3200" dirty="0" smtClean="0">
              <a:solidFill>
                <a:prstClr val="black"/>
              </a:solidFill>
              <a:cs typeface="Calibri" pitchFamily="34" charset="0"/>
            </a:endParaRPr>
          </a:p>
        </p:txBody>
      </p:sp>
      <p:sp>
        <p:nvSpPr>
          <p:cNvPr id="8" name="Content Placeholder 7"/>
          <p:cNvSpPr>
            <a:spLocks noGrp="1"/>
          </p:cNvSpPr>
          <p:nvPr>
            <p:ph sz="quarter" idx="13"/>
            <p:custDataLst>
              <p:tags r:id="rId7"/>
            </p:custDataLst>
          </p:nvPr>
        </p:nvSpPr>
        <p:spPr>
          <a:xfrm>
            <a:off x="457200" y="609600"/>
            <a:ext cx="8229600" cy="5715000"/>
          </a:xfrm>
        </p:spPr>
        <p:txBody>
          <a:bodyPr/>
          <a:lstStyle/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  <p:pic>
        <p:nvPicPr>
          <p:cNvPr id="11" name="Picture 7"/>
          <p:cNvPicPr>
            <a:picLocks noChangeAspect="1" noChangeArrowheads="1"/>
          </p:cNvPicPr>
          <p:nvPr userDrawn="1">
            <p:custDataLst>
              <p:tags r:id="rId8"/>
            </p:custDataLst>
          </p:nvPr>
        </p:nvPicPr>
        <p:blipFill>
          <a:blip r:embed="rId10" cstate="print"/>
          <a:srcRect/>
          <a:stretch>
            <a:fillRect/>
          </a:stretch>
        </p:blipFill>
        <p:spPr bwMode="auto">
          <a:xfrm>
            <a:off x="3452813" y="6356350"/>
            <a:ext cx="2238375" cy="4191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78479152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2"/>
          <p:cNvSpPr>
            <a:spLocks noChangeArrowheads="1"/>
          </p:cNvSpPr>
          <p:nvPr userDrawn="1">
            <p:custDataLst>
              <p:tags r:id="rId1"/>
            </p:custDataLst>
          </p:nvPr>
        </p:nvSpPr>
        <p:spPr bwMode="auto">
          <a:xfrm>
            <a:off x="0" y="6356350"/>
            <a:ext cx="9144000" cy="501650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>
              <a:solidFill>
                <a:prstClr val="black"/>
              </a:solidFill>
            </a:endParaRP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smtClean="0">
                <a:solidFill>
                  <a:prstClr val="white">
                    <a:lumMod val="75000"/>
                  </a:prstClr>
                </a:solidFill>
              </a:rPr>
              <a:t>8/15/13</a:t>
            </a:r>
            <a:endParaRPr lang="en-US" dirty="0">
              <a:solidFill>
                <a:prstClr val="white">
                  <a:lumMod val="75000"/>
                </a:prstClr>
              </a:solidFill>
            </a:endParaRPr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 dirty="0" smtClean="0">
                <a:solidFill>
                  <a:prstClr val="black">
                    <a:tint val="75000"/>
                  </a:prstClr>
                </a:solidFill>
              </a:rPr>
              <a:t>Usenix Security 2013</a:t>
            </a:r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D72DCFC7-CCD2-4D18-A5A6-8AD55EBAF26B}" type="slidenum">
              <a:rPr lang="en-US" smtClean="0">
                <a:solidFill>
                  <a:prstClr val="white">
                    <a:lumMod val="75000"/>
                  </a:prstClr>
                </a:solidFill>
              </a:rPr>
              <a:pPr/>
              <a:t>‹#›</a:t>
            </a:fld>
            <a:endParaRPr lang="en-US" dirty="0">
              <a:solidFill>
                <a:prstClr val="white">
                  <a:lumMod val="75000"/>
                </a:prstClr>
              </a:solidFill>
            </a:endParaRPr>
          </a:p>
        </p:txBody>
      </p:sp>
      <p:sp>
        <p:nvSpPr>
          <p:cNvPr id="13" name="Content Placeholder 12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0" y="0"/>
            <a:ext cx="9144000" cy="63246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pic>
        <p:nvPicPr>
          <p:cNvPr id="15" name="Picture 7"/>
          <p:cNvPicPr>
            <a:picLocks noChangeAspect="1" noChangeArrowheads="1"/>
          </p:cNvPicPr>
          <p:nvPr userDrawn="1">
            <p:custDataLst>
              <p:tags r:id="rId6"/>
            </p:custDataLst>
          </p:nvPr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3452813" y="6356350"/>
            <a:ext cx="2238375" cy="4191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03694434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/>
          <p:cNvSpPr>
            <a:spLocks noGrp="1"/>
          </p:cNvSpPr>
          <p:nvPr>
            <p:ph sz="quarter" idx="10"/>
            <p:custDataLst>
              <p:tags r:id="rId1"/>
            </p:custDataLst>
          </p:nvPr>
        </p:nvSpPr>
        <p:spPr>
          <a:xfrm>
            <a:off x="0" y="0"/>
            <a:ext cx="9144000" cy="685800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7200"/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857619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smtClean="0">
                <a:solidFill>
                  <a:prstClr val="white">
                    <a:lumMod val="75000"/>
                  </a:prstClr>
                </a:solidFill>
              </a:rPr>
              <a:t>8/15/13</a:t>
            </a:r>
            <a:endParaRPr lang="en-US">
              <a:solidFill>
                <a:prstClr val="white">
                  <a:lumMod val="75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 smtClean="0">
                <a:solidFill>
                  <a:prstClr val="black">
                    <a:tint val="75000"/>
                  </a:prstClr>
                </a:solidFill>
              </a:rPr>
              <a:t>Usenix Security 2013</a:t>
            </a:r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3A3D790D-3B66-4FBE-B73B-CD56CACC06CB}" type="slidenum">
              <a:rPr lang="en-US" smtClean="0">
                <a:solidFill>
                  <a:prstClr val="white">
                    <a:lumMod val="75000"/>
                  </a:prstClr>
                </a:solidFill>
              </a:rPr>
              <a:pPr/>
              <a:t>‹#›</a:t>
            </a:fld>
            <a:endParaRPr lang="en-US">
              <a:solidFill>
                <a:prstClr val="white">
                  <a:lumMod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1803417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>
            <a:lvl1pPr>
              <a:defRPr baseline="0">
                <a:latin typeface="Calibri" pitchFamily="34" charset="0"/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lstStyle>
            <a:lvl1pPr>
              <a:defRPr>
                <a:latin typeface="Calibri" pitchFamily="34" charset="0"/>
              </a:defRPr>
            </a:lvl1pPr>
            <a:lvl2pPr marL="801688" indent="-344488">
              <a:defRPr>
                <a:latin typeface="Calibri" pitchFamily="34" charset="0"/>
              </a:defRPr>
            </a:lvl2pPr>
            <a:lvl3pPr>
              <a:defRPr>
                <a:latin typeface="Calibri" pitchFamily="34" charset="0"/>
              </a:defRPr>
            </a:lvl3pPr>
            <a:lvl4pPr>
              <a:defRPr>
                <a:latin typeface="Calibri" pitchFamily="34" charset="0"/>
              </a:defRPr>
            </a:lvl4pPr>
            <a:lvl5pPr>
              <a:defRPr>
                <a:latin typeface="Calibri" pitchFamily="34" charset="0"/>
              </a:defRPr>
            </a:lvl5pPr>
          </a:lstStyle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>
            <a:lvl1pPr>
              <a:defRPr>
                <a:latin typeface="Calibri" pitchFamily="34" charset="0"/>
              </a:defRPr>
            </a:lvl1pPr>
          </a:lstStyle>
          <a:p>
            <a:r>
              <a:rPr lang="en-US" smtClean="0">
                <a:solidFill>
                  <a:prstClr val="white">
                    <a:lumMod val="75000"/>
                  </a:prstClr>
                </a:solidFill>
              </a:rPr>
              <a:t>8/15/13</a:t>
            </a:r>
            <a:endParaRPr lang="en-US">
              <a:solidFill>
                <a:prstClr val="white">
                  <a:lumMod val="75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  <p:custDataLst>
              <p:tags r:id="rId4"/>
            </p:custDataLst>
          </p:nvPr>
        </p:nvSpPr>
        <p:spPr/>
        <p:txBody>
          <a:bodyPr/>
          <a:lstStyle>
            <a:lvl1pPr>
              <a:defRPr>
                <a:latin typeface="Calibri" pitchFamily="34" charset="0"/>
              </a:defRPr>
            </a:lvl1pPr>
          </a:lstStyle>
          <a:p>
            <a:fld id="{4FCDBC5D-AE0E-40AE-B2A3-D6594CFE961C}" type="slidenum">
              <a:rPr lang="en-US" smtClean="0">
                <a:solidFill>
                  <a:prstClr val="white">
                    <a:lumMod val="75000"/>
                  </a:prstClr>
                </a:solidFill>
              </a:rPr>
              <a:pPr/>
              <a:t>‹#›</a:t>
            </a:fld>
            <a:endParaRPr lang="en-US">
              <a:solidFill>
                <a:prstClr val="white">
                  <a:lumMod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76914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ags" Target="../tags/tag4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ags" Target="../tags/tag3.xml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1.xml"/><Relationship Id="rId10" Type="http://schemas.openxmlformats.org/officeDocument/2006/relationships/slideLayout" Target="../slideLayouts/slideLayout10.xml"/><Relationship Id="rId19" Type="http://schemas.openxmlformats.org/officeDocument/2006/relationships/tags" Target="../tags/tag5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ags" Target="../tags/tag66.xml"/><Relationship Id="rId13" Type="http://schemas.openxmlformats.org/officeDocument/2006/relationships/tags" Target="../tags/tag71.xml"/><Relationship Id="rId3" Type="http://schemas.openxmlformats.org/officeDocument/2006/relationships/slideLayout" Target="../slideLayouts/slideLayout16.xml"/><Relationship Id="rId7" Type="http://schemas.openxmlformats.org/officeDocument/2006/relationships/theme" Target="../theme/theme2.xml"/><Relationship Id="rId12" Type="http://schemas.openxmlformats.org/officeDocument/2006/relationships/tags" Target="../tags/tag70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tags" Target="../tags/tag69.xml"/><Relationship Id="rId5" Type="http://schemas.openxmlformats.org/officeDocument/2006/relationships/slideLayout" Target="../slideLayouts/slideLayout18.xml"/><Relationship Id="rId15" Type="http://schemas.openxmlformats.org/officeDocument/2006/relationships/tags" Target="../tags/tag73.xml"/><Relationship Id="rId10" Type="http://schemas.openxmlformats.org/officeDocument/2006/relationships/tags" Target="../tags/tag68.xml"/><Relationship Id="rId4" Type="http://schemas.openxmlformats.org/officeDocument/2006/relationships/slideLayout" Target="../slideLayouts/slideLayout17.xml"/><Relationship Id="rId9" Type="http://schemas.openxmlformats.org/officeDocument/2006/relationships/tags" Target="../tags/tag67.xml"/><Relationship Id="rId14" Type="http://schemas.openxmlformats.org/officeDocument/2006/relationships/tags" Target="../tags/tag7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  <p:custDataLst>
              <p:tags r:id="rId15"/>
            </p:custDataLst>
          </p:nvPr>
        </p:nvSpPr>
        <p:spPr>
          <a:xfrm>
            <a:off x="457200" y="152400"/>
            <a:ext cx="8229600" cy="1143000"/>
          </a:xfrm>
          <a:prstGeom prst="rect">
            <a:avLst/>
          </a:prstGeom>
        </p:spPr>
        <p:txBody>
          <a:bodyPr vert="horz" lIns="0" tIns="45720" rIns="0" bIns="45720" rtlCol="0" anchor="ctr">
            <a:normAutofit/>
          </a:bodyPr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  <p:custDataLst>
              <p:tags r:id="rId16"/>
            </p:custDataLst>
          </p:nvPr>
        </p:nvSpPr>
        <p:spPr>
          <a:xfrm>
            <a:off x="457200" y="1371600"/>
            <a:ext cx="8229600" cy="4754563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/>
          </a:bodyPr>
          <a:lstStyle/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  <p:custDataLst>
              <p:tags r:id="rId17"/>
            </p:custDataLst>
          </p:nvPr>
        </p:nvSpPr>
        <p:spPr>
          <a:xfrm>
            <a:off x="152400" y="6492875"/>
            <a:ext cx="2133600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chemeClr val="tx1"/>
                </a:solidFill>
                <a:latin typeface="+mj-lt"/>
                <a:cs typeface="Calibri"/>
              </a:defRPr>
            </a:lvl1pPr>
          </a:lstStyle>
          <a:p>
            <a:r>
              <a:rPr lang="en-US" smtClean="0"/>
              <a:t>8/15/13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  <p:custDataLst>
              <p:tags r:id="rId18"/>
            </p:custDataLst>
          </p:nvPr>
        </p:nvSpPr>
        <p:spPr>
          <a:xfrm>
            <a:off x="3124200" y="6492875"/>
            <a:ext cx="2895600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1200">
                <a:solidFill>
                  <a:schemeClr val="tx1"/>
                </a:solidFill>
                <a:latin typeface="+mj-lt"/>
                <a:cs typeface="Calibri"/>
              </a:defRPr>
            </a:lvl1pPr>
          </a:lstStyle>
          <a:p>
            <a:r>
              <a:rPr lang="en-US" dirty="0" smtClean="0"/>
              <a:t>Usenix Security 2013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  <p:custDataLst>
              <p:tags r:id="rId19"/>
            </p:custDataLst>
          </p:nvPr>
        </p:nvSpPr>
        <p:spPr>
          <a:xfrm>
            <a:off x="6858000" y="6492875"/>
            <a:ext cx="2133600" cy="36512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>
                <a:solidFill>
                  <a:schemeClr val="tx1"/>
                </a:solidFill>
                <a:latin typeface="+mj-lt"/>
                <a:cs typeface="Calibri"/>
              </a:defRPr>
            </a:lvl1pPr>
          </a:lstStyle>
          <a:p>
            <a:fld id="{B747839D-A323-47F3-909F-54849939962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96045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timing>
    <p:tnLst>
      <p:par>
        <p:cTn id="1" dur="indefinite" restart="never" nodeType="tmRoot"/>
      </p:par>
    </p:tnLst>
  </p:timing>
  <p:hf hdr="0"/>
  <p:txStyles>
    <p:titleStyle>
      <a:lvl1pPr algn="ctr" defTabSz="457200" rtl="0" eaLnBrk="1" latinLnBrk="0" hangingPunct="1">
        <a:spcBef>
          <a:spcPct val="0"/>
        </a:spcBef>
        <a:buNone/>
        <a:defRPr sz="4400" b="0" i="0" kern="1200" spc="-50" normalizeH="0">
          <a:solidFill>
            <a:schemeClr val="tx2"/>
          </a:solidFill>
          <a:latin typeface="+mj-lt"/>
          <a:ea typeface="+mj-ea"/>
          <a:cs typeface="Cambria"/>
        </a:defRPr>
      </a:lvl1pPr>
    </p:titleStyle>
    <p:bodyStyle>
      <a:lvl1pPr marL="292100" indent="-292100" algn="l" defTabSz="457200" rtl="0" eaLnBrk="1" latinLnBrk="0" hangingPunct="1">
        <a:spcBef>
          <a:spcPct val="20000"/>
        </a:spcBef>
        <a:buClr>
          <a:schemeClr val="accent1"/>
        </a:buClr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Calibri"/>
        </a:defRPr>
      </a:lvl1pPr>
      <a:lvl2pPr marL="635000" indent="-292100" algn="l" defTabSz="457200" rtl="0" eaLnBrk="1" latinLnBrk="0" hangingPunct="1">
        <a:spcBef>
          <a:spcPct val="20000"/>
        </a:spcBef>
        <a:buClr>
          <a:schemeClr val="accent1"/>
        </a:buClr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Calibri"/>
        </a:defRPr>
      </a:lvl2pPr>
      <a:lvl3pPr marL="914400" indent="-228600" algn="l" defTabSz="457200" rtl="0" eaLnBrk="1" latinLnBrk="0" hangingPunct="1">
        <a:spcBef>
          <a:spcPct val="20000"/>
        </a:spcBef>
        <a:buClr>
          <a:schemeClr val="accent1"/>
        </a:buClr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Calibri"/>
        </a:defRPr>
      </a:lvl3pPr>
      <a:lvl4pPr marL="1143000" indent="-228600" algn="l" defTabSz="457200" rtl="0" eaLnBrk="1" latinLnBrk="0" hangingPunct="1">
        <a:spcBef>
          <a:spcPct val="20000"/>
        </a:spcBef>
        <a:buClr>
          <a:schemeClr val="accent1"/>
        </a:buClr>
        <a:buFont typeface="Arial"/>
        <a:buChar char="–"/>
        <a:tabLst/>
        <a:defRPr sz="2000" kern="1200">
          <a:solidFill>
            <a:schemeClr val="tx1"/>
          </a:solidFill>
          <a:latin typeface="+mn-lt"/>
          <a:ea typeface="+mn-ea"/>
          <a:cs typeface="Calibri"/>
        </a:defRPr>
      </a:lvl4pPr>
      <a:lvl5pPr marL="1320800" indent="-177800" algn="l" defTabSz="457200" rtl="0" eaLnBrk="1" latinLnBrk="0" hangingPunct="1">
        <a:spcBef>
          <a:spcPct val="20000"/>
        </a:spcBef>
        <a:buClr>
          <a:schemeClr val="accent1"/>
        </a:buClr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Calibri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9" name="Title Placeholder 1"/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 bwMode="auto">
          <a:xfrm>
            <a:off x="457200" y="0"/>
            <a:ext cx="8229600" cy="6334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 smtClean="0"/>
              <a:t>Click to edit Master title style</a:t>
            </a:r>
          </a:p>
        </p:txBody>
      </p:sp>
      <p:sp>
        <p:nvSpPr>
          <p:cNvPr id="4100" name="Text Placeholder 2"/>
          <p:cNvSpPr>
            <a:spLocks noGrp="1"/>
          </p:cNvSpPr>
          <p:nvPr>
            <p:ph type="body" idx="1"/>
            <p:custDataLst>
              <p:tags r:id="rId9"/>
            </p:custDataLst>
          </p:nvPr>
        </p:nvSpPr>
        <p:spPr bwMode="auto">
          <a:xfrm>
            <a:off x="457200" y="609600"/>
            <a:ext cx="8229600" cy="5746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  <p:custDataLst>
              <p:tags r:id="rId10"/>
            </p:custDataLst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600">
                <a:solidFill>
                  <a:schemeClr val="bg1">
                    <a:lumMod val="75000"/>
                  </a:schemeClr>
                </a:solidFill>
                <a:latin typeface="Calibri" pitchFamily="34" charset="0"/>
                <a:cs typeface="Calibri" pitchFamily="34" charset="0"/>
              </a:defRPr>
            </a:lvl1pPr>
          </a:lstStyle>
          <a:p>
            <a:r>
              <a:rPr lang="en-US" smtClean="0">
                <a:solidFill>
                  <a:prstClr val="white">
                    <a:lumMod val="75000"/>
                  </a:prstClr>
                </a:solidFill>
              </a:rPr>
              <a:t>8/15/13</a:t>
            </a:r>
            <a:endParaRPr lang="en-US" dirty="0">
              <a:solidFill>
                <a:prstClr val="white">
                  <a:lumMod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  <p:custDataLst>
              <p:tags r:id="rId11"/>
            </p:custDataLst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600">
                <a:solidFill>
                  <a:schemeClr val="bg1">
                    <a:lumMod val="75000"/>
                  </a:schemeClr>
                </a:solidFill>
                <a:latin typeface="Calibri" pitchFamily="34" charset="0"/>
                <a:cs typeface="Calibri" pitchFamily="34" charset="0"/>
              </a:defRPr>
            </a:lvl1pPr>
          </a:lstStyle>
          <a:p>
            <a:fld id="{D72DCFC7-CCD2-4D18-A5A6-8AD55EBAF26B}" type="slidenum">
              <a:rPr lang="en-US" smtClean="0">
                <a:solidFill>
                  <a:prstClr val="white">
                    <a:lumMod val="75000"/>
                  </a:prstClr>
                </a:solidFill>
              </a:rPr>
              <a:pPr/>
              <a:t>‹#›</a:t>
            </a:fld>
            <a:endParaRPr lang="en-US" dirty="0">
              <a:solidFill>
                <a:prstClr val="white">
                  <a:lumMod val="75000"/>
                </a:prstClr>
              </a:solidFill>
            </a:endParaRPr>
          </a:p>
        </p:txBody>
      </p:sp>
      <p:sp>
        <p:nvSpPr>
          <p:cNvPr id="4104" name="Line 8"/>
          <p:cNvSpPr>
            <a:spLocks noChangeShapeType="1"/>
          </p:cNvSpPr>
          <p:nvPr>
            <p:custDataLst>
              <p:tags r:id="rId12"/>
            </p:custDataLst>
          </p:nvPr>
        </p:nvSpPr>
        <p:spPr bwMode="auto">
          <a:xfrm flipV="1">
            <a:off x="0" y="0"/>
            <a:ext cx="0" cy="63563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>
              <a:solidFill>
                <a:prstClr val="black"/>
              </a:solidFill>
            </a:endParaRPr>
          </a:p>
        </p:txBody>
      </p:sp>
      <p:sp>
        <p:nvSpPr>
          <p:cNvPr id="4105" name="Line 9"/>
          <p:cNvSpPr>
            <a:spLocks noChangeShapeType="1"/>
          </p:cNvSpPr>
          <p:nvPr>
            <p:custDataLst>
              <p:tags r:id="rId13"/>
            </p:custDataLst>
          </p:nvPr>
        </p:nvSpPr>
        <p:spPr bwMode="auto">
          <a:xfrm flipH="1">
            <a:off x="0" y="0"/>
            <a:ext cx="9144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>
              <a:solidFill>
                <a:prstClr val="black"/>
              </a:solidFill>
            </a:endParaRPr>
          </a:p>
        </p:txBody>
      </p:sp>
      <p:sp>
        <p:nvSpPr>
          <p:cNvPr id="4107" name="Line 11"/>
          <p:cNvSpPr>
            <a:spLocks noChangeShapeType="1"/>
          </p:cNvSpPr>
          <p:nvPr>
            <p:custDataLst>
              <p:tags r:id="rId14"/>
            </p:custDataLst>
          </p:nvPr>
        </p:nvSpPr>
        <p:spPr bwMode="auto">
          <a:xfrm flipV="1">
            <a:off x="9144000" y="0"/>
            <a:ext cx="0" cy="6858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>
              <a:solidFill>
                <a:prstClr val="black"/>
              </a:solidFill>
            </a:endParaRP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 smtClean="0">
                <a:solidFill>
                  <a:prstClr val="black">
                    <a:tint val="75000"/>
                  </a:prstClr>
                </a:solidFill>
              </a:rPr>
              <a:t>Usenix Security 2013</a:t>
            </a:r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885178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</p:sldLayoutIdLst>
  <p:timing>
    <p:tnLst>
      <p:par>
        <p:cTn id="1" dur="indefinite" restart="never" nodeType="tmRoot"/>
      </p:par>
    </p:tnLst>
  </p:timing>
  <p:hf hdr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sz="4000">
          <a:solidFill>
            <a:srgbClr val="0000CC"/>
          </a:solidFill>
          <a:latin typeface="Calibri" pitchFamily="34" charset="0"/>
          <a:ea typeface="+mj-ea"/>
          <a:cs typeface="Calibri" pitchFamily="34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sz="2800">
          <a:solidFill>
            <a:srgbClr val="0000CC"/>
          </a:solidFill>
          <a:latin typeface="Arial" charset="0"/>
          <a:ea typeface="ＭＳ Ｐゴシック" pitchFamily="-65" charset="-128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sz="2800">
          <a:solidFill>
            <a:srgbClr val="0000CC"/>
          </a:solidFill>
          <a:latin typeface="Arial" charset="0"/>
          <a:ea typeface="ＭＳ Ｐゴシック" pitchFamily="-65" charset="-128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sz="2800">
          <a:solidFill>
            <a:srgbClr val="0000CC"/>
          </a:solidFill>
          <a:latin typeface="Arial" charset="0"/>
          <a:ea typeface="ＭＳ Ｐゴシック" pitchFamily="-65" charset="-128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sz="2800">
          <a:solidFill>
            <a:srgbClr val="0000CC"/>
          </a:solidFill>
          <a:latin typeface="Arial" charset="0"/>
          <a:ea typeface="ＭＳ Ｐゴシック" pitchFamily="-65" charset="-128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sz="2800">
          <a:solidFill>
            <a:srgbClr val="0000CC"/>
          </a:solidFill>
          <a:latin typeface="Arial" charset="0"/>
          <a:ea typeface="ＭＳ Ｐゴシック" pitchFamily="-65" charset="-128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sz="2800">
          <a:solidFill>
            <a:srgbClr val="0000CC"/>
          </a:solidFill>
          <a:latin typeface="Arial" charset="0"/>
          <a:ea typeface="ＭＳ Ｐゴシック" pitchFamily="-65" charset="-128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sz="2800">
          <a:solidFill>
            <a:srgbClr val="0000CC"/>
          </a:solidFill>
          <a:latin typeface="Arial" charset="0"/>
          <a:ea typeface="ＭＳ Ｐゴシック" pitchFamily="-65" charset="-128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sz="2800">
          <a:solidFill>
            <a:srgbClr val="0000CC"/>
          </a:solidFill>
          <a:latin typeface="Arial" charset="0"/>
          <a:ea typeface="ＭＳ Ｐゴシック" pitchFamily="-65" charset="-128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Font typeface="Arial" charset="0"/>
        <a:buChar char="•"/>
        <a:defRPr sz="3200">
          <a:solidFill>
            <a:schemeClr val="tx1"/>
          </a:solidFill>
          <a:latin typeface="Calibri" pitchFamily="34" charset="0"/>
          <a:ea typeface="+mn-ea"/>
          <a:cs typeface="Calibri" pitchFamily="34" charset="0"/>
        </a:defRPr>
      </a:lvl1pPr>
      <a:lvl2pPr marL="796925" indent="-339725" algn="l" defTabSz="457200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Font typeface="Arial" charset="0"/>
        <a:buChar char="–"/>
        <a:defRPr sz="2800">
          <a:solidFill>
            <a:schemeClr val="tx1"/>
          </a:solidFill>
          <a:latin typeface="Calibri" pitchFamily="34" charset="0"/>
          <a:ea typeface="+mn-ea"/>
          <a:cs typeface="Calibri" pitchFamily="34" charset="0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Font typeface="Arial" charset="0"/>
        <a:buChar char="•"/>
        <a:defRPr sz="2400">
          <a:solidFill>
            <a:schemeClr val="tx1"/>
          </a:solidFill>
          <a:latin typeface="Calibri" pitchFamily="34" charset="0"/>
          <a:ea typeface="+mn-ea"/>
          <a:cs typeface="Calibri" pitchFamily="34" charset="0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Font typeface="Arial" charset="0"/>
        <a:buChar char="–"/>
        <a:defRPr sz="1800">
          <a:solidFill>
            <a:schemeClr val="tx1"/>
          </a:solidFill>
          <a:latin typeface="Calibri" pitchFamily="34" charset="0"/>
          <a:ea typeface="+mn-ea"/>
          <a:cs typeface="Calibri" pitchFamily="34" charset="0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Font typeface="Arial" charset="0"/>
        <a:buChar char="»"/>
        <a:defRPr sz="1600">
          <a:solidFill>
            <a:schemeClr val="tx1"/>
          </a:solidFill>
          <a:latin typeface="Calibri" pitchFamily="34" charset="0"/>
          <a:ea typeface="+mn-ea"/>
          <a:cs typeface="Calibri" pitchFamily="34" charset="0"/>
        </a:defRPr>
      </a:lvl5pPr>
      <a:lvl6pPr marL="2514600" indent="-228600" algn="l" defTabSz="457200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Font typeface="Arial" charset="0"/>
        <a:buChar char="»"/>
        <a:defRPr sz="1200">
          <a:solidFill>
            <a:schemeClr val="tx1"/>
          </a:solidFill>
          <a:latin typeface="+mn-lt"/>
          <a:ea typeface="+mn-ea"/>
        </a:defRPr>
      </a:lvl6pPr>
      <a:lvl7pPr marL="2971800" indent="-228600" algn="l" defTabSz="457200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Font typeface="Arial" charset="0"/>
        <a:buChar char="»"/>
        <a:defRPr sz="1200">
          <a:solidFill>
            <a:schemeClr val="tx1"/>
          </a:solidFill>
          <a:latin typeface="+mn-lt"/>
          <a:ea typeface="+mn-ea"/>
        </a:defRPr>
      </a:lvl7pPr>
      <a:lvl8pPr marL="3429000" indent="-228600" algn="l" defTabSz="457200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Font typeface="Arial" charset="0"/>
        <a:buChar char="»"/>
        <a:defRPr sz="1200">
          <a:solidFill>
            <a:schemeClr val="tx1"/>
          </a:solidFill>
          <a:latin typeface="+mn-lt"/>
          <a:ea typeface="+mn-ea"/>
        </a:defRPr>
      </a:lvl8pPr>
      <a:lvl9pPr marL="3886200" indent="-228600" algn="l" defTabSz="457200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Font typeface="Arial" charset="0"/>
        <a:buChar char="»"/>
        <a:defRPr sz="12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0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0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0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1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1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1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1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1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1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1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1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19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20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2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2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2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2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3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25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2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2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28.xml"/><Relationship Id="rId4" Type="http://schemas.openxmlformats.org/officeDocument/2006/relationships/chart" Target="../charts/chart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8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29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mailto:edmcman@cmu.edu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ctrTitle"/>
          </p:nvPr>
        </p:nvSpPr>
        <p:spPr>
          <a:xfrm>
            <a:off x="698593" y="914400"/>
            <a:ext cx="7772400" cy="2076450"/>
          </a:xfrm>
        </p:spPr>
        <p:txBody>
          <a:bodyPr>
            <a:noAutofit/>
          </a:bodyPr>
          <a:lstStyle/>
          <a:p>
            <a:r>
              <a:rPr lang="en-US" sz="3600" b="1" dirty="0" smtClean="0"/>
              <a:t>Native x86 Decompilation Using Semantics-Preserving Structural Analysis and Iterative Control-Flow Structuring</a:t>
            </a:r>
            <a:endParaRPr lang="en-US" sz="3600" b="1" dirty="0"/>
          </a:p>
        </p:txBody>
      </p:sp>
      <p:sp>
        <p:nvSpPr>
          <p:cNvPr id="6" name="Subtitle 5"/>
          <p:cNvSpPr>
            <a:spLocks noGrp="1"/>
          </p:cNvSpPr>
          <p:nvPr>
            <p:ph type="subTitle" idx="1"/>
          </p:nvPr>
        </p:nvSpPr>
        <p:spPr>
          <a:xfrm>
            <a:off x="1384393" y="3657600"/>
            <a:ext cx="6400800" cy="990600"/>
          </a:xfrm>
        </p:spPr>
        <p:txBody>
          <a:bodyPr>
            <a:normAutofit lnSpcReduction="10000"/>
          </a:bodyPr>
          <a:lstStyle/>
          <a:p>
            <a:r>
              <a:rPr lang="en-US" u="sng" dirty="0" smtClean="0"/>
              <a:t>Edward J. Schwartz</a:t>
            </a:r>
            <a:r>
              <a:rPr lang="en-US" baseline="30000" dirty="0" smtClean="0"/>
              <a:t>*</a:t>
            </a:r>
            <a:r>
              <a:rPr lang="en-US" dirty="0" smtClean="0"/>
              <a:t>, </a:t>
            </a:r>
            <a:r>
              <a:rPr lang="en-US" dirty="0" err="1"/>
              <a:t>JongHyup</a:t>
            </a:r>
            <a:r>
              <a:rPr lang="en-US" dirty="0"/>
              <a:t> Lee</a:t>
            </a:r>
            <a:r>
              <a:rPr lang="en-US" baseline="30000" dirty="0" smtClean="0"/>
              <a:t>✝, </a:t>
            </a:r>
            <a:r>
              <a:rPr lang="en-US" dirty="0" smtClean="0"/>
              <a:t>Maverick Woo</a:t>
            </a:r>
            <a:r>
              <a:rPr lang="en-US" baseline="30000" dirty="0" smtClean="0"/>
              <a:t>*</a:t>
            </a:r>
            <a:r>
              <a:rPr lang="en-US" dirty="0" smtClean="0"/>
              <a:t>, and</a:t>
            </a:r>
            <a:r>
              <a:rPr lang="en-US" dirty="0"/>
              <a:t> </a:t>
            </a:r>
            <a:r>
              <a:rPr lang="en-US" dirty="0" smtClean="0"/>
              <a:t>David </a:t>
            </a:r>
            <a:r>
              <a:rPr lang="en-US" dirty="0" err="1" smtClean="0"/>
              <a:t>Brumley</a:t>
            </a:r>
            <a:r>
              <a:rPr lang="en-US" baseline="30000" dirty="0" smtClean="0"/>
              <a:t>*</a:t>
            </a:r>
          </a:p>
        </p:txBody>
      </p:sp>
      <p:sp>
        <p:nvSpPr>
          <p:cNvPr id="4" name="Subtitle 5"/>
          <p:cNvSpPr txBox="1">
            <a:spLocks/>
          </p:cNvSpPr>
          <p:nvPr/>
        </p:nvSpPr>
        <p:spPr>
          <a:xfrm>
            <a:off x="1371600" y="5438775"/>
            <a:ext cx="6400800" cy="97155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/>
              <a:buNone/>
              <a:defRPr sz="3200" b="0" i="0" kern="1200">
                <a:solidFill>
                  <a:srgbClr val="000000"/>
                </a:solidFill>
                <a:latin typeface="+mj-lt"/>
                <a:ea typeface="+mn-ea"/>
                <a:cs typeface="Calibri"/>
              </a:defRPr>
            </a:lvl1pPr>
            <a:lvl2pPr marL="457200" indent="0" algn="ctr" defTabSz="4572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Calibri"/>
              </a:defRPr>
            </a:lvl2pPr>
            <a:lvl3pPr marL="914400" indent="0" algn="ctr" defTabSz="4572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Calibri"/>
              </a:defRPr>
            </a:lvl3pPr>
            <a:lvl4pPr marL="1371600" indent="0" algn="ctr" defTabSz="4572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/>
              <a:buNone/>
              <a:tabLst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Calibri"/>
              </a:defRPr>
            </a:lvl4pPr>
            <a:lvl5pPr marL="1828800" indent="0" algn="ctr" defTabSz="4572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Calibri"/>
              </a:defRPr>
            </a:lvl5pPr>
            <a:lvl6pPr marL="22860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Carnegie Mellon University</a:t>
            </a:r>
            <a:r>
              <a:rPr lang="en-US" sz="2400" baseline="300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*</a:t>
            </a:r>
            <a:endParaRPr lang="en-US" sz="2400" dirty="0" smtClean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en-US" sz="24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Korea National University of Transportation</a:t>
            </a:r>
            <a:r>
              <a:rPr lang="en-US" sz="2400" baseline="300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✝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7108235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963"/>
    </mc:Choice>
    <mc:Fallback xmlns="">
      <p:transition xmlns:p14="http://schemas.microsoft.com/office/powerpoint/2010/main" spd="slow" advTm="7963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Which would you rather analyze?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mtClean="0"/>
              <a:t>8/15/13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Usenix Security 2013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7839D-A323-47F3-909F-548499399628}" type="slidenum">
              <a:rPr lang="en-US" smtClean="0"/>
              <a:t>2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381000" y="1870715"/>
            <a:ext cx="3124200" cy="4149085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>
              <a:lnSpc>
                <a:spcPct val="107000"/>
              </a:lnSpc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push</a:t>
            </a:r>
            <a:r>
              <a:rPr lang="en-US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  </a:t>
            </a:r>
            <a:r>
              <a:rPr lang="en-US" dirty="0">
                <a:solidFill>
                  <a:srgbClr val="19177C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%</a:t>
            </a:r>
            <a:r>
              <a:rPr lang="en-US" dirty="0" err="1">
                <a:solidFill>
                  <a:srgbClr val="19177C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ebp</a:t>
            </a:r>
            <a:endParaRPr lang="en-US" sz="1600" dirty="0">
              <a:latin typeface="Consolas" panose="020B0609020204030204" pitchFamily="49" charset="0"/>
              <a:ea typeface="Times New Roman" panose="02020603050405020304" pitchFamily="18" charset="0"/>
              <a:cs typeface="Consolas" panose="020B0609020204030204" pitchFamily="49" charset="0"/>
            </a:endParaRPr>
          </a:p>
          <a:p>
            <a:pPr>
              <a:lnSpc>
                <a:spcPct val="107000"/>
              </a:lnSpc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mov</a:t>
            </a:r>
            <a:r>
              <a:rPr lang="en-US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19177C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%</a:t>
            </a:r>
            <a:r>
              <a:rPr lang="en-US" dirty="0" err="1">
                <a:solidFill>
                  <a:srgbClr val="19177C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esp</a:t>
            </a:r>
            <a:r>
              <a:rPr lang="en-US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,</a:t>
            </a:r>
            <a:r>
              <a:rPr lang="en-US" dirty="0">
                <a:solidFill>
                  <a:srgbClr val="19177C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%</a:t>
            </a:r>
            <a:r>
              <a:rPr lang="en-US" dirty="0" err="1">
                <a:solidFill>
                  <a:srgbClr val="19177C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ebp</a:t>
            </a:r>
            <a:endParaRPr lang="en-US" sz="1600" dirty="0">
              <a:latin typeface="Consolas" panose="020B0609020204030204" pitchFamily="49" charset="0"/>
              <a:ea typeface="Times New Roman" panose="02020603050405020304" pitchFamily="18" charset="0"/>
              <a:cs typeface="Consolas" panose="020B0609020204030204" pitchFamily="49" charset="0"/>
            </a:endParaRPr>
          </a:p>
          <a:p>
            <a:pPr>
              <a:lnSpc>
                <a:spcPct val="107000"/>
              </a:lnSpc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sub</a:t>
            </a:r>
            <a:r>
              <a:rPr lang="en-US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88000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$0x10</a:t>
            </a:r>
            <a:r>
              <a:rPr lang="en-US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,</a:t>
            </a:r>
            <a:r>
              <a:rPr lang="en-US" dirty="0">
                <a:solidFill>
                  <a:srgbClr val="19177C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%esp</a:t>
            </a:r>
            <a:endParaRPr lang="en-US" sz="1600" dirty="0">
              <a:latin typeface="Consolas" panose="020B0609020204030204" pitchFamily="49" charset="0"/>
              <a:ea typeface="Times New Roman" panose="02020603050405020304" pitchFamily="18" charset="0"/>
              <a:cs typeface="Consolas" panose="020B0609020204030204" pitchFamily="49" charset="0"/>
            </a:endParaRPr>
          </a:p>
          <a:p>
            <a:pPr>
              <a:lnSpc>
                <a:spcPct val="107000"/>
              </a:lnSpc>
            </a:pP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movl</a:t>
            </a:r>
            <a:r>
              <a:rPr lang="en-US" dirty="0" smtClean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  </a:t>
            </a:r>
            <a:r>
              <a:rPr lang="en-US" dirty="0" smtClean="0">
                <a:solidFill>
                  <a:srgbClr val="88000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$0x1</a:t>
            </a:r>
            <a:r>
              <a:rPr lang="en-US" dirty="0" smtClean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,-</a:t>
            </a:r>
            <a:r>
              <a:rPr lang="en-US" dirty="0" smtClean="0">
                <a:solidFill>
                  <a:srgbClr val="66666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0x4</a:t>
            </a:r>
            <a:r>
              <a:rPr lang="en-US" dirty="0" smtClean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(</a:t>
            </a:r>
            <a:r>
              <a:rPr lang="en-US" dirty="0" smtClean="0">
                <a:solidFill>
                  <a:srgbClr val="19177C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%</a:t>
            </a:r>
            <a:r>
              <a:rPr lang="en-US" dirty="0" err="1" smtClean="0">
                <a:solidFill>
                  <a:srgbClr val="19177C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ebp</a:t>
            </a:r>
            <a:r>
              <a:rPr lang="en-US" dirty="0" smtClean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)</a:t>
            </a:r>
            <a:endParaRPr lang="en-US" sz="1600" dirty="0" smtClean="0">
              <a:latin typeface="Consolas" panose="020B0609020204030204" pitchFamily="49" charset="0"/>
              <a:ea typeface="Times New Roman" panose="02020603050405020304" pitchFamily="18" charset="0"/>
              <a:cs typeface="Consolas" panose="020B0609020204030204" pitchFamily="49" charset="0"/>
            </a:endParaRPr>
          </a:p>
          <a:p>
            <a:pPr>
              <a:lnSpc>
                <a:spcPct val="107000"/>
              </a:lnSpc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jmp</a:t>
            </a:r>
            <a:r>
              <a:rPr lang="en-US" dirty="0" smtClean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66666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1d</a:t>
            </a:r>
            <a:r>
              <a:rPr lang="en-US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&lt;</a:t>
            </a:r>
            <a:r>
              <a:rPr lang="en-US" dirty="0">
                <a:solidFill>
                  <a:srgbClr val="88000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f</a:t>
            </a:r>
            <a:r>
              <a:rPr lang="en-US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+</a:t>
            </a:r>
            <a:r>
              <a:rPr lang="en-US" dirty="0">
                <a:solidFill>
                  <a:srgbClr val="66666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0x1d</a:t>
            </a:r>
            <a:r>
              <a:rPr lang="en-US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&gt;</a:t>
            </a:r>
            <a:endParaRPr lang="en-US" sz="1600" dirty="0">
              <a:latin typeface="Consolas" panose="020B0609020204030204" pitchFamily="49" charset="0"/>
              <a:ea typeface="Times New Roman" panose="02020603050405020304" pitchFamily="18" charset="0"/>
              <a:cs typeface="Consolas" panose="020B0609020204030204" pitchFamily="49" charset="0"/>
            </a:endParaRPr>
          </a:p>
          <a:p>
            <a:pPr>
              <a:lnSpc>
                <a:spcPct val="107000"/>
              </a:lnSpc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mov</a:t>
            </a:r>
            <a:r>
              <a:rPr lang="en-US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   -</a:t>
            </a:r>
            <a:r>
              <a:rPr lang="en-US" dirty="0">
                <a:solidFill>
                  <a:srgbClr val="66666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0x4</a:t>
            </a:r>
            <a:r>
              <a:rPr lang="en-US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(</a:t>
            </a:r>
            <a:r>
              <a:rPr lang="en-US" dirty="0">
                <a:solidFill>
                  <a:srgbClr val="19177C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%</a:t>
            </a:r>
            <a:r>
              <a:rPr lang="en-US" dirty="0" err="1">
                <a:solidFill>
                  <a:srgbClr val="19177C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ebp</a:t>
            </a:r>
            <a:r>
              <a:rPr lang="en-US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),</a:t>
            </a:r>
            <a:r>
              <a:rPr lang="en-US" dirty="0">
                <a:solidFill>
                  <a:srgbClr val="19177C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%eax</a:t>
            </a:r>
            <a:endParaRPr lang="en-US" sz="1600" dirty="0">
              <a:latin typeface="Consolas" panose="020B0609020204030204" pitchFamily="49" charset="0"/>
              <a:ea typeface="Times New Roman" panose="02020603050405020304" pitchFamily="18" charset="0"/>
              <a:cs typeface="Consolas" panose="020B0609020204030204" pitchFamily="49" charset="0"/>
            </a:endParaRPr>
          </a:p>
          <a:p>
            <a:pPr>
              <a:lnSpc>
                <a:spcPct val="107000"/>
              </a:lnSpc>
            </a:pP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imul</a:t>
            </a:r>
            <a:r>
              <a:rPr lang="en-US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  </a:t>
            </a:r>
            <a:r>
              <a:rPr lang="en-US" dirty="0">
                <a:solidFill>
                  <a:srgbClr val="66666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0x8</a:t>
            </a:r>
            <a:r>
              <a:rPr lang="en-US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(</a:t>
            </a:r>
            <a:r>
              <a:rPr lang="en-US" dirty="0">
                <a:solidFill>
                  <a:srgbClr val="19177C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%</a:t>
            </a:r>
            <a:r>
              <a:rPr lang="en-US" dirty="0" err="1">
                <a:solidFill>
                  <a:srgbClr val="19177C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ebp</a:t>
            </a:r>
            <a:r>
              <a:rPr lang="en-US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),</a:t>
            </a:r>
            <a:r>
              <a:rPr lang="en-US" dirty="0">
                <a:solidFill>
                  <a:srgbClr val="19177C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%eax</a:t>
            </a:r>
            <a:endParaRPr lang="en-US" sz="1600" dirty="0">
              <a:latin typeface="Consolas" panose="020B0609020204030204" pitchFamily="49" charset="0"/>
              <a:ea typeface="Times New Roman" panose="02020603050405020304" pitchFamily="18" charset="0"/>
              <a:cs typeface="Consolas" panose="020B0609020204030204" pitchFamily="49" charset="0"/>
            </a:endParaRPr>
          </a:p>
          <a:p>
            <a:pPr>
              <a:lnSpc>
                <a:spcPct val="107000"/>
              </a:lnSpc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mov</a:t>
            </a:r>
            <a:r>
              <a:rPr lang="en-US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19177C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%eax</a:t>
            </a:r>
            <a:r>
              <a:rPr lang="en-US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,-</a:t>
            </a:r>
            <a:r>
              <a:rPr lang="en-US" dirty="0">
                <a:solidFill>
                  <a:srgbClr val="66666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0x4</a:t>
            </a:r>
            <a:r>
              <a:rPr lang="en-US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(</a:t>
            </a:r>
            <a:r>
              <a:rPr lang="en-US" dirty="0">
                <a:solidFill>
                  <a:srgbClr val="19177C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%</a:t>
            </a:r>
            <a:r>
              <a:rPr lang="en-US" dirty="0" err="1">
                <a:solidFill>
                  <a:srgbClr val="19177C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ebp</a:t>
            </a:r>
            <a:r>
              <a:rPr lang="en-US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)</a:t>
            </a:r>
            <a:endParaRPr lang="en-US" sz="1600" dirty="0">
              <a:latin typeface="Consolas" panose="020B0609020204030204" pitchFamily="49" charset="0"/>
              <a:ea typeface="Times New Roman" panose="02020603050405020304" pitchFamily="18" charset="0"/>
              <a:cs typeface="Consolas" panose="020B0609020204030204" pitchFamily="49" charset="0"/>
            </a:endParaRPr>
          </a:p>
          <a:p>
            <a:pPr>
              <a:lnSpc>
                <a:spcPct val="107000"/>
              </a:lnSpc>
            </a:pP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subl</a:t>
            </a:r>
            <a:r>
              <a:rPr lang="en-US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  </a:t>
            </a:r>
            <a:r>
              <a:rPr lang="en-US" dirty="0">
                <a:solidFill>
                  <a:srgbClr val="88000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$0x1</a:t>
            </a:r>
            <a:r>
              <a:rPr lang="en-US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,</a:t>
            </a:r>
            <a:r>
              <a:rPr lang="en-US" dirty="0">
                <a:solidFill>
                  <a:srgbClr val="66666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0x8</a:t>
            </a:r>
            <a:r>
              <a:rPr lang="en-US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(</a:t>
            </a:r>
            <a:r>
              <a:rPr lang="en-US" dirty="0">
                <a:solidFill>
                  <a:srgbClr val="19177C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%</a:t>
            </a:r>
            <a:r>
              <a:rPr lang="en-US" dirty="0" err="1">
                <a:solidFill>
                  <a:srgbClr val="19177C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ebp</a:t>
            </a:r>
            <a:r>
              <a:rPr lang="en-US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)</a:t>
            </a:r>
            <a:endParaRPr lang="en-US" sz="1600" dirty="0">
              <a:latin typeface="Consolas" panose="020B0609020204030204" pitchFamily="49" charset="0"/>
              <a:ea typeface="Times New Roman" panose="02020603050405020304" pitchFamily="18" charset="0"/>
              <a:cs typeface="Consolas" panose="020B0609020204030204" pitchFamily="49" charset="0"/>
            </a:endParaRPr>
          </a:p>
          <a:p>
            <a:pPr>
              <a:lnSpc>
                <a:spcPct val="107000"/>
              </a:lnSpc>
            </a:pP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cmpl</a:t>
            </a:r>
            <a:r>
              <a:rPr lang="en-US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  </a:t>
            </a:r>
            <a:r>
              <a:rPr lang="en-US" dirty="0">
                <a:solidFill>
                  <a:srgbClr val="88000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$0x1</a:t>
            </a:r>
            <a:r>
              <a:rPr lang="en-US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,</a:t>
            </a:r>
            <a:r>
              <a:rPr lang="en-US" dirty="0">
                <a:solidFill>
                  <a:srgbClr val="66666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0x8</a:t>
            </a:r>
            <a:r>
              <a:rPr lang="en-US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(</a:t>
            </a:r>
            <a:r>
              <a:rPr lang="en-US" dirty="0">
                <a:solidFill>
                  <a:srgbClr val="19177C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%</a:t>
            </a:r>
            <a:r>
              <a:rPr lang="en-US" dirty="0" err="1">
                <a:solidFill>
                  <a:srgbClr val="19177C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ebp</a:t>
            </a:r>
            <a:r>
              <a:rPr lang="en-US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)</a:t>
            </a:r>
            <a:endParaRPr lang="en-US" sz="1600" dirty="0">
              <a:latin typeface="Consolas" panose="020B0609020204030204" pitchFamily="49" charset="0"/>
              <a:ea typeface="Times New Roman" panose="02020603050405020304" pitchFamily="18" charset="0"/>
              <a:cs typeface="Consolas" panose="020B0609020204030204" pitchFamily="49" charset="0"/>
            </a:endParaRPr>
          </a:p>
          <a:p>
            <a:pPr>
              <a:lnSpc>
                <a:spcPct val="107000"/>
              </a:lnSpc>
            </a:pP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jg</a:t>
            </a:r>
            <a:r>
              <a:rPr lang="en-US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    </a:t>
            </a:r>
            <a:r>
              <a:rPr lang="en-US" dirty="0">
                <a:solidFill>
                  <a:srgbClr val="66666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f</a:t>
            </a:r>
            <a:r>
              <a:rPr lang="en-US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&lt;</a:t>
            </a:r>
            <a:r>
              <a:rPr lang="en-US" dirty="0">
                <a:solidFill>
                  <a:srgbClr val="88000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f</a:t>
            </a:r>
            <a:r>
              <a:rPr lang="en-US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+</a:t>
            </a:r>
            <a:r>
              <a:rPr lang="en-US" dirty="0">
                <a:solidFill>
                  <a:srgbClr val="66666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0xf</a:t>
            </a:r>
            <a:r>
              <a:rPr lang="en-US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&gt;</a:t>
            </a:r>
            <a:endParaRPr lang="en-US" sz="1600" dirty="0">
              <a:latin typeface="Consolas" panose="020B0609020204030204" pitchFamily="49" charset="0"/>
              <a:ea typeface="Times New Roman" panose="02020603050405020304" pitchFamily="18" charset="0"/>
              <a:cs typeface="Consolas" panose="020B0609020204030204" pitchFamily="49" charset="0"/>
            </a:endParaRPr>
          </a:p>
          <a:p>
            <a:pPr>
              <a:lnSpc>
                <a:spcPct val="107000"/>
              </a:lnSpc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mov</a:t>
            </a:r>
            <a:r>
              <a:rPr lang="en-US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   -</a:t>
            </a:r>
            <a:r>
              <a:rPr lang="en-US" dirty="0">
                <a:solidFill>
                  <a:srgbClr val="66666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0x4</a:t>
            </a:r>
            <a:r>
              <a:rPr lang="en-US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(</a:t>
            </a:r>
            <a:r>
              <a:rPr lang="en-US" dirty="0">
                <a:solidFill>
                  <a:srgbClr val="19177C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%</a:t>
            </a:r>
            <a:r>
              <a:rPr lang="en-US" dirty="0" err="1">
                <a:solidFill>
                  <a:srgbClr val="19177C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ebp</a:t>
            </a:r>
            <a:r>
              <a:rPr lang="en-US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),</a:t>
            </a:r>
            <a:r>
              <a:rPr lang="en-US" dirty="0">
                <a:solidFill>
                  <a:srgbClr val="19177C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%eax</a:t>
            </a:r>
            <a:endParaRPr lang="en-US" sz="1600" dirty="0">
              <a:latin typeface="Consolas" panose="020B0609020204030204" pitchFamily="49" charset="0"/>
              <a:ea typeface="Times New Roman" panose="02020603050405020304" pitchFamily="18" charset="0"/>
              <a:cs typeface="Consolas" panose="020B0609020204030204" pitchFamily="49" charset="0"/>
            </a:endParaRPr>
          </a:p>
          <a:p>
            <a:pPr>
              <a:lnSpc>
                <a:spcPct val="107000"/>
              </a:lnSpc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leave</a:t>
            </a:r>
            <a:r>
              <a:rPr lang="en-US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 </a:t>
            </a:r>
            <a:endParaRPr lang="en-US" sz="1600" dirty="0">
              <a:latin typeface="Consolas" panose="020B0609020204030204" pitchFamily="49" charset="0"/>
              <a:ea typeface="Times New Roman" panose="02020603050405020304" pitchFamily="18" charset="0"/>
              <a:cs typeface="Consolas" panose="020B0609020204030204" pitchFamily="49" charset="0"/>
            </a:endParaRPr>
          </a:p>
          <a:p>
            <a:pPr>
              <a:lnSpc>
                <a:spcPct val="107000"/>
              </a:lnSpc>
            </a:pPr>
            <a:r>
              <a:rPr lang="en-US" dirty="0">
                <a:solidFill>
                  <a:srgbClr val="88000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ret</a:t>
            </a:r>
            <a:r>
              <a:rPr lang="en-US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   </a:t>
            </a:r>
            <a:endParaRPr lang="en-US" sz="1600" dirty="0">
              <a:latin typeface="Consolas" panose="020B0609020204030204" pitchFamily="49" charset="0"/>
              <a:ea typeface="Times New Roman" panose="02020603050405020304" pitchFamily="18" charset="0"/>
              <a:cs typeface="Consolas" panose="020B0609020204030204" pitchFamily="49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661326" y="2936329"/>
            <a:ext cx="3124200" cy="2059923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>
              <a:lnSpc>
                <a:spcPct val="107000"/>
              </a:lnSpc>
            </a:pPr>
            <a:r>
              <a:rPr lang="en-US" dirty="0">
                <a:solidFill>
                  <a:srgbClr val="B0004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f</a:t>
            </a:r>
            <a:r>
              <a:rPr lang="en-US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(</a:t>
            </a:r>
            <a:r>
              <a:rPr lang="en-US" dirty="0">
                <a:solidFill>
                  <a:srgbClr val="B0004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c) {</a:t>
            </a:r>
          </a:p>
          <a:p>
            <a:pPr>
              <a:lnSpc>
                <a:spcPct val="107000"/>
              </a:lnSpc>
            </a:pPr>
            <a:r>
              <a:rPr lang="en-US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B0004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accum</a:t>
            </a:r>
            <a:r>
              <a:rPr lang="en-US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66666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=</a:t>
            </a:r>
            <a:r>
              <a:rPr lang="en-US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66666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1</a:t>
            </a:r>
            <a:r>
              <a:rPr lang="en-US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;</a:t>
            </a:r>
          </a:p>
          <a:p>
            <a:pPr>
              <a:lnSpc>
                <a:spcPct val="107000"/>
              </a:lnSpc>
            </a:pPr>
            <a:r>
              <a:rPr lang="en-US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 </a:t>
            </a:r>
            <a:r>
              <a:rPr lang="en-US" b="1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for</a:t>
            </a:r>
            <a:r>
              <a:rPr lang="en-US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(; c </a:t>
            </a:r>
            <a:r>
              <a:rPr lang="en-US" dirty="0">
                <a:solidFill>
                  <a:srgbClr val="66666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&gt;</a:t>
            </a:r>
            <a:r>
              <a:rPr lang="en-US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66666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1</a:t>
            </a:r>
            <a:r>
              <a:rPr lang="en-US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; c</a:t>
            </a:r>
            <a:r>
              <a:rPr lang="en-US" dirty="0">
                <a:solidFill>
                  <a:srgbClr val="66666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--</a:t>
            </a:r>
            <a:r>
              <a:rPr lang="en-US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) {</a:t>
            </a:r>
          </a:p>
          <a:p>
            <a:pPr>
              <a:lnSpc>
                <a:spcPct val="107000"/>
              </a:lnSpc>
            </a:pPr>
            <a:r>
              <a:rPr lang="en-US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accum</a:t>
            </a:r>
            <a:r>
              <a:rPr lang="en-US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66666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=</a:t>
            </a:r>
            <a:r>
              <a:rPr lang="en-US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accum</a:t>
            </a:r>
            <a:r>
              <a:rPr lang="en-US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66666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*</a:t>
            </a:r>
            <a:r>
              <a:rPr lang="en-US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c;</a:t>
            </a:r>
          </a:p>
          <a:p>
            <a:pPr>
              <a:lnSpc>
                <a:spcPct val="107000"/>
              </a:lnSpc>
            </a:pPr>
            <a:r>
              <a:rPr lang="en-US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 }</a:t>
            </a:r>
          </a:p>
          <a:p>
            <a:pPr>
              <a:lnSpc>
                <a:spcPct val="107000"/>
              </a:lnSpc>
            </a:pPr>
            <a:r>
              <a:rPr lang="en-US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 </a:t>
            </a:r>
            <a:r>
              <a:rPr lang="en-US" b="1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accum</a:t>
            </a:r>
            <a:r>
              <a:rPr lang="en-US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;</a:t>
            </a:r>
          </a:p>
          <a:p>
            <a:pPr>
              <a:lnSpc>
                <a:spcPct val="107000"/>
              </a:lnSpc>
            </a:pPr>
            <a:r>
              <a:rPr lang="en-US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7" name="Rounded Rectangular Callout 16"/>
          <p:cNvSpPr/>
          <p:nvPr/>
        </p:nvSpPr>
        <p:spPr>
          <a:xfrm>
            <a:off x="5160778" y="1296571"/>
            <a:ext cx="1657489" cy="1066800"/>
          </a:xfrm>
          <a:prstGeom prst="wedgeRoundRectCallout">
            <a:avLst>
              <a:gd name="adj1" fmla="val 15513"/>
              <a:gd name="adj2" fmla="val 95619"/>
              <a:gd name="adj3" fmla="val 16667"/>
            </a:avLst>
          </a:prstGeom>
          <a:ln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 anchorCtr="1">
            <a:noAutofit/>
          </a:bodyPr>
          <a:lstStyle/>
          <a:p>
            <a:pPr algn="ctr"/>
            <a:r>
              <a:rPr lang="en-US" sz="2400" dirty="0" smtClean="0">
                <a:solidFill>
                  <a:schemeClr val="bg1"/>
                </a:solidFill>
              </a:rPr>
              <a:t>Functions</a:t>
            </a:r>
          </a:p>
        </p:txBody>
      </p:sp>
      <p:sp>
        <p:nvSpPr>
          <p:cNvPr id="18" name="Rounded Rectangular Callout 17"/>
          <p:cNvSpPr/>
          <p:nvPr/>
        </p:nvSpPr>
        <p:spPr>
          <a:xfrm>
            <a:off x="3777074" y="2819400"/>
            <a:ext cx="1657489" cy="1066800"/>
          </a:xfrm>
          <a:prstGeom prst="wedgeRoundRectCallout">
            <a:avLst>
              <a:gd name="adj1" fmla="val 100541"/>
              <a:gd name="adj2" fmla="val 5593"/>
              <a:gd name="adj3" fmla="val 16667"/>
            </a:avLst>
          </a:prstGeom>
          <a:ln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 anchorCtr="1">
            <a:noAutofit/>
          </a:bodyPr>
          <a:lstStyle/>
          <a:p>
            <a:pPr algn="ctr"/>
            <a:r>
              <a:rPr lang="en-US" sz="2400" dirty="0" smtClean="0">
                <a:solidFill>
                  <a:schemeClr val="bg1"/>
                </a:solidFill>
              </a:rPr>
              <a:t>Variables</a:t>
            </a:r>
          </a:p>
        </p:txBody>
      </p:sp>
      <p:sp>
        <p:nvSpPr>
          <p:cNvPr id="19" name="Rounded Rectangular Callout 18"/>
          <p:cNvSpPr/>
          <p:nvPr/>
        </p:nvSpPr>
        <p:spPr>
          <a:xfrm>
            <a:off x="7363928" y="1338652"/>
            <a:ext cx="1657489" cy="1066800"/>
          </a:xfrm>
          <a:prstGeom prst="wedgeRoundRectCallout">
            <a:avLst>
              <a:gd name="adj1" fmla="val -92713"/>
              <a:gd name="adj2" fmla="val 94967"/>
              <a:gd name="adj3" fmla="val 16667"/>
            </a:avLst>
          </a:prstGeom>
          <a:ln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 anchorCtr="1">
            <a:noAutofit/>
          </a:bodyPr>
          <a:lstStyle/>
          <a:p>
            <a:pPr algn="ctr"/>
            <a:r>
              <a:rPr lang="en-US" sz="2400" dirty="0" smtClean="0">
                <a:solidFill>
                  <a:schemeClr val="bg1"/>
                </a:solidFill>
              </a:rPr>
              <a:t>Types</a:t>
            </a:r>
          </a:p>
        </p:txBody>
      </p:sp>
      <p:sp>
        <p:nvSpPr>
          <p:cNvPr id="20" name="Rounded Rectangular Callout 19"/>
          <p:cNvSpPr/>
          <p:nvPr/>
        </p:nvSpPr>
        <p:spPr>
          <a:xfrm>
            <a:off x="3777074" y="4147423"/>
            <a:ext cx="1657489" cy="1066800"/>
          </a:xfrm>
          <a:prstGeom prst="wedgeRoundRectCallout">
            <a:avLst>
              <a:gd name="adj1" fmla="val 78473"/>
              <a:gd name="adj2" fmla="val -71430"/>
              <a:gd name="adj3" fmla="val 16667"/>
            </a:avLst>
          </a:prstGeom>
          <a:ln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 anchorCtr="1">
            <a:noAutofit/>
          </a:bodyPr>
          <a:lstStyle/>
          <a:p>
            <a:pPr algn="ctr"/>
            <a:r>
              <a:rPr lang="en-US" sz="2400" dirty="0" smtClean="0">
                <a:solidFill>
                  <a:schemeClr val="bg1"/>
                </a:solidFill>
              </a:rPr>
              <a:t>Control</a:t>
            </a:r>
          </a:p>
          <a:p>
            <a:pPr algn="ctr"/>
            <a:r>
              <a:rPr lang="en-US" sz="2400" dirty="0" smtClean="0">
                <a:solidFill>
                  <a:schemeClr val="bg1"/>
                </a:solidFill>
              </a:rPr>
              <a:t>Flow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900691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7603"/>
    </mc:Choice>
    <mc:Fallback xmlns="">
      <p:transition spd="slow" advTm="67603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7" grpId="0" animBg="1"/>
      <p:bldP spid="18" grpId="0" animBg="1"/>
      <p:bldP spid="19" grpId="0" animBg="1"/>
      <p:bldP spid="2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mtClean="0"/>
              <a:t>8/15/13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7839D-A323-47F3-909F-548499399628}" type="slidenum">
              <a:rPr lang="en-US" smtClean="0"/>
              <a:t>3</a:t>
            </a:fld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1295400" y="570829"/>
            <a:ext cx="1676400" cy="1676400"/>
          </a:xfrm>
          <a:prstGeom prst="round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0" dirty="0">
                <a:solidFill>
                  <a:srgbClr val="FFFFFF"/>
                </a:solidFill>
                <a:latin typeface="Consolas"/>
                <a:cs typeface="Consolas"/>
              </a:rPr>
              <a:t>i</a:t>
            </a:r>
            <a:r>
              <a:rPr kumimoji="0" 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nsolas"/>
                <a:ea typeface="+mn-ea"/>
                <a:cs typeface="Consolas"/>
              </a:rPr>
              <a:t>nt f (int x) {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0" noProof="0" dirty="0" smtClean="0">
                <a:solidFill>
                  <a:srgbClr val="FFFFFF"/>
                </a:solidFill>
                <a:latin typeface="Consolas"/>
                <a:cs typeface="Consolas"/>
              </a:rPr>
              <a:t>int y = 1;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nsolas"/>
                <a:ea typeface="+mn-ea"/>
                <a:cs typeface="Consolas"/>
              </a:rPr>
              <a:t>while (x &gt; y) {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0" dirty="0" smtClean="0">
                <a:solidFill>
                  <a:srgbClr val="FFFFFF"/>
                </a:solidFill>
                <a:latin typeface="Consolas"/>
                <a:cs typeface="Consolas"/>
              </a:rPr>
              <a:t>  y++;</a:t>
            </a:r>
            <a:endParaRPr lang="en-US" sz="1200" kern="0" dirty="0">
              <a:solidFill>
                <a:srgbClr val="FFFFFF"/>
              </a:solidFill>
              <a:latin typeface="Consolas"/>
              <a:cs typeface="Consola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nsolas"/>
                <a:ea typeface="+mn-ea"/>
                <a:cs typeface="Consolas"/>
              </a:rPr>
              <a:t>}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0" dirty="0">
              <a:solidFill>
                <a:srgbClr val="FFFFFF"/>
              </a:solidFill>
              <a:latin typeface="Consolas"/>
              <a:cs typeface="Consola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0" dirty="0" smtClean="0">
                <a:solidFill>
                  <a:srgbClr val="FFFFFF"/>
                </a:solidFill>
                <a:latin typeface="Consolas"/>
                <a:cs typeface="Consolas"/>
              </a:rPr>
              <a:t>return y;</a:t>
            </a:r>
            <a:endParaRPr kumimoji="0" lang="en-US" sz="1200" b="0" i="0" u="none" strike="noStrike" kern="0" cap="none" spc="0" normalizeH="0" baseline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nsolas"/>
              <a:ea typeface="+mn-ea"/>
              <a:cs typeface="Consolas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3733800" y="3877558"/>
            <a:ext cx="1676400" cy="1676400"/>
          </a:xfrm>
          <a:prstGeom prst="roundRect">
            <a:avLst/>
          </a:prstGeom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nsolas"/>
                <a:ea typeface="+mn-ea"/>
                <a:cs typeface="Consolas"/>
              </a:rPr>
              <a:t>010100101010101001010110111010101001010101010101111100010100010101101001010100010010101101010101011010111</a:t>
            </a:r>
            <a:endParaRPr kumimoji="0" lang="en-US" sz="1400" b="0" i="0" u="none" strike="noStrike" kern="0" cap="none" spc="0" normalizeH="0" baseline="0" noProof="0" dirty="0" smtClean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nsolas"/>
              <a:ea typeface="+mn-ea"/>
              <a:cs typeface="Consolas"/>
            </a:endParaRPr>
          </a:p>
        </p:txBody>
      </p:sp>
      <p:sp>
        <p:nvSpPr>
          <p:cNvPr id="12" name="Right Arrow 11"/>
          <p:cNvSpPr/>
          <p:nvPr/>
        </p:nvSpPr>
        <p:spPr>
          <a:xfrm rot="2603060">
            <a:off x="2838302" y="2614991"/>
            <a:ext cx="1819656" cy="987552"/>
          </a:xfrm>
          <a:prstGeom prst="rightArrow">
            <a:avLst/>
          </a:prstGeom>
          <a:ln/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lIns="0" tIns="0" rIns="0" bIns="0" rtlCol="0" anchor="ctr" anchorCtr="1">
            <a:noAutofit/>
          </a:bodyPr>
          <a:lstStyle/>
          <a:p>
            <a:pPr algn="ctr"/>
            <a:r>
              <a:rPr lang="en-US" sz="2400" dirty="0" smtClean="0">
                <a:solidFill>
                  <a:schemeClr val="bg1"/>
                </a:solidFill>
              </a:rPr>
              <a:t>Compiler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9200" y="2191472"/>
            <a:ext cx="1873018" cy="984885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ctr">
              <a:buClr>
                <a:schemeClr val="accent1"/>
              </a:buClr>
            </a:pPr>
            <a:r>
              <a:rPr lang="en-US" sz="3200" dirty="0" smtClean="0"/>
              <a:t>Original</a:t>
            </a:r>
          </a:p>
          <a:p>
            <a:pPr algn="ctr">
              <a:buClr>
                <a:schemeClr val="accent1"/>
              </a:buClr>
            </a:pPr>
            <a:r>
              <a:rPr lang="en-US" sz="3200" dirty="0" smtClean="0"/>
              <a:t>Source</a:t>
            </a:r>
            <a:endParaRPr lang="en-US" sz="3200" dirty="0"/>
          </a:p>
        </p:txBody>
      </p:sp>
      <p:grpSp>
        <p:nvGrpSpPr>
          <p:cNvPr id="10" name="Group 9"/>
          <p:cNvGrpSpPr/>
          <p:nvPr/>
        </p:nvGrpSpPr>
        <p:grpSpPr>
          <a:xfrm>
            <a:off x="4459001" y="576067"/>
            <a:ext cx="3480006" cy="2802933"/>
            <a:chOff x="4459001" y="1118109"/>
            <a:chExt cx="3480006" cy="2802933"/>
          </a:xfrm>
        </p:grpSpPr>
        <p:sp>
          <p:nvSpPr>
            <p:cNvPr id="11" name="Rounded Rectangle 10"/>
            <p:cNvSpPr/>
            <p:nvPr/>
          </p:nvSpPr>
          <p:spPr>
            <a:xfrm>
              <a:off x="6072546" y="1118109"/>
              <a:ext cx="1699854" cy="1699854"/>
            </a:xfrm>
            <a:prstGeom prst="roundRect">
              <a:avLst/>
            </a:prstGeom>
            <a:ln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kern="0" dirty="0">
                  <a:solidFill>
                    <a:srgbClr val="FFFFFF"/>
                  </a:solidFill>
                  <a:latin typeface="Consolas"/>
                  <a:cs typeface="Consolas"/>
                </a:rPr>
                <a:t>i</a:t>
              </a:r>
              <a:r>
                <a:rPr kumimoji="0" lang="en-US" sz="12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onsolas"/>
                  <a:ea typeface="+mn-ea"/>
                  <a:cs typeface="Consolas"/>
                </a:rPr>
                <a:t>nt f (int a) {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kern="0" noProof="0" dirty="0" smtClean="0">
                  <a:solidFill>
                    <a:srgbClr val="FFFFFF"/>
                  </a:solidFill>
                  <a:latin typeface="Consolas"/>
                  <a:cs typeface="Consolas"/>
                </a:rPr>
                <a:t>int v = 1;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0" cap="none" spc="0" normalizeH="0" baseline="0" dirty="0" smtClean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onsolas"/>
                  <a:ea typeface="+mn-ea"/>
                  <a:cs typeface="Consolas"/>
                </a:rPr>
                <a:t>while (a &gt; </a:t>
              </a:r>
              <a:r>
                <a:rPr lang="en-US" sz="1200" kern="0" dirty="0">
                  <a:solidFill>
                    <a:srgbClr val="FFFFFF"/>
                  </a:solidFill>
                  <a:latin typeface="Consolas"/>
                  <a:cs typeface="Consolas"/>
                </a:rPr>
                <a:t>v</a:t>
              </a:r>
              <a:r>
                <a:rPr kumimoji="0" lang="en-US" sz="1200" b="0" i="0" u="none" strike="noStrike" kern="0" cap="none" spc="0" normalizeH="0" baseline="0" dirty="0" smtClean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onsolas"/>
                  <a:ea typeface="+mn-ea"/>
                  <a:cs typeface="Consolas"/>
                </a:rPr>
                <a:t>++) {}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en-US" sz="1200" kern="0" dirty="0">
                <a:solidFill>
                  <a:srgbClr val="FFFFFF"/>
                </a:solidFill>
                <a:latin typeface="Consolas"/>
                <a:cs typeface="Consolas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kern="0" dirty="0" smtClean="0">
                  <a:solidFill>
                    <a:srgbClr val="FFFFFF"/>
                  </a:solidFill>
                  <a:latin typeface="Consolas"/>
                  <a:cs typeface="Consolas"/>
                </a:rPr>
                <a:t>return v;</a:t>
              </a:r>
              <a:endParaRPr kumimoji="0" lang="en-US" sz="1200" b="0" i="0" u="none" strike="noStrike" kern="0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nsolas"/>
                <a:ea typeface="+mn-ea"/>
                <a:cs typeface="Consolas"/>
              </a:endParaRPr>
            </a:p>
          </p:txBody>
        </p:sp>
        <p:sp>
          <p:nvSpPr>
            <p:cNvPr id="13" name="Right Arrow 12"/>
            <p:cNvSpPr/>
            <p:nvPr/>
          </p:nvSpPr>
          <p:spPr>
            <a:xfrm rot="18940167">
              <a:off x="4459001" y="2933349"/>
              <a:ext cx="1818950" cy="987693"/>
            </a:xfrm>
            <a:prstGeom prst="rightArrow">
              <a:avLst/>
            </a:prstGeom>
            <a:ln/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wrap="square" lIns="0" tIns="0" rIns="0" bIns="0" rtlCol="0" anchor="ctr" anchorCtr="1">
              <a:noAutofit/>
            </a:bodyPr>
            <a:lstStyle/>
            <a:p>
              <a:pPr algn="ctr"/>
              <a:r>
                <a:rPr lang="en-US" sz="2400" dirty="0" smtClean="0">
                  <a:solidFill>
                    <a:schemeClr val="bg1"/>
                  </a:solidFill>
                </a:rPr>
                <a:t>Decompiler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065989" y="2777370"/>
              <a:ext cx="1873018" cy="984885"/>
            </a:xfrm>
            <a:prstGeom prst="rect">
              <a:avLst/>
            </a:prstGeom>
            <a:noFill/>
          </p:spPr>
          <p:txBody>
            <a:bodyPr wrap="square" lIns="0" tIns="0" rIns="0" bIns="0" rtlCol="0" anchor="t" anchorCtr="0">
              <a:spAutoFit/>
            </a:bodyPr>
            <a:lstStyle/>
            <a:p>
              <a:pPr>
                <a:buClr>
                  <a:schemeClr val="accent1"/>
                </a:buClr>
              </a:pPr>
              <a:r>
                <a:rPr lang="en-US" sz="3200" dirty="0" smtClean="0"/>
                <a:t>Recovered</a:t>
              </a:r>
            </a:p>
            <a:p>
              <a:pPr algn="ctr">
                <a:buClr>
                  <a:schemeClr val="accent1"/>
                </a:buClr>
              </a:pPr>
              <a:r>
                <a:rPr lang="en-US" sz="3200" dirty="0" smtClean="0"/>
                <a:t>Source</a:t>
              </a:r>
              <a:endParaRPr lang="en-US" sz="3200" dirty="0"/>
            </a:p>
          </p:txBody>
        </p:sp>
      </p:grpSp>
      <p:sp>
        <p:nvSpPr>
          <p:cNvPr id="2" name="Rectangle 1"/>
          <p:cNvSpPr/>
          <p:nvPr/>
        </p:nvSpPr>
        <p:spPr>
          <a:xfrm>
            <a:off x="1262111" y="251972"/>
            <a:ext cx="3200400" cy="3534657"/>
          </a:xfrm>
          <a:prstGeom prst="rect">
            <a:avLst/>
          </a:prstGeom>
          <a:solidFill>
            <a:schemeClr val="bg1">
              <a:alpha val="85000"/>
            </a:schemeClr>
          </a:solidFill>
          <a:ln w="28575" cap="rnd" cmpd="sng">
            <a:noFill/>
            <a:prstDash val="solid"/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 anchorCtr="1">
            <a:noAutofit/>
          </a:bodyPr>
          <a:lstStyle/>
          <a:p>
            <a:pPr algn="ctr"/>
            <a:endParaRPr lang="en-US" sz="2400" dirty="0" smtClean="0">
              <a:solidFill>
                <a:schemeClr val="bg1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639826" y="5505297"/>
            <a:ext cx="3864348" cy="984885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ctr">
              <a:buClr>
                <a:schemeClr val="accent1"/>
              </a:buClr>
            </a:pPr>
            <a:r>
              <a:rPr lang="en-US" sz="3200" dirty="0" smtClean="0"/>
              <a:t>Compiled</a:t>
            </a:r>
          </a:p>
          <a:p>
            <a:pPr algn="ctr">
              <a:buClr>
                <a:schemeClr val="accent1"/>
              </a:buClr>
            </a:pPr>
            <a:r>
              <a:rPr lang="en-US" sz="3200" dirty="0" smtClean="0"/>
              <a:t>Binary</a:t>
            </a:r>
            <a:endParaRPr lang="en-US" sz="3200" dirty="0"/>
          </a:p>
        </p:txBody>
      </p:sp>
      <p:sp>
        <p:nvSpPr>
          <p:cNvPr id="16" name="Rectangle 15"/>
          <p:cNvSpPr/>
          <p:nvPr/>
        </p:nvSpPr>
        <p:spPr>
          <a:xfrm>
            <a:off x="4472345" y="228600"/>
            <a:ext cx="3516875" cy="3534657"/>
          </a:xfrm>
          <a:prstGeom prst="rect">
            <a:avLst/>
          </a:prstGeom>
          <a:solidFill>
            <a:schemeClr val="bg1">
              <a:alpha val="85000"/>
            </a:schemeClr>
          </a:solidFill>
          <a:ln w="28575" cap="rnd" cmpd="sng">
            <a:noFill/>
            <a:prstDash val="solid"/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 anchorCtr="1">
            <a:noAutofit/>
          </a:bodyPr>
          <a:lstStyle/>
          <a:p>
            <a:pPr algn="ctr"/>
            <a:endParaRPr lang="en-US" sz="2400" dirty="0" smtClean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396645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1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Decompilers for Software Security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b="1" dirty="0" smtClean="0"/>
              <a:t>Manual </a:t>
            </a:r>
            <a:r>
              <a:rPr lang="en-US" b="1" dirty="0"/>
              <a:t>reverse-engineering</a:t>
            </a:r>
          </a:p>
          <a:p>
            <a:pPr lvl="1"/>
            <a:r>
              <a:rPr lang="en-US" dirty="0"/>
              <a:t>Traditional decompiler application</a:t>
            </a:r>
          </a:p>
          <a:p>
            <a:endParaRPr lang="en-US" b="1" dirty="0" smtClean="0"/>
          </a:p>
          <a:p>
            <a:r>
              <a:rPr lang="en-US" b="1" dirty="0" smtClean="0"/>
              <a:t>Apply wealth of existing source-code techniques to compiled programs</a:t>
            </a:r>
            <a:r>
              <a:rPr lang="en-US" sz="2200" dirty="0" smtClean="0"/>
              <a:t> </a:t>
            </a:r>
            <a:r>
              <a:rPr lang="en-US" sz="26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[Chang06]</a:t>
            </a:r>
            <a:endParaRPr lang="en-US" sz="3500" dirty="0" smtClean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lvl="1"/>
            <a:r>
              <a:rPr lang="en-US" dirty="0" smtClean="0"/>
              <a:t>Find bugs, vulnerabilities</a:t>
            </a:r>
          </a:p>
          <a:p>
            <a:endParaRPr lang="en-US" dirty="0"/>
          </a:p>
          <a:p>
            <a:r>
              <a:rPr lang="en-US" b="1" dirty="0" smtClean="0"/>
              <a:t>Heard at Usenix Security 2013, during Dowsing for Overflows</a:t>
            </a:r>
          </a:p>
          <a:p>
            <a:pPr lvl="1"/>
            <a:r>
              <a:rPr lang="en-US" dirty="0" smtClean="0"/>
              <a:t>“We need source code to access the high-level control flow structure and types”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mtClean="0"/>
              <a:t>8/15/13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Usenix Security 2013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7839D-A323-47F3-909F-548499399628}" type="slidenum">
              <a:rPr lang="en-US" smtClean="0"/>
              <a:t>4</a:t>
            </a:fld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3077342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3000"/>
    </mc:Choice>
    <mc:Fallback xmlns="">
      <p:transition spd="slow" advTm="103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Desired Properties for Security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371600"/>
            <a:ext cx="8229600" cy="4952999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 smtClean="0"/>
              <a:t>Effective abstraction recovery</a:t>
            </a:r>
          </a:p>
          <a:p>
            <a:pPr lvl="1"/>
            <a:r>
              <a:rPr lang="en-US" dirty="0" smtClean="0"/>
              <a:t>Abstractions improve comprehension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mtClean="0"/>
              <a:t>8/15/13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Usenix Security 2013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7839D-A323-47F3-909F-54849939962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10093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5268"/>
    </mc:Choice>
    <mc:Fallback xmlns="">
      <p:transition spd="slow" advTm="65268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Effective Abstraction Recovery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mtClean="0"/>
              <a:t>8/15/13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Usenix Security 2013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7839D-A323-47F3-909F-548499399628}" type="slidenum">
              <a:rPr lang="en-US" smtClean="0"/>
              <a:t>6</a:t>
            </a:fld>
            <a:endParaRPr lang="en-US"/>
          </a:p>
        </p:txBody>
      </p:sp>
      <p:grpSp>
        <p:nvGrpSpPr>
          <p:cNvPr id="3" name="Group 2"/>
          <p:cNvGrpSpPr/>
          <p:nvPr/>
        </p:nvGrpSpPr>
        <p:grpSpPr>
          <a:xfrm>
            <a:off x="685800" y="2288571"/>
            <a:ext cx="3429000" cy="3195216"/>
            <a:chOff x="18081" y="2288571"/>
            <a:chExt cx="3429000" cy="3195216"/>
          </a:xfrm>
        </p:grpSpPr>
        <p:sp>
          <p:nvSpPr>
            <p:cNvPr id="7" name="TextBox 6"/>
            <p:cNvSpPr txBox="1"/>
            <p:nvPr/>
          </p:nvSpPr>
          <p:spPr>
            <a:xfrm>
              <a:off x="18081" y="2288571"/>
              <a:ext cx="3429000" cy="2186130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txBody>
            <a:bodyPr wrap="square" lIns="182880" tIns="0" rIns="0" bIns="0" rtlCol="0" anchor="t" anchorCtr="0">
              <a:spAutoFit/>
            </a:bodyPr>
            <a:lstStyle/>
            <a:p>
              <a:pPr>
                <a:lnSpc>
                  <a:spcPct val="107000"/>
                </a:lnSpc>
              </a:pPr>
              <a:r>
                <a:rPr lang="en-US" sz="2000" dirty="0">
                  <a:latin typeface="Consolas" panose="020B0609020204030204" pitchFamily="49" charset="0"/>
                  <a:ea typeface="Times New Roman" panose="02020603050405020304" pitchFamily="18" charset="0"/>
                  <a:cs typeface="Consolas" panose="020B0609020204030204" pitchFamily="49" charset="0"/>
                </a:rPr>
                <a:t>s1;</a:t>
              </a:r>
            </a:p>
            <a:p>
              <a:pPr>
                <a:lnSpc>
                  <a:spcPct val="107000"/>
                </a:lnSpc>
              </a:pPr>
              <a:r>
                <a:rPr lang="en-US" sz="2000" b="1" dirty="0">
                  <a:solidFill>
                    <a:srgbClr val="FF0080"/>
                  </a:solidFill>
                  <a:latin typeface="Consolas" panose="020B0609020204030204" pitchFamily="49" charset="0"/>
                  <a:ea typeface="Times New Roman" panose="02020603050405020304" pitchFamily="18" charset="0"/>
                  <a:cs typeface="Consolas" panose="020B0609020204030204" pitchFamily="49" charset="0"/>
                </a:rPr>
                <a:t>while</a:t>
              </a:r>
              <a:r>
                <a:rPr lang="en-US" sz="2000" dirty="0">
                  <a:solidFill>
                    <a:srgbClr val="FF0080"/>
                  </a:solidFill>
                  <a:latin typeface="Consolas" panose="020B0609020204030204" pitchFamily="49" charset="0"/>
                  <a:ea typeface="Times New Roman" panose="02020603050405020304" pitchFamily="18" charset="0"/>
                  <a:cs typeface="Consolas" panose="020B0609020204030204" pitchFamily="49" charset="0"/>
                </a:rPr>
                <a:t> </a:t>
              </a:r>
              <a:r>
                <a:rPr lang="en-US" sz="2000" dirty="0">
                  <a:latin typeface="Consolas" panose="020B0609020204030204" pitchFamily="49" charset="0"/>
                  <a:ea typeface="Times New Roman" panose="02020603050405020304" pitchFamily="18" charset="0"/>
                  <a:cs typeface="Consolas" panose="020B0609020204030204" pitchFamily="49" charset="0"/>
                </a:rPr>
                <a:t>(e1) {</a:t>
              </a:r>
            </a:p>
            <a:p>
              <a:pPr>
                <a:lnSpc>
                  <a:spcPct val="107000"/>
                </a:lnSpc>
              </a:pPr>
              <a:r>
                <a:rPr lang="en-US" sz="2000" dirty="0">
                  <a:latin typeface="Consolas" panose="020B0609020204030204" pitchFamily="49" charset="0"/>
                  <a:ea typeface="Times New Roman" panose="02020603050405020304" pitchFamily="18" charset="0"/>
                  <a:cs typeface="Consolas" panose="020B0609020204030204" pitchFamily="49" charset="0"/>
                </a:rPr>
                <a:t>  </a:t>
              </a:r>
              <a:r>
                <a:rPr lang="en-US" sz="2000" b="1" dirty="0">
                  <a:solidFill>
                    <a:srgbClr val="FF0080"/>
                  </a:solidFill>
                  <a:latin typeface="Consolas" panose="020B0609020204030204" pitchFamily="49" charset="0"/>
                  <a:ea typeface="Times New Roman" panose="02020603050405020304" pitchFamily="18" charset="0"/>
                  <a:cs typeface="Consolas" panose="020B0609020204030204" pitchFamily="49" charset="0"/>
                </a:rPr>
                <a:t>if</a:t>
              </a:r>
              <a:r>
                <a:rPr lang="en-US" sz="2000" dirty="0">
                  <a:solidFill>
                    <a:srgbClr val="FF0080"/>
                  </a:solidFill>
                  <a:latin typeface="Consolas" panose="020B0609020204030204" pitchFamily="49" charset="0"/>
                  <a:ea typeface="Times New Roman" panose="02020603050405020304" pitchFamily="18" charset="0"/>
                  <a:cs typeface="Consolas" panose="020B0609020204030204" pitchFamily="49" charset="0"/>
                </a:rPr>
                <a:t> </a:t>
              </a:r>
              <a:r>
                <a:rPr lang="en-US" sz="2000" dirty="0">
                  <a:latin typeface="Consolas" panose="020B0609020204030204" pitchFamily="49" charset="0"/>
                  <a:ea typeface="Times New Roman" panose="02020603050405020304" pitchFamily="18" charset="0"/>
                  <a:cs typeface="Consolas" panose="020B0609020204030204" pitchFamily="49" charset="0"/>
                </a:rPr>
                <a:t>(e2) { </a:t>
              </a:r>
              <a:r>
                <a:rPr lang="en-US" sz="2000" b="1" dirty="0">
                  <a:solidFill>
                    <a:srgbClr val="FF0080"/>
                  </a:solidFill>
                  <a:latin typeface="Consolas" panose="020B0609020204030204" pitchFamily="49" charset="0"/>
                  <a:ea typeface="Times New Roman" panose="02020603050405020304" pitchFamily="18" charset="0"/>
                  <a:cs typeface="Consolas" panose="020B0609020204030204" pitchFamily="49" charset="0"/>
                </a:rPr>
                <a:t>break</a:t>
              </a:r>
              <a:r>
                <a:rPr lang="en-US" sz="2000" dirty="0">
                  <a:latin typeface="Consolas" panose="020B0609020204030204" pitchFamily="49" charset="0"/>
                  <a:ea typeface="Times New Roman" panose="02020603050405020304" pitchFamily="18" charset="0"/>
                  <a:cs typeface="Consolas" panose="020B0609020204030204" pitchFamily="49" charset="0"/>
                </a:rPr>
                <a:t>; }</a:t>
              </a:r>
            </a:p>
            <a:p>
              <a:pPr>
                <a:lnSpc>
                  <a:spcPct val="107000"/>
                </a:lnSpc>
              </a:pPr>
              <a:r>
                <a:rPr lang="en-US" sz="2000" dirty="0">
                  <a:latin typeface="Consolas" panose="020B0609020204030204" pitchFamily="49" charset="0"/>
                  <a:ea typeface="Times New Roman" panose="02020603050405020304" pitchFamily="18" charset="0"/>
                  <a:cs typeface="Consolas" panose="020B0609020204030204" pitchFamily="49" charset="0"/>
                </a:rPr>
                <a:t>  s2;</a:t>
              </a:r>
            </a:p>
            <a:p>
              <a:pPr>
                <a:lnSpc>
                  <a:spcPct val="107000"/>
                </a:lnSpc>
              </a:pPr>
              <a:r>
                <a:rPr lang="en-US" sz="2000" dirty="0">
                  <a:latin typeface="Consolas" panose="020B0609020204030204" pitchFamily="49" charset="0"/>
                  <a:ea typeface="Times New Roman" panose="02020603050405020304" pitchFamily="18" charset="0"/>
                  <a:cs typeface="Consolas" panose="020B0609020204030204" pitchFamily="49" charset="0"/>
                </a:rPr>
                <a:t>}</a:t>
              </a:r>
            </a:p>
            <a:p>
              <a:pPr>
                <a:lnSpc>
                  <a:spcPct val="107000"/>
                </a:lnSpc>
              </a:pPr>
              <a:r>
                <a:rPr lang="en-US" sz="2000" dirty="0">
                  <a:latin typeface="Consolas" panose="020B0609020204030204" pitchFamily="49" charset="0"/>
                  <a:ea typeface="Times New Roman" panose="02020603050405020304" pitchFamily="18" charset="0"/>
                  <a:cs typeface="Consolas" panose="020B0609020204030204" pitchFamily="49" charset="0"/>
                </a:rPr>
                <a:t>s3;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741981" y="4498902"/>
              <a:ext cx="1981200" cy="984885"/>
            </a:xfrm>
            <a:prstGeom prst="rect">
              <a:avLst/>
            </a:prstGeom>
            <a:noFill/>
          </p:spPr>
          <p:txBody>
            <a:bodyPr wrap="square" lIns="0" tIns="0" rIns="0" bIns="0" rtlCol="0" anchor="t" anchorCtr="0">
              <a:sp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en-US" sz="3200" dirty="0" smtClean="0"/>
                <a:t>More</a:t>
              </a:r>
            </a:p>
            <a:p>
              <a:pPr algn="ctr">
                <a:buClr>
                  <a:schemeClr val="accent1"/>
                </a:buClr>
              </a:pPr>
              <a:r>
                <a:rPr lang="en-US" sz="3200" dirty="0" smtClean="0"/>
                <a:t>Abstract</a:t>
              </a:r>
              <a:endParaRPr lang="en-US" sz="3200" dirty="0"/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4800600" y="2288571"/>
            <a:ext cx="3657600" cy="3195215"/>
            <a:chOff x="5486400" y="2288571"/>
            <a:chExt cx="3657600" cy="3195215"/>
          </a:xfrm>
        </p:grpSpPr>
        <p:sp>
          <p:nvSpPr>
            <p:cNvPr id="8" name="TextBox 7"/>
            <p:cNvSpPr txBox="1"/>
            <p:nvPr/>
          </p:nvSpPr>
          <p:spPr>
            <a:xfrm>
              <a:off x="5486400" y="2288571"/>
              <a:ext cx="3657600" cy="2186130"/>
            </a:xfrm>
            <a:prstGeom prst="roundRect">
              <a:avLst/>
            </a:prstGeom>
            <a:solidFill>
              <a:schemeClr val="bg2"/>
            </a:solidFill>
            <a:ln>
              <a:noFill/>
            </a:ln>
          </p:spPr>
          <p:txBody>
            <a:bodyPr wrap="square" lIns="0" tIns="0" rIns="0" bIns="0" rtlCol="0" anchor="t" anchorCtr="0">
              <a:spAutoFit/>
            </a:bodyPr>
            <a:lstStyle/>
            <a:p>
              <a:pPr>
                <a:lnSpc>
                  <a:spcPct val="107000"/>
                </a:lnSpc>
              </a:pPr>
              <a:r>
                <a:rPr lang="en-US" sz="2000" dirty="0">
                  <a:latin typeface="Consolas" panose="020B0609020204030204" pitchFamily="49" charset="0"/>
                  <a:ea typeface="Times New Roman" panose="02020603050405020304" pitchFamily="18" charset="0"/>
                  <a:cs typeface="Consolas" panose="020B0609020204030204" pitchFamily="49" charset="0"/>
                </a:rPr>
                <a:t>s1;</a:t>
              </a:r>
            </a:p>
            <a:p>
              <a:pPr>
                <a:lnSpc>
                  <a:spcPct val="107000"/>
                </a:lnSpc>
              </a:pPr>
              <a:r>
                <a:rPr lang="en-US" sz="2000" dirty="0">
                  <a:solidFill>
                    <a:srgbClr val="A0A000"/>
                  </a:solidFill>
                  <a:latin typeface="Consolas" panose="020B0609020204030204" pitchFamily="49" charset="0"/>
                  <a:ea typeface="Times New Roman" panose="02020603050405020304" pitchFamily="18" charset="0"/>
                  <a:cs typeface="Consolas" panose="020B0609020204030204" pitchFamily="49" charset="0"/>
                </a:rPr>
                <a:t>L1:</a:t>
              </a:r>
              <a:r>
                <a:rPr lang="en-US" sz="2000" dirty="0">
                  <a:latin typeface="Consolas" panose="020B0609020204030204" pitchFamily="49" charset="0"/>
                  <a:ea typeface="Times New Roman" panose="02020603050405020304" pitchFamily="18" charset="0"/>
                  <a:cs typeface="Consolas" panose="020B0609020204030204" pitchFamily="49" charset="0"/>
                </a:rPr>
                <a:t> </a:t>
              </a:r>
              <a:r>
                <a:rPr lang="en-US" sz="2000" b="1" dirty="0">
                  <a:solidFill>
                    <a:srgbClr val="FF0080"/>
                  </a:solidFill>
                  <a:latin typeface="Consolas" panose="020B0609020204030204" pitchFamily="49" charset="0"/>
                  <a:ea typeface="Times New Roman" panose="02020603050405020304" pitchFamily="18" charset="0"/>
                  <a:cs typeface="Consolas" panose="020B0609020204030204" pitchFamily="49" charset="0"/>
                </a:rPr>
                <a:t>if</a:t>
              </a:r>
              <a:r>
                <a:rPr lang="en-US" sz="2000" dirty="0">
                  <a:solidFill>
                    <a:srgbClr val="FF0080"/>
                  </a:solidFill>
                  <a:latin typeface="Consolas" panose="020B0609020204030204" pitchFamily="49" charset="0"/>
                  <a:ea typeface="Times New Roman" panose="02020603050405020304" pitchFamily="18" charset="0"/>
                  <a:cs typeface="Consolas" panose="020B0609020204030204" pitchFamily="49" charset="0"/>
                </a:rPr>
                <a:t> </a:t>
              </a:r>
              <a:r>
                <a:rPr lang="en-US" sz="2000" dirty="0">
                  <a:latin typeface="Consolas" panose="020B0609020204030204" pitchFamily="49" charset="0"/>
                  <a:ea typeface="Times New Roman" panose="02020603050405020304" pitchFamily="18" charset="0"/>
                  <a:cs typeface="Consolas" panose="020B0609020204030204" pitchFamily="49" charset="0"/>
                </a:rPr>
                <a:t>(e1) { </a:t>
              </a:r>
              <a:r>
                <a:rPr lang="en-US" sz="2000" b="1" dirty="0">
                  <a:solidFill>
                    <a:srgbClr val="FF0080"/>
                  </a:solidFill>
                  <a:latin typeface="Consolas" panose="020B0609020204030204" pitchFamily="49" charset="0"/>
                  <a:ea typeface="Times New Roman" panose="02020603050405020304" pitchFamily="18" charset="0"/>
                  <a:cs typeface="Consolas" panose="020B0609020204030204" pitchFamily="49" charset="0"/>
                </a:rPr>
                <a:t>goto</a:t>
              </a:r>
              <a:r>
                <a:rPr lang="en-US" sz="2000" dirty="0">
                  <a:solidFill>
                    <a:srgbClr val="FF0080"/>
                  </a:solidFill>
                  <a:latin typeface="Consolas" panose="020B0609020204030204" pitchFamily="49" charset="0"/>
                  <a:ea typeface="Times New Roman" panose="02020603050405020304" pitchFamily="18" charset="0"/>
                  <a:cs typeface="Consolas" panose="020B0609020204030204" pitchFamily="49" charset="0"/>
                </a:rPr>
                <a:t> </a:t>
              </a:r>
              <a:r>
                <a:rPr lang="en-US" sz="2000" dirty="0">
                  <a:latin typeface="Consolas" panose="020B0609020204030204" pitchFamily="49" charset="0"/>
                  <a:ea typeface="Times New Roman" panose="02020603050405020304" pitchFamily="18" charset="0"/>
                  <a:cs typeface="Consolas" panose="020B0609020204030204" pitchFamily="49" charset="0"/>
                </a:rPr>
                <a:t>L2; }     </a:t>
              </a:r>
            </a:p>
            <a:p>
              <a:pPr>
                <a:lnSpc>
                  <a:spcPct val="107000"/>
                </a:lnSpc>
              </a:pPr>
              <a:r>
                <a:rPr lang="en-US" sz="2000" b="1" dirty="0">
                  <a:solidFill>
                    <a:srgbClr val="008000"/>
                  </a:solidFill>
                  <a:latin typeface="Consolas" panose="020B0609020204030204" pitchFamily="49" charset="0"/>
                  <a:ea typeface="Times New Roman" panose="02020603050405020304" pitchFamily="18" charset="0"/>
                  <a:cs typeface="Consolas" panose="020B0609020204030204" pitchFamily="49" charset="0"/>
                </a:rPr>
                <a:t>    </a:t>
              </a:r>
              <a:r>
                <a:rPr lang="en-US" sz="2000" b="1" dirty="0">
                  <a:solidFill>
                    <a:srgbClr val="FF0080"/>
                  </a:solidFill>
                  <a:latin typeface="Consolas" panose="020B0609020204030204" pitchFamily="49" charset="0"/>
                  <a:ea typeface="Times New Roman" panose="02020603050405020304" pitchFamily="18" charset="0"/>
                  <a:cs typeface="Consolas" panose="020B0609020204030204" pitchFamily="49" charset="0"/>
                </a:rPr>
                <a:t>else</a:t>
              </a:r>
              <a:r>
                <a:rPr lang="en-US" sz="2000" dirty="0">
                  <a:solidFill>
                    <a:srgbClr val="FF0080"/>
                  </a:solidFill>
                  <a:latin typeface="Consolas" panose="020B0609020204030204" pitchFamily="49" charset="0"/>
                  <a:ea typeface="Times New Roman" panose="02020603050405020304" pitchFamily="18" charset="0"/>
                  <a:cs typeface="Consolas" panose="020B0609020204030204" pitchFamily="49" charset="0"/>
                </a:rPr>
                <a:t> </a:t>
              </a:r>
              <a:r>
                <a:rPr lang="en-US" sz="2000" dirty="0">
                  <a:latin typeface="Consolas" panose="020B0609020204030204" pitchFamily="49" charset="0"/>
                  <a:ea typeface="Times New Roman" panose="02020603050405020304" pitchFamily="18" charset="0"/>
                  <a:cs typeface="Consolas" panose="020B0609020204030204" pitchFamily="49" charset="0"/>
                </a:rPr>
                <a:t>{ </a:t>
              </a:r>
              <a:r>
                <a:rPr lang="en-US" sz="2000" b="1" dirty="0">
                  <a:solidFill>
                    <a:srgbClr val="FF0080"/>
                  </a:solidFill>
                  <a:latin typeface="Consolas" panose="020B0609020204030204" pitchFamily="49" charset="0"/>
                  <a:ea typeface="Times New Roman" panose="02020603050405020304" pitchFamily="18" charset="0"/>
                  <a:cs typeface="Consolas" panose="020B0609020204030204" pitchFamily="49" charset="0"/>
                </a:rPr>
                <a:t>goto</a:t>
              </a:r>
              <a:r>
                <a:rPr lang="en-US" sz="2000" dirty="0">
                  <a:solidFill>
                    <a:srgbClr val="FF0080"/>
                  </a:solidFill>
                  <a:latin typeface="Consolas" panose="020B0609020204030204" pitchFamily="49" charset="0"/>
                  <a:ea typeface="Times New Roman" panose="02020603050405020304" pitchFamily="18" charset="0"/>
                  <a:cs typeface="Consolas" panose="020B0609020204030204" pitchFamily="49" charset="0"/>
                </a:rPr>
                <a:t> </a:t>
              </a:r>
              <a:r>
                <a:rPr lang="en-US" sz="2000" dirty="0">
                  <a:latin typeface="Consolas" panose="020B0609020204030204" pitchFamily="49" charset="0"/>
                  <a:ea typeface="Times New Roman" panose="02020603050405020304" pitchFamily="18" charset="0"/>
                  <a:cs typeface="Consolas" panose="020B0609020204030204" pitchFamily="49" charset="0"/>
                </a:rPr>
                <a:t>L4; }</a:t>
              </a:r>
            </a:p>
            <a:p>
              <a:pPr>
                <a:lnSpc>
                  <a:spcPct val="107000"/>
                </a:lnSpc>
              </a:pPr>
              <a:r>
                <a:rPr lang="en-US" sz="2000" dirty="0">
                  <a:solidFill>
                    <a:srgbClr val="A0A000"/>
                  </a:solidFill>
                  <a:latin typeface="Consolas" panose="020B0609020204030204" pitchFamily="49" charset="0"/>
                  <a:ea typeface="Times New Roman" panose="02020603050405020304" pitchFamily="18" charset="0"/>
                  <a:cs typeface="Consolas" panose="020B0609020204030204" pitchFamily="49" charset="0"/>
                </a:rPr>
                <a:t>L2:</a:t>
              </a:r>
              <a:r>
                <a:rPr lang="en-US" sz="2000" dirty="0">
                  <a:latin typeface="Consolas" panose="020B0609020204030204" pitchFamily="49" charset="0"/>
                  <a:ea typeface="Times New Roman" panose="02020603050405020304" pitchFamily="18" charset="0"/>
                  <a:cs typeface="Consolas" panose="020B0609020204030204" pitchFamily="49" charset="0"/>
                </a:rPr>
                <a:t> </a:t>
              </a:r>
              <a:r>
                <a:rPr lang="en-US" sz="2000" b="1" dirty="0">
                  <a:solidFill>
                    <a:srgbClr val="FF0080"/>
                  </a:solidFill>
                  <a:latin typeface="Consolas" panose="020B0609020204030204" pitchFamily="49" charset="0"/>
                  <a:ea typeface="Times New Roman" panose="02020603050405020304" pitchFamily="18" charset="0"/>
                  <a:cs typeface="Consolas" panose="020B0609020204030204" pitchFamily="49" charset="0"/>
                </a:rPr>
                <a:t>if</a:t>
              </a:r>
              <a:r>
                <a:rPr lang="en-US" sz="2000" dirty="0">
                  <a:solidFill>
                    <a:srgbClr val="FF0080"/>
                  </a:solidFill>
                  <a:latin typeface="Consolas" panose="020B0609020204030204" pitchFamily="49" charset="0"/>
                  <a:ea typeface="Times New Roman" panose="02020603050405020304" pitchFamily="18" charset="0"/>
                  <a:cs typeface="Consolas" panose="020B0609020204030204" pitchFamily="49" charset="0"/>
                </a:rPr>
                <a:t> </a:t>
              </a:r>
              <a:r>
                <a:rPr lang="en-US" sz="2000" dirty="0">
                  <a:latin typeface="Consolas" panose="020B0609020204030204" pitchFamily="49" charset="0"/>
                  <a:ea typeface="Times New Roman" panose="02020603050405020304" pitchFamily="18" charset="0"/>
                  <a:cs typeface="Consolas" panose="020B0609020204030204" pitchFamily="49" charset="0"/>
                </a:rPr>
                <a:t>(e2) { </a:t>
              </a:r>
              <a:r>
                <a:rPr lang="en-US" sz="2000" b="1" dirty="0">
                  <a:solidFill>
                    <a:srgbClr val="FF0080"/>
                  </a:solidFill>
                  <a:latin typeface="Consolas" panose="020B0609020204030204" pitchFamily="49" charset="0"/>
                  <a:ea typeface="Times New Roman" panose="02020603050405020304" pitchFamily="18" charset="0"/>
                  <a:cs typeface="Consolas" panose="020B0609020204030204" pitchFamily="49" charset="0"/>
                </a:rPr>
                <a:t>goto</a:t>
              </a:r>
              <a:r>
                <a:rPr lang="en-US" sz="2000" dirty="0">
                  <a:solidFill>
                    <a:srgbClr val="FF0080"/>
                  </a:solidFill>
                  <a:latin typeface="Consolas" panose="020B0609020204030204" pitchFamily="49" charset="0"/>
                  <a:ea typeface="Times New Roman" panose="02020603050405020304" pitchFamily="18" charset="0"/>
                  <a:cs typeface="Consolas" panose="020B0609020204030204" pitchFamily="49" charset="0"/>
                </a:rPr>
                <a:t> </a:t>
              </a:r>
              <a:r>
                <a:rPr lang="en-US" sz="2000" dirty="0">
                  <a:latin typeface="Consolas" panose="020B0609020204030204" pitchFamily="49" charset="0"/>
                  <a:ea typeface="Times New Roman" panose="02020603050405020304" pitchFamily="18" charset="0"/>
                  <a:cs typeface="Consolas" panose="020B0609020204030204" pitchFamily="49" charset="0"/>
                </a:rPr>
                <a:t>L4; }</a:t>
              </a:r>
            </a:p>
            <a:p>
              <a:pPr>
                <a:lnSpc>
                  <a:spcPct val="107000"/>
                </a:lnSpc>
              </a:pPr>
              <a:r>
                <a:rPr lang="en-US" sz="2000" dirty="0">
                  <a:solidFill>
                    <a:srgbClr val="A0A000"/>
                  </a:solidFill>
                  <a:latin typeface="Consolas" panose="020B0609020204030204" pitchFamily="49" charset="0"/>
                  <a:ea typeface="Times New Roman" panose="02020603050405020304" pitchFamily="18" charset="0"/>
                  <a:cs typeface="Consolas" panose="020B0609020204030204" pitchFamily="49" charset="0"/>
                </a:rPr>
                <a:t>L3:</a:t>
              </a:r>
              <a:r>
                <a:rPr lang="en-US" sz="2000" dirty="0">
                  <a:latin typeface="Consolas" panose="020B0609020204030204" pitchFamily="49" charset="0"/>
                  <a:ea typeface="Times New Roman" panose="02020603050405020304" pitchFamily="18" charset="0"/>
                  <a:cs typeface="Consolas" panose="020B0609020204030204" pitchFamily="49" charset="0"/>
                </a:rPr>
                <a:t> s2; </a:t>
              </a:r>
              <a:r>
                <a:rPr lang="en-US" sz="2000" b="1" dirty="0">
                  <a:solidFill>
                    <a:srgbClr val="FF0080"/>
                  </a:solidFill>
                  <a:latin typeface="Consolas" panose="020B0609020204030204" pitchFamily="49" charset="0"/>
                  <a:ea typeface="Times New Roman" panose="02020603050405020304" pitchFamily="18" charset="0"/>
                  <a:cs typeface="Consolas" panose="020B0609020204030204" pitchFamily="49" charset="0"/>
                </a:rPr>
                <a:t>goto</a:t>
              </a:r>
              <a:r>
                <a:rPr lang="en-US" sz="2000" dirty="0">
                  <a:solidFill>
                    <a:srgbClr val="FF0080"/>
                  </a:solidFill>
                  <a:latin typeface="Consolas" panose="020B0609020204030204" pitchFamily="49" charset="0"/>
                  <a:ea typeface="Times New Roman" panose="02020603050405020304" pitchFamily="18" charset="0"/>
                  <a:cs typeface="Consolas" panose="020B0609020204030204" pitchFamily="49" charset="0"/>
                </a:rPr>
                <a:t> </a:t>
              </a:r>
              <a:r>
                <a:rPr lang="en-US" sz="2000" dirty="0">
                  <a:latin typeface="Consolas" panose="020B0609020204030204" pitchFamily="49" charset="0"/>
                  <a:ea typeface="Times New Roman" panose="02020603050405020304" pitchFamily="18" charset="0"/>
                  <a:cs typeface="Consolas" panose="020B0609020204030204" pitchFamily="49" charset="0"/>
                </a:rPr>
                <a:t>L1;</a:t>
              </a:r>
            </a:p>
            <a:p>
              <a:pPr>
                <a:lnSpc>
                  <a:spcPct val="107000"/>
                </a:lnSpc>
              </a:pPr>
              <a:r>
                <a:rPr lang="en-US" sz="2000" dirty="0">
                  <a:solidFill>
                    <a:srgbClr val="A0A000"/>
                  </a:solidFill>
                  <a:latin typeface="Consolas" panose="020B0609020204030204" pitchFamily="49" charset="0"/>
                  <a:ea typeface="Times New Roman" panose="02020603050405020304" pitchFamily="18" charset="0"/>
                  <a:cs typeface="Consolas" panose="020B0609020204030204" pitchFamily="49" charset="0"/>
                </a:rPr>
                <a:t>L4:</a:t>
              </a:r>
              <a:r>
                <a:rPr lang="en-US" sz="2000" dirty="0">
                  <a:latin typeface="Consolas" panose="020B0609020204030204" pitchFamily="49" charset="0"/>
                  <a:ea typeface="Times New Roman" panose="02020603050405020304" pitchFamily="18" charset="0"/>
                  <a:cs typeface="Consolas" panose="020B0609020204030204" pitchFamily="49" charset="0"/>
                </a:rPr>
                <a:t> s3;</a:t>
              </a:r>
              <a:endParaRPr lang="en-US" sz="2000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324600" y="4498901"/>
              <a:ext cx="1981200" cy="984885"/>
            </a:xfrm>
            <a:prstGeom prst="rect">
              <a:avLst/>
            </a:prstGeom>
            <a:noFill/>
          </p:spPr>
          <p:txBody>
            <a:bodyPr wrap="square" lIns="0" tIns="0" rIns="0" bIns="0" rtlCol="0" anchor="t" anchorCtr="0">
              <a:sp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en-US" sz="3200" dirty="0" smtClean="0"/>
                <a:t>Less Abstract</a:t>
              </a:r>
              <a:endParaRPr lang="en-US" sz="3200" dirty="0"/>
            </a:p>
          </p:txBody>
        </p:sp>
      </p:grpSp>
    </p:spTree>
    <p:extLst>
      <p:ext uri="{BB962C8B-B14F-4D97-AF65-F5344CB8AC3E}">
        <p14:creationId xmlns:p14="http://schemas.microsoft.com/office/powerpoint/2010/main" val="42317408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Desired Properties for Security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371600"/>
            <a:ext cx="8229600" cy="4952999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Effective abstraction recovery</a:t>
            </a:r>
          </a:p>
          <a:p>
            <a:pPr lvl="1"/>
            <a:r>
              <a:rPr lang="en-US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Abstractions improve comprehension</a:t>
            </a:r>
          </a:p>
          <a:p>
            <a:pPr lvl="1"/>
            <a:endParaRPr lang="en-US" dirty="0" smtClean="0"/>
          </a:p>
          <a:p>
            <a:pPr marL="514350" indent="-514350">
              <a:buFont typeface="+mj-lt"/>
              <a:buAutoNum type="arabicPeriod"/>
            </a:pPr>
            <a:r>
              <a:rPr lang="en-US" dirty="0" smtClean="0"/>
              <a:t>Correctness</a:t>
            </a:r>
          </a:p>
          <a:p>
            <a:pPr lvl="1"/>
            <a:r>
              <a:rPr lang="en-US" dirty="0" smtClean="0"/>
              <a:t>Buggy(Decompiled) </a:t>
            </a:r>
            <a:r>
              <a:rPr lang="en-US" dirty="0" smtClean="0">
                <a:sym typeface="Wingdings" panose="05000000000000000000" pitchFamily="2" charset="2"/>
              </a:rPr>
              <a:t> Buggy(Original)</a:t>
            </a:r>
            <a:endParaRPr lang="en-US" dirty="0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mtClean="0"/>
              <a:t>8/15/13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Usenix Security 2013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7839D-A323-47F3-909F-54849939962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150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5268"/>
    </mc:Choice>
    <mc:Fallback xmlns="">
      <p:transition spd="slow" advTm="65268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1143000"/>
          </a:xfrm>
        </p:spPr>
        <p:txBody>
          <a:bodyPr/>
          <a:lstStyle/>
          <a:p>
            <a:r>
              <a:rPr lang="en-US" dirty="0" smtClean="0"/>
              <a:t>Correctness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smtClean="0"/>
              <a:t>8/15/13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7839D-A323-47F3-909F-548499399628}" type="slidenum">
              <a:rPr lang="en-US" smtClean="0"/>
              <a:t>8</a:t>
            </a:fld>
            <a:endParaRPr lang="en-US"/>
          </a:p>
        </p:txBody>
      </p:sp>
      <p:sp>
        <p:nvSpPr>
          <p:cNvPr id="8" name="Rounded Rectangle 7"/>
          <p:cNvSpPr/>
          <p:nvPr/>
        </p:nvSpPr>
        <p:spPr>
          <a:xfrm>
            <a:off x="3733800" y="4235186"/>
            <a:ext cx="1676400" cy="1676400"/>
          </a:xfrm>
          <a:prstGeom prst="roundRect">
            <a:avLst/>
          </a:prstGeom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nsolas"/>
                <a:ea typeface="+mn-ea"/>
                <a:cs typeface="Consolas"/>
              </a:rPr>
              <a:t>010100101010101001010110111010101001010101010101111100010100010101101001010100010010101101010101011010111</a:t>
            </a:r>
            <a:endParaRPr kumimoji="0" lang="en-US" sz="1400" b="0" i="0" u="none" strike="noStrike" kern="0" cap="none" spc="0" normalizeH="0" baseline="0" noProof="0" dirty="0" smtClean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nsolas"/>
              <a:ea typeface="+mn-ea"/>
              <a:cs typeface="Consolas"/>
            </a:endParaRPr>
          </a:p>
        </p:txBody>
      </p:sp>
      <p:sp>
        <p:nvSpPr>
          <p:cNvPr id="12" name="Right Arrow 11"/>
          <p:cNvSpPr/>
          <p:nvPr/>
        </p:nvSpPr>
        <p:spPr>
          <a:xfrm rot="2603060">
            <a:off x="2838302" y="2972619"/>
            <a:ext cx="1819656" cy="987552"/>
          </a:xfrm>
          <a:prstGeom prst="rightArrow">
            <a:avLst/>
          </a:prstGeom>
          <a:ln/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lIns="0" tIns="0" rIns="0" bIns="0" rtlCol="0" anchor="ctr" anchorCtr="1">
            <a:noAutofit/>
          </a:bodyPr>
          <a:lstStyle/>
          <a:p>
            <a:pPr algn="ctr"/>
            <a:r>
              <a:rPr lang="en-US" sz="2400" dirty="0" smtClean="0">
                <a:solidFill>
                  <a:schemeClr val="bg1"/>
                </a:solidFill>
              </a:rPr>
              <a:t>Compiler</a:t>
            </a:r>
          </a:p>
        </p:txBody>
      </p:sp>
      <p:sp>
        <p:nvSpPr>
          <p:cNvPr id="13" name="Right Arrow 12"/>
          <p:cNvSpPr/>
          <p:nvPr/>
        </p:nvSpPr>
        <p:spPr>
          <a:xfrm rot="18940167">
            <a:off x="4459001" y="2748935"/>
            <a:ext cx="1818950" cy="987693"/>
          </a:xfrm>
          <a:prstGeom prst="rightArrow">
            <a:avLst/>
          </a:prstGeom>
          <a:ln/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lIns="0" tIns="0" rIns="0" bIns="0" rtlCol="0" anchor="ctr" anchorCtr="1">
            <a:noAutofit/>
          </a:bodyPr>
          <a:lstStyle/>
          <a:p>
            <a:pPr algn="ctr"/>
            <a:r>
              <a:rPr lang="en-US" sz="2400" dirty="0" smtClean="0">
                <a:solidFill>
                  <a:schemeClr val="bg1"/>
                </a:solidFill>
              </a:rPr>
              <a:t>Decompiler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39826" y="5862925"/>
            <a:ext cx="3864348" cy="984885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ctr">
              <a:buClr>
                <a:schemeClr val="accent1"/>
              </a:buClr>
            </a:pPr>
            <a:r>
              <a:rPr lang="en-US" sz="3200" dirty="0" smtClean="0"/>
              <a:t>Compiled</a:t>
            </a:r>
          </a:p>
          <a:p>
            <a:pPr algn="ctr">
              <a:buClr>
                <a:schemeClr val="accent1"/>
              </a:buClr>
            </a:pPr>
            <a:r>
              <a:rPr lang="en-US" sz="3200" dirty="0" smtClean="0"/>
              <a:t>Binary</a:t>
            </a:r>
            <a:endParaRPr lang="en-US" sz="3200" dirty="0"/>
          </a:p>
        </p:txBody>
      </p:sp>
      <p:sp>
        <p:nvSpPr>
          <p:cNvPr id="16" name="Equal 15"/>
          <p:cNvSpPr/>
          <p:nvPr/>
        </p:nvSpPr>
        <p:spPr>
          <a:xfrm>
            <a:off x="3458411" y="914400"/>
            <a:ext cx="2130562" cy="1699342"/>
          </a:xfrm>
          <a:prstGeom prst="mathEqual">
            <a:avLst/>
          </a:prstGeom>
          <a:ln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0" tIns="0" rIns="0" bIns="0" rtlCol="0" anchor="ctr" anchorCtr="1">
            <a:noAutofit/>
          </a:bodyPr>
          <a:lstStyle/>
          <a:p>
            <a:pPr algn="ctr"/>
            <a:endParaRPr lang="en-US" sz="2400" dirty="0" smtClean="0">
              <a:solidFill>
                <a:schemeClr val="bg1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1066800" y="2482586"/>
            <a:ext cx="7467600" cy="4375414"/>
          </a:xfrm>
          <a:prstGeom prst="rect">
            <a:avLst/>
          </a:prstGeom>
          <a:solidFill>
            <a:schemeClr val="bg1">
              <a:alpha val="85000"/>
            </a:schemeClr>
          </a:solidFill>
          <a:ln w="28575" cap="rnd" cmpd="sng">
            <a:noFill/>
            <a:prstDash val="solid"/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 anchorCtr="1">
            <a:noAutofit/>
          </a:bodyPr>
          <a:lstStyle/>
          <a:p>
            <a:pPr algn="ctr"/>
            <a:endParaRPr lang="en-US" sz="2400" dirty="0" smtClean="0">
              <a:solidFill>
                <a:schemeClr val="bg1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295400" y="928457"/>
            <a:ext cx="1676400" cy="1676400"/>
          </a:xfrm>
          <a:prstGeom prst="round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0" dirty="0">
                <a:solidFill>
                  <a:srgbClr val="FFFFFF"/>
                </a:solidFill>
                <a:latin typeface="Consolas"/>
                <a:cs typeface="Consolas"/>
              </a:rPr>
              <a:t>i</a:t>
            </a:r>
            <a:r>
              <a:rPr kumimoji="0" 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nsolas"/>
                <a:ea typeface="+mn-ea"/>
                <a:cs typeface="Consolas"/>
              </a:rPr>
              <a:t>nt f (int x) {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0" noProof="0" dirty="0" smtClean="0">
                <a:solidFill>
                  <a:srgbClr val="FFFFFF"/>
                </a:solidFill>
                <a:latin typeface="Consolas"/>
                <a:cs typeface="Consolas"/>
              </a:rPr>
              <a:t>int y = 1;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nsolas"/>
                <a:ea typeface="+mn-ea"/>
                <a:cs typeface="Consolas"/>
              </a:rPr>
              <a:t>while (x &gt; y) {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0" dirty="0" smtClean="0">
                <a:solidFill>
                  <a:srgbClr val="FFFFFF"/>
                </a:solidFill>
                <a:latin typeface="Consolas"/>
                <a:cs typeface="Consolas"/>
              </a:rPr>
              <a:t>  y++;</a:t>
            </a:r>
            <a:endParaRPr lang="en-US" sz="1200" kern="0" dirty="0">
              <a:solidFill>
                <a:srgbClr val="FFFFFF"/>
              </a:solidFill>
              <a:latin typeface="Consolas"/>
              <a:cs typeface="Consola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nsolas"/>
                <a:ea typeface="+mn-ea"/>
                <a:cs typeface="Consolas"/>
              </a:rPr>
              <a:t>}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0" dirty="0">
              <a:solidFill>
                <a:srgbClr val="FFFFFF"/>
              </a:solidFill>
              <a:latin typeface="Consolas"/>
              <a:cs typeface="Consola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0" dirty="0" smtClean="0">
                <a:solidFill>
                  <a:srgbClr val="FFFFFF"/>
                </a:solidFill>
                <a:latin typeface="Consolas"/>
                <a:cs typeface="Consolas"/>
              </a:rPr>
              <a:t>return y;</a:t>
            </a:r>
            <a:endParaRPr kumimoji="0" lang="en-US" sz="1200" b="0" i="0" u="none" strike="noStrike" kern="0" cap="none" spc="0" normalizeH="0" baseline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nsolas"/>
              <a:ea typeface="+mn-ea"/>
              <a:cs typeface="Consola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219200" y="2549100"/>
            <a:ext cx="1873018" cy="984885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ctr">
              <a:buClr>
                <a:schemeClr val="accent1"/>
              </a:buClr>
            </a:pPr>
            <a:r>
              <a:rPr lang="en-US" sz="3200" dirty="0" smtClean="0"/>
              <a:t>Original</a:t>
            </a:r>
          </a:p>
          <a:p>
            <a:pPr algn="ctr">
              <a:buClr>
                <a:schemeClr val="accent1"/>
              </a:buClr>
            </a:pPr>
            <a:r>
              <a:rPr lang="en-US" sz="3200" dirty="0" smtClean="0"/>
              <a:t>Source</a:t>
            </a:r>
            <a:endParaRPr lang="en-US" sz="3200" dirty="0"/>
          </a:p>
        </p:txBody>
      </p:sp>
      <p:sp>
        <p:nvSpPr>
          <p:cNvPr id="11" name="Rounded Rectangle 10"/>
          <p:cNvSpPr/>
          <p:nvPr/>
        </p:nvSpPr>
        <p:spPr>
          <a:xfrm>
            <a:off x="6072546" y="933695"/>
            <a:ext cx="1699854" cy="1699854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0" dirty="0">
                <a:solidFill>
                  <a:srgbClr val="FFFFFF"/>
                </a:solidFill>
                <a:latin typeface="Consolas"/>
                <a:cs typeface="Consolas"/>
              </a:rPr>
              <a:t>i</a:t>
            </a:r>
            <a:r>
              <a:rPr kumimoji="0" 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nsolas"/>
                <a:ea typeface="+mn-ea"/>
                <a:cs typeface="Consolas"/>
              </a:rPr>
              <a:t>nt f (int a) {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0" noProof="0" dirty="0" smtClean="0">
                <a:solidFill>
                  <a:srgbClr val="FFFFFF"/>
                </a:solidFill>
                <a:latin typeface="Consolas"/>
                <a:cs typeface="Consolas"/>
              </a:rPr>
              <a:t>int v = 1;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nsolas"/>
                <a:ea typeface="+mn-ea"/>
                <a:cs typeface="Consolas"/>
              </a:rPr>
              <a:t>while (a &gt; </a:t>
            </a:r>
            <a:r>
              <a:rPr lang="en-US" sz="1200" kern="0" dirty="0">
                <a:solidFill>
                  <a:srgbClr val="FFFFFF"/>
                </a:solidFill>
                <a:latin typeface="Consolas"/>
                <a:cs typeface="Consolas"/>
              </a:rPr>
              <a:t>v</a:t>
            </a:r>
            <a:r>
              <a:rPr kumimoji="0" lang="en-US" sz="1200" b="0" i="0" u="none" strike="noStrike" kern="0" cap="none" spc="0" normalizeH="0" baseline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nsolas"/>
                <a:ea typeface="+mn-ea"/>
                <a:cs typeface="Consolas"/>
              </a:rPr>
              <a:t>++) {}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0" dirty="0">
              <a:solidFill>
                <a:srgbClr val="FFFFFF"/>
              </a:solidFill>
              <a:latin typeface="Consolas"/>
              <a:cs typeface="Consola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0" dirty="0" smtClean="0">
                <a:solidFill>
                  <a:srgbClr val="FFFFFF"/>
                </a:solidFill>
                <a:latin typeface="Consolas"/>
                <a:cs typeface="Consolas"/>
              </a:rPr>
              <a:t>return v;</a:t>
            </a:r>
            <a:endParaRPr kumimoji="0" lang="en-US" sz="1200" b="0" i="0" u="none" strike="noStrike" kern="0" cap="none" spc="0" normalizeH="0" baseline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nsolas"/>
              <a:ea typeface="+mn-ea"/>
              <a:cs typeface="Consola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65989" y="2592956"/>
            <a:ext cx="1873018" cy="984885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>
              <a:buClr>
                <a:schemeClr val="accent1"/>
              </a:buClr>
            </a:pPr>
            <a:r>
              <a:rPr lang="en-US" sz="3200" dirty="0" smtClean="0"/>
              <a:t>Recovered</a:t>
            </a:r>
          </a:p>
          <a:p>
            <a:pPr algn="ctr">
              <a:buClr>
                <a:schemeClr val="accent1"/>
              </a:buClr>
            </a:pPr>
            <a:r>
              <a:rPr lang="en-US" sz="3200" dirty="0" smtClean="0"/>
              <a:t>Source</a:t>
            </a:r>
            <a:endParaRPr lang="en-US" sz="3200" dirty="0"/>
          </a:p>
        </p:txBody>
      </p:sp>
      <p:sp>
        <p:nvSpPr>
          <p:cNvPr id="5" name="Rectangle 4"/>
          <p:cNvSpPr/>
          <p:nvPr/>
        </p:nvSpPr>
        <p:spPr>
          <a:xfrm>
            <a:off x="4495800" y="914400"/>
            <a:ext cx="3581400" cy="3200400"/>
          </a:xfrm>
          <a:prstGeom prst="rect">
            <a:avLst/>
          </a:prstGeom>
          <a:solidFill>
            <a:schemeClr val="bg1">
              <a:alpha val="85000"/>
            </a:schemeClr>
          </a:solidFill>
          <a:ln w="28575" cap="rnd" cmpd="sng">
            <a:noFill/>
            <a:prstDash val="solid"/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 anchorCtr="1">
            <a:noAutofit/>
          </a:bodyPr>
          <a:lstStyle/>
          <a:p>
            <a:pPr algn="ctr"/>
            <a:endParaRPr lang="en-US" sz="2400" dirty="0" smtClean="0">
              <a:solidFill>
                <a:schemeClr val="bg1"/>
              </a:solidFill>
            </a:endParaRPr>
          </a:p>
        </p:txBody>
      </p:sp>
      <p:sp>
        <p:nvSpPr>
          <p:cNvPr id="18" name="Oval Callout 17"/>
          <p:cNvSpPr/>
          <p:nvPr/>
        </p:nvSpPr>
        <p:spPr>
          <a:xfrm>
            <a:off x="152400" y="3577841"/>
            <a:ext cx="8839200" cy="2285084"/>
          </a:xfrm>
          <a:prstGeom prst="wedgeEllipseCallout">
            <a:avLst>
              <a:gd name="adj1" fmla="val -961"/>
              <a:gd name="adj2" fmla="val -101993"/>
            </a:avLst>
          </a:prstGeom>
          <a:solidFill>
            <a:schemeClr val="accent1"/>
          </a:solidFill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 anchorCtr="1">
            <a:noAutofit/>
          </a:bodyPr>
          <a:lstStyle/>
          <a:p>
            <a:pPr algn="ctr"/>
            <a:r>
              <a:rPr lang="en-US" sz="4400" dirty="0" smtClean="0">
                <a:solidFill>
                  <a:schemeClr val="bg1"/>
                </a:solidFill>
              </a:rPr>
              <a:t>Are these two programs semantically equivalent?</a:t>
            </a:r>
          </a:p>
        </p:txBody>
      </p:sp>
    </p:spTree>
    <p:extLst>
      <p:ext uri="{BB962C8B-B14F-4D97-AF65-F5344CB8AC3E}">
        <p14:creationId xmlns:p14="http://schemas.microsoft.com/office/powerpoint/2010/main" val="3411516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9" grpId="0" animBg="1"/>
      <p:bldP spid="5" grpId="0" animBg="1"/>
      <p:bldP spid="1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Prior Work on Decompilation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 smtClean="0"/>
                  <a:t>Over 60 years of decompilation research</a:t>
                </a:r>
              </a:p>
              <a:p>
                <a:endParaRPr lang="en-US" dirty="0"/>
              </a:p>
              <a:p>
                <a:r>
                  <a:rPr lang="en-US" dirty="0" smtClean="0"/>
                  <a:t>Emphasis on manual reverse engineering</a:t>
                </a:r>
              </a:p>
              <a:p>
                <a:pPr lvl="1"/>
                <a:r>
                  <a:rPr lang="en-US" dirty="0" smtClean="0"/>
                  <a:t>Readability metrics</a:t>
                </a:r>
              </a:p>
              <a:p>
                <a:pPr lvl="2"/>
                <a:r>
                  <a:rPr lang="en-US" dirty="0" smtClean="0"/>
                  <a:t>Compression ratio: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1−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𝐿𝑂𝐶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𝑑𝑒𝑐𝑜𝑚𝑝𝑖𝑙𝑒𝑑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𝐿𝑂𝐶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𝑎𝑠𝑠𝑒𝑚𝑏𝑙𝑦</m:t>
                        </m:r>
                      </m:den>
                    </m:f>
                  </m:oMath>
                </a14:m>
                <a:endParaRPr lang="en-US" b="0" dirty="0" smtClean="0"/>
              </a:p>
              <a:p>
                <a:pPr lvl="2"/>
                <a:r>
                  <a:rPr lang="en-US" dirty="0" smtClean="0"/>
                  <a:t>Smaller is better</a:t>
                </a:r>
              </a:p>
              <a:p>
                <a:pPr lvl="2"/>
                <a:endParaRPr lang="en-US" dirty="0"/>
              </a:p>
              <a:p>
                <a:r>
                  <a:rPr lang="en-US" dirty="0" smtClean="0"/>
                  <a:t>Little emphasis on other applications</a:t>
                </a:r>
              </a:p>
              <a:p>
                <a:pPr lvl="1"/>
                <a:r>
                  <a:rPr lang="en-US" dirty="0" smtClean="0"/>
                  <a:t>Correctness is rarely explicitly tested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3"/>
                <a:stretch>
                  <a:fillRect l="-1704" t="-2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 smtClean="0"/>
              <a:t>8/15/13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Usenix Security 2013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7839D-A323-47F3-909F-548499399628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21627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4748"/>
    </mc:Choice>
    <mc:Fallback xmlns="">
      <p:transition xmlns:p14="http://schemas.microsoft.com/office/powerpoint/2010/main" spd="slow" advTm="74748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Phoenix C Decompiler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 smtClean="0"/>
              <a:t>8/15/13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Usenix Security 2013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7839D-A323-47F3-909F-548499399628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5206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How to build a better decompiler?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Recover missing abstractions one at a time</a:t>
            </a:r>
          </a:p>
          <a:p>
            <a:pPr lvl="1"/>
            <a:r>
              <a:rPr lang="en-US" u="sng" dirty="0" smtClean="0"/>
              <a:t>Semantics </a:t>
            </a:r>
            <a:r>
              <a:rPr lang="en-US" u="sng" dirty="0"/>
              <a:t>preserving</a:t>
            </a:r>
            <a:r>
              <a:rPr lang="en-US" dirty="0"/>
              <a:t> </a:t>
            </a:r>
            <a:r>
              <a:rPr lang="en-US" dirty="0" smtClean="0"/>
              <a:t>abstraction recovery</a:t>
            </a:r>
          </a:p>
          <a:p>
            <a:pPr lvl="2"/>
            <a:r>
              <a:rPr lang="en-US" dirty="0" smtClean="0"/>
              <a:t>Rewrite program to use abstraction</a:t>
            </a:r>
          </a:p>
          <a:p>
            <a:pPr lvl="2"/>
            <a:r>
              <a:rPr lang="en-US" dirty="0" smtClean="0"/>
              <a:t>Don’t change behavior of program </a:t>
            </a:r>
            <a:endParaRPr lang="en-US" dirty="0"/>
          </a:p>
          <a:p>
            <a:pPr lvl="2"/>
            <a:r>
              <a:rPr lang="en-US" dirty="0"/>
              <a:t>S</a:t>
            </a:r>
            <a:r>
              <a:rPr lang="en-US" dirty="0" smtClean="0"/>
              <a:t>imilar </a:t>
            </a:r>
            <a:r>
              <a:rPr lang="en-US" dirty="0"/>
              <a:t>to compiler optimization </a:t>
            </a:r>
            <a:r>
              <a:rPr lang="en-US" dirty="0" smtClean="0"/>
              <a:t>passes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 smtClean="0"/>
              <a:t>8/15/13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Usenix Security 2013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7839D-A323-47F3-909F-548499399628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10131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Semantics Preservation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 smtClean="0"/>
              <a:t>8/15/13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Usenix Security 2013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7839D-A323-47F3-909F-548499399628}" type="slidenum">
              <a:rPr lang="en-US" smtClean="0"/>
              <a:t>12</a:t>
            </a:fld>
            <a:endParaRPr lang="en-US" dirty="0"/>
          </a:p>
        </p:txBody>
      </p:sp>
      <p:sp>
        <p:nvSpPr>
          <p:cNvPr id="69" name="TextBox 68"/>
          <p:cNvSpPr txBox="1"/>
          <p:nvPr/>
        </p:nvSpPr>
        <p:spPr>
          <a:xfrm>
            <a:off x="5943600" y="2431707"/>
            <a:ext cx="3048000" cy="2186130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txBody>
          <a:bodyPr wrap="square" lIns="0" tIns="0" rIns="0" bIns="0" rtlCol="0" anchor="t" anchorCtr="0">
            <a:spAutoFit/>
          </a:bodyPr>
          <a:lstStyle/>
          <a:p>
            <a:pPr>
              <a:lnSpc>
                <a:spcPct val="107000"/>
              </a:lnSpc>
            </a:pPr>
            <a:r>
              <a:rPr lang="en-US" sz="20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s1;</a:t>
            </a:r>
          </a:p>
          <a:p>
            <a:pPr>
              <a:lnSpc>
                <a:spcPct val="107000"/>
              </a:lnSpc>
            </a:pPr>
            <a:r>
              <a:rPr lang="en-US" sz="2000" b="1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while</a:t>
            </a:r>
            <a:r>
              <a:rPr lang="en-US" sz="2000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(e1) {</a:t>
            </a:r>
          </a:p>
          <a:p>
            <a:pPr>
              <a:lnSpc>
                <a:spcPct val="107000"/>
              </a:lnSpc>
            </a:pPr>
            <a:r>
              <a:rPr lang="en-US" sz="20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 </a:t>
            </a:r>
            <a:r>
              <a:rPr lang="en-US" sz="2000" b="1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if</a:t>
            </a:r>
            <a:r>
              <a:rPr lang="en-US" sz="2000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(e2) { </a:t>
            </a:r>
            <a:r>
              <a:rPr lang="en-US" sz="2000" b="1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break</a:t>
            </a:r>
            <a:r>
              <a:rPr lang="en-US" sz="20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; }</a:t>
            </a:r>
          </a:p>
          <a:p>
            <a:pPr>
              <a:lnSpc>
                <a:spcPct val="107000"/>
              </a:lnSpc>
            </a:pPr>
            <a:r>
              <a:rPr lang="en-US" sz="20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 s2;</a:t>
            </a:r>
          </a:p>
          <a:p>
            <a:pPr>
              <a:lnSpc>
                <a:spcPct val="107000"/>
              </a:lnSpc>
            </a:pPr>
            <a:r>
              <a:rPr lang="en-US" sz="20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}</a:t>
            </a:r>
          </a:p>
          <a:p>
            <a:pPr>
              <a:lnSpc>
                <a:spcPct val="107000"/>
              </a:lnSpc>
            </a:pPr>
            <a:r>
              <a:rPr lang="en-US" sz="20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s3;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61706" y="2404743"/>
            <a:ext cx="3573613" cy="2186130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txBody>
          <a:bodyPr wrap="square" lIns="0" tIns="0" rIns="0" bIns="0" rtlCol="0" anchor="t" anchorCtr="0">
            <a:spAutoFit/>
          </a:bodyPr>
          <a:lstStyle/>
          <a:p>
            <a:pPr>
              <a:lnSpc>
                <a:spcPct val="107000"/>
              </a:lnSpc>
            </a:pPr>
            <a:r>
              <a:rPr lang="en-US" sz="20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s1;</a:t>
            </a:r>
          </a:p>
          <a:p>
            <a:pPr>
              <a:lnSpc>
                <a:spcPct val="107000"/>
              </a:lnSpc>
            </a:pPr>
            <a:r>
              <a:rPr lang="en-US" sz="2000" dirty="0">
                <a:solidFill>
                  <a:srgbClr val="A0A00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L1:</a:t>
            </a:r>
            <a:r>
              <a:rPr lang="en-US" sz="20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if</a:t>
            </a:r>
            <a:r>
              <a:rPr lang="en-US" sz="2000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(e1) { </a:t>
            </a:r>
            <a:r>
              <a:rPr lang="en-US" sz="2000" b="1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goto</a:t>
            </a:r>
            <a:r>
              <a:rPr lang="en-US" sz="2000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L2; }     </a:t>
            </a:r>
          </a:p>
          <a:p>
            <a:pPr>
              <a:lnSpc>
                <a:spcPct val="107000"/>
              </a:lnSpc>
            </a:pPr>
            <a:r>
              <a:rPr lang="en-US" sz="2000" b="1" dirty="0">
                <a:solidFill>
                  <a:srgbClr val="00800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   </a:t>
            </a:r>
            <a:r>
              <a:rPr lang="en-US" sz="2000" b="1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else</a:t>
            </a:r>
            <a:r>
              <a:rPr lang="en-US" sz="2000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{ </a:t>
            </a:r>
            <a:r>
              <a:rPr lang="en-US" sz="2000" b="1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goto</a:t>
            </a:r>
            <a:r>
              <a:rPr lang="en-US" sz="2000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L4; }</a:t>
            </a:r>
          </a:p>
          <a:p>
            <a:pPr>
              <a:lnSpc>
                <a:spcPct val="107000"/>
              </a:lnSpc>
            </a:pPr>
            <a:r>
              <a:rPr lang="en-US" sz="2000" dirty="0">
                <a:solidFill>
                  <a:srgbClr val="A0A00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L2:</a:t>
            </a:r>
            <a:r>
              <a:rPr lang="en-US" sz="20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if</a:t>
            </a:r>
            <a:r>
              <a:rPr lang="en-US" sz="2000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(e2) { </a:t>
            </a:r>
            <a:r>
              <a:rPr lang="en-US" sz="2000" b="1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goto</a:t>
            </a:r>
            <a:r>
              <a:rPr lang="en-US" sz="2000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L4; }</a:t>
            </a:r>
          </a:p>
          <a:p>
            <a:pPr>
              <a:lnSpc>
                <a:spcPct val="107000"/>
              </a:lnSpc>
            </a:pPr>
            <a:r>
              <a:rPr lang="en-US" sz="2000" dirty="0">
                <a:solidFill>
                  <a:srgbClr val="A0A00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L3:</a:t>
            </a:r>
            <a:r>
              <a:rPr lang="en-US" sz="20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s2; </a:t>
            </a:r>
            <a:r>
              <a:rPr lang="en-US" sz="2000" b="1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goto</a:t>
            </a:r>
            <a:r>
              <a:rPr lang="en-US" sz="2000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</a:t>
            </a:r>
            <a:r>
              <a:rPr lang="en-US" sz="20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L1;</a:t>
            </a:r>
          </a:p>
          <a:p>
            <a:pPr>
              <a:lnSpc>
                <a:spcPct val="107000"/>
              </a:lnSpc>
            </a:pPr>
            <a:r>
              <a:rPr lang="en-US" sz="2000" dirty="0">
                <a:solidFill>
                  <a:srgbClr val="A0A00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L4:</a:t>
            </a:r>
            <a:r>
              <a:rPr lang="en-US" sz="20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s3;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3" name="Right Arrow 2"/>
          <p:cNvSpPr/>
          <p:nvPr/>
        </p:nvSpPr>
        <p:spPr>
          <a:xfrm>
            <a:off x="3114744" y="994305"/>
            <a:ext cx="3438455" cy="1437401"/>
          </a:xfrm>
          <a:prstGeom prst="rightArrow">
            <a:avLst/>
          </a:prstGeom>
          <a:ln w="12700"/>
          <a:effectLst/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lIns="0" tIns="0" rIns="0" bIns="0" rtlCol="0" anchor="ctr" anchorCtr="1">
            <a:noAutofit/>
          </a:bodyPr>
          <a:lstStyle/>
          <a:p>
            <a:pPr algn="ctr"/>
            <a:r>
              <a:rPr lang="en-US" sz="2400" dirty="0" smtClean="0">
                <a:solidFill>
                  <a:schemeClr val="bg1"/>
                </a:solidFill>
              </a:rPr>
              <a:t>Abstraction</a:t>
            </a:r>
          </a:p>
          <a:p>
            <a:pPr algn="ctr"/>
            <a:r>
              <a:rPr lang="en-US" sz="2400" dirty="0" smtClean="0">
                <a:solidFill>
                  <a:schemeClr val="bg1"/>
                </a:solidFill>
              </a:rPr>
              <a:t>Recovery</a:t>
            </a:r>
          </a:p>
        </p:txBody>
      </p:sp>
      <p:sp>
        <p:nvSpPr>
          <p:cNvPr id="11" name="Equal 10"/>
          <p:cNvSpPr/>
          <p:nvPr/>
        </p:nvSpPr>
        <p:spPr>
          <a:xfrm>
            <a:off x="3774178" y="2648137"/>
            <a:ext cx="2130562" cy="1699342"/>
          </a:xfrm>
          <a:prstGeom prst="mathEqual">
            <a:avLst/>
          </a:prstGeom>
          <a:ln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0" tIns="0" rIns="0" bIns="0" rtlCol="0" anchor="ctr" anchorCtr="1">
            <a:noAutofit/>
          </a:bodyPr>
          <a:lstStyle/>
          <a:p>
            <a:pPr algn="ctr"/>
            <a:endParaRPr lang="en-US" sz="2400" dirty="0" smtClean="0">
              <a:solidFill>
                <a:schemeClr val="bg1"/>
              </a:solidFill>
            </a:endParaRPr>
          </a:p>
        </p:txBody>
      </p:sp>
      <p:sp>
        <p:nvSpPr>
          <p:cNvPr id="12" name="Oval Callout 11"/>
          <p:cNvSpPr/>
          <p:nvPr/>
        </p:nvSpPr>
        <p:spPr>
          <a:xfrm>
            <a:off x="152400" y="4820344"/>
            <a:ext cx="8839200" cy="1898296"/>
          </a:xfrm>
          <a:prstGeom prst="wedgeEllipseCallout">
            <a:avLst>
              <a:gd name="adj1" fmla="val 2637"/>
              <a:gd name="adj2" fmla="val -86401"/>
            </a:avLst>
          </a:prstGeom>
          <a:solidFill>
            <a:schemeClr val="accent1"/>
          </a:solidFill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 anchorCtr="1">
            <a:noAutofit/>
          </a:bodyPr>
          <a:lstStyle/>
          <a:p>
            <a:pPr algn="ctr"/>
            <a:r>
              <a:rPr lang="en-US" sz="4400" dirty="0" smtClean="0">
                <a:solidFill>
                  <a:schemeClr val="bg1"/>
                </a:solidFill>
              </a:rPr>
              <a:t>Are these two programs semantically equivalent?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735930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0513"/>
    </mc:Choice>
    <mc:Fallback xmlns="">
      <p:transition spd="slow" advTm="70513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9" grpId="0" animBg="1"/>
      <p:bldP spid="3" grpId="0" animBg="1"/>
      <p:bldP spid="11" grpId="0" animBg="1"/>
      <p:bldP spid="1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How to build a better decompiler?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Recover missing abstractions one at a time</a:t>
            </a:r>
          </a:p>
          <a:p>
            <a:pPr lvl="1"/>
            <a:r>
              <a:rPr lang="en-US" u="sng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Semantics preserving</a:t>
            </a:r>
            <a:r>
              <a:rPr lang="en-US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abstraction recovery</a:t>
            </a:r>
          </a:p>
          <a:p>
            <a:pPr lvl="2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Rewrite program to use abstraction</a:t>
            </a:r>
            <a:endParaRPr lang="en-US" dirty="0" smtClean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lvl="2"/>
            <a:r>
              <a:rPr lang="en-US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Don’t change behavior of program 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lvl="2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</a:t>
            </a:r>
            <a:r>
              <a:rPr lang="en-US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imilar 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to compiler optimization passes</a:t>
            </a:r>
          </a:p>
          <a:p>
            <a:pPr marL="342900" lvl="1" indent="0">
              <a:buNone/>
            </a:pPr>
            <a:endParaRPr lang="en-US" dirty="0" smtClean="0"/>
          </a:p>
          <a:p>
            <a:r>
              <a:rPr lang="en-US" dirty="0" smtClean="0"/>
              <a:t>Challenge: building semantics preserving recovery algorithms</a:t>
            </a:r>
          </a:p>
          <a:p>
            <a:pPr lvl="1"/>
            <a:r>
              <a:rPr lang="en-US" dirty="0" smtClean="0"/>
              <a:t>This talk</a:t>
            </a:r>
          </a:p>
          <a:p>
            <a:pPr lvl="2"/>
            <a:r>
              <a:rPr lang="en-US" dirty="0" smtClean="0"/>
              <a:t>Focus on control flow structuring</a:t>
            </a:r>
          </a:p>
          <a:p>
            <a:pPr lvl="2"/>
            <a:r>
              <a:rPr lang="en-US" dirty="0"/>
              <a:t>E</a:t>
            </a:r>
            <a:r>
              <a:rPr lang="en-US" dirty="0" smtClean="0"/>
              <a:t>mpirical demonstration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 smtClean="0"/>
              <a:t>8/15/13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Usenix Security 2013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7839D-A323-47F3-909F-548499399628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36902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Phoenix Overview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 smtClean="0"/>
              <a:t>8/15/13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Usenix Security 2013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7839D-A323-47F3-909F-548499399628}" type="slidenum">
              <a:rPr lang="en-US" smtClean="0"/>
              <a:t>14</a:t>
            </a:fld>
            <a:endParaRPr lang="en-US" dirty="0"/>
          </a:p>
        </p:txBody>
      </p:sp>
      <p:sp>
        <p:nvSpPr>
          <p:cNvPr id="5" name="Rounded Rectangle 4"/>
          <p:cNvSpPr/>
          <p:nvPr/>
        </p:nvSpPr>
        <p:spPr>
          <a:xfrm>
            <a:off x="914400" y="2133600"/>
            <a:ext cx="1676400" cy="1676400"/>
          </a:xfrm>
          <a:prstGeom prst="roundRect">
            <a:avLst/>
          </a:prstGeom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nsolas"/>
                <a:ea typeface="+mn-ea"/>
                <a:cs typeface="Consolas"/>
              </a:rPr>
              <a:t>010100101010101001010110111010101001010101010101111100010100010101101001010100010010101101010101011010111</a:t>
            </a:r>
            <a:endParaRPr kumimoji="0" lang="en-US" sz="1400" b="0" i="0" u="none" strike="noStrike" kern="0" cap="none" spc="0" normalizeH="0" baseline="0" noProof="0" dirty="0" smtClean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nsolas"/>
              <a:ea typeface="+mn-ea"/>
              <a:cs typeface="Consolas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124200" y="1981200"/>
            <a:ext cx="4889500" cy="3886200"/>
          </a:xfrm>
          <a:prstGeom prst="roundRect">
            <a:avLst>
              <a:gd name="adj" fmla="val 12063"/>
            </a:avLst>
          </a:prstGeom>
          <a:solidFill>
            <a:schemeClr val="bg1">
              <a:lumMod val="95000"/>
            </a:schemeClr>
          </a:solidFill>
          <a:ln/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lIns="0" tIns="0" rIns="0" bIns="0" rtlCol="0" anchor="ctr" anchorCtr="1">
            <a:noAutofit/>
          </a:bodyPr>
          <a:lstStyle/>
          <a:p>
            <a:pPr algn="ctr"/>
            <a:endParaRPr lang="en-US" sz="2400" dirty="0" smtClean="0">
              <a:solidFill>
                <a:schemeClr val="bg1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3276600" y="2133600"/>
            <a:ext cx="2209800" cy="167640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Consolas"/>
              </a:rPr>
              <a:t>CFG</a:t>
            </a:r>
            <a:r>
              <a:rPr kumimoji="0" lang="en-US" sz="2400" b="0" i="0" u="none" strike="noStrike" kern="0" cap="none" spc="0" normalizeH="0" noProof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Consolas"/>
              </a:rPr>
              <a:t> Recovery</a:t>
            </a:r>
            <a:endParaRPr kumimoji="0" lang="en-US" sz="2400" b="0" i="0" u="none" strike="noStrike" kern="0" cap="none" spc="0" normalizeH="0" baseline="0" noProof="0" dirty="0" smtClean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Consolas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5791200" y="2133600"/>
            <a:ext cx="2057400" cy="167640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Consolas"/>
              </a:rPr>
              <a:t>Type</a:t>
            </a:r>
            <a:r>
              <a:rPr kumimoji="0" lang="en-US" sz="2400" b="0" i="0" u="none" strike="noStrike" kern="0" cap="none" spc="0" normalizeH="0" noProof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Consolas"/>
              </a:rPr>
              <a:t> Recovery</a:t>
            </a:r>
            <a:endParaRPr kumimoji="0" lang="en-US" sz="2400" b="0" i="0" u="none" strike="noStrike" kern="0" cap="none" spc="0" normalizeH="0" baseline="0" noProof="0" dirty="0" smtClean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Consolas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802951" y="4008347"/>
            <a:ext cx="2045649" cy="1676400"/>
          </a:xfrm>
          <a:prstGeom prst="roundRect">
            <a:avLst/>
          </a:prstGeom>
          <a:solidFill>
            <a:schemeClr val="tx2">
              <a:lumMod val="60000"/>
              <a:lumOff val="40000"/>
            </a:schemeClr>
          </a:solidFill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Consolas"/>
              </a:rPr>
              <a:t>Control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kern="0" dirty="0" smtClean="0">
                <a:solidFill>
                  <a:srgbClr val="FFFFFF"/>
                </a:solidFill>
                <a:cs typeface="Consolas"/>
              </a:rPr>
              <a:t>Flow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Consolas"/>
              </a:rPr>
              <a:t>Structuring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06594" y="4008347"/>
            <a:ext cx="2179806" cy="167640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Consolas"/>
              </a:rPr>
              <a:t>Source-code Output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4008347"/>
            <a:ext cx="1676400" cy="1676400"/>
          </a:xfrm>
          <a:prstGeom prst="round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0" dirty="0">
                <a:solidFill>
                  <a:srgbClr val="FFFFFF"/>
                </a:solidFill>
                <a:latin typeface="Consolas"/>
                <a:cs typeface="Consolas"/>
              </a:rPr>
              <a:t>i</a:t>
            </a:r>
            <a:r>
              <a:rPr kumimoji="0" 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nsolas"/>
                <a:ea typeface="+mn-ea"/>
                <a:cs typeface="Consolas"/>
              </a:rPr>
              <a:t>nt f (int x) {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0" noProof="0" dirty="0" smtClean="0">
                <a:solidFill>
                  <a:srgbClr val="FFFFFF"/>
                </a:solidFill>
                <a:latin typeface="Consolas"/>
                <a:cs typeface="Consolas"/>
              </a:rPr>
              <a:t>int y = 1;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nsolas"/>
                <a:ea typeface="+mn-ea"/>
                <a:cs typeface="Consolas"/>
              </a:rPr>
              <a:t>while (x &gt; y) {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0" dirty="0" smtClean="0">
                <a:solidFill>
                  <a:srgbClr val="FFFFFF"/>
                </a:solidFill>
                <a:latin typeface="Consolas"/>
                <a:cs typeface="Consolas"/>
              </a:rPr>
              <a:t>  y++;</a:t>
            </a:r>
            <a:endParaRPr lang="en-US" sz="1200" kern="0" dirty="0">
              <a:solidFill>
                <a:srgbClr val="FFFFFF"/>
              </a:solidFill>
              <a:latin typeface="Consolas"/>
              <a:cs typeface="Consola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nsolas"/>
                <a:ea typeface="+mn-ea"/>
                <a:cs typeface="Consolas"/>
              </a:rPr>
              <a:t>}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0" dirty="0">
              <a:solidFill>
                <a:srgbClr val="FFFFFF"/>
              </a:solidFill>
              <a:latin typeface="Consolas"/>
              <a:cs typeface="Consola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0" dirty="0" smtClean="0">
                <a:solidFill>
                  <a:srgbClr val="FFFFFF"/>
                </a:solidFill>
                <a:latin typeface="Consolas"/>
                <a:cs typeface="Consolas"/>
              </a:rPr>
              <a:t>return y;</a:t>
            </a:r>
            <a:endParaRPr kumimoji="0" lang="en-US" sz="1200" b="0" i="0" u="none" strike="noStrike" kern="0" cap="none" spc="0" normalizeH="0" baseline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nsolas"/>
              <a:ea typeface="+mn-ea"/>
              <a:cs typeface="Consolas"/>
            </a:endParaRPr>
          </a:p>
        </p:txBody>
      </p:sp>
      <p:cxnSp>
        <p:nvCxnSpPr>
          <p:cNvPr id="22" name="Straight Arrow Connector 21"/>
          <p:cNvCxnSpPr>
            <a:stCxn id="5" idx="3"/>
            <a:endCxn id="9" idx="1"/>
          </p:cNvCxnSpPr>
          <p:nvPr/>
        </p:nvCxnSpPr>
        <p:spPr>
          <a:xfrm>
            <a:off x="2590800" y="2971800"/>
            <a:ext cx="685800" cy="0"/>
          </a:xfrm>
          <a:prstGeom prst="straightConnector1">
            <a:avLst/>
          </a:prstGeom>
          <a:ln>
            <a:headEnd type="none"/>
            <a:tailEnd type="arrow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3"/>
            <a:endCxn id="10" idx="1"/>
          </p:cNvCxnSpPr>
          <p:nvPr/>
        </p:nvCxnSpPr>
        <p:spPr>
          <a:xfrm>
            <a:off x="5486400" y="2971800"/>
            <a:ext cx="304800" cy="0"/>
          </a:xfrm>
          <a:prstGeom prst="straightConnector1">
            <a:avLst/>
          </a:prstGeom>
          <a:ln>
            <a:headEnd type="none"/>
            <a:tailEnd type="arrow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" name="Curved Connector 29"/>
          <p:cNvCxnSpPr>
            <a:stCxn id="10" idx="3"/>
            <a:endCxn id="11" idx="3"/>
          </p:cNvCxnSpPr>
          <p:nvPr/>
        </p:nvCxnSpPr>
        <p:spPr>
          <a:xfrm>
            <a:off x="7848600" y="2971800"/>
            <a:ext cx="12700" cy="1874747"/>
          </a:xfrm>
          <a:prstGeom prst="curvedConnector3">
            <a:avLst>
              <a:gd name="adj1" fmla="val 4823008"/>
            </a:avLst>
          </a:prstGeom>
          <a:ln>
            <a:headEnd type="none"/>
            <a:tailEnd type="arrow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>
            <a:endCxn id="12" idx="3"/>
          </p:cNvCxnSpPr>
          <p:nvPr/>
        </p:nvCxnSpPr>
        <p:spPr>
          <a:xfrm flipH="1">
            <a:off x="5486400" y="4846547"/>
            <a:ext cx="304800" cy="0"/>
          </a:xfrm>
          <a:prstGeom prst="straightConnector1">
            <a:avLst/>
          </a:prstGeom>
          <a:ln>
            <a:headEnd type="none"/>
            <a:tailEnd type="arrow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>
            <a:stCxn id="12" idx="1"/>
            <a:endCxn id="14" idx="3"/>
          </p:cNvCxnSpPr>
          <p:nvPr/>
        </p:nvCxnSpPr>
        <p:spPr>
          <a:xfrm flipH="1">
            <a:off x="2590800" y="4846547"/>
            <a:ext cx="715794" cy="0"/>
          </a:xfrm>
          <a:prstGeom prst="straightConnector1">
            <a:avLst/>
          </a:prstGeom>
          <a:ln>
            <a:headEnd type="none"/>
            <a:tailEnd type="arrow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1295400" y="5852953"/>
            <a:ext cx="6565900" cy="646986"/>
          </a:xfrm>
          <a:prstGeom prst="roundRect">
            <a:avLst/>
          </a:prstGeom>
          <a:noFill/>
          <a:ln w="9525" cap="flat" cmpd="sng" algn="ctr">
            <a:noFill/>
            <a:prstDash val="solid"/>
          </a:ln>
          <a:effectLst>
            <a:outerShdw blurRad="40000" dist="35687" dir="2700000" rotWithShape="0">
              <a:srgbClr val="000000">
                <a:alpha val="35000"/>
              </a:srgbClr>
            </a:outerShdw>
          </a:effectLst>
        </p:spPr>
        <p:txBody>
          <a:bodyPr wrap="square" rtlCol="0" anchor="ctr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i="0" u="none" strike="noStrike" kern="0" normalizeH="0" baseline="0" noProof="0" dirty="0" smtClean="0">
                <a:ln w="0"/>
                <a:effectLst/>
                <a:uLnTx/>
                <a:uFillTx/>
                <a:ea typeface="+mn-ea"/>
                <a:cs typeface="Consolas"/>
              </a:rPr>
              <a:t>New in Phoenix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04800" y="3924300"/>
            <a:ext cx="8382000" cy="2603818"/>
          </a:xfrm>
          <a:prstGeom prst="roundRect">
            <a:avLst/>
          </a:prstGeom>
          <a:noFill/>
          <a:ln w="34925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0" tIns="0" rIns="0" bIns="0" rtlCol="0" anchor="ctr" anchorCtr="1">
            <a:noAutofit/>
          </a:bodyPr>
          <a:lstStyle/>
          <a:p>
            <a:pPr algn="ctr"/>
            <a:endParaRPr lang="en-US" sz="2400" dirty="0" smtClean="0">
              <a:solidFill>
                <a:schemeClr val="bg1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653841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2986"/>
    </mc:Choice>
    <mc:Fallback xmlns="">
      <p:transition spd="slow" advTm="32986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build="allAtOnce" animBg="1"/>
      <p:bldP spid="12" grpId="0" animBg="1"/>
      <p:bldP spid="1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/>
          <p:cNvSpPr/>
          <p:nvPr/>
        </p:nvSpPr>
        <p:spPr>
          <a:xfrm>
            <a:off x="0" y="1108292"/>
            <a:ext cx="9144000" cy="3498416"/>
          </a:xfrm>
          <a:prstGeom prst="rect">
            <a:avLst/>
          </a:prstGeom>
          <a:gradFill>
            <a:gsLst>
              <a:gs pos="0">
                <a:schemeClr val="bg2"/>
              </a:gs>
              <a:gs pos="100000">
                <a:schemeClr val="accent3"/>
              </a:gs>
            </a:gsLst>
            <a:lin ang="0" scaled="0"/>
          </a:gradFill>
          <a:ln w="28575" cap="rnd" cmpd="sng">
            <a:noFill/>
            <a:prstDash val="solid"/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 anchorCtr="1">
            <a:noAutofit/>
          </a:bodyPr>
          <a:lstStyle/>
          <a:p>
            <a:pPr algn="ctr"/>
            <a:endParaRPr lang="en-US" sz="2400" dirty="0" smtClean="0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Control Flow Graph Recovery</a:t>
            </a:r>
            <a:endParaRPr lang="en-US" dirty="0">
              <a:solidFill>
                <a:schemeClr val="accent4"/>
              </a:solidFill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 smtClean="0"/>
              <a:t>8/15/13</a:t>
            </a:r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Usenix Security 2013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7839D-A323-47F3-909F-548499399628}" type="slidenum">
              <a:rPr lang="en-US" smtClean="0"/>
              <a:t>15</a:t>
            </a:fld>
            <a:endParaRPr lang="en-US" dirty="0"/>
          </a:p>
        </p:txBody>
      </p:sp>
      <p:sp>
        <p:nvSpPr>
          <p:cNvPr id="5" name="Rounded Rectangle 4"/>
          <p:cNvSpPr/>
          <p:nvPr/>
        </p:nvSpPr>
        <p:spPr>
          <a:xfrm>
            <a:off x="990600" y="2019300"/>
            <a:ext cx="1676400" cy="1676400"/>
          </a:xfrm>
          <a:prstGeom prst="roundRect">
            <a:avLst/>
          </a:prstGeom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nsolas"/>
                <a:ea typeface="+mn-ea"/>
                <a:cs typeface="Consolas"/>
              </a:rPr>
              <a:t>010100101010101001010110111010101001010101010101111100010100010101101001010100010010101101010101011010111</a:t>
            </a:r>
            <a:endParaRPr kumimoji="0" lang="en-US" sz="1400" b="0" i="0" u="none" strike="noStrike" kern="0" cap="none" spc="0" normalizeH="0" baseline="0" noProof="0" dirty="0" smtClean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nsolas"/>
              <a:ea typeface="+mn-ea"/>
              <a:cs typeface="Consolas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381000" y="4618672"/>
            <a:ext cx="8305800" cy="1723549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marL="457200" indent="-457200">
              <a:buClr>
                <a:schemeClr val="accent1"/>
              </a:buClr>
              <a:buFont typeface="Arial" pitchFamily="34" charset="0"/>
              <a:buChar char="•"/>
            </a:pPr>
            <a:r>
              <a:rPr lang="en-US" sz="2800" dirty="0"/>
              <a:t>V</a:t>
            </a:r>
            <a:r>
              <a:rPr lang="en-US" sz="2800" dirty="0" smtClean="0"/>
              <a:t>ertex represents straight-line binary code</a:t>
            </a:r>
          </a:p>
          <a:p>
            <a:pPr marL="457200" indent="-457200">
              <a:buClr>
                <a:schemeClr val="accent1"/>
              </a:buClr>
              <a:buFont typeface="Arial" pitchFamily="34" charset="0"/>
              <a:buChar char="•"/>
            </a:pPr>
            <a:r>
              <a:rPr lang="en-US" sz="2800" dirty="0" smtClean="0"/>
              <a:t>Edges represents possible control-flow transitions</a:t>
            </a:r>
          </a:p>
          <a:p>
            <a:pPr marL="457200" indent="-457200">
              <a:buClr>
                <a:schemeClr val="accent1"/>
              </a:buClr>
              <a:buFont typeface="Arial" pitchFamily="34" charset="0"/>
              <a:buChar char="•"/>
            </a:pPr>
            <a:r>
              <a:rPr lang="en-US" sz="2800" b="1" dirty="0" smtClean="0"/>
              <a:t>Challenge: </a:t>
            </a:r>
            <a:r>
              <a:rPr lang="en-US" sz="2800" dirty="0" smtClean="0"/>
              <a:t>Where does </a:t>
            </a:r>
            <a:r>
              <a:rPr lang="en-US" sz="2400" dirty="0" smtClean="0">
                <a:latin typeface="Consolas" pitchFamily="49" charset="0"/>
                <a:cs typeface="Consolas" pitchFamily="49" charset="0"/>
              </a:rPr>
              <a:t>jmp %eax </a:t>
            </a:r>
            <a:r>
              <a:rPr lang="en-US" sz="2800" dirty="0" smtClean="0"/>
              <a:t>go?</a:t>
            </a:r>
          </a:p>
          <a:p>
            <a:pPr marL="457200" indent="-457200">
              <a:buClr>
                <a:schemeClr val="accent1"/>
              </a:buClr>
              <a:buFont typeface="Arial" pitchFamily="34" charset="0"/>
              <a:buChar char="•"/>
            </a:pPr>
            <a:r>
              <a:rPr lang="en-US" sz="2800" dirty="0" smtClean="0"/>
              <a:t>Phoenix uses Value Set Analysis </a:t>
            </a:r>
            <a:r>
              <a:rPr lang="en-US" sz="20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[Balakrishnan10]</a:t>
            </a:r>
            <a:endParaRPr lang="en-US" sz="2800" dirty="0" smtClean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" name="Right Arrow 2"/>
          <p:cNvSpPr/>
          <p:nvPr/>
        </p:nvSpPr>
        <p:spPr>
          <a:xfrm>
            <a:off x="3009900" y="2241363"/>
            <a:ext cx="2667000" cy="1232274"/>
          </a:xfrm>
          <a:prstGeom prst="rightArrow">
            <a:avLst/>
          </a:prstGeom>
          <a:ln/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lIns="0" tIns="0" rIns="0" bIns="0" rtlCol="0" anchor="ctr" anchorCtr="1">
            <a:noAutofit/>
          </a:bodyPr>
          <a:lstStyle/>
          <a:p>
            <a:pPr algn="ctr"/>
            <a:r>
              <a:rPr lang="en-US" sz="2400" dirty="0" smtClean="0">
                <a:solidFill>
                  <a:schemeClr val="bg1"/>
                </a:solidFill>
              </a:rPr>
              <a:t>CFG Recovery</a:t>
            </a:r>
          </a:p>
        </p:txBody>
      </p:sp>
      <p:grpSp>
        <p:nvGrpSpPr>
          <p:cNvPr id="28" name="Group 27"/>
          <p:cNvGrpSpPr/>
          <p:nvPr/>
        </p:nvGrpSpPr>
        <p:grpSpPr>
          <a:xfrm>
            <a:off x="6019800" y="1143000"/>
            <a:ext cx="2209800" cy="3429000"/>
            <a:chOff x="6181272" y="1143000"/>
            <a:chExt cx="2209800" cy="3429000"/>
          </a:xfrm>
        </p:grpSpPr>
        <p:sp>
          <p:nvSpPr>
            <p:cNvPr id="32" name="Rounded Rectangle 31"/>
            <p:cNvSpPr/>
            <p:nvPr/>
          </p:nvSpPr>
          <p:spPr>
            <a:xfrm>
              <a:off x="6181272" y="1143000"/>
              <a:ext cx="2209800" cy="3429000"/>
            </a:xfrm>
            <a:prstGeom prst="roundRect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lIns="0" tIns="0" rIns="0" bIns="0" rtlCol="0" anchor="ctr" anchorCtr="1">
              <a:noAutofit/>
            </a:bodyPr>
            <a:lstStyle/>
            <a:p>
              <a:pPr algn="ctr"/>
              <a:endParaRPr lang="en-US" sz="2400" dirty="0" smtClean="0">
                <a:solidFill>
                  <a:schemeClr val="bg1"/>
                </a:solidFill>
              </a:endParaRPr>
            </a:p>
          </p:txBody>
        </p:sp>
        <p:grpSp>
          <p:nvGrpSpPr>
            <p:cNvPr id="27" name="Group 26"/>
            <p:cNvGrpSpPr/>
            <p:nvPr/>
          </p:nvGrpSpPr>
          <p:grpSpPr>
            <a:xfrm>
              <a:off x="6477000" y="1219200"/>
              <a:ext cx="1499958" cy="3276600"/>
              <a:chOff x="6477000" y="1219200"/>
              <a:chExt cx="1499958" cy="3276600"/>
            </a:xfrm>
          </p:grpSpPr>
          <p:grpSp>
            <p:nvGrpSpPr>
              <p:cNvPr id="8" name="Group 7"/>
              <p:cNvGrpSpPr/>
              <p:nvPr/>
            </p:nvGrpSpPr>
            <p:grpSpPr>
              <a:xfrm>
                <a:off x="6705600" y="1219200"/>
                <a:ext cx="1271358" cy="3276600"/>
                <a:chOff x="522896" y="1447800"/>
                <a:chExt cx="1271358" cy="3276600"/>
              </a:xfrm>
            </p:grpSpPr>
            <p:sp>
              <p:nvSpPr>
                <p:cNvPr id="10" name="Oval 9"/>
                <p:cNvSpPr/>
                <p:nvPr/>
              </p:nvSpPr>
              <p:spPr>
                <a:xfrm>
                  <a:off x="522896" y="1447800"/>
                  <a:ext cx="304800" cy="3048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 anchorCtr="1">
                  <a:noAutofit/>
                </a:bodyPr>
                <a:lstStyle/>
                <a:p>
                  <a:pPr algn="ctr"/>
                  <a:endParaRPr lang="en-US" sz="2800" dirty="0" smtClean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1" name="Oval 10"/>
                <p:cNvSpPr/>
                <p:nvPr/>
              </p:nvSpPr>
              <p:spPr>
                <a:xfrm>
                  <a:off x="522896" y="1981200"/>
                  <a:ext cx="304800" cy="3048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 anchorCtr="1">
                  <a:noAutofit/>
                </a:bodyPr>
                <a:lstStyle/>
                <a:p>
                  <a:pPr algn="ctr"/>
                  <a:endParaRPr lang="en-US" sz="2800" dirty="0" smtClean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2" name="Oval 11"/>
                <p:cNvSpPr/>
                <p:nvPr/>
              </p:nvSpPr>
              <p:spPr>
                <a:xfrm>
                  <a:off x="1136256" y="2592222"/>
                  <a:ext cx="304800" cy="3048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 anchorCtr="1">
                  <a:noAutofit/>
                </a:bodyPr>
                <a:lstStyle/>
                <a:p>
                  <a:pPr algn="ctr"/>
                  <a:endParaRPr lang="en-US" sz="2800" dirty="0" smtClean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3" name="Oval 12"/>
                <p:cNvSpPr/>
                <p:nvPr/>
              </p:nvSpPr>
              <p:spPr>
                <a:xfrm>
                  <a:off x="1489454" y="2977488"/>
                  <a:ext cx="304800" cy="3048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 anchorCtr="1">
                  <a:noAutofit/>
                </a:bodyPr>
                <a:lstStyle/>
                <a:p>
                  <a:pPr algn="ctr"/>
                  <a:endParaRPr lang="en-US" sz="2800" dirty="0" smtClean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4" name="Oval 13"/>
                <p:cNvSpPr/>
                <p:nvPr/>
              </p:nvSpPr>
              <p:spPr>
                <a:xfrm>
                  <a:off x="783059" y="2971800"/>
                  <a:ext cx="304800" cy="3048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 anchorCtr="1">
                  <a:noAutofit/>
                </a:bodyPr>
                <a:lstStyle/>
                <a:p>
                  <a:pPr algn="ctr"/>
                  <a:endParaRPr lang="en-US" sz="2800" dirty="0" smtClean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5" name="Oval 14"/>
                <p:cNvSpPr/>
                <p:nvPr/>
              </p:nvSpPr>
              <p:spPr>
                <a:xfrm>
                  <a:off x="1136256" y="3429000"/>
                  <a:ext cx="304800" cy="3048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 anchorCtr="1">
                  <a:noAutofit/>
                </a:bodyPr>
                <a:lstStyle/>
                <a:p>
                  <a:pPr algn="ctr"/>
                  <a:endParaRPr lang="en-US" sz="2800" dirty="0" smtClean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6" name="Oval 15"/>
                <p:cNvSpPr/>
                <p:nvPr/>
              </p:nvSpPr>
              <p:spPr>
                <a:xfrm>
                  <a:off x="522896" y="3886200"/>
                  <a:ext cx="304800" cy="3048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 anchorCtr="1">
                  <a:noAutofit/>
                </a:bodyPr>
                <a:lstStyle/>
                <a:p>
                  <a:pPr algn="ctr"/>
                  <a:endParaRPr lang="en-US" sz="2800" dirty="0" smtClean="0">
                    <a:solidFill>
                      <a:schemeClr val="bg1"/>
                    </a:solidFill>
                  </a:endParaRPr>
                </a:p>
              </p:txBody>
            </p:sp>
            <p:cxnSp>
              <p:nvCxnSpPr>
                <p:cNvPr id="17" name="Straight Arrow Connector 16"/>
                <p:cNvCxnSpPr>
                  <a:stCxn id="10" idx="4"/>
                  <a:endCxn id="11" idx="0"/>
                </p:cNvCxnSpPr>
                <p:nvPr/>
              </p:nvCxnSpPr>
              <p:spPr>
                <a:xfrm>
                  <a:off x="675296" y="1752600"/>
                  <a:ext cx="0" cy="22860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Arrow Connector 17"/>
                <p:cNvCxnSpPr>
                  <a:stCxn id="11" idx="5"/>
                  <a:endCxn id="12" idx="1"/>
                </p:cNvCxnSpPr>
                <p:nvPr/>
              </p:nvCxnSpPr>
              <p:spPr>
                <a:xfrm>
                  <a:off x="783059" y="2241363"/>
                  <a:ext cx="397834" cy="395496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Arrow Connector 18"/>
                <p:cNvCxnSpPr>
                  <a:stCxn id="12" idx="5"/>
                  <a:endCxn id="13" idx="1"/>
                </p:cNvCxnSpPr>
                <p:nvPr/>
              </p:nvCxnSpPr>
              <p:spPr>
                <a:xfrm>
                  <a:off x="1396419" y="2852385"/>
                  <a:ext cx="137672" cy="16974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Arrow Connector 19"/>
                <p:cNvCxnSpPr>
                  <a:stCxn id="12" idx="3"/>
                  <a:endCxn id="14" idx="7"/>
                </p:cNvCxnSpPr>
                <p:nvPr/>
              </p:nvCxnSpPr>
              <p:spPr>
                <a:xfrm flipH="1">
                  <a:off x="1043222" y="2852385"/>
                  <a:ext cx="137671" cy="164052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Arrow Connector 20"/>
                <p:cNvCxnSpPr>
                  <a:stCxn id="14" idx="5"/>
                  <a:endCxn id="15" idx="1"/>
                </p:cNvCxnSpPr>
                <p:nvPr/>
              </p:nvCxnSpPr>
              <p:spPr>
                <a:xfrm>
                  <a:off x="1043222" y="3231963"/>
                  <a:ext cx="137671" cy="241674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Arrow Connector 21"/>
                <p:cNvCxnSpPr>
                  <a:stCxn id="11" idx="4"/>
                  <a:endCxn id="16" idx="0"/>
                </p:cNvCxnSpPr>
                <p:nvPr/>
              </p:nvCxnSpPr>
              <p:spPr>
                <a:xfrm>
                  <a:off x="675296" y="2286000"/>
                  <a:ext cx="0" cy="160020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3" name="Oval 22"/>
                <p:cNvSpPr/>
                <p:nvPr/>
              </p:nvSpPr>
              <p:spPr>
                <a:xfrm>
                  <a:off x="522896" y="4419600"/>
                  <a:ext cx="304800" cy="3048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 anchorCtr="1">
                  <a:noAutofit/>
                </a:bodyPr>
                <a:lstStyle/>
                <a:p>
                  <a:pPr algn="ctr"/>
                  <a:endParaRPr lang="en-US" sz="2800" dirty="0" smtClean="0">
                    <a:solidFill>
                      <a:schemeClr val="bg1"/>
                    </a:solidFill>
                  </a:endParaRPr>
                </a:p>
              </p:txBody>
            </p:sp>
            <p:cxnSp>
              <p:nvCxnSpPr>
                <p:cNvPr id="24" name="Straight Arrow Connector 23"/>
                <p:cNvCxnSpPr>
                  <a:stCxn id="16" idx="4"/>
                  <a:endCxn id="23" idx="0"/>
                </p:cNvCxnSpPr>
                <p:nvPr/>
              </p:nvCxnSpPr>
              <p:spPr>
                <a:xfrm>
                  <a:off x="675296" y="4191000"/>
                  <a:ext cx="0" cy="22860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Curved Connector 24"/>
                <p:cNvCxnSpPr>
                  <a:stCxn id="15" idx="6"/>
                  <a:endCxn id="11" idx="6"/>
                </p:cNvCxnSpPr>
                <p:nvPr/>
              </p:nvCxnSpPr>
              <p:spPr>
                <a:xfrm flipH="1" flipV="1">
                  <a:off x="827696" y="2133600"/>
                  <a:ext cx="613360" cy="1447800"/>
                </a:xfrm>
                <a:prstGeom prst="curvedConnector3">
                  <a:avLst>
                    <a:gd name="adj1" fmla="val -79546"/>
                  </a:avLst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9" name="Straight Arrow Connector 8"/>
              <p:cNvCxnSpPr>
                <a:stCxn id="13" idx="3"/>
                <a:endCxn id="15" idx="7"/>
              </p:cNvCxnSpPr>
              <p:nvPr/>
            </p:nvCxnSpPr>
            <p:spPr>
              <a:xfrm flipH="1">
                <a:off x="7579123" y="3009051"/>
                <a:ext cx="137672" cy="235986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TextBox 25"/>
              <p:cNvSpPr txBox="1"/>
              <p:nvPr/>
            </p:nvSpPr>
            <p:spPr>
              <a:xfrm>
                <a:off x="7010400" y="2069068"/>
                <a:ext cx="457200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 anchorCtr="0">
                <a:sp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lang="en-US" sz="2400" dirty="0"/>
                  <a:t>e</a:t>
                </a:r>
              </a:p>
            </p:txBody>
          </p:sp>
          <p:sp>
            <p:nvSpPr>
              <p:cNvPr id="30" name="TextBox 29"/>
              <p:cNvSpPr txBox="1"/>
              <p:nvPr/>
            </p:nvSpPr>
            <p:spPr>
              <a:xfrm>
                <a:off x="6477000" y="2069068"/>
                <a:ext cx="457200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 anchorCtr="0">
                <a:spAutoFit/>
              </a:bodyPr>
              <a:lstStyle/>
              <a:p>
                <a:pPr>
                  <a:buClr>
                    <a:schemeClr val="accent1"/>
                  </a:buClr>
                </a:pPr>
                <a:r>
                  <a:rPr lang="en-US" sz="2400" dirty="0"/>
                  <a:t>¬</a:t>
                </a:r>
                <a:r>
                  <a:rPr lang="en-US" sz="2400" dirty="0" smtClean="0"/>
                  <a:t>e</a:t>
                </a:r>
                <a:endParaRPr lang="en-US" sz="2400" dirty="0"/>
              </a:p>
            </p:txBody>
          </p:sp>
        </p:grpSp>
      </p:grpSp>
    </p:spTree>
    <p:custDataLst>
      <p:tags r:id="rId1"/>
    </p:custDataLst>
    <p:extLst>
      <p:ext uri="{BB962C8B-B14F-4D97-AF65-F5344CB8AC3E}">
        <p14:creationId xmlns:p14="http://schemas.microsoft.com/office/powerpoint/2010/main" val="20921745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7957"/>
    </mc:Choice>
    <mc:Fallback xmlns="">
      <p:transition xmlns:p14="http://schemas.microsoft.com/office/powerpoint/2010/main" spd="slow" advTm="67957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9100" y="152400"/>
            <a:ext cx="8305800" cy="1143000"/>
          </a:xfrm>
        </p:spPr>
        <p:txBody>
          <a:bodyPr>
            <a:normAutofit fontScale="90000"/>
          </a:bodyPr>
          <a:lstStyle/>
          <a:p>
            <a:pPr>
              <a:buClr>
                <a:schemeClr val="accent1"/>
              </a:buClr>
            </a:pPr>
            <a:r>
              <a:rPr lang="en-US" dirty="0">
                <a:cs typeface="Consolas" pitchFamily="49" charset="0"/>
              </a:rPr>
              <a:t>Type Inference on Executables (TIE) </a:t>
            </a:r>
            <a:r>
              <a:rPr lang="en-US" sz="3200" dirty="0"/>
              <a:t>[Lee11]</a:t>
            </a:r>
            <a:endParaRPr lang="en-US" sz="3200" dirty="0">
              <a:cs typeface="Consolas" pitchFamily="49" charset="0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 smtClean="0"/>
              <a:t>8/15/13</a:t>
            </a:r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Usenix Security 2013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7839D-A323-47F3-909F-548499399628}" type="slidenum">
              <a:rPr lang="en-US" smtClean="0"/>
              <a:t>16</a:t>
            </a:fld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2133600" y="2541758"/>
            <a:ext cx="4876800" cy="658642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>
              <a:lnSpc>
                <a:spcPct val="107000"/>
              </a:lnSpc>
            </a:pPr>
            <a:r>
              <a:rPr lang="en-US" sz="4000" dirty="0" err="1">
                <a:solidFill>
                  <a:srgbClr val="0000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movl</a:t>
            </a:r>
            <a:r>
              <a:rPr lang="en-US" sz="40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(</a:t>
            </a:r>
            <a:r>
              <a:rPr lang="en-US" sz="4000" dirty="0">
                <a:solidFill>
                  <a:srgbClr val="19177C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%</a:t>
            </a:r>
            <a:r>
              <a:rPr lang="en-US" sz="4000" dirty="0" err="1">
                <a:solidFill>
                  <a:srgbClr val="19177C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eax</a:t>
            </a:r>
            <a:r>
              <a:rPr lang="en-US" sz="40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), </a:t>
            </a:r>
            <a:r>
              <a:rPr lang="en-US" sz="4000" dirty="0">
                <a:solidFill>
                  <a:srgbClr val="19177C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%</a:t>
            </a:r>
            <a:r>
              <a:rPr lang="en-US" sz="4000" dirty="0" err="1">
                <a:solidFill>
                  <a:srgbClr val="19177C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ebx</a:t>
            </a:r>
            <a:endParaRPr lang="en-US" sz="3600" dirty="0">
              <a:latin typeface="Consolas" panose="020B0609020204030204" pitchFamily="49" charset="0"/>
              <a:ea typeface="Times New Roman" panose="02020603050405020304" pitchFamily="18" charset="0"/>
              <a:cs typeface="Consolas" panose="020B0609020204030204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3505200"/>
            <a:ext cx="8305800" cy="2462213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marL="457200" indent="-457200">
              <a:buClr>
                <a:schemeClr val="accent1"/>
              </a:buClr>
              <a:buFont typeface="Arial" pitchFamily="34" charset="0"/>
              <a:buChar char="•"/>
            </a:pPr>
            <a:r>
              <a:rPr lang="en-US" sz="4000" dirty="0" smtClean="0">
                <a:cs typeface="Consolas" pitchFamily="49" charset="0"/>
              </a:rPr>
              <a:t>Constraint 1: </a:t>
            </a:r>
            <a:r>
              <a:rPr lang="en-US" sz="4000" dirty="0">
                <a:solidFill>
                  <a:schemeClr val="tx2"/>
                </a:solidFill>
                <a:latin typeface="Consolas"/>
                <a:cs typeface="Consolas"/>
              </a:rPr>
              <a:t>%</a:t>
            </a:r>
            <a:r>
              <a:rPr lang="en-US" sz="4000" dirty="0" err="1">
                <a:solidFill>
                  <a:schemeClr val="tx2"/>
                </a:solidFill>
                <a:latin typeface="Consolas"/>
                <a:cs typeface="Consolas"/>
              </a:rPr>
              <a:t>eax</a:t>
            </a:r>
            <a:r>
              <a:rPr lang="en-US" sz="4000" dirty="0" smtClean="0"/>
              <a:t> is a pointer to type </a:t>
            </a:r>
            <a:r>
              <a:rPr lang="en-US" sz="4000" dirty="0" smtClean="0">
                <a:solidFill>
                  <a:schemeClr val="tx2"/>
                </a:solidFill>
                <a:latin typeface="Consolas"/>
                <a:cs typeface="Consolas"/>
              </a:rPr>
              <a:t>&lt;a</a:t>
            </a:r>
            <a:r>
              <a:rPr lang="en-US" sz="4000" dirty="0">
                <a:solidFill>
                  <a:schemeClr val="tx2"/>
                </a:solidFill>
                <a:latin typeface="Consolas"/>
                <a:cs typeface="Consolas"/>
              </a:rPr>
              <a:t>&gt;</a:t>
            </a:r>
          </a:p>
          <a:p>
            <a:pPr marL="457200" indent="-457200">
              <a:buClr>
                <a:schemeClr val="accent1"/>
              </a:buClr>
              <a:buFont typeface="Arial" pitchFamily="34" charset="0"/>
              <a:buChar char="•"/>
            </a:pPr>
            <a:r>
              <a:rPr lang="en-US" sz="4000" dirty="0" smtClean="0">
                <a:cs typeface="Consolas" pitchFamily="49" charset="0"/>
              </a:rPr>
              <a:t>Constraint 2: </a:t>
            </a:r>
            <a:r>
              <a:rPr lang="en-US" sz="4000" dirty="0">
                <a:solidFill>
                  <a:schemeClr val="tx2"/>
                </a:solidFill>
                <a:latin typeface="Consolas"/>
                <a:cs typeface="Consolas"/>
              </a:rPr>
              <a:t>%</a:t>
            </a:r>
            <a:r>
              <a:rPr lang="en-US" sz="4000" dirty="0" err="1" smtClean="0">
                <a:solidFill>
                  <a:schemeClr val="tx2"/>
                </a:solidFill>
                <a:latin typeface="Consolas" pitchFamily="49" charset="0"/>
                <a:cs typeface="Consolas" pitchFamily="49" charset="0"/>
              </a:rPr>
              <a:t>ebx</a:t>
            </a:r>
            <a:r>
              <a:rPr lang="en-US" sz="4000" dirty="0" smtClean="0">
                <a:cs typeface="Consolas" pitchFamily="49" charset="0"/>
              </a:rPr>
              <a:t> has type </a:t>
            </a:r>
            <a:r>
              <a:rPr lang="en-US" sz="4000" dirty="0">
                <a:solidFill>
                  <a:schemeClr val="tx2"/>
                </a:solidFill>
                <a:latin typeface="Consolas"/>
                <a:cs typeface="Consolas"/>
              </a:rPr>
              <a:t>&lt;a&gt;</a:t>
            </a:r>
          </a:p>
          <a:p>
            <a:pPr marL="457200" indent="-457200">
              <a:buClr>
                <a:schemeClr val="accent1"/>
              </a:buClr>
              <a:buFont typeface="Arial" pitchFamily="34" charset="0"/>
              <a:buChar char="•"/>
            </a:pPr>
            <a:r>
              <a:rPr lang="en-US" sz="4000" dirty="0" smtClean="0">
                <a:cs typeface="Consolas" pitchFamily="49" charset="0"/>
              </a:rPr>
              <a:t>Solve all constraints to find </a:t>
            </a:r>
            <a:r>
              <a:rPr lang="en-US" sz="4000" dirty="0">
                <a:solidFill>
                  <a:schemeClr val="tx2"/>
                </a:solidFill>
                <a:latin typeface="Consolas"/>
                <a:cs typeface="Consolas"/>
              </a:rPr>
              <a:t>&lt;a&gt;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2400" y="1447800"/>
            <a:ext cx="8839200" cy="732576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 anchorCtr="1">
            <a:noAutofit/>
          </a:bodyPr>
          <a:lstStyle/>
          <a:p>
            <a:pPr lvl="0" algn="ctr"/>
            <a:r>
              <a:rPr lang="en-US" sz="3400" dirty="0">
                <a:solidFill>
                  <a:schemeClr val="bg1"/>
                </a:solidFill>
              </a:rPr>
              <a:t>How does each instruction constrain the types?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3076587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0705"/>
    </mc:Choice>
    <mc:Fallback xmlns="">
      <p:transition spd="slow" advTm="6070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Control Flow Structuring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 smtClean="0"/>
              <a:t>8/15/13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Usenix Security 2013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7839D-A323-47F3-909F-548499399628}" type="slidenum">
              <a:rPr lang="en-US" smtClean="0"/>
              <a:t>17</a:t>
            </a:fld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5395165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759"/>
    </mc:Choice>
    <mc:Fallback xmlns="">
      <p:transition xmlns:p14="http://schemas.microsoft.com/office/powerpoint/2010/main" spd="slow" advTm="4759"/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Rectangle 55"/>
          <p:cNvSpPr/>
          <p:nvPr/>
        </p:nvSpPr>
        <p:spPr>
          <a:xfrm>
            <a:off x="0" y="3938475"/>
            <a:ext cx="9144000" cy="2587752"/>
          </a:xfrm>
          <a:prstGeom prst="rect">
            <a:avLst/>
          </a:prstGeom>
          <a:gradFill>
            <a:gsLst>
              <a:gs pos="0">
                <a:schemeClr val="bg2"/>
              </a:gs>
              <a:gs pos="100000">
                <a:schemeClr val="accent3"/>
              </a:gs>
            </a:gsLst>
            <a:lin ang="10800000" scaled="0"/>
          </a:gradFill>
          <a:ln w="28575" cap="rnd" cmpd="sng">
            <a:noFill/>
            <a:prstDash val="solid"/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 anchorCtr="1">
            <a:noAutofit/>
          </a:bodyPr>
          <a:lstStyle/>
          <a:p>
            <a:pPr algn="ctr"/>
            <a:endParaRPr lang="en-US" sz="2400" dirty="0" smtClean="0">
              <a:solidFill>
                <a:schemeClr val="bg1"/>
              </a:solidFill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0" y="1073584"/>
            <a:ext cx="9144000" cy="2587752"/>
          </a:xfrm>
          <a:prstGeom prst="rect">
            <a:avLst/>
          </a:prstGeom>
          <a:gradFill>
            <a:gsLst>
              <a:gs pos="0">
                <a:schemeClr val="bg2"/>
              </a:gs>
              <a:gs pos="100000">
                <a:schemeClr val="accent3"/>
              </a:gs>
            </a:gsLst>
            <a:lin ang="0" scaled="0"/>
          </a:gradFill>
          <a:ln w="28575" cap="rnd" cmpd="sng">
            <a:noFill/>
            <a:prstDash val="solid"/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 anchorCtr="1">
            <a:noAutofit/>
          </a:bodyPr>
          <a:lstStyle/>
          <a:p>
            <a:pPr algn="ctr"/>
            <a:endParaRPr lang="en-US" sz="2400" dirty="0" smtClean="0">
              <a:solidFill>
                <a:schemeClr val="bg1"/>
              </a:solidFill>
            </a:endParaRPr>
          </a:p>
        </p:txBody>
      </p:sp>
      <p:sp>
        <p:nvSpPr>
          <p:cNvPr id="52" name="Right Arrow 51"/>
          <p:cNvSpPr/>
          <p:nvPr/>
        </p:nvSpPr>
        <p:spPr>
          <a:xfrm>
            <a:off x="2819400" y="1345935"/>
            <a:ext cx="3276600" cy="1854465"/>
          </a:xfrm>
          <a:prstGeom prst="rightArrow">
            <a:avLst/>
          </a:prstGeom>
          <a:ln/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lIns="0" tIns="0" rIns="0" bIns="0" rtlCol="0" anchor="ctr" anchorCtr="1">
            <a:noAutofit/>
          </a:bodyPr>
          <a:lstStyle/>
          <a:p>
            <a:pPr algn="ctr"/>
            <a:r>
              <a:rPr lang="en-US" sz="3200" dirty="0" smtClean="0">
                <a:solidFill>
                  <a:schemeClr val="bg1"/>
                </a:solidFill>
              </a:rPr>
              <a:t>Compilation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70465" y="1087300"/>
            <a:ext cx="1987196" cy="2560320"/>
          </a:xfrm>
          <a:prstGeom prst="round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lIns="0" tIns="0" rIns="0" bIns="0" rtlCol="0" anchor="ctr" anchorCtr="1">
            <a:noAutofit/>
          </a:bodyPr>
          <a:lstStyle/>
          <a:p>
            <a:pPr algn="ctr"/>
            <a:endParaRPr lang="en-US" sz="2400" dirty="0" smtClean="0">
              <a:solidFill>
                <a:schemeClr val="bg1"/>
              </a:solidFill>
            </a:endParaRPr>
          </a:p>
        </p:txBody>
      </p:sp>
      <p:cxnSp>
        <p:nvCxnSpPr>
          <p:cNvPr id="16" name="Straight Arrow Connector 15"/>
          <p:cNvCxnSpPr>
            <a:endCxn id="21" idx="0"/>
          </p:cNvCxnSpPr>
          <p:nvPr/>
        </p:nvCxnSpPr>
        <p:spPr>
          <a:xfrm flipH="1">
            <a:off x="7778880" y="1199792"/>
            <a:ext cx="5960" cy="365524"/>
          </a:xfrm>
          <a:prstGeom prst="straightConnector1">
            <a:avLst/>
          </a:prstGeom>
          <a:ln cap="rnd">
            <a:solidFill>
              <a:schemeClr val="tx1"/>
            </a:solidFill>
            <a:miter lim="800000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>
            <a:stCxn id="23" idx="4"/>
            <a:endCxn id="24" idx="1"/>
          </p:cNvCxnSpPr>
          <p:nvPr/>
        </p:nvCxnSpPr>
        <p:spPr>
          <a:xfrm>
            <a:off x="7506909" y="2479565"/>
            <a:ext cx="173560" cy="375164"/>
          </a:xfrm>
          <a:prstGeom prst="straightConnector1">
            <a:avLst/>
          </a:prstGeom>
          <a:ln cap="rnd">
            <a:solidFill>
              <a:schemeClr val="tx1"/>
            </a:solidFill>
            <a:miter lim="800000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stCxn id="22" idx="4"/>
            <a:endCxn id="24" idx="7"/>
          </p:cNvCxnSpPr>
          <p:nvPr/>
        </p:nvCxnSpPr>
        <p:spPr>
          <a:xfrm flipH="1">
            <a:off x="7877291" y="2467989"/>
            <a:ext cx="182942" cy="386739"/>
          </a:xfrm>
          <a:prstGeom prst="straightConnector1">
            <a:avLst/>
          </a:prstGeom>
          <a:ln cap="rnd">
            <a:solidFill>
              <a:schemeClr val="tx1"/>
            </a:solidFill>
            <a:miter lim="800000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stCxn id="21" idx="3"/>
            <a:endCxn id="23" idx="0"/>
          </p:cNvCxnSpPr>
          <p:nvPr/>
        </p:nvCxnSpPr>
        <p:spPr>
          <a:xfrm flipH="1">
            <a:off x="7506909" y="1802901"/>
            <a:ext cx="173560" cy="398315"/>
          </a:xfrm>
          <a:prstGeom prst="straightConnector1">
            <a:avLst/>
          </a:prstGeom>
          <a:ln cap="rnd">
            <a:solidFill>
              <a:schemeClr val="tx1"/>
            </a:solidFill>
            <a:miter lim="800000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stCxn id="21" idx="5"/>
            <a:endCxn id="22" idx="0"/>
          </p:cNvCxnSpPr>
          <p:nvPr/>
        </p:nvCxnSpPr>
        <p:spPr>
          <a:xfrm>
            <a:off x="7877291" y="1802901"/>
            <a:ext cx="182942" cy="386740"/>
          </a:xfrm>
          <a:prstGeom prst="straightConnector1">
            <a:avLst/>
          </a:prstGeom>
          <a:ln cap="rnd">
            <a:solidFill>
              <a:schemeClr val="tx1"/>
            </a:solidFill>
            <a:miter lim="800000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>
            <a:spLocks noChangeAspect="1"/>
          </p:cNvSpPr>
          <p:nvPr/>
        </p:nvSpPr>
        <p:spPr>
          <a:xfrm>
            <a:off x="7639705" y="1565316"/>
            <a:ext cx="278348" cy="278348"/>
          </a:xfrm>
          <a:prstGeom prst="ellipse">
            <a:avLst/>
          </a:prstGeom>
          <a:solidFill>
            <a:schemeClr val="accent2"/>
          </a:solidFill>
          <a:ln>
            <a:noFill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 anchorCtr="1">
            <a:noAutofit/>
          </a:bodyPr>
          <a:lstStyle/>
          <a:p>
            <a:pPr algn="ctr"/>
            <a:endParaRPr lang="en-US" sz="2800" dirty="0" smtClean="0">
              <a:solidFill>
                <a:schemeClr val="bg1"/>
              </a:solidFill>
            </a:endParaRPr>
          </a:p>
        </p:txBody>
      </p:sp>
      <p:sp>
        <p:nvSpPr>
          <p:cNvPr id="22" name="Oval 21"/>
          <p:cNvSpPr>
            <a:spLocks noChangeAspect="1"/>
          </p:cNvSpPr>
          <p:nvPr/>
        </p:nvSpPr>
        <p:spPr>
          <a:xfrm>
            <a:off x="7921059" y="2189641"/>
            <a:ext cx="278348" cy="278348"/>
          </a:xfrm>
          <a:prstGeom prst="ellipse">
            <a:avLst/>
          </a:prstGeom>
          <a:solidFill>
            <a:schemeClr val="accent2"/>
          </a:solidFill>
          <a:ln>
            <a:noFill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 anchorCtr="1">
            <a:noAutofit/>
          </a:bodyPr>
          <a:lstStyle/>
          <a:p>
            <a:pPr algn="ctr"/>
            <a:endParaRPr lang="en-US" sz="2800" dirty="0" smtClean="0">
              <a:solidFill>
                <a:schemeClr val="bg1"/>
              </a:solidFill>
            </a:endParaRPr>
          </a:p>
        </p:txBody>
      </p:sp>
      <p:sp>
        <p:nvSpPr>
          <p:cNvPr id="23" name="Oval 22"/>
          <p:cNvSpPr>
            <a:spLocks noChangeAspect="1"/>
          </p:cNvSpPr>
          <p:nvPr/>
        </p:nvSpPr>
        <p:spPr>
          <a:xfrm>
            <a:off x="7367735" y="2201216"/>
            <a:ext cx="278348" cy="278348"/>
          </a:xfrm>
          <a:prstGeom prst="ellipse">
            <a:avLst/>
          </a:prstGeom>
          <a:solidFill>
            <a:schemeClr val="accent2"/>
          </a:solidFill>
          <a:ln>
            <a:noFill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 anchorCtr="1">
            <a:noAutofit/>
          </a:bodyPr>
          <a:lstStyle/>
          <a:p>
            <a:pPr algn="ctr"/>
            <a:endParaRPr lang="en-US" sz="2800" dirty="0" smtClean="0">
              <a:solidFill>
                <a:schemeClr val="bg1"/>
              </a:solidFill>
            </a:endParaRPr>
          </a:p>
        </p:txBody>
      </p:sp>
      <p:sp>
        <p:nvSpPr>
          <p:cNvPr id="24" name="Oval 23"/>
          <p:cNvSpPr>
            <a:spLocks noChangeAspect="1"/>
          </p:cNvSpPr>
          <p:nvPr/>
        </p:nvSpPr>
        <p:spPr>
          <a:xfrm>
            <a:off x="7639705" y="2813966"/>
            <a:ext cx="278348" cy="278348"/>
          </a:xfrm>
          <a:prstGeom prst="ellipse">
            <a:avLst/>
          </a:prstGeom>
          <a:solidFill>
            <a:schemeClr val="accent2"/>
          </a:solidFill>
          <a:ln>
            <a:noFill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 anchorCtr="1">
            <a:noAutofit/>
          </a:bodyPr>
          <a:lstStyle/>
          <a:p>
            <a:pPr algn="ctr"/>
            <a:endParaRPr lang="en-US" sz="2800" dirty="0" smtClean="0">
              <a:solidFill>
                <a:schemeClr val="bg1"/>
              </a:solidFill>
            </a:endParaRPr>
          </a:p>
        </p:txBody>
      </p:sp>
      <p:cxnSp>
        <p:nvCxnSpPr>
          <p:cNvPr id="25" name="Straight Arrow Connector 24"/>
          <p:cNvCxnSpPr>
            <a:stCxn id="24" idx="4"/>
          </p:cNvCxnSpPr>
          <p:nvPr/>
        </p:nvCxnSpPr>
        <p:spPr>
          <a:xfrm>
            <a:off x="7778880" y="3092314"/>
            <a:ext cx="2980" cy="327467"/>
          </a:xfrm>
          <a:prstGeom prst="straightConnector1">
            <a:avLst/>
          </a:prstGeom>
          <a:ln cap="rnd">
            <a:solidFill>
              <a:schemeClr val="tx1"/>
            </a:solidFill>
            <a:miter lim="800000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995004" y="1676400"/>
            <a:ext cx="450258" cy="369332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>
              <a:buClr>
                <a:schemeClr val="accent1"/>
              </a:buClr>
            </a:pPr>
            <a:r>
              <a:rPr lang="en-US" sz="2400" dirty="0"/>
              <a:t>¬</a:t>
            </a:r>
            <a:r>
              <a:rPr lang="en-US" sz="2400" dirty="0" smtClean="0"/>
              <a:t>e</a:t>
            </a:r>
            <a:endParaRPr lang="en-US" sz="2400" dirty="0"/>
          </a:p>
        </p:txBody>
      </p:sp>
      <p:sp>
        <p:nvSpPr>
          <p:cNvPr id="27" name="TextBox 26"/>
          <p:cNvSpPr txBox="1"/>
          <p:nvPr/>
        </p:nvSpPr>
        <p:spPr>
          <a:xfrm>
            <a:off x="7385404" y="1700070"/>
            <a:ext cx="253685" cy="20493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>
              <a:buClr>
                <a:schemeClr val="accent1"/>
              </a:buClr>
            </a:pPr>
            <a:r>
              <a:rPr lang="en-US" sz="2400" dirty="0" smtClean="0"/>
              <a:t>e</a:t>
            </a:r>
            <a:endParaRPr lang="en-US" sz="24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Control Flow Structuring</a:t>
            </a:r>
            <a:endParaRPr lang="en-US" dirty="0"/>
          </a:p>
        </p:txBody>
      </p:sp>
      <p:sp>
        <p:nvSpPr>
          <p:cNvPr id="11" name="Content Placeholder 5"/>
          <p:cNvSpPr>
            <a:spLocks noGrp="1"/>
          </p:cNvSpPr>
          <p:nvPr>
            <p:ph idx="1"/>
          </p:nvPr>
        </p:nvSpPr>
        <p:spPr>
          <a:xfrm>
            <a:off x="228601" y="1087300"/>
            <a:ext cx="1987195" cy="2560320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anchor="ctr">
            <a:spAutoFit/>
          </a:bodyPr>
          <a:lstStyle/>
          <a:p>
            <a:pPr marL="0" indent="0">
              <a:buNone/>
            </a:pPr>
            <a:r>
              <a:rPr lang="en-US" b="1" dirty="0" smtClean="0">
                <a:solidFill>
                  <a:srgbClr val="FF0080"/>
                </a:solidFill>
                <a:latin typeface="Consolas"/>
                <a:cs typeface="Consolas"/>
              </a:rPr>
              <a:t>if</a:t>
            </a:r>
            <a:r>
              <a:rPr lang="en-US" dirty="0" smtClean="0">
                <a:latin typeface="Consolas"/>
                <a:cs typeface="Consolas"/>
              </a:rPr>
              <a:t> (e)</a:t>
            </a:r>
          </a:p>
          <a:p>
            <a:pPr marL="0" indent="0">
              <a:buNone/>
            </a:pPr>
            <a:r>
              <a:rPr lang="en-US" dirty="0">
                <a:latin typeface="Consolas"/>
                <a:cs typeface="Consolas"/>
              </a:rPr>
              <a:t> </a:t>
            </a:r>
            <a:r>
              <a:rPr lang="en-US" dirty="0" smtClean="0">
                <a:latin typeface="Consolas"/>
                <a:cs typeface="Consolas"/>
              </a:rPr>
              <a:t> {…;} </a:t>
            </a:r>
          </a:p>
          <a:p>
            <a:pPr marL="0" indent="0">
              <a:buNone/>
            </a:pPr>
            <a:r>
              <a:rPr lang="en-US" b="1" dirty="0">
                <a:solidFill>
                  <a:srgbClr val="FF0080"/>
                </a:solidFill>
                <a:latin typeface="Consolas"/>
                <a:cs typeface="Consolas"/>
              </a:rPr>
              <a:t>else</a:t>
            </a:r>
          </a:p>
          <a:p>
            <a:pPr marL="0" indent="0">
              <a:buNone/>
            </a:pPr>
            <a:r>
              <a:rPr lang="en-US" dirty="0">
                <a:latin typeface="Consolas"/>
                <a:cs typeface="Consolas"/>
              </a:rPr>
              <a:t> </a:t>
            </a:r>
            <a:r>
              <a:rPr lang="en-US" dirty="0" smtClean="0">
                <a:latin typeface="Consolas"/>
                <a:cs typeface="Consolas"/>
              </a:rPr>
              <a:t> {…;}</a:t>
            </a:r>
            <a:endParaRPr lang="en-US" dirty="0">
              <a:latin typeface="Consolas"/>
              <a:cs typeface="Consola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 smtClean="0"/>
              <a:t>8/15/13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Usenix Security 2013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7839D-A323-47F3-909F-548499399628}" type="slidenum">
              <a:rPr lang="en-US" smtClean="0"/>
              <a:t>18</a:t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>
            <a:off x="0" y="3733800"/>
            <a:ext cx="9144000" cy="0"/>
          </a:xfrm>
          <a:prstGeom prst="line">
            <a:avLst/>
          </a:prstGeom>
          <a:ln>
            <a:prstDash val="dash"/>
            <a:headEnd type="none"/>
            <a:tailEnd type="non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>
            <a:off x="1816249" y="2111858"/>
            <a:ext cx="5422751" cy="174142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 flipV="1">
            <a:off x="1801482" y="2362919"/>
            <a:ext cx="6039396" cy="930398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endCxn id="27" idx="0"/>
          </p:cNvCxnSpPr>
          <p:nvPr/>
        </p:nvCxnSpPr>
        <p:spPr>
          <a:xfrm>
            <a:off x="1801482" y="1491592"/>
            <a:ext cx="5710765" cy="208478"/>
          </a:xfrm>
          <a:prstGeom prst="straightConnector1">
            <a:avLst/>
          </a:prstGeom>
          <a:ln>
            <a:headEnd type="arrow"/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Content Placeholder 5"/>
          <p:cNvSpPr txBox="1">
            <a:spLocks/>
          </p:cNvSpPr>
          <p:nvPr/>
        </p:nvSpPr>
        <p:spPr>
          <a:xfrm>
            <a:off x="6764468" y="3952191"/>
            <a:ext cx="2028821" cy="2560320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rtlCol="0" anchor="ctr" anchorCtr="0">
            <a:spAutoFit/>
          </a:bodyPr>
          <a:lstStyle>
            <a:lvl1pPr marL="292100" indent="-292100" algn="l" defTabSz="4572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Calibri"/>
              </a:defRPr>
            </a:lvl1pPr>
            <a:lvl2pPr marL="635000" indent="-292100" algn="l" defTabSz="4572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Calibri"/>
              </a:defRPr>
            </a:lvl2pPr>
            <a:lvl3pPr marL="914400" indent="-228600" algn="l" defTabSz="4572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Calibri"/>
              </a:defRPr>
            </a:lvl3pPr>
            <a:lvl4pPr marL="1143000" indent="-228600" algn="l" defTabSz="4572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/>
              <a:buChar char="–"/>
              <a:tabLst/>
              <a:defRPr sz="2000" kern="1200">
                <a:solidFill>
                  <a:schemeClr val="tx1"/>
                </a:solidFill>
                <a:latin typeface="+mn-lt"/>
                <a:ea typeface="+mn-ea"/>
                <a:cs typeface="Calibri"/>
              </a:defRPr>
            </a:lvl4pPr>
            <a:lvl5pPr marL="1320800" indent="-177800" algn="l" defTabSz="4572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Calibri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b="1" dirty="0">
                <a:solidFill>
                  <a:srgbClr val="FF0080"/>
                </a:solidFill>
                <a:latin typeface="Consolas"/>
                <a:cs typeface="Consolas"/>
              </a:rPr>
              <a:t>if</a:t>
            </a:r>
            <a:r>
              <a:rPr lang="en-US" dirty="0" smtClean="0">
                <a:latin typeface="Consolas"/>
                <a:cs typeface="Consolas"/>
              </a:rPr>
              <a:t> (e)</a:t>
            </a:r>
          </a:p>
          <a:p>
            <a:pPr marL="0" indent="0">
              <a:buFont typeface="Arial"/>
              <a:buNone/>
            </a:pPr>
            <a:r>
              <a:rPr lang="en-US" dirty="0" smtClean="0">
                <a:latin typeface="Consolas"/>
                <a:cs typeface="Consolas"/>
              </a:rPr>
              <a:t>  {…;} </a:t>
            </a:r>
          </a:p>
          <a:p>
            <a:pPr marL="0" indent="0">
              <a:buFont typeface="Arial"/>
              <a:buNone/>
            </a:pPr>
            <a:r>
              <a:rPr lang="en-US" b="1" dirty="0">
                <a:solidFill>
                  <a:srgbClr val="FF0080"/>
                </a:solidFill>
                <a:latin typeface="Consolas"/>
                <a:cs typeface="Consolas"/>
              </a:rPr>
              <a:t>else</a:t>
            </a:r>
          </a:p>
          <a:p>
            <a:pPr marL="0" indent="0">
              <a:buFont typeface="Arial"/>
              <a:buNone/>
            </a:pPr>
            <a:r>
              <a:rPr lang="en-US" dirty="0" smtClean="0">
                <a:latin typeface="Consolas"/>
                <a:cs typeface="Consolas"/>
              </a:rPr>
              <a:t>  {…;}</a:t>
            </a:r>
            <a:endParaRPr lang="en-US" dirty="0">
              <a:latin typeface="Consolas"/>
              <a:cs typeface="Consolas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6770465" y="4447996"/>
            <a:ext cx="2144935" cy="2486204"/>
          </a:xfrm>
          <a:prstGeom prst="rect">
            <a:avLst/>
          </a:prstGeom>
          <a:noFill/>
          <a:ln w="28575" cap="rnd" cmpd="sng">
            <a:noFill/>
            <a:prstDash val="solid"/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b" anchorCtr="1">
            <a:noAutofit/>
          </a:bodyPr>
          <a:lstStyle/>
          <a:p>
            <a:pPr algn="ctr"/>
            <a:r>
              <a:rPr lang="en-US" sz="23900" dirty="0" smtClean="0">
                <a:solidFill>
                  <a:srgbClr val="000000"/>
                </a:solidFill>
              </a:rPr>
              <a:t>?</a:t>
            </a:r>
          </a:p>
        </p:txBody>
      </p:sp>
      <p:grpSp>
        <p:nvGrpSpPr>
          <p:cNvPr id="50" name="Group 49"/>
          <p:cNvGrpSpPr/>
          <p:nvPr/>
        </p:nvGrpSpPr>
        <p:grpSpPr>
          <a:xfrm>
            <a:off x="225602" y="3952191"/>
            <a:ext cx="1987196" cy="2560320"/>
            <a:chOff x="401283" y="3907426"/>
            <a:chExt cx="1987196" cy="2536846"/>
          </a:xfrm>
        </p:grpSpPr>
        <p:sp>
          <p:nvSpPr>
            <p:cNvPr id="37" name="Rounded Rectangle 36"/>
            <p:cNvSpPr/>
            <p:nvPr/>
          </p:nvSpPr>
          <p:spPr>
            <a:xfrm>
              <a:off x="401283" y="3907426"/>
              <a:ext cx="1987196" cy="2536846"/>
            </a:xfrm>
            <a:prstGeom prst="roundRect">
              <a:avLst/>
            </a:prstGeom>
            <a:ln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lIns="0" tIns="0" rIns="0" bIns="0" rtlCol="0" anchor="ctr" anchorCtr="1">
              <a:noAutofit/>
            </a:bodyPr>
            <a:lstStyle/>
            <a:p>
              <a:pPr algn="ctr"/>
              <a:endParaRPr lang="en-US" sz="2400" dirty="0" smtClean="0">
                <a:solidFill>
                  <a:schemeClr val="bg1"/>
                </a:solidFill>
              </a:endParaRPr>
            </a:p>
          </p:txBody>
        </p:sp>
        <p:cxnSp>
          <p:nvCxnSpPr>
            <p:cNvPr id="38" name="Straight Arrow Connector 37"/>
            <p:cNvCxnSpPr>
              <a:endCxn id="43" idx="0"/>
            </p:cNvCxnSpPr>
            <p:nvPr/>
          </p:nvCxnSpPr>
          <p:spPr>
            <a:xfrm flipH="1">
              <a:off x="1404359" y="4034268"/>
              <a:ext cx="5960" cy="365524"/>
            </a:xfrm>
            <a:prstGeom prst="straightConnector1">
              <a:avLst/>
            </a:prstGeom>
            <a:ln cap="rnd">
              <a:solidFill>
                <a:schemeClr val="tx1"/>
              </a:solidFill>
              <a:miter lim="800000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/>
            <p:cNvCxnSpPr>
              <a:stCxn id="45" idx="4"/>
              <a:endCxn id="46" idx="1"/>
            </p:cNvCxnSpPr>
            <p:nvPr/>
          </p:nvCxnSpPr>
          <p:spPr>
            <a:xfrm>
              <a:off x="1132388" y="5314041"/>
              <a:ext cx="173560" cy="375164"/>
            </a:xfrm>
            <a:prstGeom prst="straightConnector1">
              <a:avLst/>
            </a:prstGeom>
            <a:ln cap="rnd">
              <a:solidFill>
                <a:schemeClr val="tx1"/>
              </a:solidFill>
              <a:miter lim="800000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/>
            <p:cNvCxnSpPr>
              <a:stCxn id="44" idx="4"/>
              <a:endCxn id="46" idx="7"/>
            </p:cNvCxnSpPr>
            <p:nvPr/>
          </p:nvCxnSpPr>
          <p:spPr>
            <a:xfrm flipH="1">
              <a:off x="1502770" y="5302465"/>
              <a:ext cx="182942" cy="386739"/>
            </a:xfrm>
            <a:prstGeom prst="straightConnector1">
              <a:avLst/>
            </a:prstGeom>
            <a:ln cap="rnd">
              <a:solidFill>
                <a:schemeClr val="tx1"/>
              </a:solidFill>
              <a:miter lim="800000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/>
            <p:cNvCxnSpPr>
              <a:stCxn id="43" idx="3"/>
              <a:endCxn id="45" idx="0"/>
            </p:cNvCxnSpPr>
            <p:nvPr/>
          </p:nvCxnSpPr>
          <p:spPr>
            <a:xfrm flipH="1">
              <a:off x="1132388" y="4637377"/>
              <a:ext cx="173560" cy="398315"/>
            </a:xfrm>
            <a:prstGeom prst="straightConnector1">
              <a:avLst/>
            </a:prstGeom>
            <a:ln cap="rnd">
              <a:solidFill>
                <a:schemeClr val="tx1"/>
              </a:solidFill>
              <a:miter lim="800000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/>
            <p:cNvCxnSpPr>
              <a:stCxn id="43" idx="5"/>
              <a:endCxn id="44" idx="0"/>
            </p:cNvCxnSpPr>
            <p:nvPr/>
          </p:nvCxnSpPr>
          <p:spPr>
            <a:xfrm>
              <a:off x="1502770" y="4637377"/>
              <a:ext cx="182942" cy="386740"/>
            </a:xfrm>
            <a:prstGeom prst="straightConnector1">
              <a:avLst/>
            </a:prstGeom>
            <a:ln cap="rnd">
              <a:solidFill>
                <a:schemeClr val="tx1"/>
              </a:solidFill>
              <a:miter lim="800000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Oval 42"/>
            <p:cNvSpPr>
              <a:spLocks noChangeAspect="1"/>
            </p:cNvSpPr>
            <p:nvPr/>
          </p:nvSpPr>
          <p:spPr>
            <a:xfrm>
              <a:off x="1265184" y="4399792"/>
              <a:ext cx="278348" cy="27834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1">
              <a:noAutofit/>
            </a:bodyPr>
            <a:lstStyle/>
            <a:p>
              <a:pPr algn="ctr"/>
              <a:endParaRPr lang="en-US" sz="2800" dirty="0" smtClean="0">
                <a:solidFill>
                  <a:schemeClr val="bg1"/>
                </a:solidFill>
              </a:endParaRPr>
            </a:p>
          </p:txBody>
        </p:sp>
        <p:sp>
          <p:nvSpPr>
            <p:cNvPr id="44" name="Oval 43"/>
            <p:cNvSpPr>
              <a:spLocks noChangeAspect="1"/>
            </p:cNvSpPr>
            <p:nvPr/>
          </p:nvSpPr>
          <p:spPr>
            <a:xfrm>
              <a:off x="1546538" y="5024117"/>
              <a:ext cx="278348" cy="27834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1">
              <a:noAutofit/>
            </a:bodyPr>
            <a:lstStyle/>
            <a:p>
              <a:pPr algn="ctr"/>
              <a:endParaRPr lang="en-US" sz="2800" dirty="0" smtClean="0">
                <a:solidFill>
                  <a:schemeClr val="bg1"/>
                </a:solidFill>
              </a:endParaRPr>
            </a:p>
          </p:txBody>
        </p:sp>
        <p:sp>
          <p:nvSpPr>
            <p:cNvPr id="45" name="Oval 44"/>
            <p:cNvSpPr>
              <a:spLocks noChangeAspect="1"/>
            </p:cNvSpPr>
            <p:nvPr/>
          </p:nvSpPr>
          <p:spPr>
            <a:xfrm>
              <a:off x="993214" y="5035692"/>
              <a:ext cx="278348" cy="27834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1">
              <a:noAutofit/>
            </a:bodyPr>
            <a:lstStyle/>
            <a:p>
              <a:pPr algn="ctr"/>
              <a:endParaRPr lang="en-US" sz="2800" dirty="0" smtClean="0">
                <a:solidFill>
                  <a:schemeClr val="bg1"/>
                </a:solidFill>
              </a:endParaRPr>
            </a:p>
          </p:txBody>
        </p:sp>
        <p:sp>
          <p:nvSpPr>
            <p:cNvPr id="46" name="Oval 45"/>
            <p:cNvSpPr>
              <a:spLocks noChangeAspect="1"/>
            </p:cNvSpPr>
            <p:nvPr/>
          </p:nvSpPr>
          <p:spPr>
            <a:xfrm>
              <a:off x="1265184" y="5648442"/>
              <a:ext cx="278348" cy="27834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1">
              <a:noAutofit/>
            </a:bodyPr>
            <a:lstStyle/>
            <a:p>
              <a:pPr algn="ctr"/>
              <a:endParaRPr lang="en-US" sz="2800" dirty="0" smtClean="0">
                <a:solidFill>
                  <a:schemeClr val="bg1"/>
                </a:solidFill>
              </a:endParaRPr>
            </a:p>
          </p:txBody>
        </p:sp>
        <p:cxnSp>
          <p:nvCxnSpPr>
            <p:cNvPr id="47" name="Straight Arrow Connector 46"/>
            <p:cNvCxnSpPr>
              <a:stCxn id="46" idx="4"/>
            </p:cNvCxnSpPr>
            <p:nvPr/>
          </p:nvCxnSpPr>
          <p:spPr>
            <a:xfrm>
              <a:off x="1404359" y="5926790"/>
              <a:ext cx="2980" cy="327467"/>
            </a:xfrm>
            <a:prstGeom prst="straightConnector1">
              <a:avLst/>
            </a:prstGeom>
            <a:ln cap="rnd">
              <a:solidFill>
                <a:schemeClr val="tx1"/>
              </a:solidFill>
              <a:miter lim="800000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47"/>
            <p:cNvSpPr txBox="1"/>
            <p:nvPr/>
          </p:nvSpPr>
          <p:spPr>
            <a:xfrm>
              <a:off x="1620483" y="4510876"/>
              <a:ext cx="450258" cy="369332"/>
            </a:xfrm>
            <a:prstGeom prst="rect">
              <a:avLst/>
            </a:prstGeom>
            <a:noFill/>
          </p:spPr>
          <p:txBody>
            <a:bodyPr wrap="square" lIns="0" tIns="0" rIns="0" bIns="0" rtlCol="0" anchor="t" anchorCtr="0">
              <a:spAutoFit/>
            </a:bodyPr>
            <a:lstStyle/>
            <a:p>
              <a:pPr>
                <a:buClr>
                  <a:schemeClr val="accent1"/>
                </a:buClr>
              </a:pPr>
              <a:r>
                <a:rPr lang="en-US" sz="2400" dirty="0"/>
                <a:t>¬</a:t>
              </a:r>
              <a:r>
                <a:rPr lang="en-US" sz="2400" dirty="0" smtClean="0"/>
                <a:t>e</a:t>
              </a:r>
              <a:endParaRPr lang="en-US" sz="2400" dirty="0"/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1010883" y="4534546"/>
              <a:ext cx="253685" cy="204930"/>
            </a:xfrm>
            <a:prstGeom prst="rect">
              <a:avLst/>
            </a:prstGeom>
            <a:noFill/>
          </p:spPr>
          <p:txBody>
            <a:bodyPr wrap="square" lIns="0" tIns="0" rIns="0" bIns="0" rtlCol="0" anchor="t" anchorCtr="0">
              <a:spAutoFit/>
            </a:bodyPr>
            <a:lstStyle/>
            <a:p>
              <a:pPr>
                <a:buClr>
                  <a:schemeClr val="accent1"/>
                </a:buClr>
              </a:pPr>
              <a:r>
                <a:rPr lang="en-US" sz="2400" dirty="0" smtClean="0"/>
                <a:t>e</a:t>
              </a:r>
              <a:endParaRPr lang="en-US" sz="2400" dirty="0"/>
            </a:p>
          </p:txBody>
        </p:sp>
      </p:grpSp>
      <p:sp>
        <p:nvSpPr>
          <p:cNvPr id="51" name="Right Arrow 50"/>
          <p:cNvSpPr/>
          <p:nvPr/>
        </p:nvSpPr>
        <p:spPr>
          <a:xfrm>
            <a:off x="2895600" y="4317735"/>
            <a:ext cx="3276600" cy="1854465"/>
          </a:xfrm>
          <a:prstGeom prst="rightArrow">
            <a:avLst/>
          </a:prstGeom>
          <a:ln/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lIns="0" tIns="0" rIns="0" bIns="0" rtlCol="0" anchor="ctr" anchorCtr="1">
            <a:noAutofit/>
          </a:bodyPr>
          <a:lstStyle/>
          <a:p>
            <a:pPr algn="ctr"/>
            <a:r>
              <a:rPr lang="en-US" sz="3200" dirty="0" smtClean="0">
                <a:solidFill>
                  <a:schemeClr val="bg1"/>
                </a:solidFill>
              </a:rPr>
              <a:t>Control Flow Structuring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339844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8779"/>
    </mc:Choice>
    <mc:Fallback xmlns="">
      <p:transition xmlns:p14="http://schemas.microsoft.com/office/powerpoint/2010/main" spd="slow" advTm="48779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500"/>
                            </p:stCondLst>
                            <p:childTnLst>
                              <p:par>
                                <p:cTn id="3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500"/>
                            </p:stCondLst>
                            <p:childTnLst>
                              <p:par>
                                <p:cTn id="3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500"/>
                            </p:stCondLst>
                            <p:childTnLst>
                              <p:par>
                                <p:cTn id="41" presetID="1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500"/>
                            </p:stCondLst>
                            <p:childTnLst>
                              <p:par>
                                <p:cTn id="4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" grpId="0" animBg="1"/>
      <p:bldP spid="12" grpId="0" animBg="1"/>
      <p:bldP spid="21" grpId="0" animBg="1"/>
      <p:bldP spid="22" grpId="0" animBg="1"/>
      <p:bldP spid="23" grpId="0" animBg="1"/>
      <p:bldP spid="24" grpId="0" animBg="1"/>
      <p:bldP spid="26" grpId="0"/>
      <p:bldP spid="27" grpId="0"/>
      <p:bldP spid="53" grpId="0" animBg="1"/>
      <p:bldP spid="55" grpId="0"/>
      <p:bldP spid="55" grpId="1"/>
      <p:bldP spid="5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smtClean="0"/>
              <a:t>Control Flow Structuring:</a:t>
            </a:r>
            <a:br>
              <a:rPr lang="en-US" dirty="0" smtClean="0"/>
            </a:br>
            <a:r>
              <a:rPr lang="en-US" dirty="0" smtClean="0"/>
              <a:t>Don’t Reinvent the Wheel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Existing algorithms</a:t>
            </a:r>
            <a:endParaRPr lang="en-US" dirty="0"/>
          </a:p>
          <a:p>
            <a:pPr lvl="1"/>
            <a:r>
              <a:rPr lang="en-US" dirty="0" smtClean="0"/>
              <a:t>Interval analysis </a:t>
            </a:r>
            <a:r>
              <a:rPr lang="en-US" sz="18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[Allen70]</a:t>
            </a:r>
          </a:p>
          <a:p>
            <a:pPr lvl="2"/>
            <a:r>
              <a:rPr lang="en-US" dirty="0" smtClean="0"/>
              <a:t>Identifies intervals or regions</a:t>
            </a:r>
          </a:p>
          <a:p>
            <a:pPr lvl="1"/>
            <a:r>
              <a:rPr lang="en-US" dirty="0" smtClean="0"/>
              <a:t>Structural analysis </a:t>
            </a:r>
            <a:r>
              <a:rPr lang="en-US" sz="18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[Sharir80]</a:t>
            </a:r>
          </a:p>
          <a:p>
            <a:pPr lvl="2"/>
            <a:r>
              <a:rPr lang="en-US" dirty="0" smtClean="0"/>
              <a:t>Classifies regions into more specific types</a:t>
            </a:r>
          </a:p>
          <a:p>
            <a:pPr marL="0" indent="0">
              <a:buNone/>
            </a:pPr>
            <a:endParaRPr lang="en-US" dirty="0" smtClean="0"/>
          </a:p>
          <a:p>
            <a:r>
              <a:rPr lang="en-US" dirty="0" smtClean="0"/>
              <a:t>Both have been used in decompilers</a:t>
            </a:r>
          </a:p>
          <a:p>
            <a:endParaRPr lang="en-US" dirty="0"/>
          </a:p>
          <a:p>
            <a:r>
              <a:rPr lang="en-US" dirty="0" smtClean="0"/>
              <a:t>Phoenix based on structural analysis</a:t>
            </a:r>
          </a:p>
          <a:p>
            <a:pPr lvl="2"/>
            <a:endParaRPr lang="en-US" dirty="0" smtClean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lvl="1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 smtClean="0"/>
              <a:t>8/15/13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Usenix Security 2013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7839D-A323-47F3-909F-548499399628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47007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8446"/>
    </mc:Choice>
    <mc:Fallback xmlns="">
      <p:transition xmlns:p14="http://schemas.microsoft.com/office/powerpoint/2010/main" spd="slow" advTm="48446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Structural Analysis</a:t>
            </a:r>
            <a:endParaRPr lang="en-US" dirty="0">
              <a:solidFill>
                <a:schemeClr val="accent4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Iteratively match patterns to CFG</a:t>
            </a:r>
          </a:p>
          <a:p>
            <a:pPr lvl="1"/>
            <a:r>
              <a:rPr lang="en-US" dirty="0" smtClean="0"/>
              <a:t>Collapse matching regions</a:t>
            </a:r>
          </a:p>
          <a:p>
            <a:pPr lvl="1"/>
            <a:endParaRPr lang="en-US" dirty="0"/>
          </a:p>
          <a:p>
            <a:endParaRPr lang="en-US" dirty="0" smtClean="0"/>
          </a:p>
          <a:p>
            <a:endParaRPr lang="en-US" dirty="0"/>
          </a:p>
          <a:p>
            <a:endParaRPr lang="en-US" dirty="0" smtClean="0"/>
          </a:p>
          <a:p>
            <a:endParaRPr lang="en-US" dirty="0"/>
          </a:p>
          <a:p>
            <a:endParaRPr lang="en-US" dirty="0" smtClean="0"/>
          </a:p>
          <a:p>
            <a:r>
              <a:rPr lang="en-US" dirty="0" smtClean="0"/>
              <a:t>Returns a </a:t>
            </a:r>
            <a:r>
              <a:rPr lang="en-US" dirty="0" smtClean="0">
                <a:solidFill>
                  <a:schemeClr val="tx2"/>
                </a:solidFill>
              </a:rPr>
              <a:t>skeleton</a:t>
            </a:r>
            <a:r>
              <a:rPr lang="en-US" dirty="0" smtClean="0"/>
              <a:t>:    while (e) { if (e’) {…} }</a:t>
            </a:r>
          </a:p>
          <a:p>
            <a:pPr lvl="1"/>
            <a:endParaRPr lang="en-US" dirty="0" smtClean="0"/>
          </a:p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 smtClean="0"/>
              <a:t>8/15/13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Usenix Security 2013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7839D-A323-47F3-909F-548499399628}" type="slidenum">
              <a:rPr lang="en-US" smtClean="0"/>
              <a:t>20</a:t>
            </a:fld>
            <a:endParaRPr lang="en-US" dirty="0"/>
          </a:p>
        </p:txBody>
      </p:sp>
      <p:grpSp>
        <p:nvGrpSpPr>
          <p:cNvPr id="7" name="Group 6"/>
          <p:cNvGrpSpPr/>
          <p:nvPr/>
        </p:nvGrpSpPr>
        <p:grpSpPr>
          <a:xfrm>
            <a:off x="1589156" y="2138635"/>
            <a:ext cx="2068444" cy="3195365"/>
            <a:chOff x="6694556" y="969778"/>
            <a:chExt cx="2068444" cy="3195365"/>
          </a:xfrm>
        </p:grpSpPr>
        <p:cxnSp>
          <p:nvCxnSpPr>
            <p:cNvPr id="8" name="Straight Arrow Connector 7"/>
            <p:cNvCxnSpPr>
              <a:stCxn id="11" idx="2"/>
              <a:endCxn id="18" idx="0"/>
            </p:cNvCxnSpPr>
            <p:nvPr/>
          </p:nvCxnSpPr>
          <p:spPr>
            <a:xfrm>
              <a:off x="7728778" y="1448955"/>
              <a:ext cx="0" cy="357868"/>
            </a:xfrm>
            <a:prstGeom prst="straightConnector1">
              <a:avLst/>
            </a:prstGeom>
            <a:ln cap="rnd">
              <a:solidFill>
                <a:schemeClr val="tx1"/>
              </a:solidFill>
              <a:miter lim="800000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12" idx="2"/>
              <a:endCxn id="13" idx="0"/>
            </p:cNvCxnSpPr>
            <p:nvPr/>
          </p:nvCxnSpPr>
          <p:spPr>
            <a:xfrm>
              <a:off x="7119178" y="3124200"/>
              <a:ext cx="609600" cy="381000"/>
            </a:xfrm>
            <a:prstGeom prst="straightConnector1">
              <a:avLst/>
            </a:prstGeom>
            <a:ln cap="rnd">
              <a:solidFill>
                <a:schemeClr val="tx1"/>
              </a:solidFill>
              <a:miter lim="800000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/>
            <p:cNvCxnSpPr>
              <a:stCxn id="15" idx="2"/>
              <a:endCxn id="13" idx="0"/>
            </p:cNvCxnSpPr>
            <p:nvPr/>
          </p:nvCxnSpPr>
          <p:spPr>
            <a:xfrm flipH="1">
              <a:off x="7728778" y="3124200"/>
              <a:ext cx="609600" cy="381000"/>
            </a:xfrm>
            <a:prstGeom prst="straightConnector1">
              <a:avLst/>
            </a:prstGeom>
            <a:ln cap="rnd">
              <a:solidFill>
                <a:schemeClr val="tx1"/>
              </a:solidFill>
              <a:miter lim="800000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Rectangle 10"/>
            <p:cNvSpPr/>
            <p:nvPr/>
          </p:nvSpPr>
          <p:spPr>
            <a:xfrm>
              <a:off x="7304156" y="969778"/>
              <a:ext cx="849244" cy="479177"/>
            </a:xfrm>
            <a:prstGeom prst="rect">
              <a:avLst/>
            </a:prstGeom>
            <a:noFill/>
            <a:ln w="9525" cap="sq" cmpd="sng">
              <a:noFill/>
              <a:prstDash val="solid"/>
              <a:miter lim="800000"/>
            </a:ln>
            <a:effectLst>
              <a:outerShdw blurRad="40000" dist="23000" dir="27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1">
              <a:noAutofit/>
            </a:bodyPr>
            <a:lstStyle/>
            <a:p>
              <a:pPr algn="ctr"/>
              <a:endParaRPr lang="en-US" sz="2400" dirty="0" smtClean="0">
                <a:solidFill>
                  <a:schemeClr val="bg1"/>
                </a:solidFill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694556" y="2645023"/>
              <a:ext cx="849244" cy="479177"/>
            </a:xfrm>
            <a:prstGeom prst="rect">
              <a:avLst/>
            </a:prstGeom>
            <a:solidFill>
              <a:schemeClr val="accent2"/>
            </a:solidFill>
            <a:ln w="12700" cap="sq" cmpd="sng">
              <a:noFill/>
              <a:prstDash val="solid"/>
              <a:miter lim="800000"/>
            </a:ln>
            <a:effectLst>
              <a:outerShdw blurRad="50800" dist="38100" dir="2700000">
                <a:srgbClr val="000000">
                  <a:alpha val="43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1">
              <a:noAutofit/>
            </a:bodyPr>
            <a:lstStyle/>
            <a:p>
              <a:pPr algn="ctr"/>
              <a:r>
                <a:rPr lang="en-US" sz="2000" dirty="0" smtClean="0">
                  <a:solidFill>
                    <a:schemeClr val="bg1"/>
                  </a:solidFill>
                </a:rPr>
                <a:t>B2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7304156" y="3505200"/>
              <a:ext cx="849244" cy="479177"/>
            </a:xfrm>
            <a:prstGeom prst="rect">
              <a:avLst/>
            </a:prstGeom>
            <a:noFill/>
            <a:ln w="9525" cap="sq" cmpd="sng">
              <a:noFill/>
              <a:prstDash val="solid"/>
              <a:miter lim="800000"/>
            </a:ln>
            <a:effectLst>
              <a:outerShdw blurRad="40000" dist="23000" dir="27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1">
              <a:noAutofit/>
            </a:bodyPr>
            <a:lstStyle/>
            <a:p>
              <a:pPr algn="ctr"/>
              <a:endParaRPr lang="en-US" sz="2400" dirty="0" smtClean="0">
                <a:solidFill>
                  <a:schemeClr val="bg1"/>
                </a:solidFill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010400" y="3765033"/>
              <a:ext cx="143050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 smtClean="0"/>
                <a:t>if-then-else</a:t>
              </a:r>
              <a:endParaRPr lang="en-US" sz="2000" dirty="0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7913756" y="2645023"/>
              <a:ext cx="849244" cy="479177"/>
            </a:xfrm>
            <a:prstGeom prst="rect">
              <a:avLst/>
            </a:prstGeom>
            <a:solidFill>
              <a:schemeClr val="accent2"/>
            </a:solidFill>
            <a:ln w="12700" cap="sq" cmpd="sng">
              <a:noFill/>
              <a:prstDash val="solid"/>
              <a:miter lim="800000"/>
            </a:ln>
            <a:effectLst>
              <a:outerShdw blurRad="50800" dist="38100" dir="2700000">
                <a:srgbClr val="000000">
                  <a:alpha val="43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1">
              <a:noAutofit/>
            </a:bodyPr>
            <a:lstStyle/>
            <a:p>
              <a:pPr algn="ctr"/>
              <a:r>
                <a:rPr lang="en-US" sz="2000" dirty="0" smtClean="0">
                  <a:solidFill>
                    <a:schemeClr val="bg1"/>
                  </a:solidFill>
                </a:rPr>
                <a:t>B3</a:t>
              </a:r>
            </a:p>
          </p:txBody>
        </p:sp>
        <p:cxnSp>
          <p:nvCxnSpPr>
            <p:cNvPr id="16" name="Straight Arrow Connector 15"/>
            <p:cNvCxnSpPr>
              <a:stCxn id="18" idx="2"/>
              <a:endCxn id="12" idx="0"/>
            </p:cNvCxnSpPr>
            <p:nvPr/>
          </p:nvCxnSpPr>
          <p:spPr>
            <a:xfrm flipH="1">
              <a:off x="7119178" y="2286000"/>
              <a:ext cx="609600" cy="359023"/>
            </a:xfrm>
            <a:prstGeom prst="straightConnector1">
              <a:avLst/>
            </a:prstGeom>
            <a:ln cap="rnd">
              <a:solidFill>
                <a:schemeClr val="tx1"/>
              </a:solidFill>
              <a:miter lim="800000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/>
            <p:cNvCxnSpPr>
              <a:stCxn id="18" idx="2"/>
              <a:endCxn id="15" idx="0"/>
            </p:cNvCxnSpPr>
            <p:nvPr/>
          </p:nvCxnSpPr>
          <p:spPr>
            <a:xfrm>
              <a:off x="7728778" y="2286000"/>
              <a:ext cx="609600" cy="359023"/>
            </a:xfrm>
            <a:prstGeom prst="straightConnector1">
              <a:avLst/>
            </a:prstGeom>
            <a:ln cap="rnd">
              <a:solidFill>
                <a:schemeClr val="tx1"/>
              </a:solidFill>
              <a:miter lim="800000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ectangle 17"/>
            <p:cNvSpPr/>
            <p:nvPr/>
          </p:nvSpPr>
          <p:spPr>
            <a:xfrm>
              <a:off x="7304156" y="1806823"/>
              <a:ext cx="849244" cy="479177"/>
            </a:xfrm>
            <a:prstGeom prst="rect">
              <a:avLst/>
            </a:prstGeom>
            <a:solidFill>
              <a:schemeClr val="accent2"/>
            </a:solidFill>
            <a:ln w="12700" cap="sq" cmpd="sng">
              <a:noFill/>
              <a:prstDash val="solid"/>
              <a:miter lim="800000"/>
            </a:ln>
            <a:effectLst>
              <a:outerShdw blurRad="50800" dist="38100" dir="2700000">
                <a:srgbClr val="000000">
                  <a:alpha val="43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1">
              <a:noAutofit/>
            </a:bodyPr>
            <a:lstStyle/>
            <a:p>
              <a:pPr algn="ctr"/>
              <a:r>
                <a:rPr lang="en-US" sz="2000" dirty="0" smtClean="0">
                  <a:solidFill>
                    <a:schemeClr val="bg1"/>
                  </a:solidFill>
                </a:rPr>
                <a:t>B1</a:t>
              </a: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5638800" y="2483822"/>
            <a:ext cx="2068444" cy="2773978"/>
            <a:chOff x="3352800" y="838200"/>
            <a:chExt cx="2068444" cy="2773978"/>
          </a:xfrm>
        </p:grpSpPr>
        <p:cxnSp>
          <p:nvCxnSpPr>
            <p:cNvPr id="20" name="Elbow Connector 19"/>
            <p:cNvCxnSpPr>
              <a:stCxn id="21" idx="2"/>
              <a:endCxn id="26" idx="1"/>
            </p:cNvCxnSpPr>
            <p:nvPr/>
          </p:nvCxnSpPr>
          <p:spPr>
            <a:xfrm rot="5400000" flipH="1" flipV="1">
              <a:off x="3331017" y="2361239"/>
              <a:ext cx="1077788" cy="184978"/>
            </a:xfrm>
            <a:prstGeom prst="bentConnector4">
              <a:avLst>
                <a:gd name="adj1" fmla="val -21210"/>
                <a:gd name="adj2" fmla="val -353135"/>
              </a:avLst>
            </a:prstGeom>
            <a:ln cap="rnd">
              <a:solidFill>
                <a:schemeClr val="tx1"/>
              </a:solidFill>
              <a:miter lim="800000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0"/>
            <p:cNvSpPr/>
            <p:nvPr/>
          </p:nvSpPr>
          <p:spPr>
            <a:xfrm>
              <a:off x="3352800" y="2513445"/>
              <a:ext cx="849244" cy="479177"/>
            </a:xfrm>
            <a:prstGeom prst="rect">
              <a:avLst/>
            </a:prstGeom>
            <a:solidFill>
              <a:schemeClr val="accent2"/>
            </a:solidFill>
            <a:ln w="12700" cap="sq" cmpd="sng">
              <a:noFill/>
              <a:prstDash val="solid"/>
              <a:miter lim="800000"/>
            </a:ln>
            <a:effectLst>
              <a:outerShdw blurRad="50800" dist="38100" dir="2700000">
                <a:srgbClr val="000000">
                  <a:alpha val="43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1">
              <a:noAutofit/>
            </a:bodyPr>
            <a:lstStyle/>
            <a:p>
              <a:pPr algn="ctr"/>
              <a:r>
                <a:rPr lang="en-US" sz="2000" dirty="0" smtClean="0">
                  <a:solidFill>
                    <a:schemeClr val="bg1"/>
                  </a:solidFill>
                </a:rPr>
                <a:t>B2</a:t>
              </a:r>
            </a:p>
          </p:txBody>
        </p:sp>
        <p:cxnSp>
          <p:nvCxnSpPr>
            <p:cNvPr id="22" name="Straight Arrow Connector 21"/>
            <p:cNvCxnSpPr>
              <a:stCxn id="25" idx="2"/>
              <a:endCxn id="26" idx="0"/>
            </p:cNvCxnSpPr>
            <p:nvPr/>
          </p:nvCxnSpPr>
          <p:spPr>
            <a:xfrm>
              <a:off x="4387022" y="1317377"/>
              <a:ext cx="0" cy="357868"/>
            </a:xfrm>
            <a:prstGeom prst="straightConnector1">
              <a:avLst/>
            </a:prstGeom>
            <a:ln cap="rnd">
              <a:solidFill>
                <a:schemeClr val="tx1"/>
              </a:solidFill>
              <a:miter lim="800000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/>
            <p:cNvCxnSpPr>
              <a:stCxn id="26" idx="2"/>
              <a:endCxn id="21" idx="0"/>
            </p:cNvCxnSpPr>
            <p:nvPr/>
          </p:nvCxnSpPr>
          <p:spPr>
            <a:xfrm flipH="1">
              <a:off x="3777422" y="2154422"/>
              <a:ext cx="609600" cy="359023"/>
            </a:xfrm>
            <a:prstGeom prst="straightConnector1">
              <a:avLst/>
            </a:prstGeom>
            <a:ln cap="rnd">
              <a:solidFill>
                <a:schemeClr val="tx1"/>
              </a:solidFill>
              <a:miter lim="800000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/>
            <p:cNvCxnSpPr>
              <a:stCxn id="26" idx="2"/>
              <a:endCxn id="28" idx="0"/>
            </p:cNvCxnSpPr>
            <p:nvPr/>
          </p:nvCxnSpPr>
          <p:spPr>
            <a:xfrm>
              <a:off x="4387022" y="2154422"/>
              <a:ext cx="609600" cy="359023"/>
            </a:xfrm>
            <a:prstGeom prst="straightConnector1">
              <a:avLst/>
            </a:prstGeom>
            <a:ln cap="rnd">
              <a:solidFill>
                <a:schemeClr val="tx1"/>
              </a:solidFill>
              <a:miter lim="800000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Rectangle 24"/>
            <p:cNvSpPr/>
            <p:nvPr/>
          </p:nvSpPr>
          <p:spPr>
            <a:xfrm>
              <a:off x="3962400" y="838200"/>
              <a:ext cx="849244" cy="479177"/>
            </a:xfrm>
            <a:prstGeom prst="rect">
              <a:avLst/>
            </a:prstGeom>
            <a:noFill/>
            <a:ln w="12700" cap="sq" cmpd="sng">
              <a:noFill/>
              <a:prstDash val="solid"/>
              <a:miter lim="800000"/>
            </a:ln>
            <a:effectLst>
              <a:outerShdw blurRad="40000" dist="23000" dir="27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1">
              <a:noAutofit/>
            </a:bodyPr>
            <a:lstStyle/>
            <a:p>
              <a:pPr algn="ctr"/>
              <a:endParaRPr lang="en-US" sz="2400" dirty="0" smtClean="0">
                <a:solidFill>
                  <a:schemeClr val="bg1"/>
                </a:solidFill>
              </a:endParaRP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3962400" y="1675245"/>
              <a:ext cx="849244" cy="479177"/>
            </a:xfrm>
            <a:prstGeom prst="rect">
              <a:avLst/>
            </a:prstGeom>
            <a:solidFill>
              <a:schemeClr val="accent2"/>
            </a:solidFill>
            <a:ln w="12700" cap="sq" cmpd="sng">
              <a:noFill/>
              <a:prstDash val="solid"/>
              <a:miter lim="800000"/>
            </a:ln>
            <a:effectLst>
              <a:outerShdw blurRad="50800" dist="38100" dir="2700000">
                <a:srgbClr val="000000">
                  <a:alpha val="43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1">
              <a:noAutofit/>
            </a:bodyPr>
            <a:lstStyle/>
            <a:p>
              <a:pPr algn="ctr"/>
              <a:r>
                <a:rPr lang="en-US" sz="2000" dirty="0" smtClean="0">
                  <a:solidFill>
                    <a:schemeClr val="bg1"/>
                  </a:solidFill>
                </a:rPr>
                <a:t>B1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3985236" y="3212068"/>
              <a:ext cx="79080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 smtClean="0"/>
                <a:t>while</a:t>
              </a:r>
              <a:endParaRPr lang="en-US" sz="2000" dirty="0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4572000" y="2513445"/>
              <a:ext cx="849244" cy="479177"/>
            </a:xfrm>
            <a:prstGeom prst="rect">
              <a:avLst/>
            </a:prstGeom>
            <a:noFill/>
            <a:ln w="12700" cap="sq" cmpd="sng">
              <a:noFill/>
              <a:prstDash val="solid"/>
              <a:miter lim="800000"/>
            </a:ln>
            <a:effectLst>
              <a:outerShdw blurRad="40000" dist="23000" dir="27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1">
              <a:noAutofit/>
            </a:bodyPr>
            <a:lstStyle/>
            <a:p>
              <a:pPr algn="ctr"/>
              <a:endParaRPr lang="en-US" sz="2400" dirty="0" smtClean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002432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8876"/>
    </mc:Choice>
    <mc:Fallback xmlns="">
      <p:transition xmlns:p14="http://schemas.microsoft.com/office/powerpoint/2010/main" spd="slow" advTm="38876"/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Rectangle 137"/>
          <p:cNvSpPr/>
          <p:nvPr/>
        </p:nvSpPr>
        <p:spPr>
          <a:xfrm>
            <a:off x="0" y="1295400"/>
            <a:ext cx="9144000" cy="3581400"/>
          </a:xfrm>
          <a:prstGeom prst="rect">
            <a:avLst/>
          </a:prstGeom>
          <a:gradFill flip="none" rotWithShape="1">
            <a:gsLst>
              <a:gs pos="0">
                <a:schemeClr val="bg2"/>
              </a:gs>
              <a:gs pos="100000">
                <a:schemeClr val="accent3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 anchorCtr="1">
            <a:noAutofit/>
          </a:bodyPr>
          <a:lstStyle/>
          <a:p>
            <a:pPr algn="ctr"/>
            <a:endParaRPr lang="en-US" sz="2800" dirty="0" smtClean="0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Structural Analysis Example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 smtClean="0"/>
              <a:t>8/15/13</a:t>
            </a:r>
            <a:endParaRPr lang="en-US" dirty="0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Usenix Security 2013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7839D-A323-47F3-909F-548499399628}" type="slidenum">
              <a:rPr lang="en-US" smtClean="0"/>
              <a:t>21</a:t>
            </a:fld>
            <a:endParaRPr lang="en-US" dirty="0"/>
          </a:p>
        </p:txBody>
      </p:sp>
      <p:grpSp>
        <p:nvGrpSpPr>
          <p:cNvPr id="127" name="Group 126"/>
          <p:cNvGrpSpPr/>
          <p:nvPr/>
        </p:nvGrpSpPr>
        <p:grpSpPr>
          <a:xfrm>
            <a:off x="6374071" y="1448511"/>
            <a:ext cx="679263" cy="3276600"/>
            <a:chOff x="6712137" y="1447800"/>
            <a:chExt cx="679263" cy="3276600"/>
          </a:xfrm>
        </p:grpSpPr>
        <p:sp>
          <p:nvSpPr>
            <p:cNvPr id="108" name="Oval 107"/>
            <p:cNvSpPr/>
            <p:nvPr/>
          </p:nvSpPr>
          <p:spPr>
            <a:xfrm>
              <a:off x="6899369" y="1447800"/>
              <a:ext cx="304800" cy="3048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1">
              <a:noAutofit/>
            </a:bodyPr>
            <a:lstStyle/>
            <a:p>
              <a:pPr algn="ctr"/>
              <a:endParaRPr lang="en-US" sz="2800" dirty="0" smtClean="0">
                <a:solidFill>
                  <a:schemeClr val="bg1"/>
                </a:solidFill>
                <a:latin typeface="Consolas"/>
                <a:cs typeface="Consolas"/>
              </a:endParaRPr>
            </a:p>
          </p:txBody>
        </p:sp>
        <p:sp>
          <p:nvSpPr>
            <p:cNvPr id="110" name="Rounded Rectangle 109"/>
            <p:cNvSpPr/>
            <p:nvPr/>
          </p:nvSpPr>
          <p:spPr>
            <a:xfrm>
              <a:off x="6712137" y="1981200"/>
              <a:ext cx="679263" cy="1600200"/>
            </a:xfrm>
            <a:prstGeom prst="roundRect">
              <a:avLst/>
            </a:prstGeom>
            <a:solidFill>
              <a:schemeClr val="accent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1">
              <a:noAutofit/>
            </a:bodyPr>
            <a:lstStyle/>
            <a:p>
              <a:pPr algn="ctr"/>
              <a:r>
                <a:rPr lang="en-US" sz="1050" dirty="0" smtClean="0">
                  <a:solidFill>
                    <a:schemeClr val="tx1"/>
                  </a:solidFill>
                  <a:latin typeface="Consolas"/>
                  <a:cs typeface="Consolas"/>
                </a:rPr>
                <a:t>WHILE</a:t>
              </a:r>
            </a:p>
          </p:txBody>
        </p:sp>
        <p:sp>
          <p:nvSpPr>
            <p:cNvPr id="111" name="Oval 110"/>
            <p:cNvSpPr/>
            <p:nvPr/>
          </p:nvSpPr>
          <p:spPr>
            <a:xfrm>
              <a:off x="6899369" y="3886200"/>
              <a:ext cx="304800" cy="3048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1">
              <a:noAutofit/>
            </a:bodyPr>
            <a:lstStyle/>
            <a:p>
              <a:pPr algn="ctr"/>
              <a:endParaRPr lang="en-US" sz="2800" dirty="0" smtClean="0">
                <a:solidFill>
                  <a:schemeClr val="bg1"/>
                </a:solidFill>
                <a:latin typeface="Consolas"/>
                <a:cs typeface="Consolas"/>
              </a:endParaRPr>
            </a:p>
          </p:txBody>
        </p:sp>
        <p:cxnSp>
          <p:nvCxnSpPr>
            <p:cNvPr id="112" name="Straight Arrow Connector 111"/>
            <p:cNvCxnSpPr>
              <a:stCxn id="108" idx="4"/>
              <a:endCxn id="110" idx="0"/>
            </p:cNvCxnSpPr>
            <p:nvPr/>
          </p:nvCxnSpPr>
          <p:spPr>
            <a:xfrm>
              <a:off x="7051769" y="1752600"/>
              <a:ext cx="0" cy="22860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Arrow Connector 113"/>
            <p:cNvCxnSpPr>
              <a:stCxn id="110" idx="2"/>
              <a:endCxn id="111" idx="0"/>
            </p:cNvCxnSpPr>
            <p:nvPr/>
          </p:nvCxnSpPr>
          <p:spPr>
            <a:xfrm>
              <a:off x="7051769" y="3581400"/>
              <a:ext cx="0" cy="30480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Oval 114"/>
            <p:cNvSpPr/>
            <p:nvPr/>
          </p:nvSpPr>
          <p:spPr>
            <a:xfrm>
              <a:off x="6899369" y="4419600"/>
              <a:ext cx="304800" cy="3048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1">
              <a:noAutofit/>
            </a:bodyPr>
            <a:lstStyle/>
            <a:p>
              <a:pPr algn="ctr"/>
              <a:endParaRPr lang="en-US" sz="2800" dirty="0" smtClean="0">
                <a:solidFill>
                  <a:schemeClr val="bg1"/>
                </a:solidFill>
                <a:latin typeface="Consolas"/>
                <a:cs typeface="Consolas"/>
              </a:endParaRPr>
            </a:p>
          </p:txBody>
        </p:sp>
        <p:cxnSp>
          <p:nvCxnSpPr>
            <p:cNvPr id="116" name="Straight Arrow Connector 115"/>
            <p:cNvCxnSpPr>
              <a:stCxn id="111" idx="4"/>
              <a:endCxn id="115" idx="0"/>
            </p:cNvCxnSpPr>
            <p:nvPr/>
          </p:nvCxnSpPr>
          <p:spPr>
            <a:xfrm>
              <a:off x="7051769" y="4191000"/>
              <a:ext cx="0" cy="22860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0" name="Rounded Rectangle 129"/>
          <p:cNvSpPr/>
          <p:nvPr/>
        </p:nvSpPr>
        <p:spPr>
          <a:xfrm>
            <a:off x="8007537" y="1448511"/>
            <a:ext cx="679263" cy="3276600"/>
          </a:xfrm>
          <a:prstGeom prst="roundRect">
            <a:avLst/>
          </a:prstGeom>
          <a:solidFill>
            <a:schemeClr val="accent2"/>
          </a:solidFill>
          <a:ln>
            <a:noFill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 anchorCtr="1">
            <a:noAutofit/>
          </a:bodyPr>
          <a:lstStyle/>
          <a:p>
            <a:pPr algn="ctr"/>
            <a:r>
              <a:rPr lang="en-US" sz="1050" dirty="0" smtClean="0">
                <a:solidFill>
                  <a:schemeClr val="tx1"/>
                </a:solidFill>
                <a:latin typeface="Consolas"/>
                <a:cs typeface="Consolas"/>
              </a:rPr>
              <a:t>SEQ</a:t>
            </a:r>
          </a:p>
        </p:txBody>
      </p:sp>
      <p:grpSp>
        <p:nvGrpSpPr>
          <p:cNvPr id="42" name="Group 41"/>
          <p:cNvGrpSpPr/>
          <p:nvPr/>
        </p:nvGrpSpPr>
        <p:grpSpPr>
          <a:xfrm>
            <a:off x="304800" y="1448511"/>
            <a:ext cx="1271358" cy="3276600"/>
            <a:chOff x="300666" y="1447800"/>
            <a:chExt cx="1271358" cy="3276600"/>
          </a:xfrm>
        </p:grpSpPr>
        <p:grpSp>
          <p:nvGrpSpPr>
            <p:cNvPr id="46" name="Group 45"/>
            <p:cNvGrpSpPr/>
            <p:nvPr/>
          </p:nvGrpSpPr>
          <p:grpSpPr>
            <a:xfrm>
              <a:off x="300666" y="1447800"/>
              <a:ext cx="1271358" cy="3276600"/>
              <a:chOff x="522896" y="1447800"/>
              <a:chExt cx="1271358" cy="3276600"/>
            </a:xfrm>
          </p:grpSpPr>
          <p:sp>
            <p:nvSpPr>
              <p:cNvPr id="5" name="Oval 4"/>
              <p:cNvSpPr/>
              <p:nvPr/>
            </p:nvSpPr>
            <p:spPr>
              <a:xfrm>
                <a:off x="522896" y="1447800"/>
                <a:ext cx="304800" cy="3048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 anchorCtr="1">
                <a:noAutofit/>
              </a:bodyPr>
              <a:lstStyle/>
              <a:p>
                <a:pPr algn="ctr"/>
                <a:endParaRPr lang="en-US" sz="2800" dirty="0" smtClean="0">
                  <a:solidFill>
                    <a:schemeClr val="bg1"/>
                  </a:solidFill>
                </a:endParaRPr>
              </a:p>
            </p:txBody>
          </p:sp>
          <p:sp>
            <p:nvSpPr>
              <p:cNvPr id="6" name="Oval 5"/>
              <p:cNvSpPr/>
              <p:nvPr/>
            </p:nvSpPr>
            <p:spPr>
              <a:xfrm>
                <a:off x="522896" y="1981200"/>
                <a:ext cx="304800" cy="3048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 anchorCtr="1">
                <a:noAutofit/>
              </a:bodyPr>
              <a:lstStyle/>
              <a:p>
                <a:pPr algn="ctr"/>
                <a:endParaRPr lang="en-US" sz="2800" dirty="0" smtClean="0">
                  <a:solidFill>
                    <a:schemeClr val="bg1"/>
                  </a:solidFill>
                </a:endParaRPr>
              </a:p>
            </p:txBody>
          </p:sp>
          <p:sp>
            <p:nvSpPr>
              <p:cNvPr id="7" name="Oval 6"/>
              <p:cNvSpPr/>
              <p:nvPr/>
            </p:nvSpPr>
            <p:spPr>
              <a:xfrm>
                <a:off x="1136256" y="2592222"/>
                <a:ext cx="304800" cy="3048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 anchorCtr="1">
                <a:noAutofit/>
              </a:bodyPr>
              <a:lstStyle/>
              <a:p>
                <a:pPr algn="ctr"/>
                <a:endParaRPr lang="en-US" sz="2800" dirty="0" smtClean="0">
                  <a:solidFill>
                    <a:schemeClr val="bg1"/>
                  </a:solidFill>
                </a:endParaRPr>
              </a:p>
            </p:txBody>
          </p:sp>
          <p:sp>
            <p:nvSpPr>
              <p:cNvPr id="8" name="Oval 7"/>
              <p:cNvSpPr/>
              <p:nvPr/>
            </p:nvSpPr>
            <p:spPr>
              <a:xfrm>
                <a:off x="1489454" y="2977488"/>
                <a:ext cx="304800" cy="3048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 anchorCtr="1">
                <a:noAutofit/>
              </a:bodyPr>
              <a:lstStyle/>
              <a:p>
                <a:pPr algn="ctr"/>
                <a:endParaRPr lang="en-US" sz="2800" dirty="0" smtClean="0">
                  <a:solidFill>
                    <a:schemeClr val="bg1"/>
                  </a:solidFill>
                </a:endParaRPr>
              </a:p>
            </p:txBody>
          </p:sp>
          <p:sp>
            <p:nvSpPr>
              <p:cNvPr id="9" name="Oval 8"/>
              <p:cNvSpPr/>
              <p:nvPr/>
            </p:nvSpPr>
            <p:spPr>
              <a:xfrm>
                <a:off x="783059" y="2971800"/>
                <a:ext cx="304800" cy="3048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 anchorCtr="1">
                <a:noAutofit/>
              </a:bodyPr>
              <a:lstStyle/>
              <a:p>
                <a:pPr algn="ctr"/>
                <a:endParaRPr lang="en-US" sz="2800" dirty="0" smtClean="0">
                  <a:solidFill>
                    <a:schemeClr val="bg1"/>
                  </a:solidFill>
                </a:endParaRPr>
              </a:p>
            </p:txBody>
          </p:sp>
          <p:sp>
            <p:nvSpPr>
              <p:cNvPr id="10" name="Oval 9"/>
              <p:cNvSpPr/>
              <p:nvPr/>
            </p:nvSpPr>
            <p:spPr>
              <a:xfrm>
                <a:off x="1136256" y="3429000"/>
                <a:ext cx="304800" cy="3048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 anchorCtr="1">
                <a:noAutofit/>
              </a:bodyPr>
              <a:lstStyle/>
              <a:p>
                <a:pPr algn="ctr"/>
                <a:endParaRPr lang="en-US" sz="2800" dirty="0" smtClean="0">
                  <a:solidFill>
                    <a:schemeClr val="bg1"/>
                  </a:solidFill>
                </a:endParaRPr>
              </a:p>
            </p:txBody>
          </p:sp>
          <p:sp>
            <p:nvSpPr>
              <p:cNvPr id="12" name="Oval 11"/>
              <p:cNvSpPr/>
              <p:nvPr/>
            </p:nvSpPr>
            <p:spPr>
              <a:xfrm>
                <a:off x="522896" y="3886200"/>
                <a:ext cx="304800" cy="3048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 anchorCtr="1">
                <a:noAutofit/>
              </a:bodyPr>
              <a:lstStyle/>
              <a:p>
                <a:pPr algn="ctr"/>
                <a:endParaRPr lang="en-US" sz="2800" dirty="0" smtClean="0">
                  <a:solidFill>
                    <a:schemeClr val="bg1"/>
                  </a:solidFill>
                </a:endParaRPr>
              </a:p>
            </p:txBody>
          </p:sp>
          <p:cxnSp>
            <p:nvCxnSpPr>
              <p:cNvPr id="13" name="Straight Arrow Connector 12"/>
              <p:cNvCxnSpPr>
                <a:stCxn id="5" idx="4"/>
                <a:endCxn id="6" idx="0"/>
              </p:cNvCxnSpPr>
              <p:nvPr/>
            </p:nvCxnSpPr>
            <p:spPr>
              <a:xfrm>
                <a:off x="675296" y="1752600"/>
                <a:ext cx="0" cy="22860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Arrow Connector 13"/>
              <p:cNvCxnSpPr>
                <a:stCxn id="6" idx="5"/>
                <a:endCxn id="7" idx="1"/>
              </p:cNvCxnSpPr>
              <p:nvPr/>
            </p:nvCxnSpPr>
            <p:spPr>
              <a:xfrm>
                <a:off x="783059" y="2241363"/>
                <a:ext cx="397834" cy="395496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Arrow Connector 14"/>
              <p:cNvCxnSpPr>
                <a:stCxn id="7" idx="5"/>
                <a:endCxn id="8" idx="1"/>
              </p:cNvCxnSpPr>
              <p:nvPr/>
            </p:nvCxnSpPr>
            <p:spPr>
              <a:xfrm>
                <a:off x="1396419" y="2852385"/>
                <a:ext cx="137672" cy="16974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/>
              <p:cNvCxnSpPr>
                <a:stCxn id="7" idx="3"/>
                <a:endCxn id="9" idx="7"/>
              </p:cNvCxnSpPr>
              <p:nvPr/>
            </p:nvCxnSpPr>
            <p:spPr>
              <a:xfrm flipH="1">
                <a:off x="1043222" y="2852385"/>
                <a:ext cx="137671" cy="16405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/>
              <p:cNvCxnSpPr>
                <a:stCxn id="9" idx="5"/>
                <a:endCxn id="10" idx="1"/>
              </p:cNvCxnSpPr>
              <p:nvPr/>
            </p:nvCxnSpPr>
            <p:spPr>
              <a:xfrm>
                <a:off x="1043222" y="3231963"/>
                <a:ext cx="137671" cy="241674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/>
              <p:cNvCxnSpPr>
                <a:stCxn id="6" idx="4"/>
                <a:endCxn id="12" idx="0"/>
              </p:cNvCxnSpPr>
              <p:nvPr/>
            </p:nvCxnSpPr>
            <p:spPr>
              <a:xfrm>
                <a:off x="675296" y="2286000"/>
                <a:ext cx="0" cy="160020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Oval 21"/>
              <p:cNvSpPr/>
              <p:nvPr/>
            </p:nvSpPr>
            <p:spPr>
              <a:xfrm>
                <a:off x="522896" y="4419600"/>
                <a:ext cx="304800" cy="3048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 anchorCtr="1">
                <a:noAutofit/>
              </a:bodyPr>
              <a:lstStyle/>
              <a:p>
                <a:pPr algn="ctr"/>
                <a:endParaRPr lang="en-US" sz="2800" dirty="0" smtClean="0">
                  <a:solidFill>
                    <a:schemeClr val="bg1"/>
                  </a:solidFill>
                </a:endParaRPr>
              </a:p>
            </p:txBody>
          </p:sp>
          <p:cxnSp>
            <p:nvCxnSpPr>
              <p:cNvPr id="23" name="Straight Arrow Connector 22"/>
              <p:cNvCxnSpPr>
                <a:stCxn id="12" idx="4"/>
                <a:endCxn id="22" idx="0"/>
              </p:cNvCxnSpPr>
              <p:nvPr/>
            </p:nvCxnSpPr>
            <p:spPr>
              <a:xfrm>
                <a:off x="675296" y="4191000"/>
                <a:ext cx="0" cy="22860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Curved Connector 23"/>
              <p:cNvCxnSpPr>
                <a:stCxn id="10" idx="6"/>
                <a:endCxn id="6" idx="6"/>
              </p:cNvCxnSpPr>
              <p:nvPr/>
            </p:nvCxnSpPr>
            <p:spPr>
              <a:xfrm flipH="1" flipV="1">
                <a:off x="827696" y="2133600"/>
                <a:ext cx="613360" cy="1447800"/>
              </a:xfrm>
              <a:prstGeom prst="curvedConnector3">
                <a:avLst>
                  <a:gd name="adj1" fmla="val -79546"/>
                </a:avLst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91" name="Straight Arrow Connector 90"/>
            <p:cNvCxnSpPr>
              <a:stCxn id="8" idx="3"/>
              <a:endCxn id="10" idx="7"/>
            </p:cNvCxnSpPr>
            <p:nvPr/>
          </p:nvCxnSpPr>
          <p:spPr>
            <a:xfrm flipH="1">
              <a:off x="1174189" y="3237651"/>
              <a:ext cx="137672" cy="235986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3" name="Group 52"/>
          <p:cNvGrpSpPr/>
          <p:nvPr/>
        </p:nvGrpSpPr>
        <p:grpSpPr>
          <a:xfrm>
            <a:off x="2530361" y="1448511"/>
            <a:ext cx="967652" cy="3276600"/>
            <a:chOff x="2005242" y="1449222"/>
            <a:chExt cx="967652" cy="3276600"/>
          </a:xfrm>
        </p:grpSpPr>
        <p:grpSp>
          <p:nvGrpSpPr>
            <p:cNvPr id="99" name="Group 98"/>
            <p:cNvGrpSpPr/>
            <p:nvPr/>
          </p:nvGrpSpPr>
          <p:grpSpPr>
            <a:xfrm>
              <a:off x="2005242" y="1449222"/>
              <a:ext cx="872402" cy="3276600"/>
              <a:chOff x="300666" y="1447800"/>
              <a:chExt cx="872402" cy="3276600"/>
            </a:xfrm>
          </p:grpSpPr>
          <p:grpSp>
            <p:nvGrpSpPr>
              <p:cNvPr id="104" name="Group 103"/>
              <p:cNvGrpSpPr/>
              <p:nvPr/>
            </p:nvGrpSpPr>
            <p:grpSpPr>
              <a:xfrm>
                <a:off x="300666" y="1447800"/>
                <a:ext cx="872402" cy="3276600"/>
                <a:chOff x="522896" y="1447800"/>
                <a:chExt cx="872402" cy="3276600"/>
              </a:xfrm>
            </p:grpSpPr>
            <p:sp>
              <p:nvSpPr>
                <p:cNvPr id="107" name="Oval 106"/>
                <p:cNvSpPr/>
                <p:nvPr/>
              </p:nvSpPr>
              <p:spPr>
                <a:xfrm>
                  <a:off x="522896" y="1447800"/>
                  <a:ext cx="304800" cy="3048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 anchorCtr="1">
                  <a:noAutofit/>
                </a:bodyPr>
                <a:lstStyle/>
                <a:p>
                  <a:pPr algn="ctr"/>
                  <a:endParaRPr lang="en-US" sz="2800" dirty="0" smtClean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09" name="Oval 108"/>
                <p:cNvSpPr/>
                <p:nvPr/>
              </p:nvSpPr>
              <p:spPr>
                <a:xfrm>
                  <a:off x="522896" y="1981200"/>
                  <a:ext cx="304800" cy="3048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 anchorCtr="1">
                  <a:noAutofit/>
                </a:bodyPr>
                <a:lstStyle/>
                <a:p>
                  <a:pPr algn="ctr"/>
                  <a:endParaRPr lang="en-US" sz="2800" dirty="0" smtClean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19" name="Oval 118"/>
                <p:cNvSpPr/>
                <p:nvPr/>
              </p:nvSpPr>
              <p:spPr>
                <a:xfrm>
                  <a:off x="1090498" y="3429000"/>
                  <a:ext cx="304800" cy="3048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 anchorCtr="1">
                  <a:noAutofit/>
                </a:bodyPr>
                <a:lstStyle/>
                <a:p>
                  <a:pPr algn="ctr"/>
                  <a:endParaRPr lang="en-US" sz="2800" dirty="0" smtClean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20" name="Oval 119"/>
                <p:cNvSpPr/>
                <p:nvPr/>
              </p:nvSpPr>
              <p:spPr>
                <a:xfrm>
                  <a:off x="522896" y="3886200"/>
                  <a:ext cx="304800" cy="3048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 anchorCtr="1">
                  <a:noAutofit/>
                </a:bodyPr>
                <a:lstStyle/>
                <a:p>
                  <a:pPr algn="ctr"/>
                  <a:endParaRPr lang="en-US" sz="2800" dirty="0" smtClean="0">
                    <a:solidFill>
                      <a:schemeClr val="bg1"/>
                    </a:solidFill>
                  </a:endParaRPr>
                </a:p>
              </p:txBody>
            </p:sp>
            <p:cxnSp>
              <p:nvCxnSpPr>
                <p:cNvPr id="121" name="Straight Arrow Connector 120"/>
                <p:cNvCxnSpPr>
                  <a:stCxn id="107" idx="4"/>
                  <a:endCxn id="109" idx="0"/>
                </p:cNvCxnSpPr>
                <p:nvPr/>
              </p:nvCxnSpPr>
              <p:spPr>
                <a:xfrm>
                  <a:off x="675296" y="1752600"/>
                  <a:ext cx="0" cy="22860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2" name="Straight Arrow Connector 121"/>
                <p:cNvCxnSpPr>
                  <a:stCxn id="109" idx="5"/>
                  <a:endCxn id="132" idx="0"/>
                </p:cNvCxnSpPr>
                <p:nvPr/>
              </p:nvCxnSpPr>
              <p:spPr>
                <a:xfrm>
                  <a:off x="783059" y="2241363"/>
                  <a:ext cx="459839" cy="395496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6" name="Straight Arrow Connector 125"/>
                <p:cNvCxnSpPr>
                  <a:stCxn id="109" idx="4"/>
                  <a:endCxn id="120" idx="0"/>
                </p:cNvCxnSpPr>
                <p:nvPr/>
              </p:nvCxnSpPr>
              <p:spPr>
                <a:xfrm>
                  <a:off x="675296" y="2286000"/>
                  <a:ext cx="0" cy="160020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28" name="Oval 127"/>
                <p:cNvSpPr/>
                <p:nvPr/>
              </p:nvSpPr>
              <p:spPr>
                <a:xfrm>
                  <a:off x="522896" y="4419600"/>
                  <a:ext cx="304800" cy="304800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 anchorCtr="1">
                  <a:noAutofit/>
                </a:bodyPr>
                <a:lstStyle/>
                <a:p>
                  <a:pPr algn="ctr"/>
                  <a:endParaRPr lang="en-US" sz="2800" dirty="0" smtClean="0">
                    <a:solidFill>
                      <a:schemeClr val="bg1"/>
                    </a:solidFill>
                  </a:endParaRPr>
                </a:p>
              </p:txBody>
            </p:sp>
            <p:cxnSp>
              <p:nvCxnSpPr>
                <p:cNvPr id="129" name="Straight Arrow Connector 128"/>
                <p:cNvCxnSpPr>
                  <a:stCxn id="120" idx="4"/>
                  <a:endCxn id="128" idx="0"/>
                </p:cNvCxnSpPr>
                <p:nvPr/>
              </p:nvCxnSpPr>
              <p:spPr>
                <a:xfrm>
                  <a:off x="675296" y="4191000"/>
                  <a:ext cx="0" cy="22860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1" name="Curved Connector 130"/>
                <p:cNvCxnSpPr>
                  <a:stCxn id="119" idx="6"/>
                  <a:endCxn id="109" idx="6"/>
                </p:cNvCxnSpPr>
                <p:nvPr/>
              </p:nvCxnSpPr>
              <p:spPr>
                <a:xfrm flipH="1" flipV="1">
                  <a:off x="827696" y="2133600"/>
                  <a:ext cx="567602" cy="1447800"/>
                </a:xfrm>
                <a:prstGeom prst="curvedConnector3">
                  <a:avLst>
                    <a:gd name="adj1" fmla="val -40275"/>
                  </a:avLst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05" name="Straight Arrow Connector 104"/>
              <p:cNvCxnSpPr>
                <a:stCxn id="132" idx="2"/>
                <a:endCxn id="119" idx="0"/>
              </p:cNvCxnSpPr>
              <p:nvPr/>
            </p:nvCxnSpPr>
            <p:spPr>
              <a:xfrm>
                <a:off x="1020668" y="3246459"/>
                <a:ext cx="0" cy="18254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2" name="Rounded Rectangle 131"/>
            <p:cNvSpPr/>
            <p:nvPr/>
          </p:nvSpPr>
          <p:spPr>
            <a:xfrm>
              <a:off x="2477594" y="2638281"/>
              <a:ext cx="495300" cy="609600"/>
            </a:xfrm>
            <a:prstGeom prst="roundRect">
              <a:avLst/>
            </a:prstGeom>
            <a:solidFill>
              <a:schemeClr val="accent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1">
              <a:noAutofit/>
            </a:bodyPr>
            <a:lstStyle/>
            <a:p>
              <a:pPr algn="ctr"/>
              <a:r>
                <a:rPr lang="en-US" sz="1050" dirty="0" smtClean="0">
                  <a:solidFill>
                    <a:schemeClr val="tx1"/>
                  </a:solidFill>
                  <a:latin typeface="Consolas"/>
                  <a:cs typeface="Consolas"/>
                </a:rPr>
                <a:t>ITE</a:t>
              </a:r>
              <a:br>
                <a:rPr lang="en-US" sz="1050" dirty="0" smtClean="0">
                  <a:solidFill>
                    <a:schemeClr val="tx1"/>
                  </a:solidFill>
                  <a:latin typeface="Consolas"/>
                  <a:cs typeface="Consolas"/>
                </a:rPr>
              </a:br>
              <a:r>
                <a:rPr lang="en-US" sz="1050" dirty="0" smtClean="0">
                  <a:solidFill>
                    <a:schemeClr val="tx1"/>
                  </a:solidFill>
                  <a:latin typeface="Consolas"/>
                  <a:cs typeface="Consolas"/>
                </a:rPr>
                <a:t>1</a:t>
              </a:r>
            </a:p>
          </p:txBody>
        </p:sp>
      </p:grpSp>
      <p:grpSp>
        <p:nvGrpSpPr>
          <p:cNvPr id="133" name="Group 132"/>
          <p:cNvGrpSpPr/>
          <p:nvPr/>
        </p:nvGrpSpPr>
        <p:grpSpPr>
          <a:xfrm>
            <a:off x="4452216" y="1448511"/>
            <a:ext cx="967652" cy="3276600"/>
            <a:chOff x="2005242" y="1449222"/>
            <a:chExt cx="967652" cy="3276600"/>
          </a:xfrm>
        </p:grpSpPr>
        <p:grpSp>
          <p:nvGrpSpPr>
            <p:cNvPr id="136" name="Group 135"/>
            <p:cNvGrpSpPr/>
            <p:nvPr/>
          </p:nvGrpSpPr>
          <p:grpSpPr>
            <a:xfrm>
              <a:off x="2005242" y="1449222"/>
              <a:ext cx="720002" cy="3276600"/>
              <a:chOff x="522896" y="1447800"/>
              <a:chExt cx="720002" cy="3276600"/>
            </a:xfrm>
          </p:grpSpPr>
          <p:sp>
            <p:nvSpPr>
              <p:cNvPr id="140" name="Oval 139"/>
              <p:cNvSpPr/>
              <p:nvPr/>
            </p:nvSpPr>
            <p:spPr>
              <a:xfrm>
                <a:off x="522896" y="1447800"/>
                <a:ext cx="304800" cy="3048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 anchorCtr="1">
                <a:noAutofit/>
              </a:bodyPr>
              <a:lstStyle/>
              <a:p>
                <a:pPr algn="ctr"/>
                <a:endParaRPr lang="en-US" sz="2800" dirty="0" smtClean="0">
                  <a:solidFill>
                    <a:schemeClr val="bg1"/>
                  </a:solidFill>
                </a:endParaRPr>
              </a:p>
            </p:txBody>
          </p:sp>
          <p:sp>
            <p:nvSpPr>
              <p:cNvPr id="142" name="Oval 141"/>
              <p:cNvSpPr/>
              <p:nvPr/>
            </p:nvSpPr>
            <p:spPr>
              <a:xfrm>
                <a:off x="522896" y="1981200"/>
                <a:ext cx="304800" cy="3048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 anchorCtr="1">
                <a:noAutofit/>
              </a:bodyPr>
              <a:lstStyle/>
              <a:p>
                <a:pPr algn="ctr"/>
                <a:endParaRPr lang="en-US" sz="2800" dirty="0" smtClean="0">
                  <a:solidFill>
                    <a:schemeClr val="bg1"/>
                  </a:solidFill>
                </a:endParaRPr>
              </a:p>
            </p:txBody>
          </p:sp>
          <p:sp>
            <p:nvSpPr>
              <p:cNvPr id="144" name="Oval 143"/>
              <p:cNvSpPr/>
              <p:nvPr/>
            </p:nvSpPr>
            <p:spPr>
              <a:xfrm>
                <a:off x="522896" y="3886200"/>
                <a:ext cx="304800" cy="3048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 anchorCtr="1">
                <a:noAutofit/>
              </a:bodyPr>
              <a:lstStyle/>
              <a:p>
                <a:pPr algn="ctr"/>
                <a:endParaRPr lang="en-US" sz="2800" dirty="0" smtClean="0">
                  <a:solidFill>
                    <a:schemeClr val="bg1"/>
                  </a:solidFill>
                </a:endParaRPr>
              </a:p>
            </p:txBody>
          </p:sp>
          <p:cxnSp>
            <p:nvCxnSpPr>
              <p:cNvPr id="145" name="Straight Arrow Connector 144"/>
              <p:cNvCxnSpPr>
                <a:stCxn id="140" idx="4"/>
                <a:endCxn id="142" idx="0"/>
              </p:cNvCxnSpPr>
              <p:nvPr/>
            </p:nvCxnSpPr>
            <p:spPr>
              <a:xfrm>
                <a:off x="675296" y="1752600"/>
                <a:ext cx="0" cy="22860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Straight Arrow Connector 145"/>
              <p:cNvCxnSpPr>
                <a:stCxn id="142" idx="5"/>
                <a:endCxn id="135" idx="0"/>
              </p:cNvCxnSpPr>
              <p:nvPr/>
            </p:nvCxnSpPr>
            <p:spPr>
              <a:xfrm>
                <a:off x="783059" y="2241363"/>
                <a:ext cx="459839" cy="39549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Straight Arrow Connector 146"/>
              <p:cNvCxnSpPr>
                <a:stCxn id="142" idx="4"/>
                <a:endCxn id="144" idx="0"/>
              </p:cNvCxnSpPr>
              <p:nvPr/>
            </p:nvCxnSpPr>
            <p:spPr>
              <a:xfrm>
                <a:off x="675296" y="2286000"/>
                <a:ext cx="0" cy="160020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8" name="Oval 147"/>
              <p:cNvSpPr/>
              <p:nvPr/>
            </p:nvSpPr>
            <p:spPr>
              <a:xfrm>
                <a:off x="522896" y="4419600"/>
                <a:ext cx="304800" cy="3048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 anchorCtr="1">
                <a:noAutofit/>
              </a:bodyPr>
              <a:lstStyle/>
              <a:p>
                <a:pPr algn="ctr"/>
                <a:endParaRPr lang="en-US" sz="2800" dirty="0" smtClean="0">
                  <a:solidFill>
                    <a:schemeClr val="bg1"/>
                  </a:solidFill>
                </a:endParaRPr>
              </a:p>
            </p:txBody>
          </p:sp>
          <p:cxnSp>
            <p:nvCxnSpPr>
              <p:cNvPr id="149" name="Straight Arrow Connector 148"/>
              <p:cNvCxnSpPr>
                <a:stCxn id="144" idx="4"/>
                <a:endCxn id="148" idx="0"/>
              </p:cNvCxnSpPr>
              <p:nvPr/>
            </p:nvCxnSpPr>
            <p:spPr>
              <a:xfrm>
                <a:off x="675296" y="4191000"/>
                <a:ext cx="0" cy="22860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0" name="Curved Connector 149"/>
              <p:cNvCxnSpPr>
                <a:stCxn id="135" idx="2"/>
                <a:endCxn id="142" idx="6"/>
              </p:cNvCxnSpPr>
              <p:nvPr/>
            </p:nvCxnSpPr>
            <p:spPr>
              <a:xfrm rot="5400000" flipH="1">
                <a:off x="311397" y="2649899"/>
                <a:ext cx="1447799" cy="415202"/>
              </a:xfrm>
              <a:prstGeom prst="curvedConnector4">
                <a:avLst>
                  <a:gd name="adj1" fmla="val -15789"/>
                  <a:gd name="adj2" fmla="val -94389"/>
                </a:avLst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5" name="Rounded Rectangle 134"/>
            <p:cNvSpPr/>
            <p:nvPr/>
          </p:nvSpPr>
          <p:spPr>
            <a:xfrm>
              <a:off x="2477594" y="2638280"/>
              <a:ext cx="495300" cy="944541"/>
            </a:xfrm>
            <a:prstGeom prst="roundRect">
              <a:avLst/>
            </a:prstGeom>
            <a:solidFill>
              <a:schemeClr val="accent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1">
              <a:noAutofit/>
            </a:bodyPr>
            <a:lstStyle/>
            <a:p>
              <a:pPr algn="ctr"/>
              <a:r>
                <a:rPr lang="en-US" sz="1050" dirty="0" smtClean="0">
                  <a:solidFill>
                    <a:schemeClr val="tx1"/>
                  </a:solidFill>
                  <a:latin typeface="Consolas"/>
                  <a:cs typeface="Consolas"/>
                </a:rPr>
                <a:t>SEQ</a:t>
              </a:r>
              <a:br>
                <a:rPr lang="en-US" sz="1050" dirty="0" smtClean="0">
                  <a:solidFill>
                    <a:schemeClr val="tx1"/>
                  </a:solidFill>
                  <a:latin typeface="Consolas"/>
                  <a:cs typeface="Consolas"/>
                </a:rPr>
              </a:br>
              <a:r>
                <a:rPr lang="en-US" sz="1050" dirty="0" smtClean="0">
                  <a:solidFill>
                    <a:schemeClr val="tx1"/>
                  </a:solidFill>
                  <a:latin typeface="Consolas"/>
                  <a:cs typeface="Consolas"/>
                </a:rPr>
                <a:t>1</a:t>
              </a:r>
            </a:p>
          </p:txBody>
        </p:sp>
      </p:grpSp>
      <p:sp>
        <p:nvSpPr>
          <p:cNvPr id="69" name="Rounded Rectangle 68"/>
          <p:cNvSpPr/>
          <p:nvPr/>
        </p:nvSpPr>
        <p:spPr>
          <a:xfrm>
            <a:off x="533401" y="2514600"/>
            <a:ext cx="1066800" cy="841755"/>
          </a:xfrm>
          <a:prstGeom prst="roundRect">
            <a:avLst/>
          </a:prstGeom>
          <a:noFill/>
          <a:ln w="28575" cap="rnd" cmpd="sng">
            <a:solidFill>
              <a:schemeClr val="accent1"/>
            </a:solidFill>
            <a:prstDash val="solid"/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 anchorCtr="1">
            <a:noAutofit/>
          </a:bodyPr>
          <a:lstStyle/>
          <a:p>
            <a:pPr algn="ctr"/>
            <a:endParaRPr lang="en-US" sz="2400" dirty="0" smtClean="0">
              <a:solidFill>
                <a:schemeClr val="bg1"/>
              </a:solidFill>
            </a:endParaRPr>
          </a:p>
        </p:txBody>
      </p:sp>
      <p:sp>
        <p:nvSpPr>
          <p:cNvPr id="163" name="Rounded Rectangle 162"/>
          <p:cNvSpPr/>
          <p:nvPr/>
        </p:nvSpPr>
        <p:spPr>
          <a:xfrm>
            <a:off x="2869363" y="2580850"/>
            <a:ext cx="788237" cy="1229150"/>
          </a:xfrm>
          <a:prstGeom prst="roundRect">
            <a:avLst/>
          </a:prstGeom>
          <a:noFill/>
          <a:ln w="28575" cap="rnd" cmpd="sng">
            <a:solidFill>
              <a:schemeClr val="accent1"/>
            </a:solidFill>
            <a:prstDash val="solid"/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 anchorCtr="1">
            <a:noAutofit/>
          </a:bodyPr>
          <a:lstStyle/>
          <a:p>
            <a:pPr algn="ctr"/>
            <a:endParaRPr lang="en-US" sz="2400" dirty="0" smtClean="0">
              <a:solidFill>
                <a:schemeClr val="bg1"/>
              </a:solidFill>
            </a:endParaRPr>
          </a:p>
        </p:txBody>
      </p:sp>
      <p:sp>
        <p:nvSpPr>
          <p:cNvPr id="164" name="Rounded Rectangle 163"/>
          <p:cNvSpPr/>
          <p:nvPr/>
        </p:nvSpPr>
        <p:spPr>
          <a:xfrm>
            <a:off x="4362896" y="1910403"/>
            <a:ext cx="1275904" cy="1976507"/>
          </a:xfrm>
          <a:prstGeom prst="roundRect">
            <a:avLst/>
          </a:prstGeom>
          <a:noFill/>
          <a:ln w="28575" cap="rnd" cmpd="sng">
            <a:solidFill>
              <a:schemeClr val="accent1"/>
            </a:solidFill>
            <a:prstDash val="solid"/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 anchorCtr="1">
            <a:noAutofit/>
          </a:bodyPr>
          <a:lstStyle/>
          <a:p>
            <a:pPr algn="ctr"/>
            <a:endParaRPr lang="en-US" sz="2400" dirty="0" smtClean="0">
              <a:solidFill>
                <a:schemeClr val="bg1"/>
              </a:solidFill>
            </a:endParaRPr>
          </a:p>
        </p:txBody>
      </p:sp>
      <p:sp>
        <p:nvSpPr>
          <p:cNvPr id="165" name="Rounded Rectangle 164"/>
          <p:cNvSpPr/>
          <p:nvPr/>
        </p:nvSpPr>
        <p:spPr>
          <a:xfrm>
            <a:off x="6172200" y="1342740"/>
            <a:ext cx="1066800" cy="3457860"/>
          </a:xfrm>
          <a:prstGeom prst="roundRect">
            <a:avLst/>
          </a:prstGeom>
          <a:noFill/>
          <a:ln w="28575" cap="rnd" cmpd="sng">
            <a:solidFill>
              <a:schemeClr val="accent1"/>
            </a:solidFill>
            <a:prstDash val="solid"/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 anchorCtr="1">
            <a:noAutofit/>
          </a:bodyPr>
          <a:lstStyle/>
          <a:p>
            <a:pPr algn="ctr"/>
            <a:endParaRPr lang="en-US" sz="2400" dirty="0" smtClean="0">
              <a:solidFill>
                <a:schemeClr val="bg1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33450" y="5089164"/>
            <a:ext cx="7277100" cy="1311636"/>
          </a:xfrm>
          <a:prstGeom prst="roundRect">
            <a:avLst/>
          </a:prstGeom>
          <a:solidFill>
            <a:schemeClr val="bg2"/>
          </a:solidFill>
        </p:spPr>
        <p:txBody>
          <a:bodyPr wrap="square" lIns="0" tIns="0" rIns="0" bIns="0" rtlCol="0" anchor="t" anchorCtr="0">
            <a:spAutoFit/>
          </a:bodyPr>
          <a:lstStyle/>
          <a:p>
            <a:pPr>
              <a:lnSpc>
                <a:spcPct val="107000"/>
              </a:lnSpc>
            </a:pPr>
            <a:r>
              <a:rPr lang="en-US" sz="24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...;</a:t>
            </a:r>
            <a:endParaRPr lang="en-US" sz="2000" dirty="0">
              <a:latin typeface="Consolas" panose="020B0609020204030204" pitchFamily="49" charset="0"/>
              <a:ea typeface="Times New Roman" panose="02020603050405020304" pitchFamily="18" charset="0"/>
              <a:cs typeface="Consolas" panose="020B0609020204030204" pitchFamily="49" charset="0"/>
            </a:endParaRPr>
          </a:p>
          <a:p>
            <a:pPr>
              <a:lnSpc>
                <a:spcPct val="107000"/>
              </a:lnSpc>
            </a:pPr>
            <a:r>
              <a:rPr lang="en-US" sz="2400" b="1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while</a:t>
            </a:r>
            <a:r>
              <a:rPr lang="en-US" sz="2400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</a:t>
            </a:r>
            <a:r>
              <a:rPr lang="en-US" sz="24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(...) { </a:t>
            </a:r>
            <a:r>
              <a:rPr lang="en-US" sz="2400" b="1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if</a:t>
            </a:r>
            <a:r>
              <a:rPr lang="en-US" sz="2400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</a:t>
            </a:r>
            <a:r>
              <a:rPr lang="en-US" sz="24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(...) {...} </a:t>
            </a:r>
            <a:r>
              <a:rPr lang="en-US" sz="2400" b="1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else</a:t>
            </a:r>
            <a:r>
              <a:rPr lang="en-US" sz="2400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</a:t>
            </a:r>
            <a:r>
              <a:rPr lang="en-US" sz="24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{...} };</a:t>
            </a:r>
            <a:endParaRPr lang="en-US" sz="2000" dirty="0">
              <a:latin typeface="Consolas" panose="020B0609020204030204" pitchFamily="49" charset="0"/>
              <a:ea typeface="Times New Roman" panose="02020603050405020304" pitchFamily="18" charset="0"/>
              <a:cs typeface="Consolas" panose="020B0609020204030204" pitchFamily="49" charset="0"/>
            </a:endParaRPr>
          </a:p>
          <a:p>
            <a:pPr>
              <a:lnSpc>
                <a:spcPct val="107000"/>
              </a:lnSpc>
            </a:pPr>
            <a:r>
              <a:rPr lang="en-US" sz="24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...; ...;</a:t>
            </a:r>
            <a:endParaRPr lang="en-US" sz="2000" dirty="0">
              <a:latin typeface="Consolas" panose="020B0609020204030204" pitchFamily="49" charset="0"/>
              <a:ea typeface="Times New Roman" panose="02020603050405020304" pitchFamily="18" charset="0"/>
              <a:cs typeface="Consolas" panose="020B0609020204030204" pitchFamily="49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352836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7723"/>
    </mc:Choice>
    <mc:Fallback xmlns="">
      <p:transition xmlns:p14="http://schemas.microsoft.com/office/powerpoint/2010/main" spd="slow" advTm="57723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8" grpId="0" animBg="1"/>
      <p:bldP spid="130" grpId="0" animBg="1"/>
      <p:bldP spid="69" grpId="0" animBg="1"/>
      <p:bldP spid="163" grpId="0" animBg="1"/>
      <p:bldP spid="164" grpId="0" animBg="1"/>
      <p:bldP spid="165" grpId="0" animBg="1"/>
      <p:bldP spid="1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Structural Analysis Property Checklist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E</a:t>
            </a:r>
            <a:r>
              <a:rPr lang="en-US" dirty="0" smtClean="0"/>
              <a:t>ffective abstraction recovery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 smtClean="0"/>
              <a:t>8/15/13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Usenix Security 2013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7839D-A323-47F3-909F-548499399628}" type="slidenum">
              <a:rPr lang="en-US" smtClean="0"/>
              <a:t>22</a:t>
            </a:fld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601697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7737"/>
    </mc:Choice>
    <mc:Fallback xmlns="">
      <p:transition spd="slow" advTm="17737"/>
    </mc:Fallback>
  </mc:AlternateContent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Structural Analysis Property Checklist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strike="sngStrike" dirty="0"/>
              <a:t>E</a:t>
            </a:r>
            <a:r>
              <a:rPr lang="en-US" strike="sngStrike" dirty="0" smtClean="0"/>
              <a:t>ffective abstraction recovery</a:t>
            </a:r>
          </a:p>
          <a:p>
            <a:pPr lvl="1"/>
            <a:r>
              <a:rPr lang="en-US" dirty="0" smtClean="0"/>
              <a:t>Grace</a:t>
            </a:r>
            <a:r>
              <a:rPr lang="en-US" u="sng" dirty="0" smtClean="0"/>
              <a:t>less</a:t>
            </a:r>
            <a:r>
              <a:rPr lang="en-US" dirty="0" smtClean="0"/>
              <a:t> failures for unstructured programs</a:t>
            </a:r>
          </a:p>
          <a:p>
            <a:pPr lvl="2"/>
            <a:r>
              <a:rPr lang="en-US" dirty="0" smtClean="0">
                <a:latin typeface="Consolas" pitchFamily="49" charset="0"/>
                <a:cs typeface="Consolas" pitchFamily="49" charset="0"/>
              </a:rPr>
              <a:t>break</a:t>
            </a:r>
            <a:r>
              <a:rPr lang="en-US" dirty="0"/>
              <a:t>, </a:t>
            </a:r>
            <a:r>
              <a:rPr lang="en-US" dirty="0">
                <a:latin typeface="Consolas" pitchFamily="49" charset="0"/>
                <a:cs typeface="Consolas" pitchFamily="49" charset="0"/>
              </a:rPr>
              <a:t>continue</a:t>
            </a:r>
            <a:r>
              <a:rPr lang="en-US" dirty="0"/>
              <a:t>, </a:t>
            </a:r>
            <a:r>
              <a:rPr lang="en-US" dirty="0" smtClean="0"/>
              <a:t>and </a:t>
            </a:r>
            <a:r>
              <a:rPr lang="en-US" dirty="0" smtClean="0">
                <a:latin typeface="Consolas" panose="020B0609020204030204" pitchFamily="49" charset="0"/>
                <a:cs typeface="Consolas" panose="020B0609020204030204" pitchFamily="49" charset="0"/>
              </a:rPr>
              <a:t>goto</a:t>
            </a:r>
            <a:r>
              <a:rPr lang="en-US" dirty="0">
                <a:cs typeface="Consolas" pitchFamily="49" charset="0"/>
              </a:rPr>
              <a:t> </a:t>
            </a:r>
            <a:r>
              <a:rPr lang="en-US" dirty="0" smtClean="0">
                <a:cs typeface="Consolas" pitchFamily="49" charset="0"/>
              </a:rPr>
              <a:t>statements</a:t>
            </a:r>
          </a:p>
          <a:p>
            <a:pPr lvl="2"/>
            <a:r>
              <a:rPr lang="en-US" dirty="0" smtClean="0">
                <a:cs typeface="Consolas" pitchFamily="49" charset="0"/>
              </a:rPr>
              <a:t>Failures cascade to large subgraphs</a:t>
            </a:r>
            <a:endParaRPr lang="en-US" dirty="0" smtClean="0">
              <a:latin typeface="Consolas" pitchFamily="49" charset="0"/>
              <a:cs typeface="Consolas" pitchFamily="49" charset="0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 smtClean="0"/>
              <a:t>8/15/13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Usenix Security 2013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7839D-A323-47F3-909F-548499399628}" type="slidenum">
              <a:rPr lang="en-US" smtClean="0"/>
              <a:t>23</a:t>
            </a:fld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946079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7737"/>
    </mc:Choice>
    <mc:Fallback xmlns="">
      <p:transition spd="slow" advTm="17737"/>
    </mc:Fallback>
  </mc:AlternateContent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Unrecovered Structure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 smtClean="0"/>
              <a:t>8/15/13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Usenix Security 2013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7839D-A323-47F3-909F-548499399628}" type="slidenum">
              <a:rPr lang="en-US" smtClean="0"/>
              <a:t>24</a:t>
            </a:fld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0" y="3962400"/>
            <a:ext cx="9144000" cy="2590800"/>
          </a:xfrm>
          <a:prstGeom prst="rect">
            <a:avLst/>
          </a:prstGeom>
          <a:gradFill flip="none" rotWithShape="1">
            <a:gsLst>
              <a:gs pos="0">
                <a:schemeClr val="bg2"/>
              </a:gs>
              <a:gs pos="100000">
                <a:schemeClr val="accent3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 anchorCtr="1">
            <a:noAutofit/>
          </a:bodyPr>
          <a:lstStyle/>
          <a:p>
            <a:pPr algn="ctr"/>
            <a:endParaRPr lang="en-US" sz="2800" dirty="0" smtClean="0">
              <a:solidFill>
                <a:srgbClr val="FFFFFF"/>
              </a:solidFill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1943378" y="4011411"/>
            <a:ext cx="810397" cy="2325167"/>
            <a:chOff x="457200" y="2094433"/>
            <a:chExt cx="810397" cy="2325167"/>
          </a:xfrm>
        </p:grpSpPr>
        <p:sp>
          <p:nvSpPr>
            <p:cNvPr id="9" name="Oval 8"/>
            <p:cNvSpPr/>
            <p:nvPr/>
          </p:nvSpPr>
          <p:spPr>
            <a:xfrm>
              <a:off x="457200" y="2094433"/>
              <a:ext cx="304800" cy="3048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1">
              <a:noAutofit/>
            </a:bodyPr>
            <a:lstStyle/>
            <a:p>
              <a:pPr algn="ctr"/>
              <a:endParaRPr lang="en-US" sz="2800" dirty="0" smtClean="0">
                <a:solidFill>
                  <a:srgbClr val="FFFFFF"/>
                </a:solidFill>
              </a:endParaRPr>
            </a:p>
          </p:txBody>
        </p:sp>
        <p:sp>
          <p:nvSpPr>
            <p:cNvPr id="10" name="Oval 9"/>
            <p:cNvSpPr/>
            <p:nvPr/>
          </p:nvSpPr>
          <p:spPr>
            <a:xfrm>
              <a:off x="457200" y="2627833"/>
              <a:ext cx="304800" cy="3048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1">
              <a:noAutofit/>
            </a:bodyPr>
            <a:lstStyle/>
            <a:p>
              <a:pPr algn="ctr"/>
              <a:endParaRPr lang="en-US" sz="2800" dirty="0" smtClean="0">
                <a:solidFill>
                  <a:srgbClr val="FFFFFF"/>
                </a:solidFill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962797" y="3102305"/>
              <a:ext cx="304800" cy="3048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1">
              <a:noAutofit/>
            </a:bodyPr>
            <a:lstStyle/>
            <a:p>
              <a:pPr algn="ctr"/>
              <a:endParaRPr lang="en-US" sz="2800" dirty="0" smtClean="0">
                <a:solidFill>
                  <a:srgbClr val="FFFFFF"/>
                </a:solidFill>
              </a:endParaRPr>
            </a:p>
          </p:txBody>
        </p:sp>
        <p:sp>
          <p:nvSpPr>
            <p:cNvPr id="12" name="Oval 11"/>
            <p:cNvSpPr/>
            <p:nvPr/>
          </p:nvSpPr>
          <p:spPr>
            <a:xfrm>
              <a:off x="457200" y="4114800"/>
              <a:ext cx="304800" cy="3048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1">
              <a:noAutofit/>
            </a:bodyPr>
            <a:lstStyle/>
            <a:p>
              <a:pPr algn="ctr"/>
              <a:endParaRPr lang="en-US" sz="2800" dirty="0" smtClean="0">
                <a:solidFill>
                  <a:srgbClr val="FFFFFF"/>
                </a:solidFill>
              </a:endParaRPr>
            </a:p>
          </p:txBody>
        </p:sp>
        <p:cxnSp>
          <p:nvCxnSpPr>
            <p:cNvPr id="13" name="Straight Arrow Connector 12"/>
            <p:cNvCxnSpPr>
              <a:stCxn id="9" idx="4"/>
              <a:endCxn id="10" idx="0"/>
            </p:cNvCxnSpPr>
            <p:nvPr/>
          </p:nvCxnSpPr>
          <p:spPr>
            <a:xfrm>
              <a:off x="609600" y="2399233"/>
              <a:ext cx="0" cy="22860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/>
            <p:cNvCxnSpPr>
              <a:stCxn id="10" idx="5"/>
              <a:endCxn id="11" idx="1"/>
            </p:cNvCxnSpPr>
            <p:nvPr/>
          </p:nvCxnSpPr>
          <p:spPr>
            <a:xfrm>
              <a:off x="717363" y="2887996"/>
              <a:ext cx="290071" cy="258946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/>
            <p:cNvCxnSpPr>
              <a:stCxn id="10" idx="4"/>
              <a:endCxn id="12" idx="0"/>
            </p:cNvCxnSpPr>
            <p:nvPr/>
          </p:nvCxnSpPr>
          <p:spPr>
            <a:xfrm>
              <a:off x="609600" y="2932633"/>
              <a:ext cx="0" cy="1182167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Oval 15"/>
            <p:cNvSpPr/>
            <p:nvPr/>
          </p:nvSpPr>
          <p:spPr>
            <a:xfrm>
              <a:off x="962797" y="3696767"/>
              <a:ext cx="304800" cy="3048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1">
              <a:noAutofit/>
            </a:bodyPr>
            <a:lstStyle/>
            <a:p>
              <a:pPr algn="ctr"/>
              <a:endParaRPr lang="en-US" sz="2800" dirty="0" smtClean="0">
                <a:solidFill>
                  <a:srgbClr val="FFFFFF"/>
                </a:solidFill>
              </a:endParaRPr>
            </a:p>
          </p:txBody>
        </p:sp>
        <p:cxnSp>
          <p:nvCxnSpPr>
            <p:cNvPr id="17" name="Straight Arrow Connector 16"/>
            <p:cNvCxnSpPr>
              <a:stCxn id="11" idx="4"/>
              <a:endCxn id="16" idx="0"/>
            </p:cNvCxnSpPr>
            <p:nvPr/>
          </p:nvCxnSpPr>
          <p:spPr>
            <a:xfrm>
              <a:off x="1115197" y="3407105"/>
              <a:ext cx="0" cy="289662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01"/>
            <p:cNvCxnSpPr>
              <a:stCxn id="16" idx="6"/>
              <a:endCxn id="10" idx="6"/>
            </p:cNvCxnSpPr>
            <p:nvPr/>
          </p:nvCxnSpPr>
          <p:spPr>
            <a:xfrm flipH="1" flipV="1">
              <a:off x="762000" y="2780233"/>
              <a:ext cx="505597" cy="1068934"/>
            </a:xfrm>
            <a:prstGeom prst="curvedConnector3">
              <a:avLst>
                <a:gd name="adj1" fmla="val -45214"/>
              </a:avLst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>
              <a:stCxn id="11" idx="3"/>
              <a:endCxn id="12" idx="7"/>
            </p:cNvCxnSpPr>
            <p:nvPr/>
          </p:nvCxnSpPr>
          <p:spPr>
            <a:xfrm flipH="1">
              <a:off x="717363" y="3362468"/>
              <a:ext cx="290071" cy="796969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Rounded Rectangle 19"/>
          <p:cNvSpPr/>
          <p:nvPr/>
        </p:nvSpPr>
        <p:spPr>
          <a:xfrm>
            <a:off x="1867178" y="4468611"/>
            <a:ext cx="1219200" cy="1981200"/>
          </a:xfrm>
          <a:prstGeom prst="roundRect">
            <a:avLst/>
          </a:prstGeom>
          <a:noFill/>
          <a:ln w="28575" cap="rnd" cmpd="sng">
            <a:solidFill>
              <a:schemeClr val="tx2"/>
            </a:solidFill>
            <a:prstDash val="solid"/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 anchorCtr="1">
            <a:noAutofit/>
          </a:bodyPr>
          <a:lstStyle/>
          <a:p>
            <a:pPr algn="ctr"/>
            <a:endParaRPr lang="en-US" sz="2400" dirty="0" smtClean="0">
              <a:solidFill>
                <a:schemeClr val="bg1"/>
              </a:solidFill>
            </a:endParaRPr>
          </a:p>
        </p:txBody>
      </p:sp>
      <p:sp>
        <p:nvSpPr>
          <p:cNvPr id="52" name="Rounded Rectangular Callout 51"/>
          <p:cNvSpPr/>
          <p:nvPr/>
        </p:nvSpPr>
        <p:spPr>
          <a:xfrm>
            <a:off x="3172309" y="5474597"/>
            <a:ext cx="2667000" cy="1057083"/>
          </a:xfrm>
          <a:prstGeom prst="wedgeRoundRectCallout">
            <a:avLst>
              <a:gd name="adj1" fmla="val -77861"/>
              <a:gd name="adj2" fmla="val -29707"/>
              <a:gd name="adj3" fmla="val 16667"/>
            </a:avLst>
          </a:prstGeom>
          <a:ln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 anchorCtr="1">
            <a:noAutofit/>
          </a:bodyPr>
          <a:lstStyle/>
          <a:p>
            <a:pPr algn="ctr"/>
            <a:r>
              <a:rPr lang="en-US" sz="2400" dirty="0" smtClean="0">
                <a:solidFill>
                  <a:schemeClr val="bg1"/>
                </a:solidFill>
              </a:rPr>
              <a:t>This </a:t>
            </a:r>
            <a:r>
              <a:rPr lang="en-US" sz="2400" dirty="0" smtClean="0">
                <a:solidFill>
                  <a:schemeClr val="bg1"/>
                </a:solidFill>
                <a:latin typeface="Consolas"/>
                <a:cs typeface="Consolas"/>
              </a:rPr>
              <a:t>break</a:t>
            </a:r>
            <a:r>
              <a:rPr lang="en-US" sz="2400" dirty="0" smtClean="0">
                <a:solidFill>
                  <a:schemeClr val="bg1"/>
                </a:solidFill>
                <a:cs typeface="Consolas"/>
              </a:rPr>
              <a:t> </a:t>
            </a:r>
            <a:r>
              <a:rPr lang="en-US" sz="2400" dirty="0" smtClean="0">
                <a:solidFill>
                  <a:schemeClr val="bg1"/>
                </a:solidFill>
              </a:rPr>
              <a:t>edge prevents progress</a:t>
            </a:r>
          </a:p>
        </p:txBody>
      </p:sp>
      <p:grpSp>
        <p:nvGrpSpPr>
          <p:cNvPr id="66" name="Group 65"/>
          <p:cNvGrpSpPr/>
          <p:nvPr/>
        </p:nvGrpSpPr>
        <p:grpSpPr>
          <a:xfrm>
            <a:off x="4171945" y="4008127"/>
            <a:ext cx="914400" cy="2438400"/>
            <a:chOff x="1860363" y="3833458"/>
            <a:chExt cx="914400" cy="2438400"/>
          </a:xfrm>
        </p:grpSpPr>
        <p:grpSp>
          <p:nvGrpSpPr>
            <p:cNvPr id="53" name="Group 52"/>
            <p:cNvGrpSpPr/>
            <p:nvPr/>
          </p:nvGrpSpPr>
          <p:grpSpPr>
            <a:xfrm>
              <a:off x="2165163" y="3833458"/>
              <a:ext cx="304800" cy="533400"/>
              <a:chOff x="464564" y="2094433"/>
              <a:chExt cx="304800" cy="533400"/>
            </a:xfrm>
          </p:grpSpPr>
          <p:sp>
            <p:nvSpPr>
              <p:cNvPr id="54" name="Oval 53"/>
              <p:cNvSpPr/>
              <p:nvPr/>
            </p:nvSpPr>
            <p:spPr>
              <a:xfrm>
                <a:off x="464564" y="2094433"/>
                <a:ext cx="304800" cy="3048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 anchorCtr="1">
                <a:noAutofit/>
              </a:bodyPr>
              <a:lstStyle/>
              <a:p>
                <a:pPr algn="ctr"/>
                <a:endParaRPr lang="en-US" sz="2800" dirty="0" smtClean="0">
                  <a:solidFill>
                    <a:srgbClr val="FFFFFF"/>
                  </a:solidFill>
                </a:endParaRPr>
              </a:p>
            </p:txBody>
          </p:sp>
          <p:cxnSp>
            <p:nvCxnSpPr>
              <p:cNvPr id="58" name="Straight Arrow Connector 57"/>
              <p:cNvCxnSpPr/>
              <p:nvPr/>
            </p:nvCxnSpPr>
            <p:spPr>
              <a:xfrm>
                <a:off x="616964" y="2399233"/>
                <a:ext cx="0" cy="22860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5" name="Rounded Rectangle 64"/>
            <p:cNvSpPr/>
            <p:nvPr/>
          </p:nvSpPr>
          <p:spPr>
            <a:xfrm>
              <a:off x="1860363" y="4355412"/>
              <a:ext cx="914400" cy="1916446"/>
            </a:xfrm>
            <a:prstGeom prst="roundRect">
              <a:avLst/>
            </a:prstGeom>
            <a:solidFill>
              <a:schemeClr val="accent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1">
              <a:noAutofit/>
            </a:bodyPr>
            <a:lstStyle/>
            <a:p>
              <a:pPr algn="ctr"/>
              <a:r>
                <a:rPr lang="en-US" sz="1050" dirty="0" smtClean="0">
                  <a:solidFill>
                    <a:schemeClr val="tx1"/>
                  </a:solidFill>
                  <a:latin typeface="Consolas"/>
                  <a:cs typeface="Consolas"/>
                </a:rPr>
                <a:t>UNKNOWN</a:t>
              </a:r>
            </a:p>
          </p:txBody>
        </p:sp>
      </p:grpSp>
      <p:sp>
        <p:nvSpPr>
          <p:cNvPr id="67" name="Rounded Rectangle 66"/>
          <p:cNvSpPr/>
          <p:nvPr/>
        </p:nvSpPr>
        <p:spPr>
          <a:xfrm>
            <a:off x="6171912" y="4017979"/>
            <a:ext cx="914687" cy="2431832"/>
          </a:xfrm>
          <a:prstGeom prst="roundRect">
            <a:avLst/>
          </a:prstGeom>
          <a:solidFill>
            <a:schemeClr val="accent2"/>
          </a:solidFill>
          <a:ln>
            <a:noFill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 anchorCtr="1">
            <a:noAutofit/>
          </a:bodyPr>
          <a:lstStyle/>
          <a:p>
            <a:pPr algn="ctr"/>
            <a:r>
              <a:rPr lang="en-US" sz="1050" dirty="0" smtClean="0">
                <a:solidFill>
                  <a:schemeClr val="tx1"/>
                </a:solidFill>
                <a:latin typeface="Consolas"/>
                <a:cs typeface="Consolas"/>
              </a:rPr>
              <a:t>SEQ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04800" y="1091794"/>
            <a:ext cx="3733800" cy="2513880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txBody>
          <a:bodyPr wrap="square" lIns="182880" tIns="0" rIns="0" bIns="0" rtlCol="0" anchor="t" anchorCtr="0">
            <a:spAutoFit/>
          </a:bodyPr>
          <a:lstStyle/>
          <a:p>
            <a:pPr>
              <a:lnSpc>
                <a:spcPct val="107000"/>
              </a:lnSpc>
            </a:pPr>
            <a:r>
              <a:rPr lang="en-US" sz="23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s1;</a:t>
            </a:r>
          </a:p>
          <a:p>
            <a:pPr>
              <a:lnSpc>
                <a:spcPct val="107000"/>
              </a:lnSpc>
            </a:pPr>
            <a:r>
              <a:rPr lang="en-US" sz="2300" b="1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while</a:t>
            </a:r>
            <a:r>
              <a:rPr lang="en-US" sz="2300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</a:t>
            </a:r>
            <a:r>
              <a:rPr lang="en-US" sz="23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(e1) {</a:t>
            </a:r>
          </a:p>
          <a:p>
            <a:pPr>
              <a:lnSpc>
                <a:spcPct val="107000"/>
              </a:lnSpc>
            </a:pPr>
            <a:r>
              <a:rPr lang="en-US" sz="23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 </a:t>
            </a:r>
            <a:r>
              <a:rPr lang="en-US" sz="2300" b="1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if</a:t>
            </a:r>
            <a:r>
              <a:rPr lang="en-US" sz="2300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</a:t>
            </a:r>
            <a:r>
              <a:rPr lang="en-US" sz="23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(e2) { </a:t>
            </a:r>
            <a:r>
              <a:rPr lang="en-US" sz="2300" b="1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break</a:t>
            </a:r>
            <a:r>
              <a:rPr lang="en-US" sz="23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; }</a:t>
            </a:r>
          </a:p>
          <a:p>
            <a:pPr>
              <a:lnSpc>
                <a:spcPct val="107000"/>
              </a:lnSpc>
            </a:pPr>
            <a:r>
              <a:rPr lang="en-US" sz="23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 s2;</a:t>
            </a:r>
          </a:p>
          <a:p>
            <a:pPr>
              <a:lnSpc>
                <a:spcPct val="107000"/>
              </a:lnSpc>
            </a:pPr>
            <a:r>
              <a:rPr lang="en-US" sz="23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}</a:t>
            </a:r>
          </a:p>
          <a:p>
            <a:pPr>
              <a:lnSpc>
                <a:spcPct val="107000"/>
              </a:lnSpc>
            </a:pPr>
            <a:r>
              <a:rPr lang="en-US" sz="23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s3;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495800" y="1091794"/>
            <a:ext cx="4343400" cy="2513880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txBody>
          <a:bodyPr wrap="square" lIns="91440" tIns="0" rIns="0" bIns="0" rtlCol="0" anchor="t" anchorCtr="0">
            <a:spAutoFit/>
          </a:bodyPr>
          <a:lstStyle/>
          <a:p>
            <a:pPr>
              <a:lnSpc>
                <a:spcPct val="107000"/>
              </a:lnSpc>
            </a:pPr>
            <a:r>
              <a:rPr lang="en-US" sz="23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s1;</a:t>
            </a:r>
          </a:p>
          <a:p>
            <a:pPr>
              <a:lnSpc>
                <a:spcPct val="107000"/>
              </a:lnSpc>
            </a:pPr>
            <a:r>
              <a:rPr lang="en-US" sz="2300" dirty="0">
                <a:solidFill>
                  <a:srgbClr val="A0A00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L1:</a:t>
            </a:r>
            <a:r>
              <a:rPr lang="en-US" sz="23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</a:t>
            </a:r>
            <a:r>
              <a:rPr lang="en-US" sz="2300" b="1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if</a:t>
            </a:r>
            <a:r>
              <a:rPr lang="en-US" sz="2300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</a:t>
            </a:r>
            <a:r>
              <a:rPr lang="en-US" sz="23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(e1) { </a:t>
            </a:r>
            <a:r>
              <a:rPr lang="en-US" sz="2300" b="1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goto</a:t>
            </a:r>
            <a:r>
              <a:rPr lang="en-US" sz="2300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</a:t>
            </a:r>
            <a:r>
              <a:rPr lang="en-US" sz="23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L2; }     </a:t>
            </a:r>
          </a:p>
          <a:p>
            <a:pPr>
              <a:lnSpc>
                <a:spcPct val="107000"/>
              </a:lnSpc>
            </a:pPr>
            <a:r>
              <a:rPr lang="en-US" sz="2300" b="1" dirty="0">
                <a:solidFill>
                  <a:srgbClr val="00800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   </a:t>
            </a:r>
            <a:r>
              <a:rPr lang="en-US" sz="2300" b="1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else</a:t>
            </a:r>
            <a:r>
              <a:rPr lang="en-US" sz="2300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</a:t>
            </a:r>
            <a:r>
              <a:rPr lang="en-US" sz="23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{ </a:t>
            </a:r>
            <a:r>
              <a:rPr lang="en-US" sz="2300" b="1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goto</a:t>
            </a:r>
            <a:r>
              <a:rPr lang="en-US" sz="2300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</a:t>
            </a:r>
            <a:r>
              <a:rPr lang="en-US" sz="23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L4; }</a:t>
            </a:r>
          </a:p>
          <a:p>
            <a:pPr>
              <a:lnSpc>
                <a:spcPct val="107000"/>
              </a:lnSpc>
            </a:pPr>
            <a:r>
              <a:rPr lang="en-US" sz="2300" dirty="0">
                <a:solidFill>
                  <a:srgbClr val="A0A00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L2:</a:t>
            </a:r>
            <a:r>
              <a:rPr lang="en-US" sz="23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</a:t>
            </a:r>
            <a:r>
              <a:rPr lang="en-US" sz="2300" b="1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if</a:t>
            </a:r>
            <a:r>
              <a:rPr lang="en-US" sz="2300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</a:t>
            </a:r>
            <a:r>
              <a:rPr lang="en-US" sz="23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(e2) { </a:t>
            </a:r>
            <a:r>
              <a:rPr lang="en-US" sz="2300" b="1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goto</a:t>
            </a:r>
            <a:r>
              <a:rPr lang="en-US" sz="2300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</a:t>
            </a:r>
            <a:r>
              <a:rPr lang="en-US" sz="23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L4; }</a:t>
            </a:r>
          </a:p>
          <a:p>
            <a:pPr>
              <a:lnSpc>
                <a:spcPct val="107000"/>
              </a:lnSpc>
            </a:pPr>
            <a:r>
              <a:rPr lang="en-US" sz="2300" dirty="0">
                <a:solidFill>
                  <a:srgbClr val="A0A00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L3:</a:t>
            </a:r>
            <a:r>
              <a:rPr lang="en-US" sz="23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s2; </a:t>
            </a:r>
            <a:r>
              <a:rPr lang="en-US" sz="2300" b="1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goto</a:t>
            </a:r>
            <a:r>
              <a:rPr lang="en-US" sz="2300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</a:t>
            </a:r>
            <a:r>
              <a:rPr lang="en-US" sz="23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L1;</a:t>
            </a:r>
          </a:p>
          <a:p>
            <a:pPr>
              <a:lnSpc>
                <a:spcPct val="107000"/>
              </a:lnSpc>
            </a:pPr>
            <a:r>
              <a:rPr lang="en-US" sz="2300" dirty="0">
                <a:solidFill>
                  <a:srgbClr val="A0A00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L4:</a:t>
            </a:r>
            <a:r>
              <a:rPr lang="en-US" sz="23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</a:t>
            </a:r>
            <a:r>
              <a:rPr lang="en-US" sz="2300" dirty="0" smtClean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s3;</a:t>
            </a:r>
            <a:endParaRPr lang="en-US" sz="23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1143000" y="3531513"/>
            <a:ext cx="2057400" cy="430887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ctr">
              <a:buClr>
                <a:schemeClr val="accent1"/>
              </a:buClr>
            </a:pPr>
            <a:r>
              <a:rPr lang="en-US" sz="2800" dirty="0" smtClean="0"/>
              <a:t>Original</a:t>
            </a:r>
            <a:endParaRPr lang="en-US" sz="2800" dirty="0"/>
          </a:p>
        </p:txBody>
      </p:sp>
      <p:sp>
        <p:nvSpPr>
          <p:cNvPr id="75" name="TextBox 74"/>
          <p:cNvSpPr txBox="1"/>
          <p:nvPr/>
        </p:nvSpPr>
        <p:spPr>
          <a:xfrm>
            <a:off x="5607374" y="3531513"/>
            <a:ext cx="2362200" cy="430887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ctr">
              <a:buClr>
                <a:schemeClr val="accent1"/>
              </a:buClr>
            </a:pPr>
            <a:r>
              <a:rPr lang="en-US" sz="2800" dirty="0" smtClean="0"/>
              <a:t>Decompiled</a:t>
            </a:r>
            <a:endParaRPr lang="en-US" sz="2800" dirty="0"/>
          </a:p>
        </p:txBody>
      </p:sp>
      <p:sp>
        <p:nvSpPr>
          <p:cNvPr id="3" name="Rounded Rectangle 2"/>
          <p:cNvSpPr/>
          <p:nvPr/>
        </p:nvSpPr>
        <p:spPr>
          <a:xfrm>
            <a:off x="990600" y="2465589"/>
            <a:ext cx="7543800" cy="2411211"/>
          </a:xfrm>
          <a:prstGeom prst="roundRect">
            <a:avLst/>
          </a:prstGeom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 anchorCtr="1">
            <a:noAutofit/>
          </a:bodyPr>
          <a:lstStyle/>
          <a:p>
            <a:pPr algn="ctr"/>
            <a:r>
              <a:rPr lang="en-US" sz="4800" dirty="0" smtClean="0">
                <a:solidFill>
                  <a:schemeClr val="bg1"/>
                </a:solidFill>
              </a:rPr>
              <a:t>Fix: New structuring algorithm featuring</a:t>
            </a:r>
          </a:p>
          <a:p>
            <a:pPr algn="ctr"/>
            <a:r>
              <a:rPr lang="en-US" sz="4800" u="sng" dirty="0" smtClean="0">
                <a:solidFill>
                  <a:schemeClr val="bg1"/>
                </a:solidFill>
              </a:rPr>
              <a:t>Iterative Refinement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413452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0513"/>
    </mc:Choice>
    <mc:Fallback xmlns="">
      <p:transition xmlns:p14="http://schemas.microsoft.com/office/powerpoint/2010/main" spd="slow" advTm="70513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20" grpId="0" animBg="1"/>
      <p:bldP spid="52" grpId="0" animBg="1"/>
      <p:bldP spid="52" grpId="1" animBg="1"/>
      <p:bldP spid="67" grpId="0" animBg="1"/>
      <p:bldP spid="71" grpId="0" animBg="1"/>
      <p:bldP spid="74" grpId="0"/>
      <p:bldP spid="75" grpId="0"/>
      <p:bldP spid="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Iterative Refinement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Remove edges that are preventing </a:t>
            </a:r>
            <a:r>
              <a:rPr lang="en-US" dirty="0"/>
              <a:t>a match</a:t>
            </a:r>
          </a:p>
          <a:p>
            <a:pPr lvl="1"/>
            <a:r>
              <a:rPr lang="en-US" dirty="0"/>
              <a:t>Represent </a:t>
            </a:r>
            <a:r>
              <a:rPr lang="en-US" dirty="0" smtClean="0"/>
              <a:t>in decompiled source as </a:t>
            </a:r>
            <a:r>
              <a:rPr lang="en-US" dirty="0" smtClean="0">
                <a:latin typeface="Consolas" pitchFamily="49" charset="0"/>
                <a:cs typeface="Consolas" pitchFamily="49" charset="0"/>
              </a:rPr>
              <a:t>break</a:t>
            </a:r>
            <a:r>
              <a:rPr lang="en-US" dirty="0"/>
              <a:t>, </a:t>
            </a:r>
            <a:r>
              <a:rPr lang="en-US" dirty="0">
                <a:latin typeface="Consolas" pitchFamily="49" charset="0"/>
                <a:cs typeface="Consolas" pitchFamily="49" charset="0"/>
              </a:rPr>
              <a:t>goto</a:t>
            </a:r>
            <a:r>
              <a:rPr lang="en-US" dirty="0"/>
              <a:t>, </a:t>
            </a:r>
            <a:r>
              <a:rPr lang="en-US" dirty="0" smtClean="0">
                <a:latin typeface="Consolas" pitchFamily="49" charset="0"/>
                <a:cs typeface="Consolas" pitchFamily="49" charset="0"/>
              </a:rPr>
              <a:t>continue</a:t>
            </a:r>
          </a:p>
          <a:p>
            <a:pPr lvl="1"/>
            <a:endParaRPr lang="en-US" dirty="0" smtClean="0">
              <a:latin typeface="Consolas" pitchFamily="49" charset="0"/>
              <a:cs typeface="Consolas" pitchFamily="49" charset="0"/>
            </a:endParaRPr>
          </a:p>
          <a:p>
            <a:r>
              <a:rPr lang="en-US" dirty="0" smtClean="0">
                <a:cs typeface="Consolas" pitchFamily="49" charset="0"/>
              </a:rPr>
              <a:t>Allows structuring algorithm to make more progress</a:t>
            </a:r>
            <a:endParaRPr lang="en-US" dirty="0">
              <a:cs typeface="Consolas" pitchFamily="49" charset="0"/>
            </a:endParaRPr>
          </a:p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 smtClean="0"/>
              <a:t>8/15/13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Usenix Security 2013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7839D-A323-47F3-909F-548499399628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07345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Iterative Refinement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 smtClean="0"/>
              <a:t>8/15/13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Usenix Security 2013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7839D-A323-47F3-909F-548499399628}" type="slidenum">
              <a:rPr lang="en-US" smtClean="0"/>
              <a:t>26</a:t>
            </a:fld>
            <a:endParaRPr lang="en-US" dirty="0"/>
          </a:p>
        </p:txBody>
      </p:sp>
      <p:sp>
        <p:nvSpPr>
          <p:cNvPr id="69" name="TextBox 68"/>
          <p:cNvSpPr txBox="1"/>
          <p:nvPr/>
        </p:nvSpPr>
        <p:spPr>
          <a:xfrm>
            <a:off x="609600" y="1102116"/>
            <a:ext cx="3581400" cy="2513880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txBody>
          <a:bodyPr wrap="square" lIns="91440" tIns="0" rIns="0" bIns="0" rtlCol="0" anchor="t" anchorCtr="0">
            <a:spAutoFit/>
          </a:bodyPr>
          <a:lstStyle/>
          <a:p>
            <a:pPr>
              <a:lnSpc>
                <a:spcPct val="107000"/>
              </a:lnSpc>
            </a:pPr>
            <a:r>
              <a:rPr lang="en-US" sz="23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s1;</a:t>
            </a:r>
          </a:p>
          <a:p>
            <a:pPr>
              <a:lnSpc>
                <a:spcPct val="107000"/>
              </a:lnSpc>
            </a:pPr>
            <a:r>
              <a:rPr lang="en-US" sz="2300" b="1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while</a:t>
            </a:r>
            <a:r>
              <a:rPr lang="en-US" sz="2300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</a:t>
            </a:r>
            <a:r>
              <a:rPr lang="en-US" sz="23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(e1) {</a:t>
            </a:r>
          </a:p>
          <a:p>
            <a:pPr>
              <a:lnSpc>
                <a:spcPct val="107000"/>
              </a:lnSpc>
            </a:pPr>
            <a:r>
              <a:rPr lang="en-US" sz="23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 </a:t>
            </a:r>
            <a:r>
              <a:rPr lang="en-US" sz="2300" b="1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if</a:t>
            </a:r>
            <a:r>
              <a:rPr lang="en-US" sz="2300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</a:t>
            </a:r>
            <a:r>
              <a:rPr lang="en-US" sz="23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(e2) { </a:t>
            </a:r>
            <a:r>
              <a:rPr lang="en-US" sz="2300" b="1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break</a:t>
            </a:r>
            <a:r>
              <a:rPr lang="en-US" sz="23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; }</a:t>
            </a:r>
          </a:p>
          <a:p>
            <a:pPr>
              <a:lnSpc>
                <a:spcPct val="107000"/>
              </a:lnSpc>
            </a:pPr>
            <a:r>
              <a:rPr lang="en-US" sz="23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 s2;</a:t>
            </a:r>
          </a:p>
          <a:p>
            <a:pPr>
              <a:lnSpc>
                <a:spcPct val="107000"/>
              </a:lnSpc>
            </a:pPr>
            <a:r>
              <a:rPr lang="en-US" sz="23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}</a:t>
            </a:r>
          </a:p>
          <a:p>
            <a:pPr>
              <a:lnSpc>
                <a:spcPct val="107000"/>
              </a:lnSpc>
            </a:pPr>
            <a:r>
              <a:rPr lang="en-US" sz="23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s3;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025628" y="1066800"/>
            <a:ext cx="3584971" cy="2513880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txBody>
          <a:bodyPr wrap="square" lIns="91440" tIns="0" rIns="0" bIns="0" rtlCol="0" anchor="t" anchorCtr="0">
            <a:spAutoFit/>
          </a:bodyPr>
          <a:lstStyle/>
          <a:p>
            <a:pPr>
              <a:lnSpc>
                <a:spcPct val="107000"/>
              </a:lnSpc>
            </a:pPr>
            <a:r>
              <a:rPr lang="en-US" sz="23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s1;</a:t>
            </a:r>
          </a:p>
          <a:p>
            <a:pPr>
              <a:lnSpc>
                <a:spcPct val="107000"/>
              </a:lnSpc>
            </a:pPr>
            <a:r>
              <a:rPr lang="en-US" sz="2300" b="1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while</a:t>
            </a:r>
            <a:r>
              <a:rPr lang="en-US" sz="2300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</a:t>
            </a:r>
            <a:r>
              <a:rPr lang="en-US" sz="23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(e1) {</a:t>
            </a:r>
          </a:p>
          <a:p>
            <a:pPr>
              <a:lnSpc>
                <a:spcPct val="107000"/>
              </a:lnSpc>
            </a:pPr>
            <a:r>
              <a:rPr lang="en-US" sz="23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 </a:t>
            </a:r>
            <a:r>
              <a:rPr lang="en-US" sz="2300" b="1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if</a:t>
            </a:r>
            <a:r>
              <a:rPr lang="en-US" sz="2300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</a:t>
            </a:r>
            <a:r>
              <a:rPr lang="en-US" sz="23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(e2) { </a:t>
            </a:r>
            <a:r>
              <a:rPr lang="en-US" sz="2300" b="1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break</a:t>
            </a:r>
            <a:r>
              <a:rPr lang="en-US" sz="23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; }</a:t>
            </a:r>
          </a:p>
          <a:p>
            <a:pPr>
              <a:lnSpc>
                <a:spcPct val="107000"/>
              </a:lnSpc>
            </a:pPr>
            <a:r>
              <a:rPr lang="en-US" sz="23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 s2;</a:t>
            </a:r>
          </a:p>
          <a:p>
            <a:pPr>
              <a:lnSpc>
                <a:spcPct val="107000"/>
              </a:lnSpc>
            </a:pPr>
            <a:r>
              <a:rPr lang="en-US" sz="23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}</a:t>
            </a:r>
          </a:p>
          <a:p>
            <a:pPr>
              <a:lnSpc>
                <a:spcPct val="107000"/>
              </a:lnSpc>
            </a:pPr>
            <a:r>
              <a:rPr lang="en-US" sz="23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s3;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371600" y="3528025"/>
            <a:ext cx="2057400" cy="430887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ctr">
              <a:buClr>
                <a:schemeClr val="accent1"/>
              </a:buClr>
            </a:pPr>
            <a:r>
              <a:rPr lang="en-US" sz="2800" dirty="0" smtClean="0"/>
              <a:t>Original</a:t>
            </a:r>
            <a:endParaRPr lang="en-US" sz="2800" dirty="0"/>
          </a:p>
        </p:txBody>
      </p:sp>
      <p:sp>
        <p:nvSpPr>
          <p:cNvPr id="75" name="TextBox 74"/>
          <p:cNvSpPr txBox="1"/>
          <p:nvPr/>
        </p:nvSpPr>
        <p:spPr>
          <a:xfrm>
            <a:off x="5637013" y="3528025"/>
            <a:ext cx="2362200" cy="430887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ctr">
              <a:buClr>
                <a:schemeClr val="accent1"/>
              </a:buClr>
            </a:pPr>
            <a:r>
              <a:rPr lang="en-US" sz="2800" dirty="0" smtClean="0"/>
              <a:t>Decompiled</a:t>
            </a:r>
            <a:endParaRPr lang="en-US" sz="2800" dirty="0"/>
          </a:p>
        </p:txBody>
      </p:sp>
      <p:sp>
        <p:nvSpPr>
          <p:cNvPr id="31" name="Rectangle 30"/>
          <p:cNvSpPr/>
          <p:nvPr/>
        </p:nvSpPr>
        <p:spPr>
          <a:xfrm>
            <a:off x="0" y="4052340"/>
            <a:ext cx="9144000" cy="2500859"/>
          </a:xfrm>
          <a:prstGeom prst="rect">
            <a:avLst/>
          </a:prstGeom>
          <a:gradFill flip="none" rotWithShape="1">
            <a:gsLst>
              <a:gs pos="0">
                <a:schemeClr val="bg2"/>
              </a:gs>
              <a:gs pos="100000">
                <a:schemeClr val="accent3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 anchorCtr="1">
            <a:noAutofit/>
          </a:bodyPr>
          <a:lstStyle/>
          <a:p>
            <a:pPr algn="ctr"/>
            <a:endParaRPr lang="en-US" sz="2800" dirty="0" smtClean="0">
              <a:solidFill>
                <a:srgbClr val="FFFFFF"/>
              </a:solidFill>
            </a:endParaRPr>
          </a:p>
        </p:txBody>
      </p:sp>
      <p:grpSp>
        <p:nvGrpSpPr>
          <p:cNvPr id="32" name="Group 31"/>
          <p:cNvGrpSpPr/>
          <p:nvPr/>
        </p:nvGrpSpPr>
        <p:grpSpPr>
          <a:xfrm>
            <a:off x="457200" y="4114800"/>
            <a:ext cx="810397" cy="2325167"/>
            <a:chOff x="457200" y="2094433"/>
            <a:chExt cx="810397" cy="2325167"/>
          </a:xfrm>
        </p:grpSpPr>
        <p:sp>
          <p:nvSpPr>
            <p:cNvPr id="33" name="Oval 32"/>
            <p:cNvSpPr/>
            <p:nvPr/>
          </p:nvSpPr>
          <p:spPr>
            <a:xfrm>
              <a:off x="457200" y="2094433"/>
              <a:ext cx="304800" cy="3048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1">
              <a:noAutofit/>
            </a:bodyPr>
            <a:lstStyle/>
            <a:p>
              <a:pPr algn="ctr"/>
              <a:endParaRPr lang="en-US" sz="2800" dirty="0" smtClean="0">
                <a:solidFill>
                  <a:srgbClr val="FFFFFF"/>
                </a:solidFill>
              </a:endParaRPr>
            </a:p>
          </p:txBody>
        </p:sp>
        <p:sp>
          <p:nvSpPr>
            <p:cNvPr id="34" name="Oval 33"/>
            <p:cNvSpPr/>
            <p:nvPr/>
          </p:nvSpPr>
          <p:spPr>
            <a:xfrm>
              <a:off x="457200" y="2627833"/>
              <a:ext cx="304800" cy="3048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1">
              <a:noAutofit/>
            </a:bodyPr>
            <a:lstStyle/>
            <a:p>
              <a:pPr algn="ctr"/>
              <a:endParaRPr lang="en-US" sz="2800" dirty="0" smtClean="0">
                <a:solidFill>
                  <a:srgbClr val="FFFFFF"/>
                </a:solidFill>
              </a:endParaRPr>
            </a:p>
          </p:txBody>
        </p:sp>
        <p:sp>
          <p:nvSpPr>
            <p:cNvPr id="35" name="Oval 34"/>
            <p:cNvSpPr/>
            <p:nvPr/>
          </p:nvSpPr>
          <p:spPr>
            <a:xfrm>
              <a:off x="962797" y="3102305"/>
              <a:ext cx="304800" cy="3048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1">
              <a:noAutofit/>
            </a:bodyPr>
            <a:lstStyle/>
            <a:p>
              <a:pPr algn="ctr"/>
              <a:endParaRPr lang="en-US" sz="2800" dirty="0" smtClean="0">
                <a:solidFill>
                  <a:srgbClr val="FFFFFF"/>
                </a:solidFill>
              </a:endParaRPr>
            </a:p>
          </p:txBody>
        </p:sp>
        <p:sp>
          <p:nvSpPr>
            <p:cNvPr id="36" name="Oval 35"/>
            <p:cNvSpPr/>
            <p:nvPr/>
          </p:nvSpPr>
          <p:spPr>
            <a:xfrm>
              <a:off x="457200" y="4114800"/>
              <a:ext cx="304800" cy="3048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1">
              <a:noAutofit/>
            </a:bodyPr>
            <a:lstStyle/>
            <a:p>
              <a:pPr algn="ctr"/>
              <a:endParaRPr lang="en-US" sz="2800" dirty="0" smtClean="0">
                <a:solidFill>
                  <a:srgbClr val="FFFFFF"/>
                </a:solidFill>
              </a:endParaRPr>
            </a:p>
          </p:txBody>
        </p:sp>
        <p:cxnSp>
          <p:nvCxnSpPr>
            <p:cNvPr id="37" name="Straight Arrow Connector 36"/>
            <p:cNvCxnSpPr>
              <a:stCxn id="33" idx="4"/>
              <a:endCxn id="34" idx="0"/>
            </p:cNvCxnSpPr>
            <p:nvPr/>
          </p:nvCxnSpPr>
          <p:spPr>
            <a:xfrm>
              <a:off x="609600" y="2399233"/>
              <a:ext cx="0" cy="22860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/>
            <p:cNvCxnSpPr>
              <a:stCxn id="34" idx="5"/>
              <a:endCxn id="35" idx="1"/>
            </p:cNvCxnSpPr>
            <p:nvPr/>
          </p:nvCxnSpPr>
          <p:spPr>
            <a:xfrm>
              <a:off x="717363" y="2887996"/>
              <a:ext cx="290071" cy="258946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/>
            <p:cNvCxnSpPr>
              <a:stCxn id="34" idx="4"/>
              <a:endCxn id="36" idx="0"/>
            </p:cNvCxnSpPr>
            <p:nvPr/>
          </p:nvCxnSpPr>
          <p:spPr>
            <a:xfrm>
              <a:off x="609600" y="2932633"/>
              <a:ext cx="0" cy="1182167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Oval 39"/>
            <p:cNvSpPr/>
            <p:nvPr/>
          </p:nvSpPr>
          <p:spPr>
            <a:xfrm>
              <a:off x="962797" y="3696767"/>
              <a:ext cx="304800" cy="3048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1">
              <a:noAutofit/>
            </a:bodyPr>
            <a:lstStyle/>
            <a:p>
              <a:pPr algn="ctr"/>
              <a:endParaRPr lang="en-US" sz="2800" dirty="0" smtClean="0">
                <a:solidFill>
                  <a:srgbClr val="FFFFFF"/>
                </a:solidFill>
              </a:endParaRPr>
            </a:p>
          </p:txBody>
        </p:sp>
        <p:cxnSp>
          <p:nvCxnSpPr>
            <p:cNvPr id="41" name="Straight Arrow Connector 40"/>
            <p:cNvCxnSpPr>
              <a:stCxn id="35" idx="4"/>
              <a:endCxn id="40" idx="0"/>
            </p:cNvCxnSpPr>
            <p:nvPr/>
          </p:nvCxnSpPr>
          <p:spPr>
            <a:xfrm>
              <a:off x="1115197" y="3407105"/>
              <a:ext cx="0" cy="289662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101"/>
            <p:cNvCxnSpPr>
              <a:stCxn id="40" idx="6"/>
              <a:endCxn id="34" idx="6"/>
            </p:cNvCxnSpPr>
            <p:nvPr/>
          </p:nvCxnSpPr>
          <p:spPr>
            <a:xfrm flipH="1" flipV="1">
              <a:off x="762000" y="2780233"/>
              <a:ext cx="505597" cy="1068934"/>
            </a:xfrm>
            <a:prstGeom prst="curvedConnector3">
              <a:avLst>
                <a:gd name="adj1" fmla="val -45214"/>
              </a:avLst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/>
            <p:cNvCxnSpPr>
              <a:stCxn id="35" idx="3"/>
              <a:endCxn id="36" idx="7"/>
            </p:cNvCxnSpPr>
            <p:nvPr/>
          </p:nvCxnSpPr>
          <p:spPr>
            <a:xfrm flipH="1">
              <a:off x="717363" y="3362468"/>
              <a:ext cx="290071" cy="796969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Rounded Rectangle 43"/>
          <p:cNvSpPr/>
          <p:nvPr/>
        </p:nvSpPr>
        <p:spPr>
          <a:xfrm>
            <a:off x="862398" y="5037836"/>
            <a:ext cx="509202" cy="506247"/>
          </a:xfrm>
          <a:prstGeom prst="roundRect">
            <a:avLst/>
          </a:prstGeom>
          <a:noFill/>
          <a:ln w="28575" cap="rnd" cmpd="sng">
            <a:solidFill>
              <a:schemeClr val="tx2"/>
            </a:solidFill>
            <a:prstDash val="solid"/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 anchorCtr="1">
            <a:noAutofit/>
          </a:bodyPr>
          <a:lstStyle/>
          <a:p>
            <a:pPr algn="ctr"/>
            <a:endParaRPr lang="en-US" sz="2400" dirty="0" smtClean="0">
              <a:solidFill>
                <a:schemeClr val="bg1"/>
              </a:solidFill>
            </a:endParaRPr>
          </a:p>
        </p:txBody>
      </p:sp>
      <p:grpSp>
        <p:nvGrpSpPr>
          <p:cNvPr id="45" name="Group 44"/>
          <p:cNvGrpSpPr/>
          <p:nvPr/>
        </p:nvGrpSpPr>
        <p:grpSpPr>
          <a:xfrm>
            <a:off x="2379529" y="4128375"/>
            <a:ext cx="888201" cy="2325167"/>
            <a:chOff x="1981200" y="2108008"/>
            <a:chExt cx="888201" cy="2325167"/>
          </a:xfrm>
        </p:grpSpPr>
        <p:sp>
          <p:nvSpPr>
            <p:cNvPr id="46" name="Oval 45"/>
            <p:cNvSpPr/>
            <p:nvPr/>
          </p:nvSpPr>
          <p:spPr>
            <a:xfrm>
              <a:off x="1981200" y="2108008"/>
              <a:ext cx="304800" cy="3048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1">
              <a:noAutofit/>
            </a:bodyPr>
            <a:lstStyle/>
            <a:p>
              <a:pPr algn="ctr"/>
              <a:endParaRPr lang="en-US" sz="2800" dirty="0" smtClean="0">
                <a:solidFill>
                  <a:srgbClr val="FFFFFF"/>
                </a:solidFill>
              </a:endParaRPr>
            </a:p>
          </p:txBody>
        </p:sp>
        <p:sp>
          <p:nvSpPr>
            <p:cNvPr id="47" name="Oval 46"/>
            <p:cNvSpPr/>
            <p:nvPr/>
          </p:nvSpPr>
          <p:spPr>
            <a:xfrm>
              <a:off x="1981200" y="2641408"/>
              <a:ext cx="304800" cy="3048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1">
              <a:noAutofit/>
            </a:bodyPr>
            <a:lstStyle/>
            <a:p>
              <a:pPr algn="ctr"/>
              <a:endParaRPr lang="en-US" sz="2800" dirty="0" smtClean="0">
                <a:solidFill>
                  <a:srgbClr val="FFFFFF"/>
                </a:solidFill>
              </a:endParaRPr>
            </a:p>
          </p:txBody>
        </p:sp>
        <p:sp>
          <p:nvSpPr>
            <p:cNvPr id="48" name="Oval 47"/>
            <p:cNvSpPr/>
            <p:nvPr/>
          </p:nvSpPr>
          <p:spPr>
            <a:xfrm>
              <a:off x="1981200" y="4128375"/>
              <a:ext cx="304800" cy="3048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1">
              <a:noAutofit/>
            </a:bodyPr>
            <a:lstStyle/>
            <a:p>
              <a:pPr algn="ctr"/>
              <a:endParaRPr lang="en-US" sz="2800" dirty="0" smtClean="0">
                <a:solidFill>
                  <a:srgbClr val="FFFFFF"/>
                </a:solidFill>
              </a:endParaRPr>
            </a:p>
          </p:txBody>
        </p:sp>
        <p:cxnSp>
          <p:nvCxnSpPr>
            <p:cNvPr id="49" name="Straight Arrow Connector 48"/>
            <p:cNvCxnSpPr>
              <a:stCxn id="46" idx="4"/>
              <a:endCxn id="47" idx="0"/>
            </p:cNvCxnSpPr>
            <p:nvPr/>
          </p:nvCxnSpPr>
          <p:spPr>
            <a:xfrm>
              <a:off x="2133600" y="2412808"/>
              <a:ext cx="0" cy="22860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Arrow Connector 49"/>
            <p:cNvCxnSpPr>
              <a:stCxn id="47" idx="5"/>
              <a:endCxn id="60" idx="0"/>
            </p:cNvCxnSpPr>
            <p:nvPr/>
          </p:nvCxnSpPr>
          <p:spPr>
            <a:xfrm>
              <a:off x="2241363" y="2901571"/>
              <a:ext cx="297435" cy="258946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/>
            <p:cNvCxnSpPr>
              <a:stCxn id="47" idx="4"/>
              <a:endCxn id="48" idx="0"/>
            </p:cNvCxnSpPr>
            <p:nvPr/>
          </p:nvCxnSpPr>
          <p:spPr>
            <a:xfrm>
              <a:off x="2133600" y="2946208"/>
              <a:ext cx="0" cy="1182167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Oval 54"/>
            <p:cNvSpPr/>
            <p:nvPr/>
          </p:nvSpPr>
          <p:spPr>
            <a:xfrm>
              <a:off x="2486797" y="3854637"/>
              <a:ext cx="304800" cy="3048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1">
              <a:noAutofit/>
            </a:bodyPr>
            <a:lstStyle/>
            <a:p>
              <a:pPr algn="ctr"/>
              <a:endParaRPr lang="en-US" sz="2800" dirty="0" smtClean="0">
                <a:solidFill>
                  <a:srgbClr val="FFFFFF"/>
                </a:solidFill>
              </a:endParaRPr>
            </a:p>
          </p:txBody>
        </p:sp>
        <p:cxnSp>
          <p:nvCxnSpPr>
            <p:cNvPr id="56" name="Straight Arrow Connector 55"/>
            <p:cNvCxnSpPr>
              <a:stCxn id="60" idx="2"/>
              <a:endCxn id="55" idx="0"/>
            </p:cNvCxnSpPr>
            <p:nvPr/>
          </p:nvCxnSpPr>
          <p:spPr>
            <a:xfrm>
              <a:off x="2538798" y="3581928"/>
              <a:ext cx="100399" cy="272709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Arrow Connector 101"/>
            <p:cNvCxnSpPr>
              <a:stCxn id="55" idx="6"/>
              <a:endCxn id="47" idx="6"/>
            </p:cNvCxnSpPr>
            <p:nvPr/>
          </p:nvCxnSpPr>
          <p:spPr>
            <a:xfrm flipH="1" flipV="1">
              <a:off x="2286000" y="2793808"/>
              <a:ext cx="505597" cy="1213229"/>
            </a:xfrm>
            <a:prstGeom prst="curvedConnector3">
              <a:avLst>
                <a:gd name="adj1" fmla="val -45214"/>
              </a:avLst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Arrow Connector 58"/>
            <p:cNvCxnSpPr>
              <a:stCxn id="60" idx="2"/>
              <a:endCxn id="48" idx="7"/>
            </p:cNvCxnSpPr>
            <p:nvPr/>
          </p:nvCxnSpPr>
          <p:spPr>
            <a:xfrm flipH="1">
              <a:off x="2241363" y="3581928"/>
              <a:ext cx="297435" cy="591084"/>
            </a:xfrm>
            <a:prstGeom prst="straightConnector1">
              <a:avLst/>
            </a:prstGeom>
            <a:ln>
              <a:solidFill>
                <a:schemeClr val="tx1"/>
              </a:solidFill>
              <a:prstDash val="sysDot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Rounded Rectangle 59"/>
            <p:cNvSpPr/>
            <p:nvPr/>
          </p:nvSpPr>
          <p:spPr>
            <a:xfrm>
              <a:off x="2208195" y="3160517"/>
              <a:ext cx="661206" cy="421411"/>
            </a:xfrm>
            <a:prstGeom prst="roundRect">
              <a:avLst/>
            </a:prstGeom>
            <a:solidFill>
              <a:schemeClr val="accent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1">
              <a:noAutofit/>
            </a:bodyPr>
            <a:lstStyle/>
            <a:p>
              <a:pPr algn="ctr"/>
              <a:r>
                <a:rPr lang="en-US" sz="1050" dirty="0" smtClean="0">
                  <a:solidFill>
                    <a:schemeClr val="tx1"/>
                  </a:solidFill>
                  <a:latin typeface="Consolas"/>
                  <a:cs typeface="Consolas"/>
                </a:rPr>
                <a:t>BREAK</a:t>
              </a:r>
            </a:p>
          </p:txBody>
        </p:sp>
      </p:grpSp>
      <p:grpSp>
        <p:nvGrpSpPr>
          <p:cNvPr id="61" name="Group 60"/>
          <p:cNvGrpSpPr/>
          <p:nvPr/>
        </p:nvGrpSpPr>
        <p:grpSpPr>
          <a:xfrm>
            <a:off x="4379662" y="4114800"/>
            <a:ext cx="955912" cy="2325167"/>
            <a:chOff x="1901588" y="2094433"/>
            <a:chExt cx="955912" cy="2325167"/>
          </a:xfrm>
        </p:grpSpPr>
        <p:sp>
          <p:nvSpPr>
            <p:cNvPr id="62" name="Oval 61"/>
            <p:cNvSpPr/>
            <p:nvPr/>
          </p:nvSpPr>
          <p:spPr>
            <a:xfrm>
              <a:off x="1905000" y="2094433"/>
              <a:ext cx="304800" cy="3048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1">
              <a:noAutofit/>
            </a:bodyPr>
            <a:lstStyle/>
            <a:p>
              <a:pPr algn="ctr"/>
              <a:endParaRPr lang="en-US" sz="2800" dirty="0" smtClean="0">
                <a:solidFill>
                  <a:srgbClr val="FFFFFF"/>
                </a:solidFill>
              </a:endParaRPr>
            </a:p>
          </p:txBody>
        </p:sp>
        <p:sp>
          <p:nvSpPr>
            <p:cNvPr id="63" name="Oval 62"/>
            <p:cNvSpPr/>
            <p:nvPr/>
          </p:nvSpPr>
          <p:spPr>
            <a:xfrm>
              <a:off x="1905000" y="2627833"/>
              <a:ext cx="304800" cy="3048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1">
              <a:noAutofit/>
            </a:bodyPr>
            <a:lstStyle/>
            <a:p>
              <a:pPr algn="ctr"/>
              <a:endParaRPr lang="en-US" sz="2800" dirty="0" smtClean="0">
                <a:solidFill>
                  <a:srgbClr val="FFFFFF"/>
                </a:solidFill>
              </a:endParaRPr>
            </a:p>
          </p:txBody>
        </p:sp>
        <p:sp>
          <p:nvSpPr>
            <p:cNvPr id="64" name="Oval 63"/>
            <p:cNvSpPr/>
            <p:nvPr/>
          </p:nvSpPr>
          <p:spPr>
            <a:xfrm>
              <a:off x="1901588" y="4114800"/>
              <a:ext cx="304800" cy="3048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1">
              <a:noAutofit/>
            </a:bodyPr>
            <a:lstStyle/>
            <a:p>
              <a:pPr algn="ctr"/>
              <a:endParaRPr lang="en-US" sz="2800" dirty="0" smtClean="0">
                <a:solidFill>
                  <a:srgbClr val="FFFFFF"/>
                </a:solidFill>
              </a:endParaRPr>
            </a:p>
          </p:txBody>
        </p:sp>
        <p:cxnSp>
          <p:nvCxnSpPr>
            <p:cNvPr id="68" name="Straight Arrow Connector 67"/>
            <p:cNvCxnSpPr>
              <a:stCxn id="62" idx="4"/>
              <a:endCxn id="63" idx="0"/>
            </p:cNvCxnSpPr>
            <p:nvPr/>
          </p:nvCxnSpPr>
          <p:spPr>
            <a:xfrm>
              <a:off x="2057400" y="2399233"/>
              <a:ext cx="0" cy="22860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Arrow Connector 69"/>
            <p:cNvCxnSpPr>
              <a:stCxn id="63" idx="5"/>
              <a:endCxn id="77" idx="0"/>
            </p:cNvCxnSpPr>
            <p:nvPr/>
          </p:nvCxnSpPr>
          <p:spPr>
            <a:xfrm>
              <a:off x="2165163" y="2887996"/>
              <a:ext cx="444687" cy="258947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Arrow Connector 71"/>
            <p:cNvCxnSpPr>
              <a:stCxn id="63" idx="4"/>
              <a:endCxn id="64" idx="0"/>
            </p:cNvCxnSpPr>
            <p:nvPr/>
          </p:nvCxnSpPr>
          <p:spPr>
            <a:xfrm flipH="1">
              <a:off x="2053988" y="2932633"/>
              <a:ext cx="3412" cy="1182167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Arrow Connector 101"/>
            <p:cNvCxnSpPr>
              <a:stCxn id="77" idx="3"/>
              <a:endCxn id="63" idx="6"/>
            </p:cNvCxnSpPr>
            <p:nvPr/>
          </p:nvCxnSpPr>
          <p:spPr>
            <a:xfrm flipH="1" flipV="1">
              <a:off x="2209800" y="2780233"/>
              <a:ext cx="647700" cy="792600"/>
            </a:xfrm>
            <a:prstGeom prst="curvedConnector3">
              <a:avLst>
                <a:gd name="adj1" fmla="val -35294"/>
              </a:avLst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Arrow Connector 75"/>
            <p:cNvCxnSpPr>
              <a:stCxn id="77" idx="1"/>
              <a:endCxn id="64" idx="7"/>
            </p:cNvCxnSpPr>
            <p:nvPr/>
          </p:nvCxnSpPr>
          <p:spPr>
            <a:xfrm flipH="1">
              <a:off x="2161751" y="3572833"/>
              <a:ext cx="200449" cy="586604"/>
            </a:xfrm>
            <a:prstGeom prst="straightConnector1">
              <a:avLst/>
            </a:prstGeom>
            <a:ln>
              <a:solidFill>
                <a:schemeClr val="tx1"/>
              </a:solidFill>
              <a:prstDash val="sysDot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Rounded Rectangle 76"/>
            <p:cNvSpPr/>
            <p:nvPr/>
          </p:nvSpPr>
          <p:spPr>
            <a:xfrm>
              <a:off x="2362200" y="3146943"/>
              <a:ext cx="495300" cy="851780"/>
            </a:xfrm>
            <a:prstGeom prst="roundRect">
              <a:avLst/>
            </a:prstGeom>
            <a:solidFill>
              <a:schemeClr val="accent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1">
              <a:noAutofit/>
            </a:bodyPr>
            <a:lstStyle/>
            <a:p>
              <a:pPr algn="ctr"/>
              <a:r>
                <a:rPr lang="en-US" sz="1050" dirty="0" smtClean="0">
                  <a:solidFill>
                    <a:schemeClr val="tx1"/>
                  </a:solidFill>
                  <a:latin typeface="Consolas"/>
                  <a:cs typeface="Consolas"/>
                </a:rPr>
                <a:t>SEQ</a:t>
              </a:r>
              <a:br>
                <a:rPr lang="en-US" sz="1050" dirty="0" smtClean="0">
                  <a:solidFill>
                    <a:schemeClr val="tx1"/>
                  </a:solidFill>
                  <a:latin typeface="Consolas"/>
                  <a:cs typeface="Consolas"/>
                </a:rPr>
              </a:br>
              <a:r>
                <a:rPr lang="en-US" sz="1050" dirty="0" smtClean="0">
                  <a:solidFill>
                    <a:schemeClr val="tx1"/>
                  </a:solidFill>
                  <a:latin typeface="Consolas"/>
                  <a:cs typeface="Consolas"/>
                </a:rPr>
                <a:t>1</a:t>
              </a:r>
            </a:p>
          </p:txBody>
        </p:sp>
      </p:grpSp>
      <p:grpSp>
        <p:nvGrpSpPr>
          <p:cNvPr id="78" name="Group 77"/>
          <p:cNvGrpSpPr/>
          <p:nvPr/>
        </p:nvGrpSpPr>
        <p:grpSpPr>
          <a:xfrm>
            <a:off x="6447506" y="4114800"/>
            <a:ext cx="670162" cy="2325167"/>
            <a:chOff x="3520838" y="2094433"/>
            <a:chExt cx="670162" cy="2325167"/>
          </a:xfrm>
        </p:grpSpPr>
        <p:sp>
          <p:nvSpPr>
            <p:cNvPr id="79" name="Oval 78"/>
            <p:cNvSpPr/>
            <p:nvPr/>
          </p:nvSpPr>
          <p:spPr>
            <a:xfrm>
              <a:off x="3703519" y="2094433"/>
              <a:ext cx="304800" cy="3048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1">
              <a:noAutofit/>
            </a:bodyPr>
            <a:lstStyle/>
            <a:p>
              <a:pPr algn="ctr"/>
              <a:endParaRPr lang="en-US" sz="2800" dirty="0" smtClean="0">
                <a:solidFill>
                  <a:srgbClr val="FFFFFF"/>
                </a:solidFill>
              </a:endParaRPr>
            </a:p>
          </p:txBody>
        </p:sp>
        <p:sp>
          <p:nvSpPr>
            <p:cNvPr id="80" name="Oval 79"/>
            <p:cNvSpPr/>
            <p:nvPr/>
          </p:nvSpPr>
          <p:spPr>
            <a:xfrm>
              <a:off x="3703519" y="4114800"/>
              <a:ext cx="304800" cy="3048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1">
              <a:noAutofit/>
            </a:bodyPr>
            <a:lstStyle/>
            <a:p>
              <a:pPr algn="ctr"/>
              <a:endParaRPr lang="en-US" sz="2800" dirty="0" smtClean="0">
                <a:solidFill>
                  <a:srgbClr val="FFFFFF"/>
                </a:solidFill>
              </a:endParaRPr>
            </a:p>
          </p:txBody>
        </p:sp>
        <p:cxnSp>
          <p:nvCxnSpPr>
            <p:cNvPr id="81" name="Straight Arrow Connector 80"/>
            <p:cNvCxnSpPr>
              <a:stCxn id="79" idx="4"/>
              <a:endCxn id="84" idx="0"/>
            </p:cNvCxnSpPr>
            <p:nvPr/>
          </p:nvCxnSpPr>
          <p:spPr>
            <a:xfrm>
              <a:off x="3855919" y="2399233"/>
              <a:ext cx="0" cy="22860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Arrow Connector 81"/>
            <p:cNvCxnSpPr>
              <a:stCxn id="84" idx="2"/>
              <a:endCxn id="80" idx="0"/>
            </p:cNvCxnSpPr>
            <p:nvPr/>
          </p:nvCxnSpPr>
          <p:spPr>
            <a:xfrm>
              <a:off x="3855919" y="3479613"/>
              <a:ext cx="0" cy="635187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Arrow Connector 61"/>
            <p:cNvCxnSpPr>
              <a:stCxn id="84" idx="1"/>
              <a:endCxn id="80" idx="1"/>
            </p:cNvCxnSpPr>
            <p:nvPr/>
          </p:nvCxnSpPr>
          <p:spPr>
            <a:xfrm rot="10800000" flipH="1" flipV="1">
              <a:off x="3520838" y="3053723"/>
              <a:ext cx="227318" cy="1105714"/>
            </a:xfrm>
            <a:prstGeom prst="curvedConnector4">
              <a:avLst>
                <a:gd name="adj1" fmla="val -49531"/>
                <a:gd name="adj2" fmla="val 67240"/>
              </a:avLst>
            </a:prstGeom>
            <a:ln>
              <a:solidFill>
                <a:schemeClr val="tx1"/>
              </a:solidFill>
              <a:prstDash val="sysDot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Rounded Rectangle 83"/>
            <p:cNvSpPr/>
            <p:nvPr/>
          </p:nvSpPr>
          <p:spPr>
            <a:xfrm>
              <a:off x="3520838" y="2627833"/>
              <a:ext cx="670162" cy="851780"/>
            </a:xfrm>
            <a:prstGeom prst="roundRect">
              <a:avLst/>
            </a:prstGeom>
            <a:solidFill>
              <a:schemeClr val="accent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1">
              <a:noAutofit/>
            </a:bodyPr>
            <a:lstStyle/>
            <a:p>
              <a:pPr algn="ctr"/>
              <a:r>
                <a:rPr lang="en-US" sz="1050" dirty="0" smtClean="0">
                  <a:solidFill>
                    <a:schemeClr val="tx1"/>
                  </a:solidFill>
                  <a:latin typeface="Consolas"/>
                  <a:cs typeface="Consolas"/>
                </a:rPr>
                <a:t>WHILE</a:t>
              </a:r>
            </a:p>
          </p:txBody>
        </p:sp>
      </p:grpSp>
      <p:sp>
        <p:nvSpPr>
          <p:cNvPr id="85" name="Rounded Rectangle 84"/>
          <p:cNvSpPr/>
          <p:nvPr/>
        </p:nvSpPr>
        <p:spPr>
          <a:xfrm>
            <a:off x="8229600" y="4114800"/>
            <a:ext cx="670162" cy="2325167"/>
          </a:xfrm>
          <a:prstGeom prst="roundRect">
            <a:avLst/>
          </a:prstGeom>
          <a:solidFill>
            <a:schemeClr val="accent2"/>
          </a:solidFill>
          <a:ln>
            <a:noFill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 anchorCtr="1">
            <a:noAutofit/>
          </a:bodyPr>
          <a:lstStyle/>
          <a:p>
            <a:pPr algn="ctr"/>
            <a:r>
              <a:rPr lang="en-US" sz="1050" dirty="0" smtClean="0">
                <a:solidFill>
                  <a:schemeClr val="tx1"/>
                </a:solidFill>
                <a:latin typeface="Consolas"/>
                <a:cs typeface="Consolas"/>
              </a:rPr>
              <a:t>SEQ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2216624" y="4612337"/>
            <a:ext cx="1440976" cy="1581042"/>
          </a:xfrm>
          <a:prstGeom prst="roundRect">
            <a:avLst/>
          </a:prstGeom>
          <a:noFill/>
          <a:ln w="28575" cap="rnd" cmpd="sng">
            <a:solidFill>
              <a:schemeClr val="tx2"/>
            </a:solidFill>
            <a:prstDash val="solid"/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 anchorCtr="1">
            <a:noAutofit/>
          </a:bodyPr>
          <a:lstStyle/>
          <a:p>
            <a:pPr algn="ctr"/>
            <a:endParaRPr lang="en-US" sz="2400" dirty="0" smtClean="0">
              <a:solidFill>
                <a:schemeClr val="bg1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7414289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0513"/>
    </mc:Choice>
    <mc:Fallback xmlns="">
      <p:transition spd="slow" advTm="70513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5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1" grpId="0" animBg="1"/>
      <p:bldP spid="74" grpId="0"/>
      <p:bldP spid="75" grpId="0"/>
      <p:bldP spid="31" grpId="0" animBg="1"/>
      <p:bldP spid="44" grpId="0" animBg="1"/>
      <p:bldP spid="85" grpId="0" animBg="1"/>
      <p:bldP spid="86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Structural Analysis Property Checklist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strike="sngStrike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</a:t>
            </a:r>
            <a:r>
              <a:rPr lang="en-US" strike="sngStrike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ffective abstraction recovery</a:t>
            </a:r>
          </a:p>
          <a:p>
            <a:pPr lvl="1"/>
            <a:r>
              <a:rPr lang="en-US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Grace</a:t>
            </a:r>
            <a:r>
              <a:rPr lang="en-US" u="sng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less</a:t>
            </a:r>
            <a:r>
              <a:rPr lang="en-US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failures for unstructured programs</a:t>
            </a:r>
          </a:p>
          <a:p>
            <a:pPr lvl="2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itchFamily="49" charset="0"/>
                <a:cs typeface="Consolas" pitchFamily="49" charset="0"/>
              </a:rPr>
              <a:t>break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, 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itchFamily="49" charset="0"/>
                <a:cs typeface="Consolas" pitchFamily="49" charset="0"/>
              </a:rPr>
              <a:t>continue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, and 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goto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cs typeface="Consolas" pitchFamily="49" charset="0"/>
              </a:rPr>
              <a:t>s</a:t>
            </a:r>
          </a:p>
          <a:p>
            <a:pPr lvl="2"/>
            <a:r>
              <a:rPr lang="en-US" dirty="0" smtClean="0">
                <a:solidFill>
                  <a:schemeClr val="tx1">
                    <a:lumMod val="50000"/>
                    <a:lumOff val="50000"/>
                  </a:schemeClr>
                </a:solidFill>
                <a:cs typeface="Consolas" pitchFamily="49" charset="0"/>
              </a:rPr>
              <a:t>Failures cascade to large subgraphs</a:t>
            </a:r>
            <a:endParaRPr lang="en-US" dirty="0" smtClean="0">
              <a:solidFill>
                <a:schemeClr val="tx1">
                  <a:lumMod val="50000"/>
                  <a:lumOff val="50000"/>
                </a:schemeClr>
              </a:solidFill>
              <a:latin typeface="Consolas" pitchFamily="49" charset="0"/>
              <a:cs typeface="Consolas" pitchFamily="49" charset="0"/>
            </a:endParaRPr>
          </a:p>
          <a:p>
            <a:pPr lvl="2"/>
            <a:endParaRPr lang="en-US" dirty="0">
              <a:solidFill>
                <a:schemeClr val="tx1">
                  <a:lumMod val="50000"/>
                  <a:lumOff val="50000"/>
                </a:schemeClr>
              </a:solidFill>
              <a:latin typeface="Consolas" pitchFamily="49" charset="0"/>
              <a:cs typeface="Consolas" pitchFamily="49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 smtClean="0"/>
              <a:t>Correctness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 smtClean="0"/>
              <a:t>8/15/13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Usenix Security 2013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7839D-A323-47F3-909F-548499399628}" type="slidenum">
              <a:rPr lang="en-US" smtClean="0"/>
              <a:t>27</a:t>
            </a:fld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3887445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7737"/>
    </mc:Choice>
    <mc:Fallback xmlns="">
      <p:transition spd="slow" advTm="17737"/>
    </mc:Fallback>
  </mc:AlternateContent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Structural Analysis Property Checklist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strike="sngStrike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</a:t>
            </a:r>
            <a:r>
              <a:rPr lang="en-US" strike="sngStrike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ffective abstraction recovery</a:t>
            </a:r>
          </a:p>
          <a:p>
            <a:pPr lvl="1"/>
            <a:r>
              <a:rPr lang="en-US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Grace</a:t>
            </a:r>
            <a:r>
              <a:rPr lang="en-US" u="sng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less</a:t>
            </a:r>
            <a:r>
              <a:rPr lang="en-US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failures for unstructured programs</a:t>
            </a:r>
          </a:p>
          <a:p>
            <a:pPr lvl="2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itchFamily="49" charset="0"/>
                <a:cs typeface="Consolas" pitchFamily="49" charset="0"/>
              </a:rPr>
              <a:t>break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, 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itchFamily="49" charset="0"/>
                <a:cs typeface="Consolas" pitchFamily="49" charset="0"/>
              </a:rPr>
              <a:t>continue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, and 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goto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cs typeface="Consolas" pitchFamily="49" charset="0"/>
              </a:rPr>
              <a:t>s</a:t>
            </a:r>
          </a:p>
          <a:p>
            <a:pPr lvl="2"/>
            <a:r>
              <a:rPr lang="en-US" dirty="0" smtClean="0">
                <a:solidFill>
                  <a:schemeClr val="tx1">
                    <a:lumMod val="50000"/>
                    <a:lumOff val="50000"/>
                  </a:schemeClr>
                </a:solidFill>
                <a:cs typeface="Consolas" pitchFamily="49" charset="0"/>
              </a:rPr>
              <a:t>Failures cascade to large subgraphs</a:t>
            </a:r>
            <a:endParaRPr lang="en-US" dirty="0" smtClean="0">
              <a:solidFill>
                <a:schemeClr val="tx1">
                  <a:lumMod val="50000"/>
                  <a:lumOff val="50000"/>
                </a:schemeClr>
              </a:solidFill>
              <a:latin typeface="Consolas" pitchFamily="49" charset="0"/>
              <a:cs typeface="Consolas" pitchFamily="49" charset="0"/>
            </a:endParaRPr>
          </a:p>
          <a:p>
            <a:pPr lvl="2"/>
            <a:endParaRPr lang="en-US" dirty="0">
              <a:solidFill>
                <a:schemeClr val="tx1">
                  <a:lumMod val="50000"/>
                  <a:lumOff val="50000"/>
                </a:schemeClr>
              </a:solidFill>
              <a:latin typeface="Consolas" pitchFamily="49" charset="0"/>
              <a:cs typeface="Consolas" pitchFamily="49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strike="sngStrike" dirty="0"/>
              <a:t>C</a:t>
            </a:r>
            <a:r>
              <a:rPr lang="en-US" strike="sngStrike" dirty="0" smtClean="0"/>
              <a:t>orrectness</a:t>
            </a:r>
          </a:p>
          <a:p>
            <a:pPr lvl="1"/>
            <a:r>
              <a:rPr lang="en-US" dirty="0"/>
              <a:t>N</a:t>
            </a:r>
            <a:r>
              <a:rPr lang="en-US" dirty="0" smtClean="0"/>
              <a:t>ot </a:t>
            </a:r>
            <a:r>
              <a:rPr lang="en-US" dirty="0"/>
              <a:t>originally intended for decompilation</a:t>
            </a:r>
          </a:p>
          <a:p>
            <a:pPr lvl="1"/>
            <a:r>
              <a:rPr lang="en-US" dirty="0" smtClean="0"/>
              <a:t>Structure can be incorrect for decompilation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 smtClean="0"/>
              <a:t>8/15/13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Usenix Security 2013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7839D-A323-47F3-909F-548499399628}" type="slidenum">
              <a:rPr lang="en-US" smtClean="0"/>
              <a:t>28</a:t>
            </a:fld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1724526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7737"/>
    </mc:Choice>
    <mc:Fallback xmlns="">
      <p:transition spd="slow" advTm="17737"/>
    </mc:Fallback>
  </mc:AlternateContent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Natural Loop Correctness Problem</a:t>
            </a:r>
            <a:endParaRPr lang="en-US" dirty="0"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 smtClean="0"/>
              <a:t>8/15/13</a:t>
            </a:r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Usenix Security 2013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7839D-A323-47F3-909F-548499399628}" type="slidenum">
              <a:rPr lang="en-US" smtClean="0"/>
              <a:t>29</a:t>
            </a:fld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0" y="1295400"/>
            <a:ext cx="9144000" cy="3581400"/>
          </a:xfrm>
          <a:prstGeom prst="rect">
            <a:avLst/>
          </a:prstGeom>
          <a:gradFill flip="none" rotWithShape="1">
            <a:gsLst>
              <a:gs pos="0">
                <a:schemeClr val="bg2"/>
              </a:gs>
              <a:gs pos="100000">
                <a:schemeClr val="accent3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 anchorCtr="1">
            <a:noAutofit/>
          </a:bodyPr>
          <a:lstStyle/>
          <a:p>
            <a:pPr algn="ctr"/>
            <a:endParaRPr lang="en-US" sz="2800" dirty="0" smtClean="0">
              <a:solidFill>
                <a:srgbClr val="FFFFFF"/>
              </a:solidFill>
            </a:endParaRPr>
          </a:p>
        </p:txBody>
      </p:sp>
      <p:grpSp>
        <p:nvGrpSpPr>
          <p:cNvPr id="3" name="Group 2"/>
          <p:cNvGrpSpPr/>
          <p:nvPr/>
        </p:nvGrpSpPr>
        <p:grpSpPr>
          <a:xfrm>
            <a:off x="391658" y="1600200"/>
            <a:ext cx="1853794" cy="2584258"/>
            <a:chOff x="127406" y="1600200"/>
            <a:chExt cx="1853794" cy="2584258"/>
          </a:xfrm>
        </p:grpSpPr>
        <p:sp>
          <p:nvSpPr>
            <p:cNvPr id="7" name="Oval 6"/>
            <p:cNvSpPr/>
            <p:nvPr/>
          </p:nvSpPr>
          <p:spPr>
            <a:xfrm>
              <a:off x="762000" y="1600200"/>
              <a:ext cx="304800" cy="3048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1">
              <a:noAutofit/>
            </a:bodyPr>
            <a:lstStyle/>
            <a:p>
              <a:pPr algn="ctr"/>
              <a:endParaRPr lang="en-US" sz="2800" dirty="0" smtClean="0">
                <a:solidFill>
                  <a:srgbClr val="FFFFFF"/>
                </a:solidFill>
              </a:endParaRPr>
            </a:p>
          </p:txBody>
        </p:sp>
        <p:sp>
          <p:nvSpPr>
            <p:cNvPr id="8" name="Oval 7"/>
            <p:cNvSpPr/>
            <p:nvPr/>
          </p:nvSpPr>
          <p:spPr>
            <a:xfrm>
              <a:off x="995059" y="2526124"/>
              <a:ext cx="304800" cy="3048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1">
              <a:noAutofit/>
            </a:bodyPr>
            <a:lstStyle/>
            <a:p>
              <a:pPr algn="ctr"/>
              <a:endParaRPr lang="en-US" sz="2800" dirty="0" smtClean="0">
                <a:solidFill>
                  <a:srgbClr val="FFFFFF"/>
                </a:solidFill>
              </a:endParaRPr>
            </a:p>
          </p:txBody>
        </p:sp>
        <p:cxnSp>
          <p:nvCxnSpPr>
            <p:cNvPr id="11" name="Straight Arrow Connector 10"/>
            <p:cNvCxnSpPr>
              <a:stCxn id="7" idx="5"/>
              <a:endCxn id="18" idx="1"/>
            </p:cNvCxnSpPr>
            <p:nvPr/>
          </p:nvCxnSpPr>
          <p:spPr>
            <a:xfrm>
              <a:off x="1022163" y="1860363"/>
              <a:ext cx="241674" cy="236164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Oval 17"/>
            <p:cNvSpPr/>
            <p:nvPr/>
          </p:nvSpPr>
          <p:spPr>
            <a:xfrm>
              <a:off x="1219200" y="2051890"/>
              <a:ext cx="304800" cy="3048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1">
              <a:noAutofit/>
            </a:bodyPr>
            <a:lstStyle/>
            <a:p>
              <a:pPr algn="ctr"/>
              <a:endParaRPr lang="en-US" sz="2800" dirty="0" smtClean="0">
                <a:solidFill>
                  <a:srgbClr val="FFFFFF"/>
                </a:solidFill>
              </a:endParaRPr>
            </a:p>
          </p:txBody>
        </p:sp>
        <p:sp>
          <p:nvSpPr>
            <p:cNvPr id="19" name="Oval 18"/>
            <p:cNvSpPr/>
            <p:nvPr/>
          </p:nvSpPr>
          <p:spPr>
            <a:xfrm>
              <a:off x="304800" y="2051890"/>
              <a:ext cx="304800" cy="3048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1">
              <a:noAutofit/>
            </a:bodyPr>
            <a:lstStyle/>
            <a:p>
              <a:pPr algn="ctr"/>
              <a:endParaRPr lang="en-US" sz="2800" dirty="0" smtClean="0">
                <a:solidFill>
                  <a:srgbClr val="FFFFFF"/>
                </a:solidFill>
              </a:endParaRPr>
            </a:p>
          </p:txBody>
        </p:sp>
        <p:sp>
          <p:nvSpPr>
            <p:cNvPr id="20" name="Oval 19"/>
            <p:cNvSpPr/>
            <p:nvPr/>
          </p:nvSpPr>
          <p:spPr>
            <a:xfrm>
              <a:off x="478099" y="2526124"/>
              <a:ext cx="304800" cy="3048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1">
              <a:noAutofit/>
            </a:bodyPr>
            <a:lstStyle/>
            <a:p>
              <a:pPr algn="ctr"/>
              <a:endParaRPr lang="en-US" sz="2800" dirty="0" smtClean="0">
                <a:solidFill>
                  <a:srgbClr val="FFFFFF"/>
                </a:solidFill>
              </a:endParaRPr>
            </a:p>
          </p:txBody>
        </p:sp>
        <p:cxnSp>
          <p:nvCxnSpPr>
            <p:cNvPr id="31" name="Straight Arrow Connector 30"/>
            <p:cNvCxnSpPr>
              <a:stCxn id="18" idx="4"/>
              <a:endCxn id="8" idx="7"/>
            </p:cNvCxnSpPr>
            <p:nvPr/>
          </p:nvCxnSpPr>
          <p:spPr>
            <a:xfrm flipH="1">
              <a:off x="1255222" y="2356690"/>
              <a:ext cx="116378" cy="214071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/>
            <p:cNvCxnSpPr>
              <a:stCxn id="8" idx="2"/>
              <a:endCxn id="20" idx="6"/>
            </p:cNvCxnSpPr>
            <p:nvPr/>
          </p:nvCxnSpPr>
          <p:spPr>
            <a:xfrm flipH="1">
              <a:off x="782899" y="2678524"/>
              <a:ext cx="212160" cy="0"/>
            </a:xfrm>
            <a:prstGeom prst="straightConnector1">
              <a:avLst/>
            </a:prstGeom>
            <a:ln>
              <a:solidFill>
                <a:schemeClr val="accent5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/>
            <p:cNvCxnSpPr>
              <a:stCxn id="20" idx="0"/>
              <a:endCxn id="19" idx="4"/>
            </p:cNvCxnSpPr>
            <p:nvPr/>
          </p:nvCxnSpPr>
          <p:spPr>
            <a:xfrm flipH="1" flipV="1">
              <a:off x="457200" y="2356690"/>
              <a:ext cx="173299" cy="169434"/>
            </a:xfrm>
            <a:prstGeom prst="straightConnector1">
              <a:avLst/>
            </a:prstGeom>
            <a:ln>
              <a:solidFill>
                <a:schemeClr val="accent3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/>
            <p:cNvCxnSpPr>
              <a:stCxn id="19" idx="7"/>
              <a:endCxn id="7" idx="3"/>
            </p:cNvCxnSpPr>
            <p:nvPr/>
          </p:nvCxnSpPr>
          <p:spPr>
            <a:xfrm flipV="1">
              <a:off x="564963" y="1860363"/>
              <a:ext cx="241674" cy="236164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/>
            <p:cNvCxnSpPr>
              <a:stCxn id="8" idx="4"/>
              <a:endCxn id="47" idx="0"/>
            </p:cNvCxnSpPr>
            <p:nvPr/>
          </p:nvCxnSpPr>
          <p:spPr>
            <a:xfrm flipH="1">
              <a:off x="1143000" y="2830924"/>
              <a:ext cx="4459" cy="439092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Oval 46"/>
            <p:cNvSpPr/>
            <p:nvPr/>
          </p:nvSpPr>
          <p:spPr>
            <a:xfrm>
              <a:off x="990600" y="3270016"/>
              <a:ext cx="304800" cy="3048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1">
              <a:noAutofit/>
            </a:bodyPr>
            <a:lstStyle/>
            <a:p>
              <a:pPr algn="ctr"/>
              <a:endParaRPr lang="en-US" sz="2800" dirty="0" smtClean="0">
                <a:solidFill>
                  <a:srgbClr val="FFFFFF"/>
                </a:solidFill>
              </a:endParaRPr>
            </a:p>
          </p:txBody>
        </p:sp>
        <p:sp>
          <p:nvSpPr>
            <p:cNvPr id="48" name="Oval 47"/>
            <p:cNvSpPr/>
            <p:nvPr/>
          </p:nvSpPr>
          <p:spPr>
            <a:xfrm>
              <a:off x="478099" y="3270016"/>
              <a:ext cx="304800" cy="3048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1">
              <a:noAutofit/>
            </a:bodyPr>
            <a:lstStyle/>
            <a:p>
              <a:pPr algn="ctr"/>
              <a:endParaRPr lang="en-US" sz="2800" dirty="0" smtClean="0">
                <a:solidFill>
                  <a:srgbClr val="FFFFFF"/>
                </a:solidFill>
              </a:endParaRPr>
            </a:p>
          </p:txBody>
        </p:sp>
        <p:sp>
          <p:nvSpPr>
            <p:cNvPr id="49" name="Oval 48"/>
            <p:cNvSpPr/>
            <p:nvPr/>
          </p:nvSpPr>
          <p:spPr>
            <a:xfrm>
              <a:off x="734349" y="3879658"/>
              <a:ext cx="304800" cy="3048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1">
              <a:noAutofit/>
            </a:bodyPr>
            <a:lstStyle/>
            <a:p>
              <a:pPr algn="ctr"/>
              <a:endParaRPr lang="en-US" sz="2800" dirty="0" smtClean="0">
                <a:solidFill>
                  <a:srgbClr val="FFFFFF"/>
                </a:solidFill>
              </a:endParaRPr>
            </a:p>
          </p:txBody>
        </p:sp>
        <p:cxnSp>
          <p:nvCxnSpPr>
            <p:cNvPr id="50" name="Straight Arrow Connector 49"/>
            <p:cNvCxnSpPr>
              <a:stCxn id="20" idx="4"/>
              <a:endCxn id="48" idx="0"/>
            </p:cNvCxnSpPr>
            <p:nvPr/>
          </p:nvCxnSpPr>
          <p:spPr>
            <a:xfrm>
              <a:off x="630499" y="2830924"/>
              <a:ext cx="0" cy="439092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Arrow Connector 52"/>
            <p:cNvCxnSpPr>
              <a:stCxn id="48" idx="4"/>
              <a:endCxn id="49" idx="1"/>
            </p:cNvCxnSpPr>
            <p:nvPr/>
          </p:nvCxnSpPr>
          <p:spPr>
            <a:xfrm>
              <a:off x="630499" y="3574816"/>
              <a:ext cx="148487" cy="349479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/>
            <p:cNvCxnSpPr>
              <a:stCxn id="47" idx="4"/>
              <a:endCxn id="49" idx="7"/>
            </p:cNvCxnSpPr>
            <p:nvPr/>
          </p:nvCxnSpPr>
          <p:spPr>
            <a:xfrm flipH="1">
              <a:off x="994512" y="3574816"/>
              <a:ext cx="148488" cy="349479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4" name="TextBox 153"/>
            <p:cNvSpPr txBox="1"/>
            <p:nvPr/>
          </p:nvSpPr>
          <p:spPr>
            <a:xfrm>
              <a:off x="1219200" y="2908715"/>
              <a:ext cx="762000" cy="307777"/>
            </a:xfrm>
            <a:prstGeom prst="rect">
              <a:avLst/>
            </a:prstGeom>
            <a:noFill/>
          </p:spPr>
          <p:txBody>
            <a:bodyPr wrap="square" lIns="0" tIns="0" rIns="0" bIns="0" rtlCol="0" anchor="t" anchorCtr="0">
              <a:spAutoFit/>
            </a:bodyPr>
            <a:lstStyle/>
            <a:p>
              <a:r>
                <a:rPr lang="en-US" sz="2000" dirty="0">
                  <a:solidFill>
                    <a:schemeClr val="accent1"/>
                  </a:solidFill>
                </a:rPr>
                <a:t>x</a:t>
              </a:r>
              <a:r>
                <a:rPr lang="en-US" sz="2000" dirty="0" smtClean="0">
                  <a:solidFill>
                    <a:schemeClr val="accent1"/>
                  </a:solidFill>
                </a:rPr>
                <a:t>=1</a:t>
              </a:r>
            </a:p>
          </p:txBody>
        </p:sp>
        <p:sp>
          <p:nvSpPr>
            <p:cNvPr id="155" name="TextBox 154"/>
            <p:cNvSpPr txBox="1"/>
            <p:nvPr/>
          </p:nvSpPr>
          <p:spPr>
            <a:xfrm>
              <a:off x="127406" y="2918870"/>
              <a:ext cx="762000" cy="307777"/>
            </a:xfrm>
            <a:prstGeom prst="rect">
              <a:avLst/>
            </a:prstGeom>
            <a:noFill/>
          </p:spPr>
          <p:txBody>
            <a:bodyPr wrap="square" lIns="0" tIns="0" rIns="0" bIns="0" rtlCol="0" anchor="t" anchorCtr="0">
              <a:spAutoFit/>
            </a:bodyPr>
            <a:lstStyle/>
            <a:p>
              <a:r>
                <a:rPr lang="en-US" sz="2000" dirty="0">
                  <a:solidFill>
                    <a:schemeClr val="accent1"/>
                  </a:solidFill>
                </a:rPr>
                <a:t>y</a:t>
              </a:r>
              <a:r>
                <a:rPr lang="en-US" sz="2000" dirty="0" smtClean="0">
                  <a:solidFill>
                    <a:schemeClr val="accent1"/>
                  </a:solidFill>
                </a:rPr>
                <a:t>=2</a:t>
              </a:r>
            </a:p>
          </p:txBody>
        </p:sp>
        <p:sp>
          <p:nvSpPr>
            <p:cNvPr id="156" name="TextBox 155"/>
            <p:cNvSpPr txBox="1"/>
            <p:nvPr/>
          </p:nvSpPr>
          <p:spPr>
            <a:xfrm>
              <a:off x="782899" y="2370512"/>
              <a:ext cx="762000" cy="246221"/>
            </a:xfrm>
            <a:prstGeom prst="rect">
              <a:avLst/>
            </a:prstGeom>
            <a:noFill/>
          </p:spPr>
          <p:txBody>
            <a:bodyPr wrap="square" lIns="0" tIns="0" rIns="0" bIns="0" rtlCol="0" anchor="t" anchorCtr="0">
              <a:spAutoFit/>
            </a:bodyPr>
            <a:lstStyle/>
            <a:p>
              <a:r>
                <a:rPr lang="en-US" sz="1600" dirty="0" smtClean="0">
                  <a:solidFill>
                    <a:schemeClr val="accent5"/>
                  </a:solidFill>
                </a:rPr>
                <a:t>x≠1</a:t>
              </a:r>
            </a:p>
          </p:txBody>
        </p:sp>
        <p:sp>
          <p:nvSpPr>
            <p:cNvPr id="157" name="TextBox 156"/>
            <p:cNvSpPr txBox="1"/>
            <p:nvPr/>
          </p:nvSpPr>
          <p:spPr>
            <a:xfrm>
              <a:off x="608608" y="2192373"/>
              <a:ext cx="762000" cy="246221"/>
            </a:xfrm>
            <a:prstGeom prst="rect">
              <a:avLst/>
            </a:prstGeom>
            <a:noFill/>
          </p:spPr>
          <p:txBody>
            <a:bodyPr wrap="square" lIns="0" tIns="0" rIns="0" bIns="0" rtlCol="0" anchor="t" anchorCtr="0">
              <a:spAutoFit/>
            </a:bodyPr>
            <a:lstStyle/>
            <a:p>
              <a:r>
                <a:rPr lang="en-US" sz="1600" dirty="0">
                  <a:solidFill>
                    <a:schemeClr val="accent3"/>
                  </a:solidFill>
                </a:rPr>
                <a:t>y</a:t>
              </a:r>
              <a:r>
                <a:rPr lang="en-US" sz="1600" dirty="0" smtClean="0">
                  <a:solidFill>
                    <a:schemeClr val="accent3"/>
                  </a:solidFill>
                </a:rPr>
                <a:t>≠2</a:t>
              </a:r>
            </a:p>
          </p:txBody>
        </p:sp>
      </p:grpSp>
      <p:sp>
        <p:nvSpPr>
          <p:cNvPr id="76" name="Rounded Rectangle 75"/>
          <p:cNvSpPr/>
          <p:nvPr/>
        </p:nvSpPr>
        <p:spPr>
          <a:xfrm>
            <a:off x="381000" y="1447800"/>
            <a:ext cx="1600200" cy="1460915"/>
          </a:xfrm>
          <a:prstGeom prst="roundRect">
            <a:avLst/>
          </a:prstGeom>
          <a:noFill/>
          <a:ln w="28575" cap="rnd" cmpd="sng">
            <a:solidFill>
              <a:schemeClr val="tx2"/>
            </a:solidFill>
            <a:prstDash val="solid"/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 anchorCtr="1">
            <a:noAutofit/>
          </a:bodyPr>
          <a:lstStyle/>
          <a:p>
            <a:pPr algn="ctr"/>
            <a:endParaRPr lang="en-US" sz="2400" dirty="0" smtClean="0">
              <a:solidFill>
                <a:schemeClr val="bg1"/>
              </a:solidFill>
            </a:endParaRPr>
          </a:p>
        </p:txBody>
      </p:sp>
      <p:grpSp>
        <p:nvGrpSpPr>
          <p:cNvPr id="12" name="Group 11"/>
          <p:cNvGrpSpPr/>
          <p:nvPr/>
        </p:nvGrpSpPr>
        <p:grpSpPr>
          <a:xfrm>
            <a:off x="2941910" y="1600200"/>
            <a:ext cx="1269305" cy="2572245"/>
            <a:chOff x="4140895" y="1600200"/>
            <a:chExt cx="1269305" cy="2572245"/>
          </a:xfrm>
        </p:grpSpPr>
        <p:grpSp>
          <p:nvGrpSpPr>
            <p:cNvPr id="116" name="Group 115"/>
            <p:cNvGrpSpPr/>
            <p:nvPr/>
          </p:nvGrpSpPr>
          <p:grpSpPr>
            <a:xfrm>
              <a:off x="4140895" y="1600200"/>
              <a:ext cx="1269305" cy="2572245"/>
              <a:chOff x="4445695" y="1600200"/>
              <a:chExt cx="1269305" cy="2572245"/>
            </a:xfrm>
          </p:grpSpPr>
          <p:cxnSp>
            <p:nvCxnSpPr>
              <p:cNvPr id="93" name="Straight Arrow Connector 92"/>
              <p:cNvCxnSpPr>
                <a:stCxn id="130" idx="2"/>
                <a:endCxn id="96" idx="0"/>
              </p:cNvCxnSpPr>
              <p:nvPr/>
            </p:nvCxnSpPr>
            <p:spPr>
              <a:xfrm>
                <a:off x="5080348" y="2606694"/>
                <a:ext cx="256250" cy="65130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solid"/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Straight Arrow Connector 98"/>
              <p:cNvCxnSpPr>
                <a:stCxn id="130" idx="2"/>
                <a:endCxn id="97" idx="0"/>
              </p:cNvCxnSpPr>
              <p:nvPr/>
            </p:nvCxnSpPr>
            <p:spPr>
              <a:xfrm flipH="1">
                <a:off x="4824097" y="2606694"/>
                <a:ext cx="256251" cy="65130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solid"/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6" name="Oval 95"/>
              <p:cNvSpPr/>
              <p:nvPr/>
            </p:nvSpPr>
            <p:spPr>
              <a:xfrm>
                <a:off x="5184198" y="3258003"/>
                <a:ext cx="304800" cy="3048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 anchorCtr="1">
                <a:noAutofit/>
              </a:bodyPr>
              <a:lstStyle/>
              <a:p>
                <a:pPr algn="ctr"/>
                <a:endParaRPr lang="en-US" sz="2800" dirty="0" smtClean="0">
                  <a:solidFill>
                    <a:srgbClr val="FFFFFF"/>
                  </a:solidFill>
                </a:endParaRPr>
              </a:p>
            </p:txBody>
          </p:sp>
          <p:sp>
            <p:nvSpPr>
              <p:cNvPr id="97" name="Oval 96"/>
              <p:cNvSpPr/>
              <p:nvPr/>
            </p:nvSpPr>
            <p:spPr>
              <a:xfrm>
                <a:off x="4671697" y="3258003"/>
                <a:ext cx="304800" cy="3048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 anchorCtr="1">
                <a:noAutofit/>
              </a:bodyPr>
              <a:lstStyle/>
              <a:p>
                <a:pPr algn="ctr"/>
                <a:endParaRPr lang="en-US" sz="2800" dirty="0" smtClean="0">
                  <a:solidFill>
                    <a:srgbClr val="FFFFFF"/>
                  </a:solidFill>
                </a:endParaRPr>
              </a:p>
            </p:txBody>
          </p:sp>
          <p:sp>
            <p:nvSpPr>
              <p:cNvPr id="98" name="Oval 97"/>
              <p:cNvSpPr/>
              <p:nvPr/>
            </p:nvSpPr>
            <p:spPr>
              <a:xfrm>
                <a:off x="4927947" y="3867645"/>
                <a:ext cx="304800" cy="3048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 anchorCtr="1">
                <a:noAutofit/>
              </a:bodyPr>
              <a:lstStyle/>
              <a:p>
                <a:pPr algn="ctr"/>
                <a:endParaRPr lang="en-US" sz="2800" dirty="0" smtClean="0">
                  <a:solidFill>
                    <a:srgbClr val="FFFFFF"/>
                  </a:solidFill>
                </a:endParaRPr>
              </a:p>
            </p:txBody>
          </p:sp>
          <p:cxnSp>
            <p:nvCxnSpPr>
              <p:cNvPr id="100" name="Straight Arrow Connector 99"/>
              <p:cNvCxnSpPr>
                <a:stCxn id="97" idx="4"/>
                <a:endCxn id="98" idx="1"/>
              </p:cNvCxnSpPr>
              <p:nvPr/>
            </p:nvCxnSpPr>
            <p:spPr>
              <a:xfrm>
                <a:off x="4824097" y="3562803"/>
                <a:ext cx="148487" cy="34947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1" name="Straight Arrow Connector 100"/>
              <p:cNvCxnSpPr>
                <a:stCxn id="96" idx="4"/>
                <a:endCxn id="98" idx="7"/>
              </p:cNvCxnSpPr>
              <p:nvPr/>
            </p:nvCxnSpPr>
            <p:spPr>
              <a:xfrm flipH="1">
                <a:off x="5188110" y="3562803"/>
                <a:ext cx="148488" cy="34947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0" name="Rounded Rectangle 129"/>
              <p:cNvSpPr/>
              <p:nvPr/>
            </p:nvSpPr>
            <p:spPr>
              <a:xfrm>
                <a:off x="4445695" y="1600200"/>
                <a:ext cx="1269305" cy="1006494"/>
              </a:xfrm>
              <a:prstGeom prst="roundRect">
                <a:avLst/>
              </a:prstGeom>
              <a:solidFill>
                <a:schemeClr val="accent2"/>
              </a:soli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 anchorCtr="1">
                <a:noAutofit/>
              </a:bodyPr>
              <a:lstStyle/>
              <a:p>
                <a:pPr algn="ctr"/>
                <a:r>
                  <a:rPr lang="en-US" sz="1050" dirty="0" smtClean="0">
                    <a:solidFill>
                      <a:schemeClr val="tx1"/>
                    </a:solidFill>
                    <a:latin typeface="Consolas"/>
                    <a:cs typeface="Consolas"/>
                  </a:rPr>
                  <a:t>NATURAL</a:t>
                </a:r>
              </a:p>
              <a:p>
                <a:pPr algn="ctr"/>
                <a:r>
                  <a:rPr lang="en-US" sz="1050" dirty="0" smtClean="0">
                    <a:solidFill>
                      <a:schemeClr val="tx1"/>
                    </a:solidFill>
                    <a:latin typeface="Consolas"/>
                    <a:cs typeface="Consolas"/>
                  </a:rPr>
                  <a:t>LOOP</a:t>
                </a:r>
              </a:p>
            </p:txBody>
          </p:sp>
        </p:grpSp>
        <p:sp>
          <p:nvSpPr>
            <p:cNvPr id="77" name="TextBox 76"/>
            <p:cNvSpPr txBox="1"/>
            <p:nvPr/>
          </p:nvSpPr>
          <p:spPr>
            <a:xfrm>
              <a:off x="4170075" y="2677035"/>
              <a:ext cx="762000" cy="307777"/>
            </a:xfrm>
            <a:prstGeom prst="rect">
              <a:avLst/>
            </a:prstGeom>
            <a:noFill/>
          </p:spPr>
          <p:txBody>
            <a:bodyPr wrap="square" lIns="0" tIns="0" rIns="0" bIns="0" rtlCol="0" anchor="t" anchorCtr="0">
              <a:spAutoFit/>
            </a:bodyPr>
            <a:lstStyle/>
            <a:p>
              <a:r>
                <a:rPr lang="en-US" sz="2000" dirty="0">
                  <a:solidFill>
                    <a:schemeClr val="accent1"/>
                  </a:solidFill>
                </a:rPr>
                <a:t>y</a:t>
              </a:r>
              <a:r>
                <a:rPr lang="en-US" sz="2000" dirty="0" smtClean="0">
                  <a:solidFill>
                    <a:schemeClr val="accent1"/>
                  </a:solidFill>
                </a:rPr>
                <a:t>=2</a:t>
              </a:r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4942920" y="2681091"/>
              <a:ext cx="441184" cy="307777"/>
            </a:xfrm>
            <a:prstGeom prst="rect">
              <a:avLst/>
            </a:prstGeom>
            <a:noFill/>
          </p:spPr>
          <p:txBody>
            <a:bodyPr wrap="square" lIns="0" tIns="0" rIns="0" bIns="0" rtlCol="0" anchor="t" anchorCtr="0">
              <a:spAutoFit/>
            </a:bodyPr>
            <a:lstStyle/>
            <a:p>
              <a:r>
                <a:rPr lang="en-US" sz="2000" dirty="0">
                  <a:solidFill>
                    <a:schemeClr val="accent1"/>
                  </a:solidFill>
                </a:rPr>
                <a:t>x</a:t>
              </a:r>
              <a:r>
                <a:rPr lang="en-US" sz="2000" dirty="0" smtClean="0">
                  <a:solidFill>
                    <a:schemeClr val="accent1"/>
                  </a:solidFill>
                </a:rPr>
                <a:t>=1</a:t>
              </a:r>
            </a:p>
          </p:txBody>
        </p:sp>
      </p:grpSp>
      <p:sp>
        <p:nvSpPr>
          <p:cNvPr id="23" name="TextBox 22"/>
          <p:cNvSpPr txBox="1"/>
          <p:nvPr/>
        </p:nvSpPr>
        <p:spPr>
          <a:xfrm>
            <a:off x="2794032" y="5043728"/>
            <a:ext cx="3555936" cy="1457420"/>
          </a:xfrm>
          <a:prstGeom prst="roundRect">
            <a:avLst/>
          </a:prstGeom>
          <a:solidFill>
            <a:schemeClr val="bg2"/>
          </a:solidFill>
        </p:spPr>
        <p:txBody>
          <a:bodyPr wrap="square" lIns="0" tIns="0" rIns="0" bIns="0" rtlCol="0" anchor="t" anchorCtr="0">
            <a:spAutoFit/>
          </a:bodyPr>
          <a:lstStyle/>
          <a:p>
            <a:pPr>
              <a:lnSpc>
                <a:spcPct val="107000"/>
              </a:lnSpc>
            </a:pPr>
            <a:r>
              <a:rPr lang="en-US" sz="2000" b="1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while</a:t>
            </a:r>
            <a:r>
              <a:rPr lang="en-US" sz="20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(</a:t>
            </a:r>
            <a:r>
              <a:rPr lang="en-US" sz="2000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true</a:t>
            </a:r>
            <a:r>
              <a:rPr lang="en-US" sz="20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) {</a:t>
            </a:r>
          </a:p>
          <a:p>
            <a:pPr>
              <a:lnSpc>
                <a:spcPct val="107000"/>
              </a:lnSpc>
            </a:pPr>
            <a:r>
              <a:rPr lang="en-US" sz="20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 s1; </a:t>
            </a:r>
            <a:r>
              <a:rPr lang="en-US" sz="2000" b="1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if</a:t>
            </a:r>
            <a:r>
              <a:rPr lang="en-US" sz="20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(x</a:t>
            </a:r>
            <a:r>
              <a:rPr lang="en-US" sz="2000" dirty="0">
                <a:solidFill>
                  <a:srgbClr val="66666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==1</a:t>
            </a:r>
            <a:r>
              <a:rPr lang="en-US" sz="20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) </a:t>
            </a:r>
            <a:r>
              <a:rPr lang="en-US" sz="2000" b="1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goto</a:t>
            </a:r>
            <a:r>
              <a:rPr lang="en-US" sz="20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</a:t>
            </a:r>
            <a:r>
              <a:rPr lang="en-US" sz="2000" dirty="0" smtClean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L2;</a:t>
            </a:r>
            <a:endParaRPr lang="en-US" sz="2000" dirty="0">
              <a:latin typeface="Consolas" panose="020B0609020204030204" pitchFamily="49" charset="0"/>
              <a:ea typeface="Times New Roman" panose="02020603050405020304" pitchFamily="18" charset="0"/>
              <a:cs typeface="Consolas" panose="020B0609020204030204" pitchFamily="49" charset="0"/>
            </a:endParaRPr>
          </a:p>
          <a:p>
            <a:pPr>
              <a:lnSpc>
                <a:spcPct val="107000"/>
              </a:lnSpc>
            </a:pPr>
            <a:r>
              <a:rPr lang="en-US" sz="20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 </a:t>
            </a:r>
            <a:r>
              <a:rPr lang="en-US" sz="2000" b="1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if</a:t>
            </a:r>
            <a:r>
              <a:rPr lang="en-US" sz="20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(y</a:t>
            </a:r>
            <a:r>
              <a:rPr lang="en-US" sz="2000" dirty="0">
                <a:solidFill>
                  <a:srgbClr val="66666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==2</a:t>
            </a:r>
            <a:r>
              <a:rPr lang="en-US" sz="20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) </a:t>
            </a:r>
            <a:r>
              <a:rPr lang="en-US" sz="2000" b="1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goto</a:t>
            </a:r>
            <a:r>
              <a:rPr lang="en-US" sz="20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L1;</a:t>
            </a:r>
          </a:p>
          <a:p>
            <a:pPr>
              <a:lnSpc>
                <a:spcPct val="107000"/>
              </a:lnSpc>
            </a:pPr>
            <a:r>
              <a:rPr lang="en-US" sz="2000" dirty="0" smtClean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22" name="Rounded Rectangular Callout 21"/>
          <p:cNvSpPr/>
          <p:nvPr/>
        </p:nvSpPr>
        <p:spPr>
          <a:xfrm>
            <a:off x="1676400" y="4369630"/>
            <a:ext cx="2918190" cy="440201"/>
          </a:xfrm>
          <a:prstGeom prst="wedgeRoundRectCallout">
            <a:avLst>
              <a:gd name="adj1" fmla="val -482"/>
              <a:gd name="adj2" fmla="val -359771"/>
              <a:gd name="adj3" fmla="val 16667"/>
            </a:avLst>
          </a:prstGeom>
          <a:ln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 anchorCtr="1">
            <a:noAutofit/>
          </a:bodyPr>
          <a:lstStyle/>
          <a:p>
            <a:pPr algn="ctr"/>
            <a:r>
              <a:rPr lang="en-US" sz="2400" dirty="0" smtClean="0">
                <a:solidFill>
                  <a:schemeClr val="bg1"/>
                </a:solidFill>
              </a:rPr>
              <a:t>Non-determinism</a:t>
            </a:r>
          </a:p>
        </p:txBody>
      </p:sp>
      <p:cxnSp>
        <p:nvCxnSpPr>
          <p:cNvPr id="14" name="Straight Connector 13"/>
          <p:cNvCxnSpPr/>
          <p:nvPr/>
        </p:nvCxnSpPr>
        <p:spPr>
          <a:xfrm>
            <a:off x="5029200" y="2984812"/>
            <a:ext cx="3577295" cy="0"/>
          </a:xfrm>
          <a:prstGeom prst="line">
            <a:avLst/>
          </a:prstGeom>
          <a:ln w="127000" cap="rnd" cmpd="sng">
            <a:solidFill>
              <a:schemeClr val="tx1"/>
            </a:solidFill>
            <a:prstDash val="sysDot"/>
            <a:miter lim="800000"/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800100" y="2465589"/>
            <a:ext cx="7543800" cy="2411211"/>
          </a:xfrm>
          <a:prstGeom prst="roundRect">
            <a:avLst/>
          </a:prstGeom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 anchorCtr="1">
            <a:noAutofit/>
          </a:bodyPr>
          <a:lstStyle/>
          <a:p>
            <a:pPr algn="ctr"/>
            <a:r>
              <a:rPr lang="en-US" sz="4800" dirty="0" smtClean="0">
                <a:solidFill>
                  <a:schemeClr val="bg1"/>
                </a:solidFill>
              </a:rPr>
              <a:t>Fix: Ensure patterns are</a:t>
            </a:r>
            <a:br>
              <a:rPr lang="en-US" sz="4800" dirty="0" smtClean="0">
                <a:solidFill>
                  <a:schemeClr val="bg1"/>
                </a:solidFill>
              </a:rPr>
            </a:br>
            <a:r>
              <a:rPr lang="en-US" sz="4800" u="sng" dirty="0" smtClean="0">
                <a:solidFill>
                  <a:schemeClr val="bg1"/>
                </a:solidFill>
              </a:rPr>
              <a:t>Semantics Preserving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3276780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7566"/>
    </mc:Choice>
    <mc:Fallback xmlns="">
      <p:transition xmlns:p14="http://schemas.microsoft.com/office/powerpoint/2010/main" spd="slow" advTm="57566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" grpId="0" animBg="1"/>
      <p:bldP spid="22" grpId="0" animBg="1"/>
      <p:bldP spid="5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/>
          <p:cNvSpPr/>
          <p:nvPr/>
        </p:nvSpPr>
        <p:spPr>
          <a:xfrm>
            <a:off x="0" y="2667000"/>
            <a:ext cx="9144000" cy="3124200"/>
          </a:xfrm>
          <a:prstGeom prst="rect">
            <a:avLst/>
          </a:prstGeom>
          <a:gradFill flip="none" rotWithShape="1">
            <a:gsLst>
              <a:gs pos="0">
                <a:schemeClr val="bg2"/>
              </a:gs>
              <a:gs pos="100000">
                <a:schemeClr val="accent3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 anchorCtr="1">
            <a:noAutofit/>
          </a:bodyPr>
          <a:lstStyle/>
          <a:p>
            <a:pPr algn="ctr"/>
            <a:endParaRPr lang="en-US" sz="2800" dirty="0" smtClean="0">
              <a:solidFill>
                <a:srgbClr val="FFFFFF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Semantics Preservation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371600"/>
            <a:ext cx="8534400" cy="4754563"/>
          </a:xfrm>
        </p:spPr>
        <p:txBody>
          <a:bodyPr>
            <a:normAutofit/>
          </a:bodyPr>
          <a:lstStyle/>
          <a:p>
            <a:r>
              <a:rPr lang="en-US" dirty="0" smtClean="0"/>
              <a:t>Applies</a:t>
            </a:r>
            <a:r>
              <a:rPr lang="en-US" i="1" dirty="0" smtClean="0"/>
              <a:t> </a:t>
            </a:r>
            <a:r>
              <a:rPr lang="en-US" u="sng" dirty="0" smtClean="0"/>
              <a:t>inside</a:t>
            </a:r>
            <a:r>
              <a:rPr lang="en-US" i="1" dirty="0" smtClean="0"/>
              <a:t> </a:t>
            </a:r>
            <a:r>
              <a:rPr lang="en-US" dirty="0" smtClean="0"/>
              <a:t>of control flow structuring too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 smtClean="0"/>
              <a:t>8/15/13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Usenix Security 2013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7839D-A323-47F3-909F-548499399628}" type="slidenum">
              <a:rPr lang="en-US" smtClean="0"/>
              <a:t>30</a:t>
            </a:fld>
            <a:endParaRPr lang="en-US" dirty="0"/>
          </a:p>
        </p:txBody>
      </p:sp>
      <p:grpSp>
        <p:nvGrpSpPr>
          <p:cNvPr id="33" name="Group 32"/>
          <p:cNvGrpSpPr/>
          <p:nvPr/>
        </p:nvGrpSpPr>
        <p:grpSpPr>
          <a:xfrm>
            <a:off x="1534658" y="2971800"/>
            <a:ext cx="1853794" cy="2584258"/>
            <a:chOff x="127406" y="1600200"/>
            <a:chExt cx="1853794" cy="2584258"/>
          </a:xfrm>
        </p:grpSpPr>
        <p:sp>
          <p:nvSpPr>
            <p:cNvPr id="34" name="Oval 33"/>
            <p:cNvSpPr/>
            <p:nvPr/>
          </p:nvSpPr>
          <p:spPr>
            <a:xfrm>
              <a:off x="762000" y="1600200"/>
              <a:ext cx="304800" cy="3048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1">
              <a:noAutofit/>
            </a:bodyPr>
            <a:lstStyle/>
            <a:p>
              <a:pPr algn="ctr"/>
              <a:endParaRPr lang="en-US" sz="2800" dirty="0" smtClean="0">
                <a:solidFill>
                  <a:srgbClr val="FFFFFF"/>
                </a:solidFill>
              </a:endParaRPr>
            </a:p>
          </p:txBody>
        </p:sp>
        <p:sp>
          <p:nvSpPr>
            <p:cNvPr id="35" name="Oval 34"/>
            <p:cNvSpPr/>
            <p:nvPr/>
          </p:nvSpPr>
          <p:spPr>
            <a:xfrm>
              <a:off x="995059" y="2526124"/>
              <a:ext cx="304800" cy="3048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1">
              <a:noAutofit/>
            </a:bodyPr>
            <a:lstStyle/>
            <a:p>
              <a:pPr algn="ctr"/>
              <a:endParaRPr lang="en-US" sz="2800" dirty="0" smtClean="0">
                <a:solidFill>
                  <a:srgbClr val="FFFFFF"/>
                </a:solidFill>
              </a:endParaRPr>
            </a:p>
          </p:txBody>
        </p:sp>
        <p:cxnSp>
          <p:nvCxnSpPr>
            <p:cNvPr id="36" name="Straight Arrow Connector 35"/>
            <p:cNvCxnSpPr>
              <a:stCxn id="34" idx="5"/>
              <a:endCxn id="37" idx="1"/>
            </p:cNvCxnSpPr>
            <p:nvPr/>
          </p:nvCxnSpPr>
          <p:spPr>
            <a:xfrm>
              <a:off x="1022163" y="1860363"/>
              <a:ext cx="241674" cy="236164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Oval 36"/>
            <p:cNvSpPr/>
            <p:nvPr/>
          </p:nvSpPr>
          <p:spPr>
            <a:xfrm>
              <a:off x="1219200" y="2051890"/>
              <a:ext cx="304800" cy="3048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1">
              <a:noAutofit/>
            </a:bodyPr>
            <a:lstStyle/>
            <a:p>
              <a:pPr algn="ctr"/>
              <a:endParaRPr lang="en-US" sz="2800" dirty="0" smtClean="0">
                <a:solidFill>
                  <a:srgbClr val="FFFFFF"/>
                </a:solidFill>
              </a:endParaRPr>
            </a:p>
          </p:txBody>
        </p:sp>
        <p:sp>
          <p:nvSpPr>
            <p:cNvPr id="38" name="Oval 37"/>
            <p:cNvSpPr/>
            <p:nvPr/>
          </p:nvSpPr>
          <p:spPr>
            <a:xfrm>
              <a:off x="304800" y="2051890"/>
              <a:ext cx="304800" cy="3048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1">
              <a:noAutofit/>
            </a:bodyPr>
            <a:lstStyle/>
            <a:p>
              <a:pPr algn="ctr"/>
              <a:endParaRPr lang="en-US" sz="2800" dirty="0" smtClean="0">
                <a:solidFill>
                  <a:srgbClr val="FFFFFF"/>
                </a:solidFill>
              </a:endParaRPr>
            </a:p>
          </p:txBody>
        </p:sp>
        <p:sp>
          <p:nvSpPr>
            <p:cNvPr id="39" name="Oval 38"/>
            <p:cNvSpPr/>
            <p:nvPr/>
          </p:nvSpPr>
          <p:spPr>
            <a:xfrm>
              <a:off x="478099" y="2526124"/>
              <a:ext cx="304800" cy="3048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1">
              <a:noAutofit/>
            </a:bodyPr>
            <a:lstStyle/>
            <a:p>
              <a:pPr algn="ctr"/>
              <a:endParaRPr lang="en-US" sz="2800" dirty="0" smtClean="0">
                <a:solidFill>
                  <a:srgbClr val="FFFFFF"/>
                </a:solidFill>
              </a:endParaRPr>
            </a:p>
          </p:txBody>
        </p:sp>
        <p:cxnSp>
          <p:nvCxnSpPr>
            <p:cNvPr id="40" name="Straight Arrow Connector 39"/>
            <p:cNvCxnSpPr>
              <a:stCxn id="37" idx="4"/>
              <a:endCxn id="35" idx="7"/>
            </p:cNvCxnSpPr>
            <p:nvPr/>
          </p:nvCxnSpPr>
          <p:spPr>
            <a:xfrm flipH="1">
              <a:off x="1255222" y="2356690"/>
              <a:ext cx="116378" cy="214071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/>
            <p:cNvCxnSpPr>
              <a:stCxn id="35" idx="2"/>
              <a:endCxn id="39" idx="6"/>
            </p:cNvCxnSpPr>
            <p:nvPr/>
          </p:nvCxnSpPr>
          <p:spPr>
            <a:xfrm flipH="1">
              <a:off x="782899" y="2678524"/>
              <a:ext cx="212160" cy="0"/>
            </a:xfrm>
            <a:prstGeom prst="straightConnector1">
              <a:avLst/>
            </a:prstGeom>
            <a:ln>
              <a:solidFill>
                <a:schemeClr val="accent5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/>
            <p:cNvCxnSpPr>
              <a:stCxn id="39" idx="0"/>
              <a:endCxn id="38" idx="4"/>
            </p:cNvCxnSpPr>
            <p:nvPr/>
          </p:nvCxnSpPr>
          <p:spPr>
            <a:xfrm flipH="1" flipV="1">
              <a:off x="457200" y="2356690"/>
              <a:ext cx="173299" cy="169434"/>
            </a:xfrm>
            <a:prstGeom prst="straightConnector1">
              <a:avLst/>
            </a:prstGeom>
            <a:ln>
              <a:solidFill>
                <a:schemeClr val="accent3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/>
            <p:cNvCxnSpPr>
              <a:stCxn id="38" idx="7"/>
              <a:endCxn id="34" idx="3"/>
            </p:cNvCxnSpPr>
            <p:nvPr/>
          </p:nvCxnSpPr>
          <p:spPr>
            <a:xfrm flipV="1">
              <a:off x="564963" y="1860363"/>
              <a:ext cx="241674" cy="236164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/>
            <p:cNvCxnSpPr>
              <a:stCxn id="35" idx="4"/>
              <a:endCxn id="45" idx="0"/>
            </p:cNvCxnSpPr>
            <p:nvPr/>
          </p:nvCxnSpPr>
          <p:spPr>
            <a:xfrm flipH="1">
              <a:off x="1143000" y="2830924"/>
              <a:ext cx="4459" cy="439092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Oval 44"/>
            <p:cNvSpPr/>
            <p:nvPr/>
          </p:nvSpPr>
          <p:spPr>
            <a:xfrm>
              <a:off x="990600" y="3270016"/>
              <a:ext cx="304800" cy="3048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1">
              <a:noAutofit/>
            </a:bodyPr>
            <a:lstStyle/>
            <a:p>
              <a:pPr algn="ctr"/>
              <a:endParaRPr lang="en-US" sz="2800" dirty="0" smtClean="0">
                <a:solidFill>
                  <a:srgbClr val="FFFFFF"/>
                </a:solidFill>
              </a:endParaRPr>
            </a:p>
          </p:txBody>
        </p:sp>
        <p:sp>
          <p:nvSpPr>
            <p:cNvPr id="46" name="Oval 45"/>
            <p:cNvSpPr/>
            <p:nvPr/>
          </p:nvSpPr>
          <p:spPr>
            <a:xfrm>
              <a:off x="478099" y="3270016"/>
              <a:ext cx="304800" cy="3048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1">
              <a:noAutofit/>
            </a:bodyPr>
            <a:lstStyle/>
            <a:p>
              <a:pPr algn="ctr"/>
              <a:endParaRPr lang="en-US" sz="2800" dirty="0" smtClean="0">
                <a:solidFill>
                  <a:srgbClr val="FFFFFF"/>
                </a:solidFill>
              </a:endParaRPr>
            </a:p>
          </p:txBody>
        </p:sp>
        <p:sp>
          <p:nvSpPr>
            <p:cNvPr id="47" name="Oval 46"/>
            <p:cNvSpPr/>
            <p:nvPr/>
          </p:nvSpPr>
          <p:spPr>
            <a:xfrm>
              <a:off x="734349" y="3879658"/>
              <a:ext cx="304800" cy="3048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outerShdw blurRad="40000" dist="23000" dir="540000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1">
              <a:noAutofit/>
            </a:bodyPr>
            <a:lstStyle/>
            <a:p>
              <a:pPr algn="ctr"/>
              <a:endParaRPr lang="en-US" sz="2800" dirty="0" smtClean="0">
                <a:solidFill>
                  <a:srgbClr val="FFFFFF"/>
                </a:solidFill>
              </a:endParaRPr>
            </a:p>
          </p:txBody>
        </p:sp>
        <p:cxnSp>
          <p:nvCxnSpPr>
            <p:cNvPr id="48" name="Straight Arrow Connector 47"/>
            <p:cNvCxnSpPr>
              <a:stCxn id="39" idx="4"/>
              <a:endCxn id="46" idx="0"/>
            </p:cNvCxnSpPr>
            <p:nvPr/>
          </p:nvCxnSpPr>
          <p:spPr>
            <a:xfrm>
              <a:off x="630499" y="2830924"/>
              <a:ext cx="0" cy="439092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/>
            <p:cNvCxnSpPr>
              <a:stCxn id="46" idx="4"/>
              <a:endCxn id="47" idx="1"/>
            </p:cNvCxnSpPr>
            <p:nvPr/>
          </p:nvCxnSpPr>
          <p:spPr>
            <a:xfrm>
              <a:off x="630499" y="3574816"/>
              <a:ext cx="148487" cy="349479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Arrow Connector 49"/>
            <p:cNvCxnSpPr>
              <a:stCxn id="45" idx="4"/>
              <a:endCxn id="47" idx="7"/>
            </p:cNvCxnSpPr>
            <p:nvPr/>
          </p:nvCxnSpPr>
          <p:spPr>
            <a:xfrm flipH="1">
              <a:off x="994512" y="3574816"/>
              <a:ext cx="148488" cy="349479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extBox 50"/>
            <p:cNvSpPr txBox="1"/>
            <p:nvPr/>
          </p:nvSpPr>
          <p:spPr>
            <a:xfrm>
              <a:off x="1219200" y="2908715"/>
              <a:ext cx="762000" cy="307777"/>
            </a:xfrm>
            <a:prstGeom prst="rect">
              <a:avLst/>
            </a:prstGeom>
            <a:noFill/>
          </p:spPr>
          <p:txBody>
            <a:bodyPr wrap="square" lIns="0" tIns="0" rIns="0" bIns="0" rtlCol="0" anchor="t" anchorCtr="0">
              <a:spAutoFit/>
            </a:bodyPr>
            <a:lstStyle/>
            <a:p>
              <a:r>
                <a:rPr lang="en-US" sz="2000" dirty="0">
                  <a:solidFill>
                    <a:schemeClr val="accent1"/>
                  </a:solidFill>
                </a:rPr>
                <a:t>x</a:t>
              </a:r>
              <a:r>
                <a:rPr lang="en-US" sz="2000" dirty="0" smtClean="0">
                  <a:solidFill>
                    <a:schemeClr val="accent1"/>
                  </a:solidFill>
                </a:rPr>
                <a:t>=1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127406" y="2918870"/>
              <a:ext cx="762000" cy="307777"/>
            </a:xfrm>
            <a:prstGeom prst="rect">
              <a:avLst/>
            </a:prstGeom>
            <a:noFill/>
          </p:spPr>
          <p:txBody>
            <a:bodyPr wrap="square" lIns="0" tIns="0" rIns="0" bIns="0" rtlCol="0" anchor="t" anchorCtr="0">
              <a:spAutoFit/>
            </a:bodyPr>
            <a:lstStyle/>
            <a:p>
              <a:r>
                <a:rPr lang="en-US" sz="2000" dirty="0">
                  <a:solidFill>
                    <a:schemeClr val="accent1"/>
                  </a:solidFill>
                </a:rPr>
                <a:t>y</a:t>
              </a:r>
              <a:r>
                <a:rPr lang="en-US" sz="2000" dirty="0" smtClean="0">
                  <a:solidFill>
                    <a:schemeClr val="accent1"/>
                  </a:solidFill>
                </a:rPr>
                <a:t>=2</a:t>
              </a:r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782899" y="2370512"/>
              <a:ext cx="762000" cy="246221"/>
            </a:xfrm>
            <a:prstGeom prst="rect">
              <a:avLst/>
            </a:prstGeom>
            <a:noFill/>
          </p:spPr>
          <p:txBody>
            <a:bodyPr wrap="square" lIns="0" tIns="0" rIns="0" bIns="0" rtlCol="0" anchor="t" anchorCtr="0">
              <a:spAutoFit/>
            </a:bodyPr>
            <a:lstStyle/>
            <a:p>
              <a:r>
                <a:rPr lang="en-US" sz="1600" dirty="0" smtClean="0">
                  <a:solidFill>
                    <a:schemeClr val="accent5"/>
                  </a:solidFill>
                </a:rPr>
                <a:t>x≠1</a:t>
              </a:r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608608" y="2192373"/>
              <a:ext cx="762000" cy="246221"/>
            </a:xfrm>
            <a:prstGeom prst="rect">
              <a:avLst/>
            </a:prstGeom>
            <a:noFill/>
          </p:spPr>
          <p:txBody>
            <a:bodyPr wrap="square" lIns="0" tIns="0" rIns="0" bIns="0" rtlCol="0" anchor="t" anchorCtr="0">
              <a:spAutoFit/>
            </a:bodyPr>
            <a:lstStyle/>
            <a:p>
              <a:r>
                <a:rPr lang="en-US" sz="1600" dirty="0">
                  <a:solidFill>
                    <a:schemeClr val="accent3"/>
                  </a:solidFill>
                </a:rPr>
                <a:t>y</a:t>
              </a:r>
              <a:r>
                <a:rPr lang="en-US" sz="1600" dirty="0" smtClean="0">
                  <a:solidFill>
                    <a:schemeClr val="accent3"/>
                  </a:solidFill>
                </a:rPr>
                <a:t>≠2</a:t>
              </a:r>
            </a:p>
          </p:txBody>
        </p:sp>
      </p:grpSp>
      <p:sp>
        <p:nvSpPr>
          <p:cNvPr id="55" name="Rounded Rectangle 54"/>
          <p:cNvSpPr/>
          <p:nvPr/>
        </p:nvSpPr>
        <p:spPr>
          <a:xfrm>
            <a:off x="1524000" y="2819400"/>
            <a:ext cx="1600200" cy="1460915"/>
          </a:xfrm>
          <a:prstGeom prst="roundRect">
            <a:avLst/>
          </a:prstGeom>
          <a:noFill/>
          <a:ln w="28575" cap="rnd" cmpd="sng">
            <a:solidFill>
              <a:schemeClr val="tx2"/>
            </a:solidFill>
            <a:prstDash val="solid"/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 anchorCtr="1">
            <a:noAutofit/>
          </a:bodyPr>
          <a:lstStyle/>
          <a:p>
            <a:pPr algn="ctr"/>
            <a:endParaRPr lang="en-US" sz="2400" dirty="0" smtClean="0">
              <a:solidFill>
                <a:schemeClr val="bg1"/>
              </a:solidFill>
            </a:endParaRPr>
          </a:p>
        </p:txBody>
      </p:sp>
      <p:grpSp>
        <p:nvGrpSpPr>
          <p:cNvPr id="56" name="Group 55"/>
          <p:cNvGrpSpPr/>
          <p:nvPr/>
        </p:nvGrpSpPr>
        <p:grpSpPr>
          <a:xfrm>
            <a:off x="6133790" y="2914155"/>
            <a:ext cx="1269305" cy="2572245"/>
            <a:chOff x="4140895" y="1600200"/>
            <a:chExt cx="1269305" cy="2572245"/>
          </a:xfrm>
        </p:grpSpPr>
        <p:grpSp>
          <p:nvGrpSpPr>
            <p:cNvPr id="57" name="Group 56"/>
            <p:cNvGrpSpPr/>
            <p:nvPr/>
          </p:nvGrpSpPr>
          <p:grpSpPr>
            <a:xfrm>
              <a:off x="4140895" y="1600200"/>
              <a:ext cx="1269305" cy="2572245"/>
              <a:chOff x="4445695" y="1600200"/>
              <a:chExt cx="1269305" cy="2572245"/>
            </a:xfrm>
          </p:grpSpPr>
          <p:cxnSp>
            <p:nvCxnSpPr>
              <p:cNvPr id="60" name="Straight Arrow Connector 59"/>
              <p:cNvCxnSpPr>
                <a:stCxn id="67" idx="2"/>
                <a:endCxn id="62" idx="0"/>
              </p:cNvCxnSpPr>
              <p:nvPr/>
            </p:nvCxnSpPr>
            <p:spPr>
              <a:xfrm>
                <a:off x="5080348" y="2606694"/>
                <a:ext cx="256250" cy="65130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solid"/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Arrow Connector 60"/>
              <p:cNvCxnSpPr>
                <a:stCxn id="67" idx="2"/>
                <a:endCxn id="63" idx="0"/>
              </p:cNvCxnSpPr>
              <p:nvPr/>
            </p:nvCxnSpPr>
            <p:spPr>
              <a:xfrm flipH="1">
                <a:off x="4824097" y="2606694"/>
                <a:ext cx="256251" cy="65130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solid"/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2" name="Oval 61"/>
              <p:cNvSpPr/>
              <p:nvPr/>
            </p:nvSpPr>
            <p:spPr>
              <a:xfrm>
                <a:off x="5184198" y="3258003"/>
                <a:ext cx="304800" cy="3048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 anchorCtr="1">
                <a:noAutofit/>
              </a:bodyPr>
              <a:lstStyle/>
              <a:p>
                <a:pPr algn="ctr"/>
                <a:endParaRPr lang="en-US" sz="2800" dirty="0" smtClean="0">
                  <a:solidFill>
                    <a:srgbClr val="FFFFFF"/>
                  </a:solidFill>
                </a:endParaRPr>
              </a:p>
            </p:txBody>
          </p:sp>
          <p:sp>
            <p:nvSpPr>
              <p:cNvPr id="63" name="Oval 62"/>
              <p:cNvSpPr/>
              <p:nvPr/>
            </p:nvSpPr>
            <p:spPr>
              <a:xfrm>
                <a:off x="4671697" y="3258003"/>
                <a:ext cx="304800" cy="3048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 anchorCtr="1">
                <a:noAutofit/>
              </a:bodyPr>
              <a:lstStyle/>
              <a:p>
                <a:pPr algn="ctr"/>
                <a:endParaRPr lang="en-US" sz="2800" dirty="0" smtClean="0">
                  <a:solidFill>
                    <a:srgbClr val="FFFFFF"/>
                  </a:solidFill>
                </a:endParaRPr>
              </a:p>
            </p:txBody>
          </p:sp>
          <p:sp>
            <p:nvSpPr>
              <p:cNvPr id="64" name="Oval 63"/>
              <p:cNvSpPr/>
              <p:nvPr/>
            </p:nvSpPr>
            <p:spPr>
              <a:xfrm>
                <a:off x="4927947" y="3867645"/>
                <a:ext cx="304800" cy="3048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 anchorCtr="1">
                <a:noAutofit/>
              </a:bodyPr>
              <a:lstStyle/>
              <a:p>
                <a:pPr algn="ctr"/>
                <a:endParaRPr lang="en-US" sz="2800" dirty="0" smtClean="0">
                  <a:solidFill>
                    <a:srgbClr val="FFFFFF"/>
                  </a:solidFill>
                </a:endParaRPr>
              </a:p>
            </p:txBody>
          </p:sp>
          <p:cxnSp>
            <p:nvCxnSpPr>
              <p:cNvPr id="65" name="Straight Arrow Connector 64"/>
              <p:cNvCxnSpPr>
                <a:stCxn id="63" idx="4"/>
                <a:endCxn id="64" idx="1"/>
              </p:cNvCxnSpPr>
              <p:nvPr/>
            </p:nvCxnSpPr>
            <p:spPr>
              <a:xfrm>
                <a:off x="4824097" y="3562803"/>
                <a:ext cx="148487" cy="34947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Straight Arrow Connector 65"/>
              <p:cNvCxnSpPr>
                <a:stCxn id="62" idx="4"/>
                <a:endCxn id="64" idx="7"/>
              </p:cNvCxnSpPr>
              <p:nvPr/>
            </p:nvCxnSpPr>
            <p:spPr>
              <a:xfrm flipH="1">
                <a:off x="5188110" y="3562803"/>
                <a:ext cx="148488" cy="34947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7" name="Rounded Rectangle 66"/>
              <p:cNvSpPr/>
              <p:nvPr/>
            </p:nvSpPr>
            <p:spPr>
              <a:xfrm>
                <a:off x="4445695" y="1600200"/>
                <a:ext cx="1269305" cy="1006494"/>
              </a:xfrm>
              <a:prstGeom prst="roundRect">
                <a:avLst/>
              </a:prstGeom>
              <a:solidFill>
                <a:schemeClr val="accent2"/>
              </a:soli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 anchorCtr="1">
                <a:noAutofit/>
              </a:bodyPr>
              <a:lstStyle/>
              <a:p>
                <a:pPr algn="ctr"/>
                <a:r>
                  <a:rPr lang="en-US" sz="1050" dirty="0" smtClean="0">
                    <a:solidFill>
                      <a:schemeClr val="tx1"/>
                    </a:solidFill>
                    <a:latin typeface="Consolas"/>
                    <a:cs typeface="Consolas"/>
                  </a:rPr>
                  <a:t>NATURAL</a:t>
                </a:r>
              </a:p>
              <a:p>
                <a:pPr algn="ctr"/>
                <a:r>
                  <a:rPr lang="en-US" sz="1050" dirty="0" smtClean="0">
                    <a:solidFill>
                      <a:schemeClr val="tx1"/>
                    </a:solidFill>
                    <a:latin typeface="Consolas"/>
                    <a:cs typeface="Consolas"/>
                  </a:rPr>
                  <a:t>LOOP</a:t>
                </a:r>
              </a:p>
            </p:txBody>
          </p:sp>
        </p:grpSp>
        <p:sp>
          <p:nvSpPr>
            <p:cNvPr id="58" name="TextBox 57"/>
            <p:cNvSpPr txBox="1"/>
            <p:nvPr/>
          </p:nvSpPr>
          <p:spPr>
            <a:xfrm>
              <a:off x="4170075" y="2677035"/>
              <a:ext cx="762000" cy="307777"/>
            </a:xfrm>
            <a:prstGeom prst="rect">
              <a:avLst/>
            </a:prstGeom>
            <a:noFill/>
          </p:spPr>
          <p:txBody>
            <a:bodyPr wrap="square" lIns="0" tIns="0" rIns="0" bIns="0" rtlCol="0" anchor="t" anchorCtr="0">
              <a:spAutoFit/>
            </a:bodyPr>
            <a:lstStyle/>
            <a:p>
              <a:r>
                <a:rPr lang="en-US" sz="2000" dirty="0">
                  <a:solidFill>
                    <a:schemeClr val="accent1"/>
                  </a:solidFill>
                </a:rPr>
                <a:t>y</a:t>
              </a:r>
              <a:r>
                <a:rPr lang="en-US" sz="2000" dirty="0" smtClean="0">
                  <a:solidFill>
                    <a:schemeClr val="accent1"/>
                  </a:solidFill>
                </a:rPr>
                <a:t>=2</a:t>
              </a:r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4942920" y="2681091"/>
              <a:ext cx="441184" cy="307777"/>
            </a:xfrm>
            <a:prstGeom prst="rect">
              <a:avLst/>
            </a:prstGeom>
            <a:noFill/>
          </p:spPr>
          <p:txBody>
            <a:bodyPr wrap="square" lIns="0" tIns="0" rIns="0" bIns="0" rtlCol="0" anchor="t" anchorCtr="0">
              <a:spAutoFit/>
            </a:bodyPr>
            <a:lstStyle/>
            <a:p>
              <a:r>
                <a:rPr lang="en-US" sz="2000" dirty="0">
                  <a:solidFill>
                    <a:schemeClr val="accent1"/>
                  </a:solidFill>
                </a:rPr>
                <a:t>x</a:t>
              </a:r>
              <a:r>
                <a:rPr lang="en-US" sz="2000" dirty="0" smtClean="0">
                  <a:solidFill>
                    <a:schemeClr val="accent1"/>
                  </a:solidFill>
                </a:rPr>
                <a:t>=1</a:t>
              </a: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3579297" y="3379429"/>
            <a:ext cx="2130562" cy="1699342"/>
            <a:chOff x="3735319" y="2648137"/>
            <a:chExt cx="2130562" cy="1699342"/>
          </a:xfrm>
        </p:grpSpPr>
        <p:sp>
          <p:nvSpPr>
            <p:cNvPr id="68" name="Equal 67"/>
            <p:cNvSpPr/>
            <p:nvPr/>
          </p:nvSpPr>
          <p:spPr>
            <a:xfrm>
              <a:off x="3735319" y="2648137"/>
              <a:ext cx="2130562" cy="1699342"/>
            </a:xfrm>
            <a:prstGeom prst="mathEqual">
              <a:avLst/>
            </a:prstGeom>
            <a:ln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wrap="square" lIns="0" tIns="0" rIns="0" bIns="0" rtlCol="0" anchor="ctr" anchorCtr="1">
              <a:noAutofit/>
            </a:bodyPr>
            <a:lstStyle/>
            <a:p>
              <a:pPr algn="ctr"/>
              <a:endParaRPr lang="en-US" sz="2400" dirty="0" smtClean="0">
                <a:solidFill>
                  <a:schemeClr val="bg1"/>
                </a:solidFill>
              </a:endParaRPr>
            </a:p>
          </p:txBody>
        </p:sp>
        <p:sp>
          <p:nvSpPr>
            <p:cNvPr id="69" name="&quot;No&quot; Symbol 68"/>
            <p:cNvSpPr/>
            <p:nvPr/>
          </p:nvSpPr>
          <p:spPr>
            <a:xfrm>
              <a:off x="4294851" y="2975585"/>
              <a:ext cx="1066800" cy="1065726"/>
            </a:xfrm>
            <a:prstGeom prst="noSmoking">
              <a:avLst/>
            </a:prstGeom>
            <a:solidFill>
              <a:srgbClr val="FF0000"/>
            </a:solidFill>
            <a:ln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 anchorCtr="1">
              <a:noAutofit/>
            </a:bodyPr>
            <a:lstStyle/>
            <a:p>
              <a:pPr algn="ctr"/>
              <a:endParaRPr lang="en-US" sz="2400" dirty="0" smtClean="0">
                <a:solidFill>
                  <a:schemeClr val="bg1"/>
                </a:solidFill>
              </a:endParaRPr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19941594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3917"/>
    </mc:Choice>
    <mc:Fallback xmlns="">
      <p:transition xmlns:p14="http://schemas.microsoft.com/office/powerpoint/2010/main" spd="slow" advTm="43917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5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smtClean="0"/>
              <a:t>Phoenix Implementation and Evaluation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 smtClean="0"/>
              <a:t>8/15/13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Usenix Security 2013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7839D-A323-47F3-909F-548499399628}" type="slidenum">
              <a:rPr lang="en-US" smtClean="0"/>
              <a:t>31</a:t>
            </a:fld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7634145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251"/>
    </mc:Choice>
    <mc:Fallback xmlns="">
      <p:transition xmlns:p14="http://schemas.microsoft.com/office/powerpoint/2010/main" spd="slow" advTm="10251"/>
    </mc:Fallback>
  </mc:AlternateContent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Readability: Phoenix Output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 smtClean="0"/>
              <a:t>8/15/13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Usenix Security 2013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7839D-A323-47F3-909F-548499399628}" type="slidenum">
              <a:rPr lang="en-US" smtClean="0"/>
              <a:t>32</a:t>
            </a:fld>
            <a:endParaRPr lang="en-US" dirty="0"/>
          </a:p>
        </p:txBody>
      </p:sp>
      <p:sp>
        <p:nvSpPr>
          <p:cNvPr id="7" name="Rounded Rectangle 6"/>
          <p:cNvSpPr/>
          <p:nvPr/>
        </p:nvSpPr>
        <p:spPr>
          <a:xfrm>
            <a:off x="762000" y="1059645"/>
            <a:ext cx="2819400" cy="5034367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0" tIns="0" rIns="0" bIns="0" rtlCol="0" anchor="ctr" anchorCtr="1">
            <a:noAutofit/>
          </a:bodyPr>
          <a:lstStyle/>
          <a:p>
            <a:pPr>
              <a:lnSpc>
                <a:spcPct val="107000"/>
              </a:lnSpc>
            </a:pPr>
            <a:r>
              <a:rPr lang="en-US" sz="1900" dirty="0">
                <a:solidFill>
                  <a:srgbClr val="B0004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int</a:t>
            </a: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</a:t>
            </a:r>
            <a:r>
              <a:rPr lang="en-US" sz="1900" dirty="0">
                <a:solidFill>
                  <a:srgbClr val="0000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f</a:t>
            </a: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(</a:t>
            </a:r>
            <a:r>
              <a:rPr lang="en-US" sz="1900" dirty="0">
                <a:solidFill>
                  <a:srgbClr val="B0004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void</a:t>
            </a: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) {</a:t>
            </a:r>
          </a:p>
          <a:p>
            <a:pPr>
              <a:lnSpc>
                <a:spcPct val="107000"/>
              </a:lnSpc>
            </a:pP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 </a:t>
            </a:r>
            <a:r>
              <a:rPr lang="en-US" sz="1900" dirty="0">
                <a:solidFill>
                  <a:srgbClr val="B0004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int</a:t>
            </a: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a </a:t>
            </a:r>
            <a:r>
              <a:rPr lang="en-US" sz="1900" dirty="0">
                <a:solidFill>
                  <a:srgbClr val="66666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=</a:t>
            </a: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</a:t>
            </a:r>
            <a:r>
              <a:rPr lang="en-US" sz="1900" dirty="0">
                <a:solidFill>
                  <a:srgbClr val="66666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42</a:t>
            </a: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;</a:t>
            </a:r>
          </a:p>
          <a:p>
            <a:pPr>
              <a:lnSpc>
                <a:spcPct val="107000"/>
              </a:lnSpc>
            </a:pP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 </a:t>
            </a:r>
            <a:r>
              <a:rPr lang="en-US" sz="1900" dirty="0">
                <a:solidFill>
                  <a:srgbClr val="B0004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int</a:t>
            </a: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b </a:t>
            </a:r>
            <a:r>
              <a:rPr lang="en-US" sz="1900" dirty="0">
                <a:solidFill>
                  <a:srgbClr val="66666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=</a:t>
            </a: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</a:t>
            </a:r>
            <a:r>
              <a:rPr lang="en-US" sz="1900" dirty="0">
                <a:solidFill>
                  <a:srgbClr val="66666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0</a:t>
            </a: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;</a:t>
            </a:r>
          </a:p>
          <a:p>
            <a:pPr>
              <a:lnSpc>
                <a:spcPct val="107000"/>
              </a:lnSpc>
            </a:pP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 </a:t>
            </a:r>
            <a:r>
              <a:rPr lang="en-US" sz="1900" b="1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while</a:t>
            </a:r>
            <a:r>
              <a:rPr lang="en-US" sz="1900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</a:t>
            </a: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(a) {</a:t>
            </a:r>
          </a:p>
          <a:p>
            <a:pPr>
              <a:lnSpc>
                <a:spcPct val="107000"/>
              </a:lnSpc>
            </a:pP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   </a:t>
            </a:r>
            <a:r>
              <a:rPr lang="en-US" sz="1900" b="1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if</a:t>
            </a: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(b) {</a:t>
            </a:r>
          </a:p>
          <a:p>
            <a:pPr>
              <a:lnSpc>
                <a:spcPct val="107000"/>
              </a:lnSpc>
            </a:pP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     puts(</a:t>
            </a:r>
            <a:r>
              <a:rPr lang="en-US" sz="1900" dirty="0">
                <a:solidFill>
                  <a:srgbClr val="BA212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"c"</a:t>
            </a: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);</a:t>
            </a:r>
          </a:p>
          <a:p>
            <a:pPr>
              <a:lnSpc>
                <a:spcPct val="107000"/>
              </a:lnSpc>
            </a:pP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     </a:t>
            </a:r>
            <a:r>
              <a:rPr lang="en-US" sz="1900" b="1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break</a:t>
            </a: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;</a:t>
            </a:r>
          </a:p>
          <a:p>
            <a:pPr>
              <a:lnSpc>
                <a:spcPct val="107000"/>
              </a:lnSpc>
            </a:pP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   } </a:t>
            </a:r>
            <a:r>
              <a:rPr lang="en-US" sz="1900" b="1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else</a:t>
            </a: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{</a:t>
            </a:r>
          </a:p>
          <a:p>
            <a:pPr>
              <a:lnSpc>
                <a:spcPct val="107000"/>
              </a:lnSpc>
            </a:pP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     puts(</a:t>
            </a:r>
            <a:r>
              <a:rPr lang="en-US" sz="1900" dirty="0">
                <a:solidFill>
                  <a:srgbClr val="BA212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"d"</a:t>
            </a: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);</a:t>
            </a:r>
          </a:p>
          <a:p>
            <a:pPr>
              <a:lnSpc>
                <a:spcPct val="107000"/>
              </a:lnSpc>
            </a:pP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   }</a:t>
            </a:r>
          </a:p>
          <a:p>
            <a:pPr>
              <a:lnSpc>
                <a:spcPct val="107000"/>
              </a:lnSpc>
            </a:pP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   a</a:t>
            </a:r>
            <a:r>
              <a:rPr lang="en-US" sz="1900" dirty="0">
                <a:solidFill>
                  <a:srgbClr val="66666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--</a:t>
            </a: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;</a:t>
            </a:r>
          </a:p>
          <a:p>
            <a:pPr>
              <a:lnSpc>
                <a:spcPct val="107000"/>
              </a:lnSpc>
            </a:pP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   b</a:t>
            </a:r>
            <a:r>
              <a:rPr lang="en-US" sz="1900" dirty="0">
                <a:solidFill>
                  <a:srgbClr val="66666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++</a:t>
            </a: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;</a:t>
            </a:r>
          </a:p>
          <a:p>
            <a:pPr>
              <a:lnSpc>
                <a:spcPct val="107000"/>
              </a:lnSpc>
            </a:pP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 }</a:t>
            </a:r>
          </a:p>
          <a:p>
            <a:pPr>
              <a:lnSpc>
                <a:spcPct val="107000"/>
              </a:lnSpc>
            </a:pP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 puts (</a:t>
            </a:r>
            <a:r>
              <a:rPr lang="en-US" sz="1900" dirty="0">
                <a:solidFill>
                  <a:srgbClr val="BA212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"e"</a:t>
            </a: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);</a:t>
            </a:r>
          </a:p>
          <a:p>
            <a:pPr>
              <a:lnSpc>
                <a:spcPct val="107000"/>
              </a:lnSpc>
            </a:pP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 </a:t>
            </a:r>
            <a:r>
              <a:rPr lang="en-US" sz="1900" b="1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return</a:t>
            </a: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</a:t>
            </a:r>
            <a:r>
              <a:rPr lang="en-US" sz="1900" dirty="0">
                <a:solidFill>
                  <a:srgbClr val="66666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0</a:t>
            </a: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;</a:t>
            </a:r>
          </a:p>
          <a:p>
            <a:pPr>
              <a:lnSpc>
                <a:spcPct val="107000"/>
              </a:lnSpc>
            </a:pPr>
            <a:r>
              <a:rPr lang="en-US" sz="1900" dirty="0" smtClean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1057656"/>
            <a:ext cx="3886200" cy="5038344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0" tIns="0" rIns="0" bIns="0" rtlCol="0" anchor="ctr" anchorCtr="1">
            <a:noAutofit/>
          </a:bodyPr>
          <a:lstStyle/>
          <a:p>
            <a:pPr>
              <a:lnSpc>
                <a:spcPct val="107000"/>
              </a:lnSpc>
            </a:pPr>
            <a:r>
              <a:rPr lang="en-US" sz="1900" dirty="0">
                <a:solidFill>
                  <a:srgbClr val="B0004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t_reg32</a:t>
            </a: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</a:t>
            </a:r>
            <a:r>
              <a:rPr lang="en-US" sz="1900" dirty="0">
                <a:solidFill>
                  <a:srgbClr val="0000FF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f</a:t>
            </a: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(</a:t>
            </a:r>
            <a:r>
              <a:rPr lang="en-US" sz="1900" dirty="0">
                <a:solidFill>
                  <a:srgbClr val="B0004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void</a:t>
            </a: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) {</a:t>
            </a:r>
          </a:p>
          <a:p>
            <a:pPr>
              <a:lnSpc>
                <a:spcPct val="107000"/>
              </a:lnSpc>
            </a:pP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 </a:t>
            </a:r>
            <a:r>
              <a:rPr lang="en-US" sz="1900" dirty="0">
                <a:solidFill>
                  <a:srgbClr val="B0004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t_reg32</a:t>
            </a: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</a:t>
            </a:r>
            <a:r>
              <a:rPr lang="en-US" sz="1900" dirty="0" smtClean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v20 </a:t>
            </a:r>
            <a:r>
              <a:rPr lang="en-US" sz="1900" dirty="0">
                <a:solidFill>
                  <a:srgbClr val="66666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=</a:t>
            </a: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</a:t>
            </a:r>
            <a:r>
              <a:rPr lang="en-US" sz="1900" dirty="0">
                <a:solidFill>
                  <a:srgbClr val="66666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42</a:t>
            </a: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;</a:t>
            </a:r>
          </a:p>
          <a:p>
            <a:pPr>
              <a:lnSpc>
                <a:spcPct val="107000"/>
              </a:lnSpc>
            </a:pP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 </a:t>
            </a:r>
            <a:r>
              <a:rPr lang="en-US" sz="1900" dirty="0">
                <a:solidFill>
                  <a:srgbClr val="B0004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t_reg32</a:t>
            </a: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</a:t>
            </a:r>
            <a:r>
              <a:rPr lang="en-US" sz="1900" dirty="0" smtClean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v24</a:t>
            </a: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;</a:t>
            </a:r>
          </a:p>
          <a:p>
            <a:pPr>
              <a:lnSpc>
                <a:spcPct val="107000"/>
              </a:lnSpc>
            </a:pP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 </a:t>
            </a:r>
            <a:r>
              <a:rPr lang="en-US" sz="1900" b="1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for</a:t>
            </a: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</a:t>
            </a:r>
            <a:r>
              <a:rPr lang="en-US" sz="1900" dirty="0" smtClean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(v24 </a:t>
            </a:r>
            <a:r>
              <a:rPr lang="en-US" sz="1900" dirty="0">
                <a:solidFill>
                  <a:srgbClr val="66666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=</a:t>
            </a: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</a:t>
            </a:r>
            <a:r>
              <a:rPr lang="en-US" sz="1900" dirty="0">
                <a:solidFill>
                  <a:srgbClr val="66666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0</a:t>
            </a: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; </a:t>
            </a:r>
            <a:r>
              <a:rPr lang="en-US" sz="1900" dirty="0" smtClean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v20 </a:t>
            </a:r>
            <a:r>
              <a:rPr lang="en-US" sz="1900" dirty="0">
                <a:solidFill>
                  <a:srgbClr val="66666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!=</a:t>
            </a: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</a:t>
            </a:r>
            <a:r>
              <a:rPr lang="en-US" sz="1900" dirty="0">
                <a:solidFill>
                  <a:srgbClr val="66666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0</a:t>
            </a: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;</a:t>
            </a:r>
          </a:p>
          <a:p>
            <a:pPr>
              <a:lnSpc>
                <a:spcPct val="107000"/>
              </a:lnSpc>
            </a:pP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      </a:t>
            </a:r>
            <a:r>
              <a:rPr lang="en-US" sz="1900" dirty="0" smtClean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v</a:t>
            </a:r>
            <a:r>
              <a:rPr lang="en-US" sz="1900" dirty="0" smtClean="0">
                <a:solidFill>
                  <a:schemeClr val="tx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24</a:t>
            </a:r>
            <a:r>
              <a:rPr lang="en-US" sz="1900" dirty="0" smtClean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</a:t>
            </a:r>
            <a:r>
              <a:rPr lang="en-US" sz="1900" dirty="0">
                <a:solidFill>
                  <a:srgbClr val="66666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=</a:t>
            </a: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</a:t>
            </a:r>
            <a:r>
              <a:rPr lang="en-US" sz="1900" dirty="0" smtClean="0">
                <a:solidFill>
                  <a:schemeClr val="tx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v24</a:t>
            </a:r>
            <a:r>
              <a:rPr lang="en-US" sz="1900" dirty="0" smtClean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</a:t>
            </a:r>
            <a:r>
              <a:rPr lang="en-US" sz="1900" dirty="0">
                <a:solidFill>
                  <a:srgbClr val="66666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+</a:t>
            </a: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</a:t>
            </a:r>
            <a:r>
              <a:rPr lang="en-US" sz="1900" dirty="0">
                <a:solidFill>
                  <a:srgbClr val="66666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1</a:t>
            </a: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) {</a:t>
            </a:r>
          </a:p>
          <a:p>
            <a:pPr>
              <a:lnSpc>
                <a:spcPct val="107000"/>
              </a:lnSpc>
            </a:pP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   </a:t>
            </a:r>
            <a:r>
              <a:rPr lang="en-US" sz="1900" b="1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if</a:t>
            </a: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</a:t>
            </a:r>
            <a:r>
              <a:rPr lang="en-US" sz="1900" dirty="0" smtClean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(v24 </a:t>
            </a:r>
            <a:r>
              <a:rPr lang="en-US" sz="1900" dirty="0">
                <a:solidFill>
                  <a:srgbClr val="66666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!=</a:t>
            </a: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</a:t>
            </a:r>
            <a:r>
              <a:rPr lang="en-US" sz="1900" dirty="0">
                <a:solidFill>
                  <a:srgbClr val="66666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0</a:t>
            </a: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) {</a:t>
            </a:r>
          </a:p>
          <a:p>
            <a:pPr>
              <a:lnSpc>
                <a:spcPct val="107000"/>
              </a:lnSpc>
            </a:pP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     puts (</a:t>
            </a:r>
            <a:r>
              <a:rPr lang="en-US" sz="1900" dirty="0">
                <a:solidFill>
                  <a:srgbClr val="BA212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"c</a:t>
            </a:r>
            <a:r>
              <a:rPr lang="en-US" sz="1900" dirty="0" smtClean="0">
                <a:solidFill>
                  <a:srgbClr val="BA212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"</a:t>
            </a:r>
            <a:r>
              <a:rPr lang="en-US" sz="1900" dirty="0" smtClean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);</a:t>
            </a:r>
          </a:p>
          <a:p>
            <a:pPr>
              <a:lnSpc>
                <a:spcPct val="107000"/>
              </a:lnSpc>
            </a:pPr>
            <a:r>
              <a:rPr lang="en-US" sz="1900" b="1" dirty="0">
                <a:solidFill>
                  <a:srgbClr val="00800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</a:t>
            </a:r>
            <a:r>
              <a:rPr lang="en-US" sz="1900" b="1" dirty="0" smtClean="0">
                <a:solidFill>
                  <a:srgbClr val="00800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    </a:t>
            </a:r>
            <a:r>
              <a:rPr lang="en-US" sz="1900" b="1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break</a:t>
            </a: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;</a:t>
            </a:r>
          </a:p>
          <a:p>
            <a:pPr>
              <a:lnSpc>
                <a:spcPct val="107000"/>
              </a:lnSpc>
            </a:pP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   }</a:t>
            </a:r>
          </a:p>
          <a:p>
            <a:pPr>
              <a:lnSpc>
                <a:spcPct val="107000"/>
              </a:lnSpc>
            </a:pP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   puts (</a:t>
            </a:r>
            <a:r>
              <a:rPr lang="en-US" sz="1900" dirty="0">
                <a:solidFill>
                  <a:srgbClr val="BA212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"d"</a:t>
            </a: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);</a:t>
            </a:r>
          </a:p>
          <a:p>
            <a:pPr>
              <a:lnSpc>
                <a:spcPct val="107000"/>
              </a:lnSpc>
            </a:pP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   </a:t>
            </a:r>
            <a:r>
              <a:rPr lang="en-US" sz="1900" dirty="0" smtClean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v20 </a:t>
            </a:r>
            <a:r>
              <a:rPr lang="en-US" sz="1900" dirty="0">
                <a:solidFill>
                  <a:srgbClr val="66666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=</a:t>
            </a: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</a:t>
            </a:r>
            <a:r>
              <a:rPr lang="en-US" sz="1900" dirty="0" smtClean="0">
                <a:solidFill>
                  <a:schemeClr val="tx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v20</a:t>
            </a:r>
            <a:r>
              <a:rPr lang="en-US" sz="1900" dirty="0" smtClean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</a:t>
            </a:r>
            <a:r>
              <a:rPr lang="en-US" sz="1900" dirty="0">
                <a:solidFill>
                  <a:srgbClr val="66666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-</a:t>
            </a: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</a:t>
            </a:r>
            <a:r>
              <a:rPr lang="en-US" sz="1900" dirty="0">
                <a:solidFill>
                  <a:srgbClr val="66666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1</a:t>
            </a: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;</a:t>
            </a:r>
          </a:p>
          <a:p>
            <a:pPr>
              <a:lnSpc>
                <a:spcPct val="107000"/>
              </a:lnSpc>
            </a:pP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 }</a:t>
            </a:r>
          </a:p>
          <a:p>
            <a:pPr>
              <a:lnSpc>
                <a:spcPct val="107000"/>
              </a:lnSpc>
            </a:pP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 puts (</a:t>
            </a:r>
            <a:r>
              <a:rPr lang="en-US" sz="1900" dirty="0">
                <a:solidFill>
                  <a:srgbClr val="BA2121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"e"</a:t>
            </a: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);</a:t>
            </a:r>
          </a:p>
          <a:p>
            <a:pPr>
              <a:lnSpc>
                <a:spcPct val="107000"/>
              </a:lnSpc>
            </a:pP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 </a:t>
            </a:r>
            <a:r>
              <a:rPr lang="en-US" sz="1900" b="1" dirty="0">
                <a:solidFill>
                  <a:srgbClr val="FF0080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return</a:t>
            </a: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 </a:t>
            </a:r>
            <a:r>
              <a:rPr lang="en-US" sz="1900" dirty="0">
                <a:solidFill>
                  <a:srgbClr val="666666"/>
                </a:solidFill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0</a:t>
            </a: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;</a:t>
            </a:r>
          </a:p>
          <a:p>
            <a:pPr>
              <a:lnSpc>
                <a:spcPct val="107000"/>
              </a:lnSpc>
            </a:pPr>
            <a:r>
              <a:rPr lang="en-US" sz="1900" dirty="0">
                <a:latin typeface="Consolas" panose="020B0609020204030204" pitchFamily="49" charset="0"/>
                <a:ea typeface="Times New Roman" panose="02020603050405020304" pitchFamily="18" charset="0"/>
                <a:cs typeface="Consolas" panose="020B0609020204030204" pitchFamily="49" charset="0"/>
              </a:rPr>
              <a:t>}</a:t>
            </a:r>
            <a:endParaRPr lang="en-US" sz="1900" dirty="0">
              <a:effectLst/>
              <a:latin typeface="Consolas" panose="020B0609020204030204" pitchFamily="49" charset="0"/>
              <a:ea typeface="Times New Roman" panose="02020603050405020304" pitchFamily="18" charset="0"/>
              <a:cs typeface="Consolas" panose="020B0609020204030204" pitchFamily="49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38200" y="6062472"/>
            <a:ext cx="2743200" cy="492443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ctr">
              <a:buClr>
                <a:schemeClr val="accent1"/>
              </a:buClr>
            </a:pPr>
            <a:r>
              <a:rPr lang="en-US" sz="3200" dirty="0" smtClean="0"/>
              <a:t>Original</a:t>
            </a:r>
            <a:endParaRPr lang="en-US" sz="3200" dirty="0"/>
          </a:p>
        </p:txBody>
      </p:sp>
      <p:sp>
        <p:nvSpPr>
          <p:cNvPr id="10" name="TextBox 9"/>
          <p:cNvSpPr txBox="1"/>
          <p:nvPr/>
        </p:nvSpPr>
        <p:spPr>
          <a:xfrm>
            <a:off x="5143500" y="6064460"/>
            <a:ext cx="2743200" cy="492443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ctr">
              <a:buClr>
                <a:schemeClr val="accent1"/>
              </a:buClr>
            </a:pPr>
            <a:r>
              <a:rPr lang="en-US" sz="3200" dirty="0" smtClean="0"/>
              <a:t>Decompiled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8525478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Large Scale Experiment Details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smtClean="0"/>
              <a:t>Decompilers tested</a:t>
            </a:r>
          </a:p>
          <a:p>
            <a:pPr lvl="1"/>
            <a:r>
              <a:rPr lang="en-US" dirty="0" smtClean="0"/>
              <a:t>Phoenix</a:t>
            </a:r>
          </a:p>
          <a:p>
            <a:pPr lvl="1"/>
            <a:r>
              <a:rPr lang="en-US" dirty="0" smtClean="0"/>
              <a:t>Hex-Rays (industry state of the art)</a:t>
            </a:r>
          </a:p>
          <a:p>
            <a:pPr lvl="1"/>
            <a:r>
              <a:rPr lang="en-US" dirty="0" smtClean="0"/>
              <a:t>Boomerang (academic state of the art)</a:t>
            </a:r>
          </a:p>
          <a:p>
            <a:pPr marL="0" lvl="1" indent="0">
              <a:buNone/>
            </a:pPr>
            <a:endParaRPr lang="en-US" strike="sngStrike" dirty="0" smtClean="0"/>
          </a:p>
          <a:p>
            <a:pPr marL="292100" lvl="1">
              <a:buFont typeface="Arial"/>
              <a:buChar char="•"/>
            </a:pPr>
            <a:r>
              <a:rPr lang="en-US" sz="3200" strike="sngStrike" dirty="0" smtClean="0"/>
              <a:t>Boomerang</a:t>
            </a:r>
          </a:p>
          <a:p>
            <a:pPr marL="571500" lvl="2"/>
            <a:r>
              <a:rPr lang="en-US" dirty="0" smtClean="0"/>
              <a:t>Did </a:t>
            </a:r>
            <a:r>
              <a:rPr lang="en-US" dirty="0"/>
              <a:t>not terminate in &lt;1 hour for most programs</a:t>
            </a:r>
          </a:p>
          <a:p>
            <a:pPr marL="0" indent="0">
              <a:buNone/>
            </a:pPr>
            <a:endParaRPr lang="en-US" dirty="0" smtClean="0"/>
          </a:p>
          <a:p>
            <a:r>
              <a:rPr lang="en-US" dirty="0" smtClean="0"/>
              <a:t>GNU </a:t>
            </a:r>
            <a:r>
              <a:rPr lang="en-US" dirty="0" err="1">
                <a:latin typeface="Consolas"/>
                <a:cs typeface="Consolas"/>
              </a:rPr>
              <a:t>coreutils</a:t>
            </a:r>
            <a:r>
              <a:rPr lang="en-US" dirty="0"/>
              <a:t> </a:t>
            </a:r>
            <a:r>
              <a:rPr lang="en-US" dirty="0" smtClean="0"/>
              <a:t>8.17, compiled with </a:t>
            </a:r>
            <a:r>
              <a:rPr lang="en-US" dirty="0" err="1" smtClean="0">
                <a:latin typeface="Consolas" panose="020B0609020204030204" pitchFamily="49" charset="0"/>
                <a:cs typeface="Consolas" panose="020B0609020204030204" pitchFamily="49" charset="0"/>
              </a:rPr>
              <a:t>gcc</a:t>
            </a:r>
            <a:endParaRPr lang="en-US" dirty="0"/>
          </a:p>
          <a:p>
            <a:pPr lvl="1"/>
            <a:r>
              <a:rPr lang="en-US" dirty="0" smtClean="0"/>
              <a:t>Programs of varying complexity</a:t>
            </a:r>
          </a:p>
          <a:p>
            <a:pPr lvl="1"/>
            <a:r>
              <a:rPr lang="en-US" dirty="0" smtClean="0"/>
              <a:t>Test suite</a:t>
            </a:r>
            <a:endParaRPr lang="en-US" dirty="0"/>
          </a:p>
          <a:p>
            <a:endParaRPr lang="en-US" dirty="0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 smtClean="0"/>
              <a:t>8/15/13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Usenix Security 2013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7839D-A323-47F3-909F-548499399628}" type="slidenum">
              <a:rPr lang="en-US" smtClean="0"/>
              <a:t>33</a:t>
            </a:fld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5134197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9060"/>
    </mc:Choice>
    <mc:Fallback xmlns="">
      <p:transition xmlns:p14="http://schemas.microsoft.com/office/powerpoint/2010/main" spd="slow" advTm="4906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Metrics (end-to-end decompiler)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 smtClean="0"/>
              <a:t>Effective abstraction recovery</a:t>
            </a:r>
          </a:p>
          <a:p>
            <a:pPr lvl="1"/>
            <a:r>
              <a:rPr lang="en-US" dirty="0" smtClean="0"/>
              <a:t>Control flow structuring</a:t>
            </a:r>
          </a:p>
          <a:p>
            <a:pPr lvl="1"/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 smtClean="0"/>
              <a:t>Correctness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 smtClean="0"/>
              <a:t>8/15/13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Usenix Security 2013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7839D-A323-47F3-909F-548499399628}" type="slidenum">
              <a:rPr lang="en-US" smtClean="0"/>
              <a:t>34</a:t>
            </a:fld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4790329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188"/>
    </mc:Choice>
    <mc:Fallback xmlns="">
      <p:transition xmlns:p14="http://schemas.microsoft.com/office/powerpoint/2010/main" spd="slow" advTm="7188"/>
    </mc:Fallback>
  </mc:AlternateContent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Control Flow Structure:</a:t>
            </a:r>
            <a:br>
              <a:rPr lang="en-US" dirty="0"/>
            </a:br>
            <a:r>
              <a:rPr lang="en-US" dirty="0"/>
              <a:t>Gotos Emitted (Fewer Better)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 smtClean="0"/>
              <a:t>8/15/13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Usenix Security 2013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7839D-A323-47F3-909F-548499399628}" type="slidenum">
              <a:rPr lang="en-US" smtClean="0"/>
              <a:t>35</a:t>
            </a:fld>
            <a:endParaRPr lang="en-US" dirty="0"/>
          </a:p>
        </p:txBody>
      </p:sp>
      <p:graphicFrame>
        <p:nvGraphicFramePr>
          <p:cNvPr id="7" name="Chart 6"/>
          <p:cNvGraphicFramePr/>
          <p:nvPr>
            <p:extLst/>
          </p:nvPr>
        </p:nvGraphicFramePr>
        <p:xfrm>
          <a:off x="152400" y="1066799"/>
          <a:ext cx="8839200" cy="54260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269388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6712"/>
    </mc:Choice>
    <mc:Fallback xmlns="">
      <p:transition spd="slow" advTm="16712"/>
    </mc:Fallback>
  </mc:AlternateContent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Control Flow Structure:</a:t>
            </a:r>
            <a:br>
              <a:rPr lang="en-US" dirty="0"/>
            </a:br>
            <a:r>
              <a:rPr lang="en-US" dirty="0"/>
              <a:t>Gotos Emitted (Fewer </a:t>
            </a:r>
            <a:r>
              <a:rPr lang="en-US" dirty="0" smtClean="0"/>
              <a:t>is Better</a:t>
            </a:r>
            <a:r>
              <a:rPr lang="en-US" dirty="0"/>
              <a:t>)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 smtClean="0"/>
              <a:t>8/15/13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Usenix Security 2013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7839D-A323-47F3-909F-548499399628}" type="slidenum">
              <a:rPr lang="en-US" smtClean="0"/>
              <a:t>36</a:t>
            </a:fld>
            <a:endParaRPr lang="en-US" dirty="0"/>
          </a:p>
        </p:txBody>
      </p:sp>
      <p:graphicFrame>
        <p:nvGraphicFramePr>
          <p:cNvPr id="7" name="Chart 6"/>
          <p:cNvGraphicFramePr/>
          <p:nvPr>
            <p:extLst>
              <p:ext uri="{D42A27DB-BD31-4B8C-83A1-F6EECF244321}">
                <p14:modId xmlns:p14="http://schemas.microsoft.com/office/powerpoint/2010/main" val="3792582126"/>
              </p:ext>
            </p:extLst>
          </p:nvPr>
        </p:nvGraphicFramePr>
        <p:xfrm>
          <a:off x="152400" y="1066799"/>
          <a:ext cx="8839200" cy="54260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5728887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16123"/>
    </mc:Choice>
    <mc:Fallback xmlns="">
      <p:transition advTm="16123"/>
    </mc:Fallback>
  </mc:AlternateContent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1143000"/>
          </a:xfrm>
        </p:spPr>
        <p:txBody>
          <a:bodyPr/>
          <a:lstStyle/>
          <a:p>
            <a:r>
              <a:rPr lang="en-US" dirty="0" smtClean="0"/>
              <a:t>Ideal: Correctness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 smtClean="0"/>
              <a:t>8/15/13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7839D-A323-47F3-909F-548499399628}" type="slidenum">
              <a:rPr lang="en-US" smtClean="0"/>
              <a:t>37</a:t>
            </a:fld>
            <a:endParaRPr lang="en-US" dirty="0"/>
          </a:p>
        </p:txBody>
      </p:sp>
      <p:sp>
        <p:nvSpPr>
          <p:cNvPr id="8" name="Rounded Rectangle 7"/>
          <p:cNvSpPr/>
          <p:nvPr/>
        </p:nvSpPr>
        <p:spPr>
          <a:xfrm>
            <a:off x="3733800" y="4235186"/>
            <a:ext cx="1676400" cy="1676400"/>
          </a:xfrm>
          <a:prstGeom prst="roundRect">
            <a:avLst/>
          </a:prstGeom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nsolas"/>
                <a:ea typeface="+mn-ea"/>
                <a:cs typeface="Consolas"/>
              </a:rPr>
              <a:t>010100101010101001010110111010101001010101010101111100010100010101101001010100010010101101010101011010111</a:t>
            </a:r>
            <a:endParaRPr kumimoji="0" lang="en-US" sz="1400" b="0" i="0" u="none" strike="noStrike" kern="0" cap="none" spc="0" normalizeH="0" baseline="0" noProof="0" dirty="0" smtClean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nsolas"/>
              <a:ea typeface="+mn-ea"/>
              <a:cs typeface="Consolas"/>
            </a:endParaRPr>
          </a:p>
        </p:txBody>
      </p:sp>
      <p:sp>
        <p:nvSpPr>
          <p:cNvPr id="12" name="Right Arrow 11"/>
          <p:cNvSpPr/>
          <p:nvPr/>
        </p:nvSpPr>
        <p:spPr>
          <a:xfrm rot="2603060">
            <a:off x="2838302" y="2972619"/>
            <a:ext cx="1819656" cy="987552"/>
          </a:xfrm>
          <a:prstGeom prst="rightArrow">
            <a:avLst/>
          </a:prstGeom>
          <a:ln/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lIns="0" tIns="0" rIns="0" bIns="0" rtlCol="0" anchor="ctr" anchorCtr="1">
            <a:noAutofit/>
          </a:bodyPr>
          <a:lstStyle/>
          <a:p>
            <a:pPr algn="ctr"/>
            <a:r>
              <a:rPr lang="en-US" sz="2400" dirty="0" smtClean="0">
                <a:solidFill>
                  <a:schemeClr val="bg1"/>
                </a:solidFill>
              </a:rPr>
              <a:t>Compiler</a:t>
            </a:r>
          </a:p>
        </p:txBody>
      </p:sp>
      <p:sp>
        <p:nvSpPr>
          <p:cNvPr id="13" name="Right Arrow 12"/>
          <p:cNvSpPr/>
          <p:nvPr/>
        </p:nvSpPr>
        <p:spPr>
          <a:xfrm rot="18940167">
            <a:off x="4459001" y="2748935"/>
            <a:ext cx="1818950" cy="987693"/>
          </a:xfrm>
          <a:prstGeom prst="rightArrow">
            <a:avLst/>
          </a:prstGeom>
          <a:ln/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lIns="0" tIns="0" rIns="0" bIns="0" rtlCol="0" anchor="ctr" anchorCtr="1">
            <a:noAutofit/>
          </a:bodyPr>
          <a:lstStyle/>
          <a:p>
            <a:pPr algn="ctr"/>
            <a:r>
              <a:rPr lang="en-US" sz="2400" dirty="0" smtClean="0">
                <a:solidFill>
                  <a:schemeClr val="bg1"/>
                </a:solidFill>
              </a:rPr>
              <a:t>Decompiler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39826" y="5862925"/>
            <a:ext cx="3864348" cy="984885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ctr">
              <a:buClr>
                <a:schemeClr val="accent1"/>
              </a:buClr>
            </a:pPr>
            <a:r>
              <a:rPr lang="en-US" sz="3200" dirty="0" smtClean="0"/>
              <a:t>Compiled</a:t>
            </a:r>
          </a:p>
          <a:p>
            <a:pPr algn="ctr">
              <a:buClr>
                <a:schemeClr val="accent1"/>
              </a:buClr>
            </a:pPr>
            <a:r>
              <a:rPr lang="en-US" sz="3200" dirty="0" smtClean="0"/>
              <a:t>Binary</a:t>
            </a:r>
            <a:endParaRPr lang="en-US" sz="3200" dirty="0"/>
          </a:p>
        </p:txBody>
      </p:sp>
      <p:sp>
        <p:nvSpPr>
          <p:cNvPr id="17" name="Rectangle 16"/>
          <p:cNvSpPr/>
          <p:nvPr/>
        </p:nvSpPr>
        <p:spPr>
          <a:xfrm>
            <a:off x="1117232" y="2549100"/>
            <a:ext cx="6959968" cy="4284800"/>
          </a:xfrm>
          <a:prstGeom prst="rect">
            <a:avLst/>
          </a:prstGeom>
          <a:solidFill>
            <a:schemeClr val="bg1">
              <a:alpha val="90000"/>
            </a:schemeClr>
          </a:solidFill>
          <a:ln w="28575" cap="rnd" cmpd="sng">
            <a:noFill/>
            <a:prstDash val="solid"/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 anchorCtr="1">
            <a:noAutofit/>
          </a:bodyPr>
          <a:lstStyle/>
          <a:p>
            <a:pPr algn="ctr"/>
            <a:endParaRPr lang="en-US" sz="2400" dirty="0" smtClean="0">
              <a:solidFill>
                <a:schemeClr val="bg1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295400" y="928457"/>
            <a:ext cx="1676400" cy="1676400"/>
          </a:xfrm>
          <a:prstGeom prst="round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0" dirty="0">
                <a:solidFill>
                  <a:srgbClr val="FFFFFF"/>
                </a:solidFill>
                <a:latin typeface="Consolas"/>
                <a:cs typeface="Consolas"/>
              </a:rPr>
              <a:t>i</a:t>
            </a:r>
            <a:r>
              <a:rPr kumimoji="0" 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nsolas"/>
                <a:ea typeface="+mn-ea"/>
                <a:cs typeface="Consolas"/>
              </a:rPr>
              <a:t>nt f (int x) {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0" noProof="0" dirty="0" smtClean="0">
                <a:solidFill>
                  <a:srgbClr val="FFFFFF"/>
                </a:solidFill>
                <a:latin typeface="Consolas"/>
                <a:cs typeface="Consolas"/>
              </a:rPr>
              <a:t>int y = 1;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nsolas"/>
                <a:ea typeface="+mn-ea"/>
                <a:cs typeface="Consolas"/>
              </a:rPr>
              <a:t>while (x &gt; y) {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0" dirty="0" smtClean="0">
                <a:solidFill>
                  <a:srgbClr val="FFFFFF"/>
                </a:solidFill>
                <a:latin typeface="Consolas"/>
                <a:cs typeface="Consolas"/>
              </a:rPr>
              <a:t>  y++;</a:t>
            </a:r>
            <a:endParaRPr lang="en-US" sz="1200" kern="0" dirty="0">
              <a:solidFill>
                <a:srgbClr val="FFFFFF"/>
              </a:solidFill>
              <a:latin typeface="Consolas"/>
              <a:cs typeface="Consola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nsolas"/>
                <a:ea typeface="+mn-ea"/>
                <a:cs typeface="Consolas"/>
              </a:rPr>
              <a:t>}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0" dirty="0">
              <a:solidFill>
                <a:srgbClr val="FFFFFF"/>
              </a:solidFill>
              <a:latin typeface="Consolas"/>
              <a:cs typeface="Consola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0" dirty="0" smtClean="0">
                <a:solidFill>
                  <a:srgbClr val="FFFFFF"/>
                </a:solidFill>
                <a:latin typeface="Consolas"/>
                <a:cs typeface="Consolas"/>
              </a:rPr>
              <a:t>return y;</a:t>
            </a:r>
            <a:endParaRPr kumimoji="0" lang="en-US" sz="1200" b="0" i="0" u="none" strike="noStrike" kern="0" cap="none" spc="0" normalizeH="0" baseline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nsolas"/>
              <a:ea typeface="+mn-ea"/>
              <a:cs typeface="Consolas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072546" y="933695"/>
            <a:ext cx="1699854" cy="1699854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0" dirty="0">
                <a:solidFill>
                  <a:srgbClr val="FFFFFF"/>
                </a:solidFill>
                <a:latin typeface="Consolas"/>
                <a:cs typeface="Consolas"/>
              </a:rPr>
              <a:t>i</a:t>
            </a:r>
            <a:r>
              <a:rPr kumimoji="0" 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nsolas"/>
                <a:ea typeface="+mn-ea"/>
                <a:cs typeface="Consolas"/>
              </a:rPr>
              <a:t>nt f (int a) {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0" noProof="0" dirty="0" smtClean="0">
                <a:solidFill>
                  <a:srgbClr val="FFFFFF"/>
                </a:solidFill>
                <a:latin typeface="Consolas"/>
                <a:cs typeface="Consolas"/>
              </a:rPr>
              <a:t>int v = 1;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nsolas"/>
                <a:ea typeface="+mn-ea"/>
                <a:cs typeface="Consolas"/>
              </a:rPr>
              <a:t>while (a &gt; </a:t>
            </a:r>
            <a:r>
              <a:rPr lang="en-US" sz="1200" kern="0" dirty="0">
                <a:solidFill>
                  <a:srgbClr val="FFFFFF"/>
                </a:solidFill>
                <a:latin typeface="Consolas"/>
                <a:cs typeface="Consolas"/>
              </a:rPr>
              <a:t>v</a:t>
            </a:r>
            <a:r>
              <a:rPr kumimoji="0" lang="en-US" sz="1200" b="0" i="0" u="none" strike="noStrike" kern="0" cap="none" spc="0" normalizeH="0" baseline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nsolas"/>
                <a:ea typeface="+mn-ea"/>
                <a:cs typeface="Consolas"/>
              </a:rPr>
              <a:t>++) {}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0" dirty="0">
              <a:solidFill>
                <a:srgbClr val="FFFFFF"/>
              </a:solidFill>
              <a:latin typeface="Consolas"/>
              <a:cs typeface="Consola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0" dirty="0" smtClean="0">
                <a:solidFill>
                  <a:srgbClr val="FFFFFF"/>
                </a:solidFill>
                <a:latin typeface="Consolas"/>
                <a:cs typeface="Consolas"/>
              </a:rPr>
              <a:t>return v;</a:t>
            </a:r>
            <a:endParaRPr kumimoji="0" lang="en-US" sz="1200" b="0" i="0" u="none" strike="noStrike" kern="0" cap="none" spc="0" normalizeH="0" baseline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nsolas"/>
              <a:ea typeface="+mn-ea"/>
              <a:cs typeface="Consola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219200" y="2549100"/>
            <a:ext cx="1873018" cy="984885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ctr">
              <a:buClr>
                <a:schemeClr val="accent1"/>
              </a:buClr>
            </a:pPr>
            <a:r>
              <a:rPr lang="en-US" sz="3200" dirty="0" smtClean="0"/>
              <a:t>Original</a:t>
            </a:r>
          </a:p>
          <a:p>
            <a:pPr algn="ctr">
              <a:buClr>
                <a:schemeClr val="accent1"/>
              </a:buClr>
            </a:pPr>
            <a:r>
              <a:rPr lang="en-US" sz="3200" dirty="0" smtClean="0"/>
              <a:t>Source</a:t>
            </a:r>
            <a:endParaRPr lang="en-US" sz="3200" dirty="0"/>
          </a:p>
        </p:txBody>
      </p:sp>
      <p:sp>
        <p:nvSpPr>
          <p:cNvPr id="14" name="TextBox 13"/>
          <p:cNvSpPr txBox="1"/>
          <p:nvPr/>
        </p:nvSpPr>
        <p:spPr>
          <a:xfrm>
            <a:off x="6065989" y="2592956"/>
            <a:ext cx="1873018" cy="984885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>
              <a:buClr>
                <a:schemeClr val="accent1"/>
              </a:buClr>
            </a:pPr>
            <a:r>
              <a:rPr lang="en-US" sz="3200" dirty="0" smtClean="0"/>
              <a:t>Recovered</a:t>
            </a:r>
          </a:p>
          <a:p>
            <a:pPr algn="ctr">
              <a:buClr>
                <a:schemeClr val="accent1"/>
              </a:buClr>
            </a:pPr>
            <a:r>
              <a:rPr lang="en-US" sz="3200" dirty="0" smtClean="0"/>
              <a:t>Source</a:t>
            </a:r>
            <a:endParaRPr lang="en-US" sz="3200" dirty="0"/>
          </a:p>
        </p:txBody>
      </p:sp>
      <p:sp>
        <p:nvSpPr>
          <p:cNvPr id="19" name="Equal 18"/>
          <p:cNvSpPr/>
          <p:nvPr/>
        </p:nvSpPr>
        <p:spPr>
          <a:xfrm>
            <a:off x="3458411" y="914400"/>
            <a:ext cx="2130562" cy="1699342"/>
          </a:xfrm>
          <a:prstGeom prst="mathEqual">
            <a:avLst/>
          </a:prstGeom>
          <a:ln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0" tIns="0" rIns="0" bIns="0" rtlCol="0" anchor="ctr" anchorCtr="1">
            <a:noAutofit/>
          </a:bodyPr>
          <a:lstStyle/>
          <a:p>
            <a:pPr algn="ctr"/>
            <a:endParaRPr lang="en-US" sz="2400" dirty="0" smtClean="0">
              <a:solidFill>
                <a:schemeClr val="bg1"/>
              </a:solidFill>
            </a:endParaRPr>
          </a:p>
        </p:txBody>
      </p:sp>
      <p:sp>
        <p:nvSpPr>
          <p:cNvPr id="16" name="Oval Callout 15"/>
          <p:cNvSpPr/>
          <p:nvPr/>
        </p:nvSpPr>
        <p:spPr>
          <a:xfrm>
            <a:off x="152400" y="3577841"/>
            <a:ext cx="8839200" cy="2285084"/>
          </a:xfrm>
          <a:prstGeom prst="wedgeEllipseCallout">
            <a:avLst>
              <a:gd name="adj1" fmla="val -961"/>
              <a:gd name="adj2" fmla="val -101993"/>
            </a:avLst>
          </a:prstGeom>
          <a:solidFill>
            <a:schemeClr val="accent1"/>
          </a:solidFill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 anchorCtr="1">
            <a:noAutofit/>
          </a:bodyPr>
          <a:lstStyle/>
          <a:p>
            <a:pPr algn="ctr"/>
            <a:r>
              <a:rPr lang="en-US" sz="4400" dirty="0" smtClean="0">
                <a:solidFill>
                  <a:schemeClr val="bg1"/>
                </a:solidFill>
              </a:rPr>
              <a:t>Are these two programs semantically equivalent?</a:t>
            </a:r>
          </a:p>
        </p:txBody>
      </p:sp>
    </p:spTree>
    <p:extLst>
      <p:ext uri="{BB962C8B-B14F-4D97-AF65-F5344CB8AC3E}">
        <p14:creationId xmlns:p14="http://schemas.microsoft.com/office/powerpoint/2010/main" val="9725800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1143000"/>
          </a:xfrm>
        </p:spPr>
        <p:txBody>
          <a:bodyPr/>
          <a:lstStyle/>
          <a:p>
            <a:r>
              <a:rPr lang="en-US" dirty="0" smtClean="0"/>
              <a:t>Scalable: Testing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 smtClean="0"/>
              <a:t>8/15/13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7839D-A323-47F3-909F-548499399628}" type="slidenum">
              <a:rPr lang="en-US" smtClean="0"/>
              <a:t>38</a:t>
            </a:fld>
            <a:endParaRPr lang="en-US" dirty="0"/>
          </a:p>
        </p:txBody>
      </p:sp>
      <p:sp>
        <p:nvSpPr>
          <p:cNvPr id="8" name="Rounded Rectangle 7"/>
          <p:cNvSpPr/>
          <p:nvPr/>
        </p:nvSpPr>
        <p:spPr>
          <a:xfrm>
            <a:off x="3733800" y="4235186"/>
            <a:ext cx="1676400" cy="1676400"/>
          </a:xfrm>
          <a:prstGeom prst="roundRect">
            <a:avLst/>
          </a:prstGeom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nsolas"/>
                <a:ea typeface="+mn-ea"/>
                <a:cs typeface="Consolas"/>
              </a:rPr>
              <a:t>010100101010101001010110111010101001010101010101111100010100010101101001010100010010101101010101011010111</a:t>
            </a:r>
            <a:endParaRPr kumimoji="0" lang="en-US" sz="1400" b="0" i="0" u="none" strike="noStrike" kern="0" cap="none" spc="0" normalizeH="0" baseline="0" noProof="0" dirty="0" smtClean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nsolas"/>
              <a:ea typeface="+mn-ea"/>
              <a:cs typeface="Consolas"/>
            </a:endParaRPr>
          </a:p>
        </p:txBody>
      </p:sp>
      <p:sp>
        <p:nvSpPr>
          <p:cNvPr id="12" name="Right Arrow 11"/>
          <p:cNvSpPr/>
          <p:nvPr/>
        </p:nvSpPr>
        <p:spPr>
          <a:xfrm rot="2603060">
            <a:off x="2838302" y="2972619"/>
            <a:ext cx="1819656" cy="987552"/>
          </a:xfrm>
          <a:prstGeom prst="rightArrow">
            <a:avLst/>
          </a:prstGeom>
          <a:ln/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lIns="0" tIns="0" rIns="0" bIns="0" rtlCol="0" anchor="ctr" anchorCtr="1">
            <a:noAutofit/>
          </a:bodyPr>
          <a:lstStyle/>
          <a:p>
            <a:pPr algn="ctr"/>
            <a:r>
              <a:rPr lang="en-US" sz="2400" dirty="0" smtClean="0">
                <a:solidFill>
                  <a:schemeClr val="bg1"/>
                </a:solidFill>
              </a:rPr>
              <a:t>Compiler</a:t>
            </a:r>
          </a:p>
        </p:txBody>
      </p:sp>
      <p:sp>
        <p:nvSpPr>
          <p:cNvPr id="13" name="Right Arrow 12"/>
          <p:cNvSpPr/>
          <p:nvPr/>
        </p:nvSpPr>
        <p:spPr>
          <a:xfrm rot="18940167">
            <a:off x="4459001" y="2748935"/>
            <a:ext cx="1818950" cy="987693"/>
          </a:xfrm>
          <a:prstGeom prst="rightArrow">
            <a:avLst/>
          </a:prstGeom>
          <a:ln/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lIns="0" tIns="0" rIns="0" bIns="0" rtlCol="0" anchor="ctr" anchorCtr="1">
            <a:noAutofit/>
          </a:bodyPr>
          <a:lstStyle/>
          <a:p>
            <a:pPr algn="ctr"/>
            <a:r>
              <a:rPr lang="en-US" sz="2400" dirty="0" smtClean="0">
                <a:solidFill>
                  <a:schemeClr val="bg1"/>
                </a:solidFill>
              </a:rPr>
              <a:t>Decompiler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39826" y="5862925"/>
            <a:ext cx="3864348" cy="984885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ctr">
              <a:buClr>
                <a:schemeClr val="accent1"/>
              </a:buClr>
            </a:pPr>
            <a:r>
              <a:rPr lang="en-US" sz="3200" dirty="0" smtClean="0"/>
              <a:t>Compiled</a:t>
            </a:r>
          </a:p>
          <a:p>
            <a:pPr algn="ctr">
              <a:buClr>
                <a:schemeClr val="accent1"/>
              </a:buClr>
            </a:pPr>
            <a:r>
              <a:rPr lang="en-US" sz="3200" dirty="0" smtClean="0"/>
              <a:t>Binary</a:t>
            </a:r>
            <a:endParaRPr lang="en-US" sz="3200" dirty="0"/>
          </a:p>
        </p:txBody>
      </p:sp>
      <p:sp>
        <p:nvSpPr>
          <p:cNvPr id="17" name="Rectangle 16"/>
          <p:cNvSpPr/>
          <p:nvPr/>
        </p:nvSpPr>
        <p:spPr>
          <a:xfrm>
            <a:off x="1117232" y="2590800"/>
            <a:ext cx="6959968" cy="4243100"/>
          </a:xfrm>
          <a:prstGeom prst="rect">
            <a:avLst/>
          </a:prstGeom>
          <a:solidFill>
            <a:schemeClr val="bg1">
              <a:alpha val="90000"/>
            </a:schemeClr>
          </a:solidFill>
          <a:ln w="28575" cap="rnd" cmpd="sng">
            <a:noFill/>
            <a:prstDash val="solid"/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 anchorCtr="1">
            <a:noAutofit/>
          </a:bodyPr>
          <a:lstStyle/>
          <a:p>
            <a:pPr algn="ctr"/>
            <a:endParaRPr lang="en-US" sz="2400" dirty="0" smtClean="0">
              <a:solidFill>
                <a:schemeClr val="bg1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295400" y="928457"/>
            <a:ext cx="1676400" cy="1676400"/>
          </a:xfrm>
          <a:prstGeom prst="round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0" dirty="0">
                <a:solidFill>
                  <a:srgbClr val="FFFFFF"/>
                </a:solidFill>
                <a:latin typeface="Consolas"/>
                <a:cs typeface="Consolas"/>
              </a:rPr>
              <a:t>i</a:t>
            </a:r>
            <a:r>
              <a:rPr kumimoji="0" 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nsolas"/>
                <a:ea typeface="+mn-ea"/>
                <a:cs typeface="Consolas"/>
              </a:rPr>
              <a:t>nt f (int x) {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0" noProof="0" dirty="0" smtClean="0">
                <a:solidFill>
                  <a:srgbClr val="FFFFFF"/>
                </a:solidFill>
                <a:latin typeface="Consolas"/>
                <a:cs typeface="Consolas"/>
              </a:rPr>
              <a:t>int y = 1;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nsolas"/>
                <a:ea typeface="+mn-ea"/>
                <a:cs typeface="Consolas"/>
              </a:rPr>
              <a:t>while (x &gt; y) {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0" dirty="0" smtClean="0">
                <a:solidFill>
                  <a:srgbClr val="FFFFFF"/>
                </a:solidFill>
                <a:latin typeface="Consolas"/>
                <a:cs typeface="Consolas"/>
              </a:rPr>
              <a:t>  y++;</a:t>
            </a:r>
            <a:endParaRPr lang="en-US" sz="1200" kern="0" dirty="0">
              <a:solidFill>
                <a:srgbClr val="FFFFFF"/>
              </a:solidFill>
              <a:latin typeface="Consolas"/>
              <a:cs typeface="Consola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nsolas"/>
                <a:ea typeface="+mn-ea"/>
                <a:cs typeface="Consolas"/>
              </a:rPr>
              <a:t>}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0" dirty="0">
              <a:solidFill>
                <a:srgbClr val="FFFFFF"/>
              </a:solidFill>
              <a:latin typeface="Consolas"/>
              <a:cs typeface="Consola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0" dirty="0" smtClean="0">
                <a:solidFill>
                  <a:srgbClr val="FFFFFF"/>
                </a:solidFill>
                <a:latin typeface="Consolas"/>
                <a:cs typeface="Consolas"/>
              </a:rPr>
              <a:t>return y;</a:t>
            </a:r>
            <a:endParaRPr kumimoji="0" lang="en-US" sz="1200" b="0" i="0" u="none" strike="noStrike" kern="0" cap="none" spc="0" normalizeH="0" baseline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nsolas"/>
              <a:ea typeface="+mn-ea"/>
              <a:cs typeface="Consolas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072546" y="933695"/>
            <a:ext cx="1699854" cy="1699854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0" dirty="0">
                <a:solidFill>
                  <a:srgbClr val="FFFFFF"/>
                </a:solidFill>
                <a:latin typeface="Consolas"/>
                <a:cs typeface="Consolas"/>
              </a:rPr>
              <a:t>i</a:t>
            </a:r>
            <a:r>
              <a:rPr kumimoji="0" 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nsolas"/>
                <a:ea typeface="+mn-ea"/>
                <a:cs typeface="Consolas"/>
              </a:rPr>
              <a:t>nt f (int a) {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0" noProof="0" dirty="0" smtClean="0">
                <a:solidFill>
                  <a:srgbClr val="FFFFFF"/>
                </a:solidFill>
                <a:latin typeface="Consolas"/>
                <a:cs typeface="Consolas"/>
              </a:rPr>
              <a:t>int v = 1;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nsolas"/>
                <a:ea typeface="+mn-ea"/>
                <a:cs typeface="Consolas"/>
              </a:rPr>
              <a:t>while (a &gt; </a:t>
            </a:r>
            <a:r>
              <a:rPr lang="en-US" sz="1200" kern="0" dirty="0">
                <a:solidFill>
                  <a:srgbClr val="FFFFFF"/>
                </a:solidFill>
                <a:latin typeface="Consolas"/>
                <a:cs typeface="Consolas"/>
              </a:rPr>
              <a:t>v</a:t>
            </a:r>
            <a:r>
              <a:rPr kumimoji="0" lang="en-US" sz="1200" b="0" i="0" u="none" strike="noStrike" kern="0" cap="none" spc="0" normalizeH="0" baseline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nsolas"/>
                <a:ea typeface="+mn-ea"/>
                <a:cs typeface="Consolas"/>
              </a:rPr>
              <a:t>++) {}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0" dirty="0">
              <a:solidFill>
                <a:srgbClr val="FFFFFF"/>
              </a:solidFill>
              <a:latin typeface="Consolas"/>
              <a:cs typeface="Consola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0" dirty="0" smtClean="0">
                <a:solidFill>
                  <a:srgbClr val="FFFFFF"/>
                </a:solidFill>
                <a:latin typeface="Consolas"/>
                <a:cs typeface="Consolas"/>
              </a:rPr>
              <a:t>return v;</a:t>
            </a:r>
            <a:endParaRPr kumimoji="0" lang="en-US" sz="1200" b="0" i="0" u="none" strike="noStrike" kern="0" cap="none" spc="0" normalizeH="0" baseline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nsolas"/>
              <a:ea typeface="+mn-ea"/>
              <a:cs typeface="Consola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219200" y="2549100"/>
            <a:ext cx="1873018" cy="984885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ctr">
              <a:buClr>
                <a:schemeClr val="accent1"/>
              </a:buClr>
            </a:pPr>
            <a:r>
              <a:rPr lang="en-US" sz="3200" dirty="0" smtClean="0"/>
              <a:t>Original</a:t>
            </a:r>
          </a:p>
          <a:p>
            <a:pPr algn="ctr">
              <a:buClr>
                <a:schemeClr val="accent1"/>
              </a:buClr>
            </a:pPr>
            <a:r>
              <a:rPr lang="en-US" sz="3200" dirty="0" smtClean="0"/>
              <a:t>Source</a:t>
            </a:r>
            <a:endParaRPr lang="en-US" sz="3200" dirty="0"/>
          </a:p>
        </p:txBody>
      </p:sp>
      <p:sp>
        <p:nvSpPr>
          <p:cNvPr id="14" name="TextBox 13"/>
          <p:cNvSpPr txBox="1"/>
          <p:nvPr/>
        </p:nvSpPr>
        <p:spPr>
          <a:xfrm>
            <a:off x="6065989" y="2592956"/>
            <a:ext cx="1873018" cy="984885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>
              <a:buClr>
                <a:schemeClr val="accent1"/>
              </a:buClr>
            </a:pPr>
            <a:r>
              <a:rPr lang="en-US" sz="3200" dirty="0" smtClean="0"/>
              <a:t>Recovered</a:t>
            </a:r>
          </a:p>
          <a:p>
            <a:pPr algn="ctr">
              <a:buClr>
                <a:schemeClr val="accent1"/>
              </a:buClr>
            </a:pPr>
            <a:r>
              <a:rPr lang="en-US" sz="3200" dirty="0" smtClean="0"/>
              <a:t>Source</a:t>
            </a:r>
            <a:endParaRPr lang="en-US" sz="3200" dirty="0"/>
          </a:p>
        </p:txBody>
      </p:sp>
      <p:grpSp>
        <p:nvGrpSpPr>
          <p:cNvPr id="19" name="Group 18"/>
          <p:cNvGrpSpPr/>
          <p:nvPr/>
        </p:nvGrpSpPr>
        <p:grpSpPr>
          <a:xfrm>
            <a:off x="3036289" y="1146607"/>
            <a:ext cx="1348146" cy="1353846"/>
            <a:chOff x="2145327" y="3736975"/>
            <a:chExt cx="1348146" cy="1353846"/>
          </a:xfrm>
        </p:grpSpPr>
        <p:pic>
          <p:nvPicPr>
            <p:cNvPr id="20" name="Picture 2" descr="https://upload.wikimedia.org/wikipedia/commons/thumb/b/b0/Light_green_check.svg/600px-Light_green_check.svg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49488" y="3736975"/>
              <a:ext cx="1139825" cy="11398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1" name="TextBox 20"/>
            <p:cNvSpPr txBox="1"/>
            <p:nvPr/>
          </p:nvSpPr>
          <p:spPr>
            <a:xfrm>
              <a:off x="2145327" y="4783044"/>
              <a:ext cx="1348146" cy="307777"/>
            </a:xfrm>
            <a:prstGeom prst="rect">
              <a:avLst/>
            </a:prstGeom>
            <a:noFill/>
          </p:spPr>
          <p:txBody>
            <a:bodyPr wrap="square" lIns="0" tIns="0" rIns="0" bIns="0" rtlCol="0" anchor="t" anchorCtr="0">
              <a:spAutoFit/>
            </a:bodyPr>
            <a:lstStyle/>
            <a:p>
              <a:pPr>
                <a:buClr>
                  <a:schemeClr val="accent1"/>
                </a:buClr>
              </a:pPr>
              <a:r>
                <a:rPr lang="en-US" sz="2000" dirty="0" smtClean="0"/>
                <a:t>Passes tests</a:t>
              </a:r>
              <a:endParaRPr lang="en-US" sz="2000" dirty="0"/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7835195" y="1191781"/>
            <a:ext cx="1348146" cy="1353846"/>
            <a:chOff x="2145327" y="3736975"/>
            <a:chExt cx="1348146" cy="1353846"/>
          </a:xfrm>
        </p:grpSpPr>
        <p:pic>
          <p:nvPicPr>
            <p:cNvPr id="23" name="Picture 2" descr="https://upload.wikimedia.org/wikipedia/commons/thumb/b/b0/Light_green_check.svg/600px-Light_green_check.svg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49488" y="3736975"/>
              <a:ext cx="1139825" cy="11398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4" name="TextBox 23"/>
            <p:cNvSpPr txBox="1"/>
            <p:nvPr/>
          </p:nvSpPr>
          <p:spPr>
            <a:xfrm>
              <a:off x="2145327" y="4783044"/>
              <a:ext cx="1348146" cy="307777"/>
            </a:xfrm>
            <a:prstGeom prst="rect">
              <a:avLst/>
            </a:prstGeom>
            <a:noFill/>
          </p:spPr>
          <p:txBody>
            <a:bodyPr wrap="square" lIns="0" tIns="0" rIns="0" bIns="0" rtlCol="0" anchor="t" anchorCtr="0">
              <a:spAutoFit/>
            </a:bodyPr>
            <a:lstStyle/>
            <a:p>
              <a:pPr>
                <a:buClr>
                  <a:schemeClr val="accent1"/>
                </a:buClr>
              </a:pPr>
              <a:r>
                <a:rPr lang="en-US" sz="2000" dirty="0" smtClean="0"/>
                <a:t>Passes tests</a:t>
              </a:r>
              <a:endParaRPr lang="en-US" sz="2000" dirty="0"/>
            </a:p>
          </p:txBody>
        </p:sp>
      </p:grpSp>
      <p:sp>
        <p:nvSpPr>
          <p:cNvPr id="26" name="Oval Callout 25"/>
          <p:cNvSpPr/>
          <p:nvPr/>
        </p:nvSpPr>
        <p:spPr>
          <a:xfrm>
            <a:off x="152400" y="3577841"/>
            <a:ext cx="8839200" cy="2285084"/>
          </a:xfrm>
          <a:prstGeom prst="wedgeEllipseCallout">
            <a:avLst>
              <a:gd name="adj1" fmla="val -961"/>
              <a:gd name="adj2" fmla="val -101993"/>
            </a:avLst>
          </a:prstGeom>
          <a:solidFill>
            <a:schemeClr val="accent1"/>
          </a:solidFill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 anchorCtr="1">
            <a:noAutofit/>
          </a:bodyPr>
          <a:lstStyle/>
          <a:p>
            <a:pPr algn="ctr"/>
            <a:r>
              <a:rPr lang="en-US" sz="4400" dirty="0" smtClean="0">
                <a:solidFill>
                  <a:schemeClr val="bg1"/>
                </a:solidFill>
              </a:rPr>
              <a:t>Is the decompiled program consistent with test requirements?</a:t>
            </a:r>
          </a:p>
        </p:txBody>
      </p:sp>
    </p:spTree>
    <p:extLst>
      <p:ext uri="{BB962C8B-B14F-4D97-AF65-F5344CB8AC3E}">
        <p14:creationId xmlns:p14="http://schemas.microsoft.com/office/powerpoint/2010/main" val="206896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Number of Correct Utilities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 smtClean="0"/>
              <a:t>8/15/13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Usenix Security 2013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7839D-A323-47F3-909F-548499399628}" type="slidenum">
              <a:rPr lang="en-US" smtClean="0"/>
              <a:t>39</a:t>
            </a:fld>
            <a:endParaRPr lang="en-US" dirty="0"/>
          </a:p>
        </p:txBody>
      </p:sp>
      <p:graphicFrame>
        <p:nvGraphicFramePr>
          <p:cNvPr id="7" name="Chart 6"/>
          <p:cNvGraphicFramePr/>
          <p:nvPr>
            <p:extLst>
              <p:ext uri="{D42A27DB-BD31-4B8C-83A1-F6EECF244321}">
                <p14:modId xmlns:p14="http://schemas.microsoft.com/office/powerpoint/2010/main" val="2792491491"/>
              </p:ext>
            </p:extLst>
          </p:nvPr>
        </p:nvGraphicFramePr>
        <p:xfrm>
          <a:off x="152400" y="1066799"/>
          <a:ext cx="8839200" cy="54260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Rectangle 7"/>
          <p:cNvSpPr/>
          <p:nvPr/>
        </p:nvSpPr>
        <p:spPr>
          <a:xfrm>
            <a:off x="6019800" y="1828800"/>
            <a:ext cx="3124200" cy="4674642"/>
          </a:xfrm>
          <a:prstGeom prst="rect">
            <a:avLst/>
          </a:prstGeom>
          <a:solidFill>
            <a:schemeClr val="bg1"/>
          </a:solidFill>
          <a:ln w="28575" cap="rnd" cmpd="sng">
            <a:noFill/>
            <a:prstDash val="solid"/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 anchorCtr="1">
            <a:noAutofit/>
          </a:bodyPr>
          <a:lstStyle/>
          <a:p>
            <a:pPr algn="ctr"/>
            <a:endParaRPr lang="en-US" sz="2400" dirty="0" smtClean="0">
              <a:solidFill>
                <a:schemeClr val="bg1"/>
              </a:solidFill>
            </a:endParaRPr>
          </a:p>
        </p:txBody>
      </p:sp>
      <p:grpSp>
        <p:nvGrpSpPr>
          <p:cNvPr id="18" name="Group 17"/>
          <p:cNvGrpSpPr/>
          <p:nvPr/>
        </p:nvGrpSpPr>
        <p:grpSpPr>
          <a:xfrm>
            <a:off x="838200" y="1117768"/>
            <a:ext cx="7848600" cy="863432"/>
            <a:chOff x="838200" y="1117768"/>
            <a:chExt cx="7848600" cy="863432"/>
          </a:xfrm>
        </p:grpSpPr>
        <p:grpSp>
          <p:nvGrpSpPr>
            <p:cNvPr id="13" name="Group 12"/>
            <p:cNvGrpSpPr/>
            <p:nvPr/>
          </p:nvGrpSpPr>
          <p:grpSpPr>
            <a:xfrm>
              <a:off x="838200" y="1600200"/>
              <a:ext cx="7848600" cy="381000"/>
              <a:chOff x="838200" y="1600200"/>
              <a:chExt cx="7848600" cy="381000"/>
            </a:xfrm>
          </p:grpSpPr>
          <p:cxnSp>
            <p:nvCxnSpPr>
              <p:cNvPr id="10" name="Straight Connector 9"/>
              <p:cNvCxnSpPr/>
              <p:nvPr/>
            </p:nvCxnSpPr>
            <p:spPr>
              <a:xfrm>
                <a:off x="838200" y="1600200"/>
                <a:ext cx="7848600" cy="0"/>
              </a:xfrm>
              <a:prstGeom prst="line">
                <a:avLst/>
              </a:prstGeom>
              <a:ln w="63500" cap="rnd">
                <a:solidFill>
                  <a:schemeClr val="tx1"/>
                </a:solidFill>
                <a:headEnd type="none"/>
                <a:tailEnd type="none"/>
              </a:ln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sp>
            <p:nvSpPr>
              <p:cNvPr id="12" name="TextBox 11"/>
              <p:cNvSpPr txBox="1"/>
              <p:nvPr/>
            </p:nvSpPr>
            <p:spPr>
              <a:xfrm>
                <a:off x="3505200" y="1673423"/>
                <a:ext cx="2667000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 anchorCtr="0">
                <a:spAutoFit/>
              </a:bodyPr>
              <a:lstStyle/>
              <a:p>
                <a:pPr algn="ctr">
                  <a:buClr>
                    <a:schemeClr val="accent1"/>
                  </a:buClr>
                </a:pPr>
                <a:r>
                  <a:rPr lang="en-US" sz="2000" dirty="0" smtClean="0"/>
                  <a:t>All Utilities</a:t>
                </a:r>
                <a:endParaRPr lang="en-US" sz="2000" dirty="0"/>
              </a:p>
            </p:txBody>
          </p:sp>
        </p:grpSp>
        <p:sp>
          <p:nvSpPr>
            <p:cNvPr id="17" name="TextBox 16"/>
            <p:cNvSpPr txBox="1"/>
            <p:nvPr/>
          </p:nvSpPr>
          <p:spPr>
            <a:xfrm>
              <a:off x="3810000" y="1117768"/>
              <a:ext cx="2057400" cy="430887"/>
            </a:xfrm>
            <a:prstGeom prst="rect">
              <a:avLst/>
            </a:prstGeom>
            <a:noFill/>
          </p:spPr>
          <p:txBody>
            <a:bodyPr wrap="square" lIns="0" tIns="0" rIns="0" bIns="0" rtlCol="0" anchor="t" anchorCtr="0">
              <a:spAutoFit/>
            </a:bodyPr>
            <a:lstStyle/>
            <a:p>
              <a:pPr algn="ctr">
                <a:buClr>
                  <a:schemeClr val="accent1"/>
                </a:buClr>
              </a:pPr>
              <a:r>
                <a:rPr lang="en-US" sz="2800" dirty="0" smtClean="0"/>
                <a:t>107</a:t>
              </a:r>
              <a:endParaRPr lang="en-US" sz="2800" dirty="0"/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3616120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598"/>
    </mc:Choice>
    <mc:Fallback xmlns="">
      <p:transition spd="slow" advTm="50598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Correctness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500" dirty="0" smtClean="0"/>
              <a:t>All known correctness errors attributed to type recovery</a:t>
            </a:r>
          </a:p>
          <a:p>
            <a:pPr lvl="1"/>
            <a:r>
              <a:rPr lang="en-US" sz="2600" dirty="0" smtClean="0"/>
              <a:t>No known problems in control flow structuring</a:t>
            </a:r>
          </a:p>
          <a:p>
            <a:pPr marL="342900" lvl="1" indent="0">
              <a:buNone/>
            </a:pPr>
            <a:endParaRPr lang="en-US" dirty="0"/>
          </a:p>
          <a:p>
            <a:r>
              <a:rPr lang="en-US" sz="3500" dirty="0" smtClean="0"/>
              <a:t>Rare issues in TIE revealed by Phoenix stress testing</a:t>
            </a:r>
          </a:p>
          <a:p>
            <a:pPr lvl="1"/>
            <a:r>
              <a:rPr lang="en-US" sz="2600" dirty="0" smtClean="0"/>
              <a:t>Even one type error can cause incorrectness</a:t>
            </a:r>
          </a:p>
          <a:p>
            <a:pPr lvl="1"/>
            <a:r>
              <a:rPr lang="en-US" sz="2600" dirty="0" smtClean="0"/>
              <a:t>Undiscovered variables</a:t>
            </a:r>
          </a:p>
          <a:p>
            <a:pPr lvl="1"/>
            <a:r>
              <a:rPr lang="en-US" sz="2600" dirty="0"/>
              <a:t>Overly general type information</a:t>
            </a:r>
          </a:p>
          <a:p>
            <a:pPr lvl="1"/>
            <a:endParaRPr lang="en-US" sz="2600" dirty="0">
              <a:sym typeface="Wingdings"/>
            </a:endParaRP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 smtClean="0"/>
              <a:t>8/15/13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Usenix Security 2013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7839D-A323-47F3-909F-548499399628}" type="slidenum">
              <a:rPr lang="en-US" smtClean="0"/>
              <a:t>40</a:t>
            </a:fld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1301310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8773"/>
    </mc:Choice>
    <mc:Fallback xmlns="">
      <p:transition xmlns:p14="http://schemas.microsoft.com/office/powerpoint/2010/main" spd="slow" advTm="38773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Conclusion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 smtClean="0"/>
              <a:t>Phoenix decompiler</a:t>
            </a:r>
          </a:p>
          <a:p>
            <a:pPr lvl="1"/>
            <a:r>
              <a:rPr lang="en-US" dirty="0" smtClean="0"/>
              <a:t>Ultimate goal: Correct, abstract decompilation</a:t>
            </a:r>
          </a:p>
          <a:p>
            <a:pPr lvl="1"/>
            <a:r>
              <a:rPr lang="en-US" dirty="0"/>
              <a:t>C</a:t>
            </a:r>
            <a:r>
              <a:rPr lang="en-US" dirty="0" smtClean="0"/>
              <a:t>ontrol-flow structuring algorithm</a:t>
            </a:r>
          </a:p>
          <a:p>
            <a:pPr lvl="2"/>
            <a:r>
              <a:rPr lang="en-US" dirty="0" smtClean="0"/>
              <a:t>Iterative refinement</a:t>
            </a:r>
          </a:p>
          <a:p>
            <a:pPr lvl="2"/>
            <a:r>
              <a:rPr lang="en-US" dirty="0" smtClean="0"/>
              <a:t>Semantics preserving schemas</a:t>
            </a:r>
            <a:endParaRPr lang="en-US" dirty="0"/>
          </a:p>
          <a:p>
            <a:endParaRPr lang="en-US" dirty="0" smtClean="0"/>
          </a:p>
          <a:p>
            <a:r>
              <a:rPr lang="en-US" dirty="0" smtClean="0"/>
              <a:t>End-to-end correctness and abstraction recovery experiments on </a:t>
            </a:r>
            <a:r>
              <a:rPr lang="en-US" u="sng" dirty="0" smtClean="0"/>
              <a:t>&gt;100</a:t>
            </a:r>
            <a:r>
              <a:rPr lang="en-US" dirty="0" smtClean="0"/>
              <a:t> programs</a:t>
            </a:r>
          </a:p>
          <a:p>
            <a:pPr lvl="1"/>
            <a:r>
              <a:rPr lang="en-US" dirty="0" smtClean="0"/>
              <a:t>Phoenix</a:t>
            </a:r>
          </a:p>
          <a:p>
            <a:pPr lvl="2"/>
            <a:r>
              <a:rPr lang="en-US" dirty="0" smtClean="0">
                <a:sym typeface="Wingdings" panose="05000000000000000000" pitchFamily="2" charset="2"/>
              </a:rPr>
              <a:t>Control flow structuring: </a:t>
            </a:r>
          </a:p>
          <a:p>
            <a:pPr lvl="2"/>
            <a:r>
              <a:rPr lang="en-US" dirty="0" smtClean="0">
                <a:sym typeface="Wingdings" panose="05000000000000000000" pitchFamily="2" charset="2"/>
              </a:rPr>
              <a:t>Correctness: 50% </a:t>
            </a:r>
            <a:endParaRPr lang="en-US" dirty="0" smtClean="0"/>
          </a:p>
          <a:p>
            <a:endParaRPr lang="en-US" dirty="0"/>
          </a:p>
          <a:p>
            <a:r>
              <a:rPr lang="en-US" dirty="0"/>
              <a:t>Correct, abstract decompilation of real programs is within </a:t>
            </a:r>
            <a:r>
              <a:rPr lang="en-US" dirty="0" smtClean="0"/>
              <a:t>reach</a:t>
            </a:r>
          </a:p>
          <a:p>
            <a:pPr lvl="1"/>
            <a:r>
              <a:rPr lang="en-US" dirty="0" smtClean="0"/>
              <a:t>This paper: improving control flow structuring</a:t>
            </a:r>
            <a:endParaRPr lang="en-US" dirty="0"/>
          </a:p>
          <a:p>
            <a:pPr lvl="1"/>
            <a:r>
              <a:rPr lang="en-US" dirty="0"/>
              <a:t>Next direction: </a:t>
            </a:r>
            <a:r>
              <a:rPr lang="en-US" dirty="0" smtClean="0"/>
              <a:t>improved static </a:t>
            </a:r>
            <a:r>
              <a:rPr lang="en-US" dirty="0"/>
              <a:t>type recovery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dirty="0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 smtClean="0"/>
              <a:t>8/15/13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Usenix Security 2013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7839D-A323-47F3-909F-548499399628}" type="slidenum">
              <a:rPr lang="en-US" smtClean="0"/>
              <a:t>41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98711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6840"/>
    </mc:Choice>
    <mc:Fallback xmlns="">
      <p:transition xmlns:p14="http://schemas.microsoft.com/office/powerpoint/2010/main" spd="slow" advTm="3684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Thanks! </a:t>
            </a:r>
            <a:r>
              <a:rPr lang="en-US" dirty="0" smtClean="0">
                <a:sym typeface="Wingdings" panose="05000000000000000000" pitchFamily="2" charset="2"/>
              </a:rPr>
              <a:t>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Questions?</a:t>
            </a:r>
          </a:p>
          <a:p>
            <a:endParaRPr lang="en-US" dirty="0"/>
          </a:p>
          <a:p>
            <a:pPr marL="342900" lvl="1" indent="0">
              <a:buNone/>
            </a:pPr>
            <a:endParaRPr lang="en-US" dirty="0" smtClean="0"/>
          </a:p>
          <a:p>
            <a:pPr marL="342900" lvl="1" indent="0">
              <a:buNone/>
            </a:pPr>
            <a:r>
              <a:rPr lang="en-US" dirty="0" smtClean="0"/>
              <a:t>Edward J. Schwartz</a:t>
            </a:r>
          </a:p>
          <a:p>
            <a:pPr marL="342900" lvl="1" indent="0">
              <a:buNone/>
            </a:pPr>
            <a:r>
              <a:rPr lang="en-US" dirty="0" smtClean="0">
                <a:cs typeface="Consolas" panose="020B0609020204030204" pitchFamily="49" charset="0"/>
                <a:hlinkClick r:id="rId3"/>
              </a:rPr>
              <a:t>edmcman@cmu.edu</a:t>
            </a:r>
            <a:endParaRPr lang="en-US" dirty="0" smtClean="0">
              <a:cs typeface="Consolas" panose="020B0609020204030204" pitchFamily="49" charset="0"/>
            </a:endParaRPr>
          </a:p>
          <a:p>
            <a:pPr marL="342900" lvl="1" indent="0">
              <a:buNone/>
            </a:pPr>
            <a:r>
              <a:rPr lang="en-US" dirty="0" smtClean="0"/>
              <a:t>http://www.ece.cmu.edu/~ejschwar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 smtClean="0"/>
              <a:t>8/15/13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 smtClean="0"/>
              <a:t>Usenix Security 2013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7839D-A323-47F3-909F-548499399628}" type="slidenum">
              <a:rPr lang="en-US" smtClean="0"/>
              <a:t>42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84964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END</a:t>
            </a:r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70325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337"/>
    </mc:Choice>
    <mc:Fallback xmlns="">
      <p:transition xmlns:p14="http://schemas.microsoft.com/office/powerpoint/2010/main" spd="slow" advTm="1337"/>
    </mc:Fallback>
  </mc:AlternateContent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QaEgROsvYJr9WlM1wRei0f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Eo2HWuJV9V0smEon833pS8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Gqvo4Ium2FZAvgeaSXL2Av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8tY7C9JbeBmvHCbxp1qMTk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tM879Xa5DQyah1pW5lDQqn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dZyBZkxJBNCN0cZvZL09Xw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Xxl98tW482U5y9yxXQxUeK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yt1cXzmRPhqG21gPc4NxFz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TUDQWsNaB3icYR7VvmIgcD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ER6xg7Dt6H5Yz7z7DT3FGn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oP2pIhzqOomffMJobGx7WB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7Zh0mnJPcxXhtguRpmTGSG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BkSMneHn7yrNI37IUbHZbP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iYisUkgadgIqnX8zZu7Ppp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PFyrKHrIYTvM1UtVkn7Xkb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5iF9AlbcRmpT8DUszyJvhO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VBWe54aJHs4EAfMB75wL18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m8LQ0RNyeOUgm4dmg727FX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Ot2EGYrDYvMNeOse3jW8eg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KjTHnLPpJTtpjhOmaO7APo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uzPoT13JbwJyJILYBGNzMS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jPuaqH871DqlPjSYRNl0IW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FLy5AbdqNgCBf0UJBmA3u6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8nSs6CO0dMam9JBk6XUBQ9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Je3R47cZpEszDac84BBM3Q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rTRa7ggC9TgYEEpfxHOdmv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Uz6r8XTiZ36SNaZT0VJNvz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jFvyJO4UYPuVYh4G8iJQUc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FaDbSJvOQYWtWxGbyfln2P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XdmHq0BQ1hpzXQZzFl9NZa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DT3wRDPQI7iQcqObivc0XF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4mzPbYz0efPNzsEU8Y1bzh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h7EzKt2EAZdYPGW2rQgHT3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1oQmxoneZL6N5saCe5YAEQ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ABDXY5xaURne6gJoWDgm0r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S2BtRPCaIjobNfIzphGOR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pRmUTP9kjiP9IBlueIyK93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PVstFmeZFbADCK7WVM1n06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lEw7eV3Yf65l1rspaM6kC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z4ZAniMMJL3JzNWx8jWGWt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ygJGtwBehFtG5s8EyLctmk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hhREtCENoVH5wIQHOgavto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fTIuptKbut6eYrOP3ZAuhy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YZVqNQWWiRQT1YWYca2dre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YhJpSYcbVZ7HUIyZGTeyaf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o5pQS4Mpr36K1EGnYXJ7WQ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Mk4dpdt8ZS4JTEZ268ovx3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A9HUjiVgO3ixj5MFEzWj4d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GhL2oWRBIriIJUwvUadJ40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rllUgrtPzeZmtp9hUZodlQ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eAmR89EL5l9FQpGuGq7SR3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Jmq6mDfekQFA6KxoijaO8D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dNzJAqiX5sYaQ0q1N1vR0j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0giWWh8NI3U59CxC3PVnKd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BWTxXgw8ihDTNirDu1PiJV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fLQOtaYFWDyNEm2okRhzLD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rfPebplUxstGG8G9MlaCk0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l0E4A5GY0a9CjBYfZzk255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jYGUHa4Vo8jrTPA6Ofdzri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w3O5axlBhiUfGFoGnvT5L1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jSH9ETK5OwD1sC6C0wzNQ0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wE9VI8RHFmxuKWn0TsQcto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BFdLAKvmvXail30JaCd7Qh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tXR9fZD7XEx72tHWx6cjRz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ksAj0ahdYmykbgTqvvJoZw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r2k5NtzQS25Pi2b5Y2O5u9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V4VFXn1zP560vpo1siOpqD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XCp3oi9IRqUi7g98vcPicZ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JhwMHWzwh4Ii6jgUYIq7dG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6dh7RkMBA7rXT7wBBc8k8Q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zP9QRBd6S5M3bjuz4fKGtA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Q9q8nm6dYTxfDsY1sbotfm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bPWd627TAsmYY0pJdQ0E6S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vVG2A3Nyi0luXAbaf465i4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SEuXBIXxtAfij0w4r461am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Dt3Px3AVx1Aq21yDr4BKwK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fEgbDbC2ZgUw10UMbTWx3d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ITXvwOC1qpPSeoymqpiv2j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ww0xIFSHOZH1Wnd8FOqXPu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H8MwdPtwfxbomrvY5W9JBQ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bcrb9hKu55u1ORLcr3dhJa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Qy0LDGItN6TRXA42GcMLr5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TlDDdTv5vj61lSanE3LChn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8XTb7on1uYIKEF7ZtOXIAz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KWecSixJZPOwdFJ1M6HuO7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iBdufFzWEzNycXXVw5uLZS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W8ssfr2R06KCDCYn2S92bf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IEtM4QAC038qF52Np8UNyG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NAjkX92CCWHGpNZtnbgn6H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ucXSkes18nG2RSsKTrzoqb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JYFfOWKIwbA557m4OO9BOk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0nW60DiPOIhitZd5pwgpQv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rLMlnPCLeOnpXhjIV7qHmS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ONDnRIoCkotvWajFftc2ts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U41VMHB9Z98yXZIZXUmCuZ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Vsl8pfRXujplTylVVG1boj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nncjXfviGRYV9zADhlh1FO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9C69E2YFAiAB5XW5iBsbDx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nYpMlipFUnEyeAdNBsk0gG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kxuCHc3FzuaBe8KSGGgVnd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XwJmRu0ZQDhHDRhJAcBfNa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oCl52JMEJli7AYSlkzEADw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kxuTAX54j8qM870LrgcbUV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owgjRfR2AdwRiNB99PzE1a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HNQKky7onrCo9XCg5Qcgxc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ggPcai7nCfUdPtt6UiVcQ4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2FRPpKhytsP0wUL92Z7sB5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40.1|4.2|4.9|4.4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0.6|30.5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2|5.2|12.7|1.2|7.8|7.5|2.6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dSFznfBYpzoiD8v3pEk1xN"/>
  <p:tag name="TIMING" val="|13.1|8.8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Wvhe5b9J6jlFngFhzIUr3R"/>
  <p:tag name="TIMING" val="|21.7|18.8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CcIA4j9soHpAHwtgnciOFW"/>
  <p:tag name="TIMING" val="|27.8|11.6|7.4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EaNwCUZKCIE9VUaKz6HriP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3.5|17.5|12.6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VfPpm1ZrOnFh5NNqdHAN1k"/>
  <p:tag name="TIMING" val="|3.9|8.5|6.7|8.3|2.6|4.6|2.1|3.5|2.3|3.8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Aiyy9RZkC9geaqkjfc7p7B"/>
  <p:tag name="TIMING" val="|13.8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Aiyy9RZkC9geaqkjfc7p7B"/>
  <p:tag name="TIMING" val="|13.8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2|5.2|12.7|1.2|7.8|7.5|2.6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2|5.2|12.7|1.2|7.8|7.5|2.6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Aiyy9RZkC9geaqkjfc7p7B"/>
  <p:tag name="TIMING" val="|13.8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Aiyy9RZkC9geaqkjfc7p7B"/>
  <p:tag name="TIMING" val="|13.8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brUv2LCMxfYxJdpdmppU0r"/>
  <p:tag name="TIMING" val="|8.4|7.2|1.5|3.5|3.5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vgmXJrcvKv1RAy7EYgaSCt"/>
  <p:tag name="TIMING" val="|18.1|4.3|1.3|4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WA3XhHThTasCgPu7e4H9MH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dLNxruQ5UN6f9gAB6PhaIm"/>
  <p:tag name="TIMING" val="|14.8|14.5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rMnGB4ZJs5RQhTF4OjwU0y"/>
  <p:tag name="TIMING" val="|38.1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8.8|11.3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J2KotcdHCQPQ1n0Q2GPwae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v213wA22h65SoRS3T1QQIU"/>
</p:tagLst>
</file>

<file path=ppt/theme/theme1.xml><?xml version="1.0" encoding="utf-8"?>
<a:theme xmlns:a="http://schemas.openxmlformats.org/drawingml/2006/main" name="template">
  <a:themeElements>
    <a:clrScheme name="DBrumley201205 1">
      <a:dk1>
        <a:srgbClr val="000000"/>
      </a:dk1>
      <a:lt1>
        <a:srgbClr val="FFFFFF"/>
      </a:lt1>
      <a:dk2>
        <a:srgbClr val="990000"/>
      </a:dk2>
      <a:lt2>
        <a:srgbClr val="E3E1E1"/>
      </a:lt2>
      <a:accent1>
        <a:srgbClr val="990000"/>
      </a:accent1>
      <a:accent2>
        <a:srgbClr val="E47932"/>
      </a:accent2>
      <a:accent3>
        <a:srgbClr val="00709E"/>
      </a:accent3>
      <a:accent4>
        <a:srgbClr val="595A5A"/>
      </a:accent4>
      <a:accent5>
        <a:srgbClr val="009446"/>
      </a:accent5>
      <a:accent6>
        <a:srgbClr val="936241"/>
      </a:accent6>
      <a:hlink>
        <a:srgbClr val="0000FF"/>
      </a:hlink>
      <a:folHlink>
        <a:srgbClr val="800080"/>
      </a:folHlink>
    </a:clrScheme>
    <a:fontScheme name="Office 2">
      <a:majorFont>
        <a:latin typeface="Calibri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ajorFont>
      <a:minorFont>
        <a:latin typeface="Cambria"/>
        <a:ea typeface=""/>
        <a:cs typeface=""/>
        <a:font script="Jpan" typeface="ＭＳ Ｐ明朝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5"/>
        </a:solidFill>
        <a:ln w="28575" cap="rnd" cmpd="sng">
          <a:noFill/>
          <a:prstDash val="solid"/>
          <a:miter lim="800000"/>
        </a:ln>
        <a:effectLst/>
      </a:spPr>
      <a:bodyPr wrap="square" lIns="0" tIns="0" rIns="0" bIns="0" rtlCol="0" anchor="ctr" anchorCtr="1">
        <a:noAutofit/>
      </a:bodyPr>
      <a:lstStyle>
        <a:defPPr algn="ctr">
          <a:defRPr sz="2400" dirty="0" smtClean="0">
            <a:solidFill>
              <a:schemeClr val="bg1"/>
            </a:solidFill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28575" cap="rnd" cmpd="sng">
          <a:solidFill>
            <a:schemeClr val="tx1"/>
          </a:solidFill>
          <a:miter lim="800000"/>
          <a:headEnd type="none"/>
          <a:tailEnd type="none"/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 anchor="t" anchorCtr="0">
        <a:spAutoFit/>
      </a:bodyPr>
      <a:lstStyle>
        <a:defPPr>
          <a:buClr>
            <a:schemeClr val="accent1"/>
          </a:buClr>
          <a:defRPr sz="3200" dirty="0"/>
        </a:defPPr>
      </a:lstStyle>
    </a:txDef>
  </a:objectDefaults>
  <a:extraClrSchemeLst/>
</a:theme>
</file>

<file path=ppt/theme/theme2.xml><?xml version="1.0" encoding="utf-8"?>
<a:theme xmlns:a="http://schemas.openxmlformats.org/drawingml/2006/main" name="CMU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olstice">
      <a:fillStyleLst>
        <a:solidFill>
          <a:schemeClr val="phClr"/>
        </a:solidFill>
        <a:gradFill rotWithShape="1">
          <a:gsLst>
            <a:gs pos="0">
              <a:schemeClr val="phClr">
                <a:tint val="35000"/>
                <a:satMod val="253000"/>
              </a:schemeClr>
            </a:gs>
            <a:gs pos="50000">
              <a:schemeClr val="phClr">
                <a:tint val="42000"/>
                <a:satMod val="255000"/>
              </a:schemeClr>
            </a:gs>
            <a:gs pos="97000">
              <a:schemeClr val="phClr">
                <a:tint val="53000"/>
                <a:satMod val="260000"/>
              </a:schemeClr>
            </a:gs>
            <a:gs pos="100000">
              <a:schemeClr val="phClr">
                <a:tint val="56000"/>
                <a:satMod val="275000"/>
              </a:schemeClr>
            </a:gs>
          </a:gsLst>
          <a:path path="circle">
            <a:fillToRect l="50000" t="50000" r="50000" b="50000"/>
          </a:path>
        </a:gradFill>
        <a:gradFill rotWithShape="1">
          <a:gsLst>
            <a:gs pos="0">
              <a:schemeClr val="phClr">
                <a:tint val="92000"/>
                <a:satMod val="170000"/>
              </a:schemeClr>
            </a:gs>
            <a:gs pos="15000">
              <a:schemeClr val="phClr">
                <a:tint val="92000"/>
                <a:shade val="99000"/>
                <a:satMod val="170000"/>
              </a:schemeClr>
            </a:gs>
            <a:gs pos="62000">
              <a:schemeClr val="phClr">
                <a:tint val="96000"/>
                <a:shade val="80000"/>
                <a:satMod val="170000"/>
              </a:schemeClr>
            </a:gs>
            <a:gs pos="97000">
              <a:schemeClr val="phClr">
                <a:tint val="98000"/>
                <a:shade val="63000"/>
                <a:satMod val="170000"/>
              </a:schemeClr>
            </a:gs>
            <a:gs pos="100000">
              <a:schemeClr val="phClr">
                <a:shade val="62000"/>
                <a:satMod val="170000"/>
              </a:schemeClr>
            </a:gs>
          </a:gsLst>
          <a:path path="circle">
            <a:fillToRect l="50000" t="50000" r="50000" b="5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brightRoom" dir="tl">
              <a:rot lat="0" lon="0" rev="8700000"/>
            </a:lightRig>
          </a:scene3d>
          <a:sp3d contourW="12700">
            <a:bevelT w="0" h="0"/>
            <a:contourClr>
              <a:schemeClr val="phClr">
                <a:shade val="80000"/>
              </a:schemeClr>
            </a:contourClr>
          </a:sp3d>
        </a:effectStyle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brightRoom" dir="tl">
              <a:rot lat="0" lon="0" rev="5400000"/>
            </a:lightRig>
          </a:scene3d>
          <a:sp3d contourW="12700">
            <a:bevelT w="25400" h="50800" prst="angle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 rtlCol="0" anchor="ctr"/>
      <a:lstStyle>
        <a:defPPr algn="ctr">
          <a:defRPr sz="3600" dirty="0" smtClean="0">
            <a:latin typeface="Calibri" pitchFamily="34" charset="0"/>
            <a:cs typeface="Calibri" pitchFamily="34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noAutofit/>
      </a:bodyPr>
      <a:lstStyle>
        <a:defPPr>
          <a:defRPr sz="3200" dirty="0">
            <a:latin typeface="Calibri" pitchFamily="34" charset="0"/>
            <a:cs typeface="Calibri" pitchFamily="34" charset="0"/>
          </a:defRPr>
        </a:defPPr>
      </a:lstStyle>
    </a:tx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1F497D"/>
        </a:dk2>
        <a:lt2>
          <a:srgbClr val="EEECE1"/>
        </a:lt2>
        <a:accent1>
          <a:srgbClr val="4F81BD"/>
        </a:accent1>
        <a:accent2>
          <a:srgbClr val="C0504D"/>
        </a:accent2>
        <a:accent3>
          <a:srgbClr val="FFFFFF"/>
        </a:accent3>
        <a:accent4>
          <a:srgbClr val="000000"/>
        </a:accent4>
        <a:accent5>
          <a:srgbClr val="B2C1DB"/>
        </a:accent5>
        <a:accent6>
          <a:srgbClr val="AE4845"/>
        </a:accent6>
        <a:hlink>
          <a:srgbClr val="0000FF"/>
        </a:hlink>
        <a:folHlink>
          <a:srgbClr val="80008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Override1.xml><?xml version="1.0" encoding="utf-8"?>
<a:themeOverride xmlns:a="http://schemas.openxmlformats.org/drawingml/2006/main">
  <a:clrScheme name="DBrumley201205 1">
    <a:dk1>
      <a:srgbClr val="000000"/>
    </a:dk1>
    <a:lt1>
      <a:srgbClr val="FFFFFF"/>
    </a:lt1>
    <a:dk2>
      <a:srgbClr val="990000"/>
    </a:dk2>
    <a:lt2>
      <a:srgbClr val="E3E1E1"/>
    </a:lt2>
    <a:accent1>
      <a:srgbClr val="990000"/>
    </a:accent1>
    <a:accent2>
      <a:srgbClr val="E47932"/>
    </a:accent2>
    <a:accent3>
      <a:srgbClr val="00709E"/>
    </a:accent3>
    <a:accent4>
      <a:srgbClr val="595A5A"/>
    </a:accent4>
    <a:accent5>
      <a:srgbClr val="009446"/>
    </a:accent5>
    <a:accent6>
      <a:srgbClr val="936241"/>
    </a:accent6>
    <a:hlink>
      <a:srgbClr val="0000FF"/>
    </a:hlink>
    <a:folHlink>
      <a:srgbClr val="800080"/>
    </a:folHlink>
  </a:clrScheme>
  <a:fontScheme name="Office 2">
    <a:majorFont>
      <a:latin typeface="Calibri"/>
      <a:ea typeface=""/>
      <a:cs typeface=""/>
      <a:font script="Jpan" typeface="ＭＳ 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ahoma"/>
      <a:font script="Uigh" typeface="Microsoft Uighur"/>
    </a:majorFont>
    <a:minorFont>
      <a:latin typeface="Cambria"/>
      <a:ea typeface=""/>
      <a:cs typeface=""/>
      <a:font script="Jpan" typeface="ＭＳ Ｐ明朝"/>
      <a:font script="Hang" typeface="맑은 고딕"/>
      <a:font script="Hans" typeface="黑体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tint val="100000"/>
              <a:shade val="100000"/>
              <a:satMod val="130000"/>
            </a:schemeClr>
          </a:gs>
          <a:gs pos="100000">
            <a:schemeClr val="phClr">
              <a:tint val="50000"/>
              <a:shade val="100000"/>
              <a:satMod val="350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1894</Words>
  <Application>Microsoft Office PowerPoint</Application>
  <PresentationFormat>On-screen Show (4:3)</PresentationFormat>
  <Paragraphs>613</Paragraphs>
  <Slides>43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43</vt:i4>
      </vt:variant>
    </vt:vector>
  </HeadingPairs>
  <TitlesOfParts>
    <vt:vector size="53" baseType="lpstr">
      <vt:lpstr>ＭＳ Ｐゴシック</vt:lpstr>
      <vt:lpstr>Arial</vt:lpstr>
      <vt:lpstr>Calibri</vt:lpstr>
      <vt:lpstr>Cambria</vt:lpstr>
      <vt:lpstr>Cambria Math</vt:lpstr>
      <vt:lpstr>Consolas</vt:lpstr>
      <vt:lpstr>Times New Roman</vt:lpstr>
      <vt:lpstr>Wingdings</vt:lpstr>
      <vt:lpstr>template</vt:lpstr>
      <vt:lpstr>CMU</vt:lpstr>
      <vt:lpstr>Native x86 Decompilation Using Semantics-Preserving Structural Analysis and Iterative Control-Flow Structuring</vt:lpstr>
      <vt:lpstr>Which would you rather analyze?</vt:lpstr>
      <vt:lpstr>PowerPoint Presentation</vt:lpstr>
      <vt:lpstr>Decompilers for Software Security</vt:lpstr>
      <vt:lpstr>Desired Properties for Security</vt:lpstr>
      <vt:lpstr>Effective Abstraction Recovery</vt:lpstr>
      <vt:lpstr>Desired Properties for Security</vt:lpstr>
      <vt:lpstr>Correctness</vt:lpstr>
      <vt:lpstr>Prior Work on Decompilation</vt:lpstr>
      <vt:lpstr>The Phoenix C Decompiler</vt:lpstr>
      <vt:lpstr>How to build a better decompiler?</vt:lpstr>
      <vt:lpstr>Semantics Preservation</vt:lpstr>
      <vt:lpstr>How to build a better decompiler?</vt:lpstr>
      <vt:lpstr>Phoenix Overview</vt:lpstr>
      <vt:lpstr>Control Flow Graph Recovery</vt:lpstr>
      <vt:lpstr>Type Inference on Executables (TIE) [Lee11]</vt:lpstr>
      <vt:lpstr>Control Flow Structuring</vt:lpstr>
      <vt:lpstr>Control Flow Structuring</vt:lpstr>
      <vt:lpstr>Control Flow Structuring: Don’t Reinvent the Wheel</vt:lpstr>
      <vt:lpstr>Structural Analysis</vt:lpstr>
      <vt:lpstr>Structural Analysis Example</vt:lpstr>
      <vt:lpstr>Structural Analysis Property Checklist</vt:lpstr>
      <vt:lpstr>Structural Analysis Property Checklist</vt:lpstr>
      <vt:lpstr>Unrecovered Structure</vt:lpstr>
      <vt:lpstr>Iterative Refinement</vt:lpstr>
      <vt:lpstr>Iterative Refinement</vt:lpstr>
      <vt:lpstr>Structural Analysis Property Checklist</vt:lpstr>
      <vt:lpstr>Structural Analysis Property Checklist</vt:lpstr>
      <vt:lpstr>Natural Loop Correctness Problem</vt:lpstr>
      <vt:lpstr>Semantics Preservation</vt:lpstr>
      <vt:lpstr>Phoenix Implementation and Evaluation</vt:lpstr>
      <vt:lpstr>Readability: Phoenix Output</vt:lpstr>
      <vt:lpstr>Large Scale Experiment Details</vt:lpstr>
      <vt:lpstr>Metrics (end-to-end decompiler)</vt:lpstr>
      <vt:lpstr>Control Flow Structure: Gotos Emitted (Fewer Better)</vt:lpstr>
      <vt:lpstr>Control Flow Structure: Gotos Emitted (Fewer is Better)</vt:lpstr>
      <vt:lpstr>Ideal: Correctness</vt:lpstr>
      <vt:lpstr>Scalable: Testing</vt:lpstr>
      <vt:lpstr>Number of Correct Utilities</vt:lpstr>
      <vt:lpstr>Correctness</vt:lpstr>
      <vt:lpstr>Conclusion</vt:lpstr>
      <vt:lpstr>Thanks! </vt:lpstr>
      <vt:lpstr>END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2013-08-16T20:59:44Z</dcterms:created>
  <dcterms:modified xsi:type="dcterms:W3CDTF">2013-08-16T21:00:06Z</dcterms:modified>
</cp:coreProperties>
</file>