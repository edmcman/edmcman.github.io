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gif" ContentType="image/gif"/>
  <Default Extension="wmv" ContentType="video/x-ms-wmv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heme/theme2.xml" ContentType="application/vnd.openxmlformats-officedocument.theme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notesSlides/notesSlide1.xml" ContentType="application/vnd.openxmlformats-officedocument.presentationml.notesSlide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notesSlides/notesSlide2.xml" ContentType="application/vnd.openxmlformats-officedocument.presentationml.notesSlide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notesSlides/notesSlide3.xml" ContentType="application/vnd.openxmlformats-officedocument.presentationml.notesSlide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notesSlides/notesSlide4.xml" ContentType="application/vnd.openxmlformats-officedocument.presentationml.notesSlide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notesSlides/notesSlide5.xml" ContentType="application/vnd.openxmlformats-officedocument.presentationml.notesSlide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notesSlides/notesSlide6.xml" ContentType="application/vnd.openxmlformats-officedocument.presentationml.notesSlide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notesSlides/notesSlide7.xml" ContentType="application/vnd.openxmlformats-officedocument.presentationml.notesSlide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notesSlides/notesSlide8.xml" ContentType="application/vnd.openxmlformats-officedocument.presentationml.notesSlide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notesSlides/notesSlide9.xml" ContentType="application/vnd.openxmlformats-officedocument.presentationml.notesSlide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notesSlides/notesSlide10.xml" ContentType="application/vnd.openxmlformats-officedocument.presentationml.notesSlide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notesSlides/notesSlide11.xml" ContentType="application/vnd.openxmlformats-officedocument.presentationml.notesSlide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notesSlides/notesSlide12.xml" ContentType="application/vnd.openxmlformats-officedocument.presentationml.notesSlide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notesSlides/notesSlide13.xml" ContentType="application/vnd.openxmlformats-officedocument.presentationml.notesSlide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notesSlides/notesSlide14.xml" ContentType="application/vnd.openxmlformats-officedocument.presentationml.notesSlide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notesSlides/notesSlide15.xml" ContentType="application/vnd.openxmlformats-officedocument.presentationml.notesSlide+xml"/>
  <Override PartName="/ppt/tags/tag199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0.xml" ContentType="application/vnd.openxmlformats-officedocument.presentationml.tags+xml"/>
  <Override PartName="/ppt/notesSlides/notesSlide16.xml" ContentType="application/vnd.openxmlformats-officedocument.presentationml.notesSlide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notesSlides/notesSlide17.xml" ContentType="application/vnd.openxmlformats-officedocument.presentationml.notesSlide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notesSlides/notesSlide18.xml" ContentType="application/vnd.openxmlformats-officedocument.presentationml.notesSlide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notesSlides/notesSlide19.xml" ContentType="application/vnd.openxmlformats-officedocument.presentationml.notesSlide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notesSlides/notesSlide20.xml" ContentType="application/vnd.openxmlformats-officedocument.presentationml.notesSlide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notesSlides/notesSlide21.xml" ContentType="application/vnd.openxmlformats-officedocument.presentationml.notesSlide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0.xml" ContentType="application/vnd.openxmlformats-officedocument.presentationml.tags+xml"/>
  <Override PartName="/ppt/notesSlides/notesSlide22.xml" ContentType="application/vnd.openxmlformats-officedocument.presentationml.notesSlide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notesSlides/notesSlide23.xml" ContentType="application/vnd.openxmlformats-officedocument.presentationml.notesSlide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notesSlides/notesSlide24.xml" ContentType="application/vnd.openxmlformats-officedocument.presentationml.notesSlide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notesSlides/notesSlide25.xml" ContentType="application/vnd.openxmlformats-officedocument.presentationml.notesSlide+xml"/>
  <Override PartName="/ppt/tags/tag28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notesSlides/notesSlide26.xml" ContentType="application/vnd.openxmlformats-officedocument.presentationml.notesSlide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notesSlides/notesSlide27.xml" ContentType="application/vnd.openxmlformats-officedocument.presentationml.notesSlide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notesSlides/notesSlide28.xml" ContentType="application/vnd.openxmlformats-officedocument.presentationml.notesSlide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notesSlides/notesSlide29.xml" ContentType="application/vnd.openxmlformats-officedocument.presentationml.notesSlide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notesSlides/notesSlide30.xml" ContentType="application/vnd.openxmlformats-officedocument.presentationml.notesSlide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tags/tag346.xml" ContentType="application/vnd.openxmlformats-officedocument.presentationml.tags+xml"/>
  <Override PartName="/ppt/tags/tag347.xml" ContentType="application/vnd.openxmlformats-officedocument.presentationml.tags+xml"/>
  <Override PartName="/ppt/tags/tag348.xml" ContentType="application/vnd.openxmlformats-officedocument.presentationml.tags+xml"/>
  <Override PartName="/ppt/tags/tag349.xml" ContentType="application/vnd.openxmlformats-officedocument.presentationml.tags+xml"/>
  <Override PartName="/ppt/notesSlides/notesSlide31.xml" ContentType="application/vnd.openxmlformats-officedocument.presentationml.notesSlide+xml"/>
  <Override PartName="/ppt/tags/tag350.xml" ContentType="application/vnd.openxmlformats-officedocument.presentationml.tags+xml"/>
  <Override PartName="/ppt/tags/tag351.xml" ContentType="application/vnd.openxmlformats-officedocument.presentationml.tags+xml"/>
  <Override PartName="/ppt/tags/tag352.xml" ContentType="application/vnd.openxmlformats-officedocument.presentationml.tags+xml"/>
  <Override PartName="/ppt/tags/tag353.xml" ContentType="application/vnd.openxmlformats-officedocument.presentationml.tags+xml"/>
  <Override PartName="/ppt/tags/tag354.xml" ContentType="application/vnd.openxmlformats-officedocument.presentationml.tags+xml"/>
  <Override PartName="/ppt/tags/tag355.xml" ContentType="application/vnd.openxmlformats-officedocument.presentationml.tags+xml"/>
  <Override PartName="/ppt/notesSlides/notesSlide32.xml" ContentType="application/vnd.openxmlformats-officedocument.presentationml.notesSlide+xml"/>
  <Override PartName="/ppt/tags/tag356.xml" ContentType="application/vnd.openxmlformats-officedocument.presentationml.tags+xml"/>
  <Override PartName="/ppt/tags/tag357.xml" ContentType="application/vnd.openxmlformats-officedocument.presentationml.tags+xml"/>
  <Override PartName="/ppt/tags/tag358.xml" ContentType="application/vnd.openxmlformats-officedocument.presentationml.tags+xml"/>
  <Override PartName="/ppt/tags/tag359.xml" ContentType="application/vnd.openxmlformats-officedocument.presentationml.tags+xml"/>
  <Override PartName="/ppt/tags/tag360.xml" ContentType="application/vnd.openxmlformats-officedocument.presentationml.tags+xml"/>
  <Override PartName="/ppt/tags/tag361.xml" ContentType="application/vnd.openxmlformats-officedocument.presentationml.tags+xml"/>
  <Override PartName="/ppt/tags/tag362.xml" ContentType="application/vnd.openxmlformats-officedocument.presentationml.tags+xml"/>
  <Override PartName="/ppt/tags/tag363.xml" ContentType="application/vnd.openxmlformats-officedocument.presentationml.tags+xml"/>
  <Override PartName="/ppt/tags/tag364.xml" ContentType="application/vnd.openxmlformats-officedocument.presentationml.tags+xml"/>
  <Override PartName="/ppt/tags/tag365.xml" ContentType="application/vnd.openxmlformats-officedocument.presentationml.tags+xml"/>
  <Override PartName="/ppt/tags/tag366.xml" ContentType="application/vnd.openxmlformats-officedocument.presentationml.tags+xml"/>
  <Override PartName="/ppt/tags/tag367.xml" ContentType="application/vnd.openxmlformats-officedocument.presentationml.tags+xml"/>
  <Override PartName="/ppt/tags/tag368.xml" ContentType="application/vnd.openxmlformats-officedocument.presentationml.tags+xml"/>
  <Override PartName="/ppt/tags/tag369.xml" ContentType="application/vnd.openxmlformats-officedocument.presentationml.tags+xml"/>
  <Override PartName="/ppt/tags/tag370.xml" ContentType="application/vnd.openxmlformats-officedocument.presentationml.tags+xml"/>
  <Override PartName="/ppt/tags/tag371.xml" ContentType="application/vnd.openxmlformats-officedocument.presentationml.tags+xml"/>
  <Override PartName="/ppt/tags/tag372.xml" ContentType="application/vnd.openxmlformats-officedocument.presentationml.tags+xml"/>
  <Override PartName="/ppt/tags/tag373.xml" ContentType="application/vnd.openxmlformats-officedocument.presentationml.tags+xml"/>
  <Override PartName="/ppt/notesSlides/notesSlide33.xml" ContentType="application/vnd.openxmlformats-officedocument.presentationml.notesSlide+xml"/>
  <Override PartName="/ppt/tags/tag374.xml" ContentType="application/vnd.openxmlformats-officedocument.presentationml.tags+xml"/>
  <Override PartName="/ppt/tags/tag375.xml" ContentType="application/vnd.openxmlformats-officedocument.presentationml.tags+xml"/>
  <Override PartName="/ppt/tags/tag376.xml" ContentType="application/vnd.openxmlformats-officedocument.presentationml.tags+xml"/>
  <Override PartName="/ppt/tags/tag377.xml" ContentType="application/vnd.openxmlformats-officedocument.presentationml.tags+xml"/>
  <Override PartName="/ppt/tags/tag378.xml" ContentType="application/vnd.openxmlformats-officedocument.presentationml.tags+xml"/>
  <Override PartName="/ppt/tags/tag379.xml" ContentType="application/vnd.openxmlformats-officedocument.presentationml.tags+xml"/>
  <Override PartName="/ppt/tags/tag380.xml" ContentType="application/vnd.openxmlformats-officedocument.presentationml.tags+xml"/>
  <Override PartName="/ppt/tags/tag381.xml" ContentType="application/vnd.openxmlformats-officedocument.presentationml.tags+xml"/>
  <Override PartName="/ppt/tags/tag382.xml" ContentType="application/vnd.openxmlformats-officedocument.presentationml.tags+xml"/>
  <Override PartName="/ppt/tags/tag383.xml" ContentType="application/vnd.openxmlformats-officedocument.presentationml.tags+xml"/>
  <Override PartName="/ppt/tags/tag384.xml" ContentType="application/vnd.openxmlformats-officedocument.presentationml.tags+xml"/>
  <Override PartName="/ppt/tags/tag385.xml" ContentType="application/vnd.openxmlformats-officedocument.presentationml.tags+xml"/>
  <Override PartName="/ppt/tags/tag386.xml" ContentType="application/vnd.openxmlformats-officedocument.presentationml.tags+xml"/>
  <Override PartName="/ppt/tags/tag387.xml" ContentType="application/vnd.openxmlformats-officedocument.presentationml.tags+xml"/>
  <Override PartName="/ppt/tags/tag388.xml" ContentType="application/vnd.openxmlformats-officedocument.presentationml.tags+xml"/>
  <Override PartName="/ppt/tags/tag389.xml" ContentType="application/vnd.openxmlformats-officedocument.presentationml.tags+xml"/>
  <Override PartName="/ppt/tags/tag390.xml" ContentType="application/vnd.openxmlformats-officedocument.presentationml.tags+xml"/>
  <Override PartName="/ppt/tags/tag391.xml" ContentType="application/vnd.openxmlformats-officedocument.presentationml.tags+xml"/>
  <Override PartName="/ppt/notesSlides/notesSlide34.xml" ContentType="application/vnd.openxmlformats-officedocument.presentationml.notesSlide+xml"/>
  <Override PartName="/ppt/tags/tag392.xml" ContentType="application/vnd.openxmlformats-officedocument.presentationml.tags+xml"/>
  <Override PartName="/ppt/tags/tag393.xml" ContentType="application/vnd.openxmlformats-officedocument.presentationml.tags+xml"/>
  <Override PartName="/ppt/tags/tag394.xml" ContentType="application/vnd.openxmlformats-officedocument.presentationml.tags+xml"/>
  <Override PartName="/ppt/tags/tag395.xml" ContentType="application/vnd.openxmlformats-officedocument.presentationml.tags+xml"/>
  <Override PartName="/ppt/tags/tag396.xml" ContentType="application/vnd.openxmlformats-officedocument.presentationml.tags+xml"/>
  <Override PartName="/ppt/tags/tag397.xml" ContentType="application/vnd.openxmlformats-officedocument.presentationml.tags+xml"/>
  <Override PartName="/ppt/tags/tag398.xml" ContentType="application/vnd.openxmlformats-officedocument.presentationml.tags+xml"/>
  <Override PartName="/ppt/tags/tag399.xml" ContentType="application/vnd.openxmlformats-officedocument.presentationml.tags+xml"/>
  <Override PartName="/ppt/tags/tag400.xml" ContentType="application/vnd.openxmlformats-officedocument.presentationml.tags+xml"/>
  <Override PartName="/ppt/tags/tag401.xml" ContentType="application/vnd.openxmlformats-officedocument.presentationml.tags+xml"/>
  <Override PartName="/ppt/tags/tag402.xml" ContentType="application/vnd.openxmlformats-officedocument.presentationml.tags+xml"/>
  <Override PartName="/ppt/tags/tag403.xml" ContentType="application/vnd.openxmlformats-officedocument.presentationml.tags+xml"/>
  <Override PartName="/ppt/tags/tag404.xml" ContentType="application/vnd.openxmlformats-officedocument.presentationml.tags+xml"/>
  <Override PartName="/ppt/tags/tag405.xml" ContentType="application/vnd.openxmlformats-officedocument.presentationml.tags+xml"/>
  <Override PartName="/ppt/tags/tag406.xml" ContentType="application/vnd.openxmlformats-officedocument.presentationml.tags+xml"/>
  <Override PartName="/ppt/tags/tag407.xml" ContentType="application/vnd.openxmlformats-officedocument.presentationml.tags+xml"/>
  <Override PartName="/ppt/tags/tag408.xml" ContentType="application/vnd.openxmlformats-officedocument.presentationml.tags+xml"/>
  <Override PartName="/ppt/tags/tag409.xml" ContentType="application/vnd.openxmlformats-officedocument.presentationml.tags+xml"/>
  <Override PartName="/ppt/tags/tag410.xml" ContentType="application/vnd.openxmlformats-officedocument.presentationml.tags+xml"/>
  <Override PartName="/ppt/tags/tag411.xml" ContentType="application/vnd.openxmlformats-officedocument.presentationml.tags+xml"/>
  <Override PartName="/ppt/notesSlides/notesSlide35.xml" ContentType="application/vnd.openxmlformats-officedocument.presentationml.notesSlide+xml"/>
  <Override PartName="/ppt/tags/tag412.xml" ContentType="application/vnd.openxmlformats-officedocument.presentationml.tags+xml"/>
  <Override PartName="/ppt/tags/tag413.xml" ContentType="application/vnd.openxmlformats-officedocument.presentationml.tags+xml"/>
  <Override PartName="/ppt/tags/tag414.xml" ContentType="application/vnd.openxmlformats-officedocument.presentationml.tags+xml"/>
  <Override PartName="/ppt/tags/tag415.xml" ContentType="application/vnd.openxmlformats-officedocument.presentationml.tags+xml"/>
  <Override PartName="/ppt/tags/tag416.xml" ContentType="application/vnd.openxmlformats-officedocument.presentationml.tags+xml"/>
  <Override PartName="/ppt/tags/tag417.xml" ContentType="application/vnd.openxmlformats-officedocument.presentationml.tags+xml"/>
  <Override PartName="/ppt/notesSlides/notesSlide36.xml" ContentType="application/vnd.openxmlformats-officedocument.presentationml.notesSlide+xml"/>
  <Override PartName="/ppt/tags/tag418.xml" ContentType="application/vnd.openxmlformats-officedocument.presentationml.tags+xml"/>
  <Override PartName="/ppt/tags/tag419.xml" ContentType="application/vnd.openxmlformats-officedocument.presentationml.tags+xml"/>
  <Override PartName="/ppt/tags/tag420.xml" ContentType="application/vnd.openxmlformats-officedocument.presentationml.tags+xml"/>
  <Override PartName="/ppt/tags/tag421.xml" ContentType="application/vnd.openxmlformats-officedocument.presentationml.tags+xml"/>
  <Override PartName="/ppt/tags/tag422.xml" ContentType="application/vnd.openxmlformats-officedocument.presentationml.tags+xml"/>
  <Override PartName="/ppt/tags/tag423.xml" ContentType="application/vnd.openxmlformats-officedocument.presentationml.tags+xml"/>
  <Override PartName="/ppt/tags/tag424.xml" ContentType="application/vnd.openxmlformats-officedocument.presentationml.tags+xml"/>
  <Override PartName="/ppt/tags/tag425.xml" ContentType="application/vnd.openxmlformats-officedocument.presentationml.tags+xml"/>
  <Override PartName="/ppt/tags/tag426.xml" ContentType="application/vnd.openxmlformats-officedocument.presentationml.tags+xml"/>
  <Override PartName="/ppt/tags/tag427.xml" ContentType="application/vnd.openxmlformats-officedocument.presentationml.tags+xml"/>
  <Override PartName="/ppt/tags/tag428.xml" ContentType="application/vnd.openxmlformats-officedocument.presentationml.tags+xml"/>
  <Override PartName="/ppt/tags/tag429.xml" ContentType="application/vnd.openxmlformats-officedocument.presentationml.tags+xml"/>
  <Override PartName="/ppt/tags/tag430.xml" ContentType="application/vnd.openxmlformats-officedocument.presentationml.tags+xml"/>
  <Override PartName="/ppt/tags/tag431.xml" ContentType="application/vnd.openxmlformats-officedocument.presentationml.tags+xml"/>
  <Override PartName="/ppt/tags/tag432.xml" ContentType="application/vnd.openxmlformats-officedocument.presentationml.tags+xml"/>
  <Override PartName="/ppt/tags/tag433.xml" ContentType="application/vnd.openxmlformats-officedocument.presentationml.tags+xml"/>
  <Override PartName="/ppt/notesSlides/notesSlide37.xml" ContentType="application/vnd.openxmlformats-officedocument.presentationml.notesSlide+xml"/>
  <Override PartName="/ppt/tags/tag434.xml" ContentType="application/vnd.openxmlformats-officedocument.presentationml.tags+xml"/>
  <Override PartName="/ppt/tags/tag435.xml" ContentType="application/vnd.openxmlformats-officedocument.presentationml.tags+xml"/>
  <Override PartName="/ppt/tags/tag436.xml" ContentType="application/vnd.openxmlformats-officedocument.presentationml.tags+xml"/>
  <Override PartName="/ppt/tags/tag437.xml" ContentType="application/vnd.openxmlformats-officedocument.presentationml.tags+xml"/>
  <Override PartName="/ppt/tags/tag438.xml" ContentType="application/vnd.openxmlformats-officedocument.presentationml.tags+xml"/>
  <Override PartName="/ppt/tags/tag439.xml" ContentType="application/vnd.openxmlformats-officedocument.presentationml.tags+xml"/>
  <Override PartName="/ppt/notesSlides/notesSlide38.xml" ContentType="application/vnd.openxmlformats-officedocument.presentationml.notesSlide+xml"/>
  <Override PartName="/ppt/tags/tag440.xml" ContentType="application/vnd.openxmlformats-officedocument.presentationml.tags+xml"/>
  <Override PartName="/ppt/tags/tag441.xml" ContentType="application/vnd.openxmlformats-officedocument.presentationml.tags+xml"/>
  <Override PartName="/ppt/tags/tag442.xml" ContentType="application/vnd.openxmlformats-officedocument.presentationml.tags+xml"/>
  <Override PartName="/ppt/tags/tag443.xml" ContentType="application/vnd.openxmlformats-officedocument.presentationml.tags+xml"/>
  <Override PartName="/ppt/tags/tag444.xml" ContentType="application/vnd.openxmlformats-officedocument.presentationml.tags+xml"/>
  <Override PartName="/ppt/tags/tag445.xml" ContentType="application/vnd.openxmlformats-officedocument.presentationml.tags+xml"/>
  <Override PartName="/ppt/notesSlides/notesSlide39.xml" ContentType="application/vnd.openxmlformats-officedocument.presentationml.notesSlide+xml"/>
  <Override PartName="/ppt/tags/tag446.xml" ContentType="application/vnd.openxmlformats-officedocument.presentationml.tags+xml"/>
  <Override PartName="/ppt/tags/tag447.xml" ContentType="application/vnd.openxmlformats-officedocument.presentationml.tags+xml"/>
  <Override PartName="/ppt/tags/tag448.xml" ContentType="application/vnd.openxmlformats-officedocument.presentationml.tags+xml"/>
  <Override PartName="/ppt/tags/tag449.xml" ContentType="application/vnd.openxmlformats-officedocument.presentationml.tags+xml"/>
  <Override PartName="/ppt/tags/tag450.xml" ContentType="application/vnd.openxmlformats-officedocument.presentationml.tags+xml"/>
  <Override PartName="/ppt/tags/tag451.xml" ContentType="application/vnd.openxmlformats-officedocument.presentationml.tags+xml"/>
  <Override PartName="/ppt/tags/tag452.xml" ContentType="application/vnd.openxmlformats-officedocument.presentationml.tags+xml"/>
  <Override PartName="/ppt/tags/tag453.xml" ContentType="application/vnd.openxmlformats-officedocument.presentationml.tags+xml"/>
  <Override PartName="/ppt/tags/tag454.xml" ContentType="application/vnd.openxmlformats-officedocument.presentationml.tags+xml"/>
  <Override PartName="/ppt/notesSlides/notesSlide40.xml" ContentType="application/vnd.openxmlformats-officedocument.presentationml.notesSlide+xml"/>
  <Override PartName="/ppt/tags/tag455.xml" ContentType="application/vnd.openxmlformats-officedocument.presentationml.tags+xml"/>
  <Override PartName="/ppt/tags/tag456.xml" ContentType="application/vnd.openxmlformats-officedocument.presentationml.tags+xml"/>
  <Override PartName="/ppt/tags/tag457.xml" ContentType="application/vnd.openxmlformats-officedocument.presentationml.tags+xml"/>
  <Override PartName="/ppt/tags/tag458.xml" ContentType="application/vnd.openxmlformats-officedocument.presentationml.tags+xml"/>
  <Override PartName="/ppt/tags/tag459.xml" ContentType="application/vnd.openxmlformats-officedocument.presentationml.tags+xml"/>
  <Override PartName="/ppt/tags/tag460.xml" ContentType="application/vnd.openxmlformats-officedocument.presentationml.tags+xml"/>
  <Override PartName="/ppt/tags/tag461.xml" ContentType="application/vnd.openxmlformats-officedocument.presentationml.tags+xml"/>
  <Override PartName="/ppt/tags/tag462.xml" ContentType="application/vnd.openxmlformats-officedocument.presentationml.tags+xml"/>
  <Override PartName="/ppt/tags/tag463.xml" ContentType="application/vnd.openxmlformats-officedocument.presentationml.tags+xml"/>
  <Override PartName="/ppt/tags/tag464.xml" ContentType="application/vnd.openxmlformats-officedocument.presentationml.tags+xml"/>
  <Override PartName="/ppt/tags/tag465.xml" ContentType="application/vnd.openxmlformats-officedocument.presentationml.tags+xml"/>
  <Override PartName="/ppt/tags/tag466.xml" ContentType="application/vnd.openxmlformats-officedocument.presentationml.tags+xml"/>
  <Override PartName="/ppt/tags/tag467.xml" ContentType="application/vnd.openxmlformats-officedocument.presentationml.tags+xml"/>
  <Override PartName="/ppt/tags/tag468.xml" ContentType="application/vnd.openxmlformats-officedocument.presentationml.tags+xml"/>
  <Override PartName="/ppt/tags/tag469.xml" ContentType="application/vnd.openxmlformats-officedocument.presentationml.tags+xml"/>
  <Override PartName="/ppt/tags/tag470.xml" ContentType="application/vnd.openxmlformats-officedocument.presentationml.tags+xml"/>
  <Override PartName="/ppt/tags/tag471.xml" ContentType="application/vnd.openxmlformats-officedocument.presentationml.tags+xml"/>
  <Override PartName="/ppt/tags/tag472.xml" ContentType="application/vnd.openxmlformats-officedocument.presentationml.tags+xml"/>
  <Override PartName="/ppt/tags/tag473.xml" ContentType="application/vnd.openxmlformats-officedocument.presentationml.tags+xml"/>
  <Override PartName="/ppt/tags/tag474.xml" ContentType="application/vnd.openxmlformats-officedocument.presentationml.tags+xml"/>
  <Override PartName="/ppt/tags/tag475.xml" ContentType="application/vnd.openxmlformats-officedocument.presentationml.tags+xml"/>
  <Override PartName="/ppt/tags/tag476.xml" ContentType="application/vnd.openxmlformats-officedocument.presentationml.tags+xml"/>
  <Override PartName="/ppt/tags/tag477.xml" ContentType="application/vnd.openxmlformats-officedocument.presentationml.tags+xml"/>
  <Override PartName="/ppt/tags/tag478.xml" ContentType="application/vnd.openxmlformats-officedocument.presentationml.tags+xml"/>
  <Override PartName="/ppt/tags/tag479.xml" ContentType="application/vnd.openxmlformats-officedocument.presentationml.tags+xml"/>
  <Override PartName="/ppt/tags/tag480.xml" ContentType="application/vnd.openxmlformats-officedocument.presentationml.tags+xml"/>
  <Override PartName="/ppt/tags/tag481.xml" ContentType="application/vnd.openxmlformats-officedocument.presentationml.tags+xml"/>
  <Override PartName="/ppt/tags/tag482.xml" ContentType="application/vnd.openxmlformats-officedocument.presentationml.tags+xml"/>
  <Override PartName="/ppt/tags/tag483.xml" ContentType="application/vnd.openxmlformats-officedocument.presentationml.tags+xml"/>
  <Override PartName="/ppt/tags/tag484.xml" ContentType="application/vnd.openxmlformats-officedocument.presentationml.tags+xml"/>
  <Override PartName="/ppt/tags/tag485.xml" ContentType="application/vnd.openxmlformats-officedocument.presentationml.tags+xml"/>
  <Override PartName="/ppt/tags/tag486.xml" ContentType="application/vnd.openxmlformats-officedocument.presentationml.tags+xml"/>
  <Override PartName="/ppt/tags/tag487.xml" ContentType="application/vnd.openxmlformats-officedocument.presentationml.tags+xml"/>
  <Override PartName="/ppt/tags/tag488.xml" ContentType="application/vnd.openxmlformats-officedocument.presentationml.tags+xml"/>
  <Override PartName="/ppt/tags/tag489.xml" ContentType="application/vnd.openxmlformats-officedocument.presentationml.tags+xml"/>
  <Override PartName="/ppt/tags/tag490.xml" ContentType="application/vnd.openxmlformats-officedocument.presentationml.tags+xml"/>
  <Override PartName="/ppt/tags/tag491.xml" ContentType="application/vnd.openxmlformats-officedocument.presentationml.tags+xml"/>
  <Override PartName="/ppt/tags/tag492.xml" ContentType="application/vnd.openxmlformats-officedocument.presentationml.tags+xml"/>
  <Override PartName="/ppt/tags/tag493.xml" ContentType="application/vnd.openxmlformats-officedocument.presentationml.tags+xml"/>
  <Override PartName="/ppt/tags/tag494.xml" ContentType="application/vnd.openxmlformats-officedocument.presentationml.tags+xml"/>
  <Override PartName="/ppt/tags/tag495.xml" ContentType="application/vnd.openxmlformats-officedocument.presentationml.tags+xml"/>
  <Override PartName="/ppt/tags/tag496.xml" ContentType="application/vnd.openxmlformats-officedocument.presentationml.tags+xml"/>
  <Override PartName="/ppt/tags/tag497.xml" ContentType="application/vnd.openxmlformats-officedocument.presentationml.tags+xml"/>
  <Override PartName="/ppt/notesSlides/notesSlide41.xml" ContentType="application/vnd.openxmlformats-officedocument.presentationml.notesSlide+xml"/>
  <Override PartName="/ppt/tags/tag498.xml" ContentType="application/vnd.openxmlformats-officedocument.presentationml.tags+xml"/>
  <Override PartName="/ppt/tags/tag499.xml" ContentType="application/vnd.openxmlformats-officedocument.presentationml.tags+xml"/>
  <Override PartName="/ppt/tags/tag500.xml" ContentType="application/vnd.openxmlformats-officedocument.presentationml.tags+xml"/>
  <Override PartName="/ppt/tags/tag501.xml" ContentType="application/vnd.openxmlformats-officedocument.presentationml.tags+xml"/>
  <Override PartName="/ppt/tags/tag502.xml" ContentType="application/vnd.openxmlformats-officedocument.presentationml.tags+xml"/>
  <Override PartName="/ppt/tags/tag503.xml" ContentType="application/vnd.openxmlformats-officedocument.presentationml.tags+xml"/>
  <Override PartName="/ppt/tags/tag504.xml" ContentType="application/vnd.openxmlformats-officedocument.presentationml.tags+xml"/>
  <Override PartName="/ppt/tags/tag505.xml" ContentType="application/vnd.openxmlformats-officedocument.presentationml.tags+xml"/>
  <Override PartName="/ppt/tags/tag506.xml" ContentType="application/vnd.openxmlformats-officedocument.presentationml.tags+xml"/>
  <Override PartName="/ppt/notesSlides/notesSlide42.xml" ContentType="application/vnd.openxmlformats-officedocument.presentationml.notesSlide+xml"/>
  <Override PartName="/ppt/tags/tag507.xml" ContentType="application/vnd.openxmlformats-officedocument.presentationml.tags+xml"/>
  <Override PartName="/ppt/tags/tag508.xml" ContentType="application/vnd.openxmlformats-officedocument.presentationml.tags+xml"/>
  <Override PartName="/ppt/tags/tag509.xml" ContentType="application/vnd.openxmlformats-officedocument.presentationml.tags+xml"/>
  <Override PartName="/ppt/tags/tag510.xml" ContentType="application/vnd.openxmlformats-officedocument.presentationml.tags+xml"/>
  <Override PartName="/ppt/tags/tag511.xml" ContentType="application/vnd.openxmlformats-officedocument.presentationml.tags+xml"/>
  <Override PartName="/ppt/tags/tag512.xml" ContentType="application/vnd.openxmlformats-officedocument.presentationml.tags+xml"/>
  <Override PartName="/ppt/tags/tag513.xml" ContentType="application/vnd.openxmlformats-officedocument.presentationml.tags+xml"/>
  <Override PartName="/ppt/tags/tag514.xml" ContentType="application/vnd.openxmlformats-officedocument.presentationml.tags+xml"/>
  <Override PartName="/ppt/tags/tag515.xml" ContentType="application/vnd.openxmlformats-officedocument.presentationml.tags+xml"/>
  <Override PartName="/ppt/tags/tag516.xml" ContentType="application/vnd.openxmlformats-officedocument.presentationml.tags+xml"/>
  <Override PartName="/ppt/tags/tag517.xml" ContentType="application/vnd.openxmlformats-officedocument.presentationml.tags+xml"/>
  <Override PartName="/ppt/tags/tag518.xml" ContentType="application/vnd.openxmlformats-officedocument.presentationml.tags+xml"/>
  <Override PartName="/ppt/tags/tag519.xml" ContentType="application/vnd.openxmlformats-officedocument.presentationml.tags+xml"/>
  <Override PartName="/ppt/tags/tag520.xml" ContentType="application/vnd.openxmlformats-officedocument.presentationml.tags+xml"/>
  <Override PartName="/ppt/tags/tag521.xml" ContentType="application/vnd.openxmlformats-officedocument.presentationml.tags+xml"/>
  <Override PartName="/ppt/tags/tag522.xml" ContentType="application/vnd.openxmlformats-officedocument.presentationml.tags+xml"/>
  <Override PartName="/ppt/tags/tag523.xml" ContentType="application/vnd.openxmlformats-officedocument.presentationml.tags+xml"/>
  <Override PartName="/ppt/tags/tag524.xml" ContentType="application/vnd.openxmlformats-officedocument.presentationml.tags+xml"/>
  <Override PartName="/ppt/tags/tag525.xml" ContentType="application/vnd.openxmlformats-officedocument.presentationml.tags+xml"/>
  <Override PartName="/ppt/tags/tag526.xml" ContentType="application/vnd.openxmlformats-officedocument.presentationml.tags+xml"/>
  <Override PartName="/ppt/tags/tag527.xml" ContentType="application/vnd.openxmlformats-officedocument.presentationml.tags+xml"/>
  <Override PartName="/ppt/tags/tag528.xml" ContentType="application/vnd.openxmlformats-officedocument.presentationml.tags+xml"/>
  <Override PartName="/ppt/tags/tag529.xml" ContentType="application/vnd.openxmlformats-officedocument.presentationml.tags+xml"/>
  <Override PartName="/ppt/tags/tag530.xml" ContentType="application/vnd.openxmlformats-officedocument.presentationml.tags+xml"/>
  <Override PartName="/ppt/tags/tag531.xml" ContentType="application/vnd.openxmlformats-officedocument.presentationml.tags+xml"/>
  <Override PartName="/ppt/tags/tag532.xml" ContentType="application/vnd.openxmlformats-officedocument.presentationml.tags+xml"/>
  <Override PartName="/ppt/tags/tag533.xml" ContentType="application/vnd.openxmlformats-officedocument.presentationml.tags+xml"/>
  <Override PartName="/ppt/notesSlides/notesSlide43.xml" ContentType="application/vnd.openxmlformats-officedocument.presentationml.notesSlide+xml"/>
  <Override PartName="/ppt/tags/tag534.xml" ContentType="application/vnd.openxmlformats-officedocument.presentationml.tags+xml"/>
  <Override PartName="/ppt/tags/tag535.xml" ContentType="application/vnd.openxmlformats-officedocument.presentationml.tags+xml"/>
  <Override PartName="/ppt/tags/tag536.xml" ContentType="application/vnd.openxmlformats-officedocument.presentationml.tags+xml"/>
  <Override PartName="/ppt/tags/tag537.xml" ContentType="application/vnd.openxmlformats-officedocument.presentationml.tags+xml"/>
  <Override PartName="/ppt/tags/tag538.xml" ContentType="application/vnd.openxmlformats-officedocument.presentationml.tags+xml"/>
  <Override PartName="/ppt/tags/tag539.xml" ContentType="application/vnd.openxmlformats-officedocument.presentationml.tags+xml"/>
  <Override PartName="/ppt/notesSlides/notesSlide44.xml" ContentType="application/vnd.openxmlformats-officedocument.presentationml.notesSlide+xml"/>
  <Override PartName="/ppt/tags/tag540.xml" ContentType="application/vnd.openxmlformats-officedocument.presentationml.tags+xml"/>
  <Override PartName="/ppt/tags/tag541.xml" ContentType="application/vnd.openxmlformats-officedocument.presentationml.tags+xml"/>
  <Override PartName="/ppt/tags/tag542.xml" ContentType="application/vnd.openxmlformats-officedocument.presentationml.tags+xml"/>
  <Override PartName="/ppt/tags/tag543.xml" ContentType="application/vnd.openxmlformats-officedocument.presentationml.tags+xml"/>
  <Override PartName="/ppt/tags/tag544.xml" ContentType="application/vnd.openxmlformats-officedocument.presentationml.tags+xml"/>
  <Override PartName="/ppt/tags/tag545.xml" ContentType="application/vnd.openxmlformats-officedocument.presentationml.tags+xml"/>
  <Override PartName="/ppt/notesSlides/notesSlide45.xml" ContentType="application/vnd.openxmlformats-officedocument.presentationml.notesSlide+xml"/>
  <Override PartName="/ppt/tags/tag546.xml" ContentType="application/vnd.openxmlformats-officedocument.presentationml.tags+xml"/>
  <Override PartName="/ppt/tags/tag547.xml" ContentType="application/vnd.openxmlformats-officedocument.presentationml.tags+xml"/>
  <Override PartName="/ppt/tags/tag548.xml" ContentType="application/vnd.openxmlformats-officedocument.presentationml.tags+xml"/>
  <Override PartName="/ppt/tags/tag549.xml" ContentType="application/vnd.openxmlformats-officedocument.presentationml.tags+xml"/>
  <Override PartName="/ppt/tags/tag550.xml" ContentType="application/vnd.openxmlformats-officedocument.presentationml.tags+xml"/>
  <Override PartName="/ppt/tags/tag551.xml" ContentType="application/vnd.openxmlformats-officedocument.presentationml.tags+xml"/>
  <Override PartName="/ppt/notesSlides/notesSlide46.xml" ContentType="application/vnd.openxmlformats-officedocument.presentationml.notesSlide+xml"/>
  <Override PartName="/ppt/tags/tag552.xml" ContentType="application/vnd.openxmlformats-officedocument.presentationml.tags+xml"/>
  <Override PartName="/ppt/tags/tag553.xml" ContentType="application/vnd.openxmlformats-officedocument.presentationml.tags+xml"/>
  <Override PartName="/ppt/tags/tag554.xml" ContentType="application/vnd.openxmlformats-officedocument.presentationml.tags+xml"/>
  <Override PartName="/ppt/tags/tag555.xml" ContentType="application/vnd.openxmlformats-officedocument.presentationml.tags+xml"/>
  <Override PartName="/ppt/tags/tag556.xml" ContentType="application/vnd.openxmlformats-officedocument.presentationml.tags+xml"/>
  <Override PartName="/ppt/tags/tag557.xml" ContentType="application/vnd.openxmlformats-officedocument.presentationml.tags+xml"/>
  <Override PartName="/ppt/tags/tag558.xml" ContentType="application/vnd.openxmlformats-officedocument.presentationml.tags+xml"/>
  <Override PartName="/ppt/notesSlides/notesSlide47.xml" ContentType="application/vnd.openxmlformats-officedocument.presentationml.notesSlide+xml"/>
  <Override PartName="/ppt/tags/tag559.xml" ContentType="application/vnd.openxmlformats-officedocument.presentationml.tags+xml"/>
  <Override PartName="/ppt/tags/tag560.xml" ContentType="application/vnd.openxmlformats-officedocument.presentationml.tags+xml"/>
  <Override PartName="/ppt/tags/tag561.xml" ContentType="application/vnd.openxmlformats-officedocument.presentationml.tags+xml"/>
  <Override PartName="/ppt/tags/tag562.xml" ContentType="application/vnd.openxmlformats-officedocument.presentationml.tags+xml"/>
  <Override PartName="/ppt/tags/tag563.xml" ContentType="application/vnd.openxmlformats-officedocument.presentationml.tags+xml"/>
  <Override PartName="/ppt/tags/tag564.xml" ContentType="application/vnd.openxmlformats-officedocument.presentationml.tags+xml"/>
  <Override PartName="/ppt/notesSlides/notesSlide48.xml" ContentType="application/vnd.openxmlformats-officedocument.presentationml.notesSlide+xml"/>
  <Override PartName="/ppt/tags/tag565.xml" ContentType="application/vnd.openxmlformats-officedocument.presentationml.tags+xml"/>
  <Override PartName="/ppt/tags/tag566.xml" ContentType="application/vnd.openxmlformats-officedocument.presentationml.tags+xml"/>
  <Override PartName="/ppt/tags/tag567.xml" ContentType="application/vnd.openxmlformats-officedocument.presentationml.tags+xml"/>
  <Override PartName="/ppt/tags/tag568.xml" ContentType="application/vnd.openxmlformats-officedocument.presentationml.tags+xml"/>
  <Override PartName="/ppt/tags/tag569.xml" ContentType="application/vnd.openxmlformats-officedocument.presentationml.tags+xml"/>
  <Override PartName="/ppt/tags/tag570.xml" ContentType="application/vnd.openxmlformats-officedocument.presentationml.tags+xml"/>
  <Override PartName="/ppt/tags/tag571.xml" ContentType="application/vnd.openxmlformats-officedocument.presentationml.tags+xml"/>
  <Override PartName="/ppt/tags/tag572.xml" ContentType="application/vnd.openxmlformats-officedocument.presentationml.tags+xml"/>
  <Override PartName="/ppt/tags/tag573.xml" ContentType="application/vnd.openxmlformats-officedocument.presentationml.tags+xml"/>
  <Override PartName="/ppt/tags/tag574.xml" ContentType="application/vnd.openxmlformats-officedocument.presentationml.tags+xml"/>
  <Override PartName="/ppt/notesSlides/notesSlide49.xml" ContentType="application/vnd.openxmlformats-officedocument.presentationml.notesSlide+xml"/>
  <Override PartName="/ppt/tags/tag575.xml" ContentType="application/vnd.openxmlformats-officedocument.presentationml.tags+xml"/>
  <Override PartName="/ppt/tags/tag576.xml" ContentType="application/vnd.openxmlformats-officedocument.presentationml.tags+xml"/>
  <Override PartName="/ppt/tags/tag577.xml" ContentType="application/vnd.openxmlformats-officedocument.presentationml.tags+xml"/>
  <Override PartName="/ppt/tags/tag578.xml" ContentType="application/vnd.openxmlformats-officedocument.presentationml.tags+xml"/>
  <Override PartName="/ppt/tags/tag579.xml" ContentType="application/vnd.openxmlformats-officedocument.presentationml.tags+xml"/>
  <Override PartName="/ppt/tags/tag580.xml" ContentType="application/vnd.openxmlformats-officedocument.presentationml.tags+xml"/>
  <Override PartName="/ppt/notesSlides/notesSlide50.xml" ContentType="application/vnd.openxmlformats-officedocument.presentationml.notesSlide+xml"/>
  <Override PartName="/ppt/tags/tag581.xml" ContentType="application/vnd.openxmlformats-officedocument.presentationml.tags+xml"/>
  <Override PartName="/ppt/tags/tag582.xml" ContentType="application/vnd.openxmlformats-officedocument.presentationml.tags+xml"/>
  <Override PartName="/ppt/tags/tag583.xml" ContentType="application/vnd.openxmlformats-officedocument.presentationml.tags+xml"/>
  <Override PartName="/ppt/tags/tag584.xml" ContentType="application/vnd.openxmlformats-officedocument.presentationml.tags+xml"/>
  <Override PartName="/ppt/tags/tag585.xml" ContentType="application/vnd.openxmlformats-officedocument.presentationml.tags+xml"/>
  <Override PartName="/ppt/tags/tag586.xml" ContentType="application/vnd.openxmlformats-officedocument.presentationml.tags+xml"/>
  <Override PartName="/ppt/notesSlides/notesSlide51.xml" ContentType="application/vnd.openxmlformats-officedocument.presentationml.notesSlide+xml"/>
  <Override PartName="/ppt/tags/tag587.xml" ContentType="application/vnd.openxmlformats-officedocument.presentationml.tags+xml"/>
  <Override PartName="/ppt/tags/tag588.xml" ContentType="application/vnd.openxmlformats-officedocument.presentationml.tags+xml"/>
  <Override PartName="/ppt/tags/tag589.xml" ContentType="application/vnd.openxmlformats-officedocument.presentationml.tags+xml"/>
  <Override PartName="/ppt/tags/tag590.xml" ContentType="application/vnd.openxmlformats-officedocument.presentationml.tags+xml"/>
  <Override PartName="/ppt/tags/tag591.xml" ContentType="application/vnd.openxmlformats-officedocument.presentationml.tags+xml"/>
  <Override PartName="/ppt/tags/tag592.xml" ContentType="application/vnd.openxmlformats-officedocument.presentationml.tags+xml"/>
  <Override PartName="/ppt/notesSlides/notesSlide52.xml" ContentType="application/vnd.openxmlformats-officedocument.presentationml.notesSlide+xml"/>
  <Override PartName="/ppt/tags/tag593.xml" ContentType="application/vnd.openxmlformats-officedocument.presentationml.tags+xml"/>
  <Override PartName="/ppt/tags/tag594.xml" ContentType="application/vnd.openxmlformats-officedocument.presentationml.tags+xml"/>
  <Override PartName="/ppt/tags/tag595.xml" ContentType="application/vnd.openxmlformats-officedocument.presentationml.tags+xml"/>
  <Override PartName="/ppt/tags/tag596.xml" ContentType="application/vnd.openxmlformats-officedocument.presentationml.tags+xml"/>
  <Override PartName="/ppt/tags/tag597.xml" ContentType="application/vnd.openxmlformats-officedocument.presentationml.tags+xml"/>
  <Override PartName="/ppt/tags/tag598.xml" ContentType="application/vnd.openxmlformats-officedocument.presentationml.tags+xml"/>
  <Override PartName="/ppt/notesSlides/notesSlide53.xml" ContentType="application/vnd.openxmlformats-officedocument.presentationml.notesSlide+xml"/>
  <Override PartName="/ppt/tags/tag599.xml" ContentType="application/vnd.openxmlformats-officedocument.presentationml.tags+xml"/>
  <Override PartName="/ppt/tags/tag600.xml" ContentType="application/vnd.openxmlformats-officedocument.presentationml.tags+xml"/>
  <Override PartName="/ppt/tags/tag601.xml" ContentType="application/vnd.openxmlformats-officedocument.presentationml.tags+xml"/>
  <Override PartName="/ppt/tags/tag602.xml" ContentType="application/vnd.openxmlformats-officedocument.presentationml.tags+xml"/>
  <Override PartName="/ppt/tags/tag603.xml" ContentType="application/vnd.openxmlformats-officedocument.presentationml.tags+xml"/>
  <Override PartName="/ppt/tags/tag604.xml" ContentType="application/vnd.openxmlformats-officedocument.presentationml.tags+xml"/>
  <Override PartName="/ppt/notesSlides/notesSlide54.xml" ContentType="application/vnd.openxmlformats-officedocument.presentationml.notesSlide+xml"/>
  <Override PartName="/ppt/tags/tag605.xml" ContentType="application/vnd.openxmlformats-officedocument.presentationml.tags+xml"/>
  <Override PartName="/ppt/tags/tag606.xml" ContentType="application/vnd.openxmlformats-officedocument.presentationml.tags+xml"/>
  <Override PartName="/ppt/tags/tag607.xml" ContentType="application/vnd.openxmlformats-officedocument.presentationml.tags+xml"/>
  <Override PartName="/ppt/tags/tag608.xml" ContentType="application/vnd.openxmlformats-officedocument.presentationml.tags+xml"/>
  <Override PartName="/ppt/tags/tag609.xml" ContentType="application/vnd.openxmlformats-officedocument.presentationml.tags+xml"/>
  <Override PartName="/ppt/tags/tag610.xml" ContentType="application/vnd.openxmlformats-officedocument.presentationml.tags+xml"/>
  <Override PartName="/ppt/notesSlides/notesSlide55.xml" ContentType="application/vnd.openxmlformats-officedocument.presentationml.notesSlide+xml"/>
  <Override PartName="/ppt/tags/tag611.xml" ContentType="application/vnd.openxmlformats-officedocument.presentationml.tags+xml"/>
  <Override PartName="/ppt/tags/tag612.xml" ContentType="application/vnd.openxmlformats-officedocument.presentationml.tags+xml"/>
  <Override PartName="/ppt/tags/tag613.xml" ContentType="application/vnd.openxmlformats-officedocument.presentationml.tags+xml"/>
  <Override PartName="/ppt/tags/tag614.xml" ContentType="application/vnd.openxmlformats-officedocument.presentationml.tags+xml"/>
  <Override PartName="/ppt/tags/tag615.xml" ContentType="application/vnd.openxmlformats-officedocument.presentationml.tags+xml"/>
  <Override PartName="/ppt/tags/tag616.xml" ContentType="application/vnd.openxmlformats-officedocument.presentationml.tags+xml"/>
  <Override PartName="/ppt/tags/tag617.xml" ContentType="application/vnd.openxmlformats-officedocument.presentationml.tags+xml"/>
  <Override PartName="/ppt/tags/tag618.xml" ContentType="application/vnd.openxmlformats-officedocument.presentationml.tags+xml"/>
  <Override PartName="/ppt/tags/tag619.xml" ContentType="application/vnd.openxmlformats-officedocument.presentationml.tags+xml"/>
  <Override PartName="/ppt/tags/tag620.xml" ContentType="application/vnd.openxmlformats-officedocument.presentationml.tags+xml"/>
  <Override PartName="/ppt/tags/tag621.xml" ContentType="application/vnd.openxmlformats-officedocument.presentationml.tags+xml"/>
  <Override PartName="/ppt/tags/tag622.xml" ContentType="application/vnd.openxmlformats-officedocument.presentationml.tags+xml"/>
  <Override PartName="/ppt/tags/tag623.xml" ContentType="application/vnd.openxmlformats-officedocument.presentationml.tags+xml"/>
  <Override PartName="/ppt/tags/tag624.xml" ContentType="application/vnd.openxmlformats-officedocument.presentationml.tags+xml"/>
  <Override PartName="/ppt/tags/tag625.xml" ContentType="application/vnd.openxmlformats-officedocument.presentationml.tags+xml"/>
  <Override PartName="/ppt/tags/tag626.xml" ContentType="application/vnd.openxmlformats-officedocument.presentationml.tags+xml"/>
  <Override PartName="/ppt/tags/tag627.xml" ContentType="application/vnd.openxmlformats-officedocument.presentationml.tags+xml"/>
  <Override PartName="/ppt/tags/tag628.xml" ContentType="application/vnd.openxmlformats-officedocument.presentationml.tags+xml"/>
  <Override PartName="/ppt/notesSlides/notesSlide5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60" r:id="rId1"/>
  </p:sldMasterIdLst>
  <p:notesMasterIdLst>
    <p:notesMasterId r:id="rId61"/>
  </p:notesMasterIdLst>
  <p:sldIdLst>
    <p:sldId id="256" r:id="rId2"/>
    <p:sldId id="328" r:id="rId3"/>
    <p:sldId id="331" r:id="rId4"/>
    <p:sldId id="348" r:id="rId5"/>
    <p:sldId id="349" r:id="rId6"/>
    <p:sldId id="289" r:id="rId7"/>
    <p:sldId id="379" r:id="rId8"/>
    <p:sldId id="371" r:id="rId9"/>
    <p:sldId id="262" r:id="rId10"/>
    <p:sldId id="270" r:id="rId11"/>
    <p:sldId id="296" r:id="rId12"/>
    <p:sldId id="404" r:id="rId13"/>
    <p:sldId id="343" r:id="rId14"/>
    <p:sldId id="353" r:id="rId15"/>
    <p:sldId id="351" r:id="rId16"/>
    <p:sldId id="408" r:id="rId17"/>
    <p:sldId id="278" r:id="rId18"/>
    <p:sldId id="372" r:id="rId19"/>
    <p:sldId id="279" r:id="rId20"/>
    <p:sldId id="354" r:id="rId21"/>
    <p:sldId id="355" r:id="rId22"/>
    <p:sldId id="356" r:id="rId23"/>
    <p:sldId id="382" r:id="rId24"/>
    <p:sldId id="383" r:id="rId25"/>
    <p:sldId id="384" r:id="rId26"/>
    <p:sldId id="358" r:id="rId27"/>
    <p:sldId id="346" r:id="rId28"/>
    <p:sldId id="385" r:id="rId29"/>
    <p:sldId id="360" r:id="rId30"/>
    <p:sldId id="299" r:id="rId31"/>
    <p:sldId id="308" r:id="rId32"/>
    <p:sldId id="364" r:id="rId33"/>
    <p:sldId id="361" r:id="rId34"/>
    <p:sldId id="362" r:id="rId35"/>
    <p:sldId id="405" r:id="rId36"/>
    <p:sldId id="406" r:id="rId37"/>
    <p:sldId id="377" r:id="rId38"/>
    <p:sldId id="365" r:id="rId39"/>
    <p:sldId id="367" r:id="rId40"/>
    <p:sldId id="373" r:id="rId41"/>
    <p:sldId id="320" r:id="rId42"/>
    <p:sldId id="312" r:id="rId43"/>
    <p:sldId id="314" r:id="rId44"/>
    <p:sldId id="407" r:id="rId45"/>
    <p:sldId id="339" r:id="rId46"/>
    <p:sldId id="378" r:id="rId47"/>
    <p:sldId id="374" r:id="rId48"/>
    <p:sldId id="368" r:id="rId49"/>
    <p:sldId id="324" r:id="rId50"/>
    <p:sldId id="322" r:id="rId51"/>
    <p:sldId id="323" r:id="rId52"/>
    <p:sldId id="369" r:id="rId53"/>
    <p:sldId id="370" r:id="rId54"/>
    <p:sldId id="375" r:id="rId55"/>
    <p:sldId id="326" r:id="rId56"/>
    <p:sldId id="376" r:id="rId57"/>
    <p:sldId id="340" r:id="rId58"/>
    <p:sldId id="409" r:id="rId59"/>
    <p:sldId id="411" r:id="rId60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04" autoAdjust="0"/>
    <p:restoredTop sz="91329" autoAdjust="0"/>
  </p:normalViewPr>
  <p:slideViewPr>
    <p:cSldViewPr>
      <p:cViewPr varScale="1">
        <p:scale>
          <a:sx n="46" d="100"/>
          <a:sy n="46" d="100"/>
        </p:scale>
        <p:origin x="-1956" y="-10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13056"/>
    </p:cViewPr>
  </p:sorterViewPr>
  <p:notesViewPr>
    <p:cSldViewPr>
      <p:cViewPr varScale="1">
        <p:scale>
          <a:sx n="48" d="100"/>
          <a:sy n="48" d="100"/>
        </p:scale>
        <p:origin x="-2904" y="-108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3B6F57-E0CC-4706-A8E7-3923BDDA6E29}" type="datetimeFigureOut">
              <a:rPr lang="en-US" smtClean="0"/>
              <a:t>8/15/2011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8900A1-C120-4D8A-A942-BC698D1AB6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6168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6577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7882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9068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7882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4159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26618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26618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52453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6500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5192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6792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7100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12536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69685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6792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70565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0463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65983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72914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72914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38730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91509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11715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11715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411715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62449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277229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86478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72914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191600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23850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08283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01437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98795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72914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98466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72851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350766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04959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32162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5F2634D-697C-4EAF-A69A-3DDE9AF9775A}" type="slidenum">
              <a:rPr lang="en-US" smtClean="0"/>
              <a:pPr/>
              <a:t>42</a:t>
            </a:fld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65447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65005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355167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3981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862534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29856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33154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884620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457847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70472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09414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5888129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81729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26897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88900A1-C120-4D8A-A942-BC698D1AB619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8725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tags" Target="../tags/tag16.xml"/><Relationship Id="rId3" Type="http://schemas.openxmlformats.org/officeDocument/2006/relationships/tags" Target="../tags/tag11.xml"/><Relationship Id="rId7" Type="http://schemas.openxmlformats.org/officeDocument/2006/relationships/tags" Target="../tags/tag15.xml"/><Relationship Id="rId12" Type="http://schemas.openxmlformats.org/officeDocument/2006/relationships/image" Target="../media/image1.png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tags" Target="../tags/tag14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13.xml"/><Relationship Id="rId10" Type="http://schemas.openxmlformats.org/officeDocument/2006/relationships/tags" Target="../tags/tag18.xml"/><Relationship Id="rId4" Type="http://schemas.openxmlformats.org/officeDocument/2006/relationships/tags" Target="../tags/tag12.xml"/><Relationship Id="rId9" Type="http://schemas.openxmlformats.org/officeDocument/2006/relationships/tags" Target="../tags/tag17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tags" Target="../tags/tag26.xml"/><Relationship Id="rId3" Type="http://schemas.openxmlformats.org/officeDocument/2006/relationships/tags" Target="../tags/tag21.xml"/><Relationship Id="rId7" Type="http://schemas.openxmlformats.org/officeDocument/2006/relationships/tags" Target="../tags/tag25.xml"/><Relationship Id="rId2" Type="http://schemas.openxmlformats.org/officeDocument/2006/relationships/tags" Target="../tags/tag20.xml"/><Relationship Id="rId1" Type="http://schemas.openxmlformats.org/officeDocument/2006/relationships/tags" Target="../tags/tag19.xml"/><Relationship Id="rId6" Type="http://schemas.openxmlformats.org/officeDocument/2006/relationships/tags" Target="../tags/tag24.xml"/><Relationship Id="rId5" Type="http://schemas.openxmlformats.org/officeDocument/2006/relationships/tags" Target="../tags/tag23.xml"/><Relationship Id="rId10" Type="http://schemas.openxmlformats.org/officeDocument/2006/relationships/image" Target="../media/image1.png"/><Relationship Id="rId4" Type="http://schemas.openxmlformats.org/officeDocument/2006/relationships/tags" Target="../tags/tag22.xml"/><Relationship Id="rId9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tags" Target="../tags/tag29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28.xml"/><Relationship Id="rId1" Type="http://schemas.openxmlformats.org/officeDocument/2006/relationships/tags" Target="../tags/tag27.xml"/><Relationship Id="rId6" Type="http://schemas.openxmlformats.org/officeDocument/2006/relationships/tags" Target="../tags/tag32.xml"/><Relationship Id="rId5" Type="http://schemas.openxmlformats.org/officeDocument/2006/relationships/tags" Target="../tags/tag31.xml"/><Relationship Id="rId4" Type="http://schemas.openxmlformats.org/officeDocument/2006/relationships/tags" Target="../tags/tag30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3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" Type="http://schemas.openxmlformats.org/officeDocument/2006/relationships/tags" Target="../tags/tag34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3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rgbClr val="33669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0" y="6356350"/>
            <a:ext cx="9144000" cy="50165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5123" name="Title Placeholder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228600" y="836613"/>
            <a:ext cx="8686800" cy="1470025"/>
          </a:xfrm>
        </p:spPr>
        <p:txBody>
          <a:bodyPr/>
          <a:lstStyle>
            <a:lvl1pPr>
              <a:defRPr sz="4400" baseline="0">
                <a:solidFill>
                  <a:schemeClr val="bg1"/>
                </a:solidFill>
                <a:latin typeface="Calibri" pitchFamily="34" charset="0"/>
              </a:defRPr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5124" name="Text Placeholder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381000" y="3886200"/>
            <a:ext cx="8382000" cy="1752600"/>
          </a:xfrm>
        </p:spPr>
        <p:txBody>
          <a:bodyPr/>
          <a:lstStyle>
            <a:lvl1pPr marL="0" indent="0" algn="ctr">
              <a:buFont typeface="Arial" charset="0"/>
              <a:buNone/>
              <a:defRPr baseline="0">
                <a:solidFill>
                  <a:schemeClr val="bg1"/>
                </a:solidFill>
                <a:latin typeface="Calibri" pitchFamily="34" charset="0"/>
              </a:defRPr>
            </a:lvl1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  <p:custDataLst>
              <p:tags r:id="rId4"/>
            </p:custDataLst>
          </p:nvPr>
        </p:nvSpPr>
        <p:spPr>
          <a:xfrm>
            <a:off x="457200" y="6299200"/>
            <a:ext cx="2133600" cy="476250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Calibri" pitchFamily="34" charset="0"/>
              </a:defRPr>
            </a:lvl1pPr>
          </a:lstStyle>
          <a:p>
            <a:fld id="{D98DBA28-23C3-4D0E-A91E-0D7A4E4B4BCE}" type="datetime1">
              <a:rPr lang="en-US" smtClean="0"/>
              <a:t>8/15/2011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  <p:custDataLst>
              <p:tags r:id="rId5"/>
            </p:custDataLst>
          </p:nvPr>
        </p:nvSpPr>
        <p:spPr>
          <a:xfrm>
            <a:off x="6553200" y="6299200"/>
            <a:ext cx="2133600" cy="476250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72DCFC7-CCD2-4D18-A5A6-8AD55EBAF26B}" type="slidenum">
              <a:rPr lang="en-US" smtClean="0"/>
              <a:t>‹#›</a:t>
            </a:fld>
            <a:endParaRPr lang="en-US"/>
          </a:p>
        </p:txBody>
      </p:sp>
      <p:pic>
        <p:nvPicPr>
          <p:cNvPr id="5127" name="Picture 7"/>
          <p:cNvPicPr>
            <a:picLocks noChangeAspect="1" noChangeArrowheads="1"/>
          </p:cNvPicPr>
          <p:nvPr>
            <p:custDataLst>
              <p:tags r:id="rId6"/>
            </p:custDataLst>
          </p:nvPr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3452813" y="6356350"/>
            <a:ext cx="2238375" cy="419100"/>
          </a:xfrm>
          <a:prstGeom prst="rect">
            <a:avLst/>
          </a:prstGeom>
          <a:noFill/>
        </p:spPr>
      </p:pic>
      <p:sp>
        <p:nvSpPr>
          <p:cNvPr id="5128" name="Line 8"/>
          <p:cNvSpPr>
            <a:spLocks noChangeShapeType="1"/>
          </p:cNvSpPr>
          <p:nvPr>
            <p:custDataLst>
              <p:tags r:id="rId7"/>
            </p:custDataLst>
          </p:nvPr>
        </p:nvSpPr>
        <p:spPr bwMode="auto">
          <a:xfrm flipV="1">
            <a:off x="0" y="0"/>
            <a:ext cx="0" cy="6356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129" name="Line 9"/>
          <p:cNvSpPr>
            <a:spLocks noChangeShapeType="1"/>
          </p:cNvSpPr>
          <p:nvPr>
            <p:custDataLst>
              <p:tags r:id="rId8"/>
            </p:custDataLst>
          </p:nvPr>
        </p:nvSpPr>
        <p:spPr bwMode="auto">
          <a:xfrm flipH="1">
            <a:off x="0" y="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130" name="Line 10"/>
          <p:cNvSpPr>
            <a:spLocks noChangeShapeType="1"/>
          </p:cNvSpPr>
          <p:nvPr>
            <p:custDataLst>
              <p:tags r:id="rId9"/>
            </p:custDataLst>
          </p:nvPr>
        </p:nvSpPr>
        <p:spPr bwMode="auto">
          <a:xfrm>
            <a:off x="457200" y="3068638"/>
            <a:ext cx="8229600" cy="0"/>
          </a:xfrm>
          <a:prstGeom prst="line">
            <a:avLst/>
          </a:prstGeom>
          <a:noFill/>
          <a:ln w="9525">
            <a:solidFill>
              <a:schemeClr val="bg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5131" name="Line 11"/>
          <p:cNvSpPr>
            <a:spLocks noChangeShapeType="1"/>
          </p:cNvSpPr>
          <p:nvPr>
            <p:custDataLst>
              <p:tags r:id="rId10"/>
            </p:custDataLst>
          </p:nvPr>
        </p:nvSpPr>
        <p:spPr bwMode="auto">
          <a:xfrm flipV="1">
            <a:off x="9144000" y="0"/>
            <a:ext cx="0" cy="6858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2"/>
          <p:cNvSpPr>
            <a:spLocks noChangeArrowheads="1"/>
          </p:cNvSpPr>
          <p:nvPr userDrawn="1">
            <p:custDataLst>
              <p:tags r:id="rId1"/>
            </p:custDataLst>
          </p:nvPr>
        </p:nvSpPr>
        <p:spPr bwMode="auto">
          <a:xfrm>
            <a:off x="0" y="6356350"/>
            <a:ext cx="9144000" cy="50165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6E0D5B86-D5FE-4820-860D-574C9585D181}" type="datetime1">
              <a:rPr lang="en-US" smtClean="0"/>
              <a:t>8/15/2011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2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Box 5"/>
          <p:cNvSpPr txBox="1"/>
          <p:nvPr userDrawn="1">
            <p:custDataLst>
              <p:tags r:id="rId6"/>
            </p:custDataLst>
          </p:nvPr>
        </p:nvSpPr>
        <p:spPr>
          <a:xfrm>
            <a:off x="1371600" y="1447800"/>
            <a:ext cx="6400800" cy="25146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ctr"/>
            <a:endParaRPr lang="en-US" sz="3200" dirty="0" smtClean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8" name="Content Placeholder 7"/>
          <p:cNvSpPr>
            <a:spLocks noGrp="1"/>
          </p:cNvSpPr>
          <p:nvPr>
            <p:ph sz="quarter" idx="13"/>
            <p:custDataLst>
              <p:tags r:id="rId7"/>
            </p:custDataLst>
          </p:nvPr>
        </p:nvSpPr>
        <p:spPr>
          <a:xfrm>
            <a:off x="457200" y="609600"/>
            <a:ext cx="8229600" cy="5715000"/>
          </a:xfrm>
        </p:spPr>
        <p:txBody>
          <a:bodyPr/>
          <a:lstStyle/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pic>
        <p:nvPicPr>
          <p:cNvPr id="11" name="Picture 7"/>
          <p:cNvPicPr>
            <a:picLocks noChangeAspect="1" noChangeArrowheads="1"/>
          </p:cNvPicPr>
          <p:nvPr userDrawn="1">
            <p:custDataLst>
              <p:tags r:id="rId8"/>
            </p:custDataLst>
          </p:nvPr>
        </p:nvPicPr>
        <p:blipFill>
          <a:blip r:embed="rId10" cstate="print"/>
          <a:srcRect/>
          <a:stretch>
            <a:fillRect/>
          </a:stretch>
        </p:blipFill>
        <p:spPr bwMode="auto">
          <a:xfrm>
            <a:off x="3452813" y="6356350"/>
            <a:ext cx="2238375" cy="4191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56738570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2"/>
          <p:cNvSpPr>
            <a:spLocks noChangeArrowheads="1"/>
          </p:cNvSpPr>
          <p:nvPr userDrawn="1">
            <p:custDataLst>
              <p:tags r:id="rId1"/>
            </p:custDataLst>
          </p:nvPr>
        </p:nvSpPr>
        <p:spPr bwMode="auto">
          <a:xfrm>
            <a:off x="0" y="6356350"/>
            <a:ext cx="9144000" cy="50165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27549A96-8F73-4F39-B4BE-65A60389944F}" type="datetime1">
              <a:rPr lang="en-US" smtClean="0"/>
              <a:t>8/15/2011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0" y="0"/>
            <a:ext cx="9144000" cy="632460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pic>
        <p:nvPicPr>
          <p:cNvPr id="15" name="Picture 7"/>
          <p:cNvPicPr>
            <a:picLocks noChangeAspect="1" noChangeArrowheads="1"/>
          </p:cNvPicPr>
          <p:nvPr userDrawn="1">
            <p:custDataLst>
              <p:tags r:id="rId6"/>
            </p:custDataLst>
          </p:nvPr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3452813" y="6356350"/>
            <a:ext cx="2238375" cy="4191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59986819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/>
          <p:cNvSpPr>
            <a:spLocks noGrp="1"/>
          </p:cNvSpPr>
          <p:nvPr>
            <p:ph sz="quarter" idx="10"/>
            <p:custDataLst>
              <p:tags r:id="rId1"/>
            </p:custDataLst>
          </p:nvPr>
        </p:nvSpPr>
        <p:spPr>
          <a:xfrm>
            <a:off x="0" y="0"/>
            <a:ext cx="9144000" cy="685800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72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388378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673BA19D-B2D7-49A7-89E4-9D9B2421D5BF}" type="datetime1">
              <a:rPr lang="en-US" smtClean="0"/>
              <a:t>8/15/2011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3A3D790D-3B66-4FBE-B73B-CD56CACC06C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144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2.xml"/><Relationship Id="rId13" Type="http://schemas.openxmlformats.org/officeDocument/2006/relationships/tags" Target="../tags/tag7.xml"/><Relationship Id="rId3" Type="http://schemas.openxmlformats.org/officeDocument/2006/relationships/slideLayout" Target="../slideLayouts/slideLayout3.xml"/><Relationship Id="rId7" Type="http://schemas.openxmlformats.org/officeDocument/2006/relationships/tags" Target="../tags/tag1.xml"/><Relationship Id="rId12" Type="http://schemas.openxmlformats.org/officeDocument/2006/relationships/tags" Target="../tags/tag6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11" Type="http://schemas.openxmlformats.org/officeDocument/2006/relationships/tags" Target="../tags/tag5.xml"/><Relationship Id="rId5" Type="http://schemas.openxmlformats.org/officeDocument/2006/relationships/slideLayout" Target="../slideLayouts/slideLayout5.xml"/><Relationship Id="rId10" Type="http://schemas.openxmlformats.org/officeDocument/2006/relationships/tags" Target="../tags/tag4.xml"/><Relationship Id="rId4" Type="http://schemas.openxmlformats.org/officeDocument/2006/relationships/slideLayout" Target="../slideLayouts/slideLayout4.xml"/><Relationship Id="rId9" Type="http://schemas.openxmlformats.org/officeDocument/2006/relationships/tags" Target="../tags/tag3.xml"/><Relationship Id="rId14" Type="http://schemas.openxmlformats.org/officeDocument/2006/relationships/tags" Target="../tags/tag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Title Placeholder 1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 bwMode="auto">
          <a:xfrm>
            <a:off x="457200" y="0"/>
            <a:ext cx="8229600" cy="6334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 smtClean="0"/>
              <a:t>Click to edit Master title style</a:t>
            </a:r>
          </a:p>
        </p:txBody>
      </p:sp>
      <p:sp>
        <p:nvSpPr>
          <p:cNvPr id="4100" name="Text Placeholder 2"/>
          <p:cNvSpPr>
            <a:spLocks noGrp="1"/>
          </p:cNvSpPr>
          <p:nvPr>
            <p:ph type="body" idx="1"/>
            <p:custDataLst>
              <p:tags r:id="rId8"/>
            </p:custDataLst>
          </p:nvPr>
        </p:nvSpPr>
        <p:spPr bwMode="auto">
          <a:xfrm>
            <a:off x="457200" y="609600"/>
            <a:ext cx="8229600" cy="5746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  <p:custDataLst>
              <p:tags r:id="rId9"/>
            </p:custDataLst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600">
                <a:solidFill>
                  <a:schemeClr val="bg1">
                    <a:lumMod val="75000"/>
                  </a:schemeClr>
                </a:solidFill>
                <a:latin typeface="Calibri" pitchFamily="34" charset="0"/>
                <a:cs typeface="Calibri" pitchFamily="34" charset="0"/>
              </a:defRPr>
            </a:lvl1pPr>
          </a:lstStyle>
          <a:p>
            <a:fld id="{E48D351C-9B00-450F-8246-44407C88F82A}" type="datetime1">
              <a:rPr lang="en-US" smtClean="0"/>
              <a:t>8/15/2011</a:t>
            </a:fld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  <p:custDataLst>
              <p:tags r:id="rId10"/>
            </p:custDataLst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600">
                <a:solidFill>
                  <a:schemeClr val="bg1">
                    <a:lumMod val="75000"/>
                  </a:schemeClr>
                </a:solidFill>
                <a:latin typeface="Calibri" pitchFamily="34" charset="0"/>
                <a:cs typeface="Calibri" pitchFamily="34" charset="0"/>
              </a:defRPr>
            </a:lvl1pPr>
          </a:lstStyle>
          <a:p>
            <a:fld id="{D72DCFC7-CCD2-4D18-A5A6-8AD55EBAF26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104" name="Line 8"/>
          <p:cNvSpPr>
            <a:spLocks noChangeShapeType="1"/>
          </p:cNvSpPr>
          <p:nvPr>
            <p:custDataLst>
              <p:tags r:id="rId11"/>
            </p:custDataLst>
          </p:nvPr>
        </p:nvSpPr>
        <p:spPr bwMode="auto">
          <a:xfrm flipV="1">
            <a:off x="0" y="0"/>
            <a:ext cx="0" cy="6356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4105" name="Line 9"/>
          <p:cNvSpPr>
            <a:spLocks noChangeShapeType="1"/>
          </p:cNvSpPr>
          <p:nvPr>
            <p:custDataLst>
              <p:tags r:id="rId12"/>
            </p:custDataLst>
          </p:nvPr>
        </p:nvSpPr>
        <p:spPr bwMode="auto">
          <a:xfrm flipH="1">
            <a:off x="0" y="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4107" name="Line 11"/>
          <p:cNvSpPr>
            <a:spLocks noChangeShapeType="1"/>
          </p:cNvSpPr>
          <p:nvPr>
            <p:custDataLst>
              <p:tags r:id="rId13"/>
            </p:custDataLst>
          </p:nvPr>
        </p:nvSpPr>
        <p:spPr bwMode="auto">
          <a:xfrm flipV="1">
            <a:off x="9144000" y="0"/>
            <a:ext cx="0" cy="6858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3"/>
            <p:custDataLst>
              <p:tags r:id="rId14"/>
            </p:custDataLst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iming>
    <p:tnLst>
      <p:par>
        <p:cTn id="1" dur="indefinite" restart="never" nodeType="tmRoot"/>
      </p:par>
    </p:tnLst>
  </p:timing>
  <p:hf hdr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sz="4000">
          <a:solidFill>
            <a:srgbClr val="0000CC"/>
          </a:solidFill>
          <a:latin typeface="Calibri" pitchFamily="34" charset="0"/>
          <a:ea typeface="+mj-ea"/>
          <a:cs typeface="Calibri" pitchFamily="34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sz="2800">
          <a:solidFill>
            <a:srgbClr val="0000CC"/>
          </a:solidFill>
          <a:latin typeface="Arial" charset="0"/>
          <a:ea typeface="ＭＳ Ｐゴシック" pitchFamily="-65" charset="-128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sz="2800">
          <a:solidFill>
            <a:srgbClr val="0000CC"/>
          </a:solidFill>
          <a:latin typeface="Arial" charset="0"/>
          <a:ea typeface="ＭＳ Ｐゴシック" pitchFamily="-65" charset="-128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sz="2800">
          <a:solidFill>
            <a:srgbClr val="0000CC"/>
          </a:solidFill>
          <a:latin typeface="Arial" charset="0"/>
          <a:ea typeface="ＭＳ Ｐゴシック" pitchFamily="-65" charset="-128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sz="2800">
          <a:solidFill>
            <a:srgbClr val="0000CC"/>
          </a:solidFill>
          <a:latin typeface="Arial" charset="0"/>
          <a:ea typeface="ＭＳ Ｐゴシック" pitchFamily="-65" charset="-128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sz="2800">
          <a:solidFill>
            <a:srgbClr val="0000CC"/>
          </a:solidFill>
          <a:latin typeface="Arial" charset="0"/>
          <a:ea typeface="ＭＳ Ｐゴシック" pitchFamily="-65" charset="-128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sz="2800">
          <a:solidFill>
            <a:srgbClr val="0000CC"/>
          </a:solidFill>
          <a:latin typeface="Arial" charset="0"/>
          <a:ea typeface="ＭＳ Ｐゴシック" pitchFamily="-65" charset="-128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sz="2800">
          <a:solidFill>
            <a:srgbClr val="0000CC"/>
          </a:solidFill>
          <a:latin typeface="Arial" charset="0"/>
          <a:ea typeface="ＭＳ Ｐゴシック" pitchFamily="-65" charset="-128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sz="2800">
          <a:solidFill>
            <a:srgbClr val="0000CC"/>
          </a:solidFill>
          <a:latin typeface="Arial" charset="0"/>
          <a:ea typeface="ＭＳ Ｐゴシック" pitchFamily="-65" charset="-128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Font typeface="Arial" charset="0"/>
        <a:buChar char="•"/>
        <a:defRPr sz="3200">
          <a:solidFill>
            <a:schemeClr val="tx1"/>
          </a:solidFill>
          <a:latin typeface="Calibri" pitchFamily="34" charset="0"/>
          <a:ea typeface="+mn-ea"/>
          <a:cs typeface="Calibri" pitchFamily="34" charset="0"/>
        </a:defRPr>
      </a:lvl1pPr>
      <a:lvl2pPr marL="796925" indent="-339725" algn="l" defTabSz="457200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Font typeface="Arial" charset="0"/>
        <a:buChar char="–"/>
        <a:defRPr sz="2800">
          <a:solidFill>
            <a:schemeClr val="tx1"/>
          </a:solidFill>
          <a:latin typeface="Calibri" pitchFamily="34" charset="0"/>
          <a:ea typeface="+mn-ea"/>
          <a:cs typeface="Calibri" pitchFamily="34" charset="0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Font typeface="Arial" charset="0"/>
        <a:buChar char="•"/>
        <a:defRPr sz="2400">
          <a:solidFill>
            <a:schemeClr val="tx1"/>
          </a:solidFill>
          <a:latin typeface="Calibri" pitchFamily="34" charset="0"/>
          <a:ea typeface="+mn-ea"/>
          <a:cs typeface="Calibri" pitchFamily="34" charset="0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Font typeface="Arial" charset="0"/>
        <a:buChar char="–"/>
        <a:defRPr sz="1800">
          <a:solidFill>
            <a:schemeClr val="tx1"/>
          </a:solidFill>
          <a:latin typeface="Calibri" pitchFamily="34" charset="0"/>
          <a:ea typeface="+mn-ea"/>
          <a:cs typeface="Calibri" pitchFamily="34" charset="0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Font typeface="Arial" charset="0"/>
        <a:buChar char="»"/>
        <a:defRPr sz="1600">
          <a:solidFill>
            <a:schemeClr val="tx1"/>
          </a:solidFill>
          <a:latin typeface="Calibri" pitchFamily="34" charset="0"/>
          <a:ea typeface="+mn-ea"/>
          <a:cs typeface="Calibri" pitchFamily="34" charset="0"/>
        </a:defRPr>
      </a:lvl5pPr>
      <a:lvl6pPr marL="2514600" indent="-228600" algn="l" defTabSz="457200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Font typeface="Arial" charset="0"/>
        <a:buChar char="»"/>
        <a:defRPr sz="1200">
          <a:solidFill>
            <a:schemeClr val="tx1"/>
          </a:solidFill>
          <a:latin typeface="+mn-lt"/>
          <a:ea typeface="+mn-ea"/>
        </a:defRPr>
      </a:lvl6pPr>
      <a:lvl7pPr marL="2971800" indent="-228600" algn="l" defTabSz="457200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Font typeface="Arial" charset="0"/>
        <a:buChar char="»"/>
        <a:defRPr sz="1200">
          <a:solidFill>
            <a:schemeClr val="tx1"/>
          </a:solidFill>
          <a:latin typeface="+mn-lt"/>
          <a:ea typeface="+mn-ea"/>
        </a:defRPr>
      </a:lvl7pPr>
      <a:lvl8pPr marL="3429000" indent="-228600" algn="l" defTabSz="457200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Font typeface="Arial" charset="0"/>
        <a:buChar char="»"/>
        <a:defRPr sz="1200">
          <a:solidFill>
            <a:schemeClr val="tx1"/>
          </a:solidFill>
          <a:latin typeface="+mn-lt"/>
          <a:ea typeface="+mn-ea"/>
        </a:defRPr>
      </a:lvl8pPr>
      <a:lvl9pPr marL="3886200" indent="-228600" algn="l" defTabSz="457200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Font typeface="Arial" charset="0"/>
        <a:buChar char="»"/>
        <a:defRPr sz="12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tags" Target="../tags/tag40.xml"/><Relationship Id="rId7" Type="http://schemas.openxmlformats.org/officeDocument/2006/relationships/notesSlide" Target="../notesSlides/notesSlide1.xml"/><Relationship Id="rId2" Type="http://schemas.openxmlformats.org/officeDocument/2006/relationships/tags" Target="../tags/tag39.xml"/><Relationship Id="rId1" Type="http://schemas.openxmlformats.org/officeDocument/2006/relationships/tags" Target="../tags/tag38.xml"/><Relationship Id="rId6" Type="http://schemas.openxmlformats.org/officeDocument/2006/relationships/slideLayout" Target="../slideLayouts/slideLayout1.xml"/><Relationship Id="rId5" Type="http://schemas.openxmlformats.org/officeDocument/2006/relationships/tags" Target="../tags/tag42.xml"/><Relationship Id="rId4" Type="http://schemas.openxmlformats.org/officeDocument/2006/relationships/tags" Target="../tags/tag4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50.xml"/><Relationship Id="rId13" Type="http://schemas.openxmlformats.org/officeDocument/2006/relationships/notesSlide" Target="../notesSlides/notesSlide2.xml"/><Relationship Id="rId3" Type="http://schemas.openxmlformats.org/officeDocument/2006/relationships/tags" Target="../tags/tag45.xml"/><Relationship Id="rId7" Type="http://schemas.openxmlformats.org/officeDocument/2006/relationships/tags" Target="../tags/tag49.xml"/><Relationship Id="rId12" Type="http://schemas.openxmlformats.org/officeDocument/2006/relationships/slideLayout" Target="../slideLayouts/slideLayout2.xml"/><Relationship Id="rId2" Type="http://schemas.openxmlformats.org/officeDocument/2006/relationships/tags" Target="../tags/tag44.xml"/><Relationship Id="rId1" Type="http://schemas.openxmlformats.org/officeDocument/2006/relationships/tags" Target="../tags/tag43.xml"/><Relationship Id="rId6" Type="http://schemas.openxmlformats.org/officeDocument/2006/relationships/tags" Target="../tags/tag48.xml"/><Relationship Id="rId11" Type="http://schemas.openxmlformats.org/officeDocument/2006/relationships/tags" Target="../tags/tag53.xml"/><Relationship Id="rId5" Type="http://schemas.openxmlformats.org/officeDocument/2006/relationships/tags" Target="../tags/tag47.xml"/><Relationship Id="rId15" Type="http://schemas.openxmlformats.org/officeDocument/2006/relationships/image" Target="../media/image3.gif"/><Relationship Id="rId10" Type="http://schemas.openxmlformats.org/officeDocument/2006/relationships/tags" Target="../tags/tag52.xml"/><Relationship Id="rId4" Type="http://schemas.openxmlformats.org/officeDocument/2006/relationships/tags" Target="../tags/tag46.xml"/><Relationship Id="rId9" Type="http://schemas.openxmlformats.org/officeDocument/2006/relationships/tags" Target="../tags/tag51.xml"/><Relationship Id="rId1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56.xml"/><Relationship Id="rId7" Type="http://schemas.openxmlformats.org/officeDocument/2006/relationships/notesSlide" Target="../notesSlides/notesSlide3.xml"/><Relationship Id="rId2" Type="http://schemas.openxmlformats.org/officeDocument/2006/relationships/tags" Target="../tags/tag55.xml"/><Relationship Id="rId1" Type="http://schemas.openxmlformats.org/officeDocument/2006/relationships/tags" Target="../tags/tag54.xml"/><Relationship Id="rId6" Type="http://schemas.openxmlformats.org/officeDocument/2006/relationships/slideLayout" Target="../slideLayouts/slideLayout4.xml"/><Relationship Id="rId5" Type="http://schemas.openxmlformats.org/officeDocument/2006/relationships/tags" Target="../tags/tag58.xml"/><Relationship Id="rId4" Type="http://schemas.openxmlformats.org/officeDocument/2006/relationships/tags" Target="../tags/tag5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tags" Target="../tags/tag66.xml"/><Relationship Id="rId13" Type="http://schemas.openxmlformats.org/officeDocument/2006/relationships/slideLayout" Target="../slideLayouts/slideLayout2.xml"/><Relationship Id="rId3" Type="http://schemas.openxmlformats.org/officeDocument/2006/relationships/tags" Target="../tags/tag61.xml"/><Relationship Id="rId7" Type="http://schemas.openxmlformats.org/officeDocument/2006/relationships/tags" Target="../tags/tag65.xml"/><Relationship Id="rId12" Type="http://schemas.openxmlformats.org/officeDocument/2006/relationships/tags" Target="../tags/tag70.xml"/><Relationship Id="rId17" Type="http://schemas.openxmlformats.org/officeDocument/2006/relationships/image" Target="../media/image5.png"/><Relationship Id="rId2" Type="http://schemas.openxmlformats.org/officeDocument/2006/relationships/tags" Target="../tags/tag60.xml"/><Relationship Id="rId16" Type="http://schemas.openxmlformats.org/officeDocument/2006/relationships/image" Target="../media/image3.gif"/><Relationship Id="rId1" Type="http://schemas.openxmlformats.org/officeDocument/2006/relationships/tags" Target="../tags/tag59.xml"/><Relationship Id="rId6" Type="http://schemas.openxmlformats.org/officeDocument/2006/relationships/tags" Target="../tags/tag64.xml"/><Relationship Id="rId11" Type="http://schemas.openxmlformats.org/officeDocument/2006/relationships/tags" Target="../tags/tag69.xml"/><Relationship Id="rId5" Type="http://schemas.openxmlformats.org/officeDocument/2006/relationships/tags" Target="../tags/tag63.xml"/><Relationship Id="rId15" Type="http://schemas.openxmlformats.org/officeDocument/2006/relationships/image" Target="../media/image2.png"/><Relationship Id="rId10" Type="http://schemas.openxmlformats.org/officeDocument/2006/relationships/tags" Target="../tags/tag68.xml"/><Relationship Id="rId4" Type="http://schemas.openxmlformats.org/officeDocument/2006/relationships/tags" Target="../tags/tag62.xml"/><Relationship Id="rId9" Type="http://schemas.openxmlformats.org/officeDocument/2006/relationships/tags" Target="../tags/tag67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5.xml"/><Relationship Id="rId3" Type="http://schemas.openxmlformats.org/officeDocument/2006/relationships/tags" Target="../tags/tag73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72.xml"/><Relationship Id="rId1" Type="http://schemas.openxmlformats.org/officeDocument/2006/relationships/tags" Target="../tags/tag71.xml"/><Relationship Id="rId6" Type="http://schemas.openxmlformats.org/officeDocument/2006/relationships/tags" Target="../tags/tag76.xml"/><Relationship Id="rId5" Type="http://schemas.openxmlformats.org/officeDocument/2006/relationships/tags" Target="../tags/tag75.xml"/><Relationship Id="rId4" Type="http://schemas.openxmlformats.org/officeDocument/2006/relationships/tags" Target="../tags/tag74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6.xml"/><Relationship Id="rId3" Type="http://schemas.openxmlformats.org/officeDocument/2006/relationships/tags" Target="../tags/tag79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78.xml"/><Relationship Id="rId1" Type="http://schemas.openxmlformats.org/officeDocument/2006/relationships/tags" Target="../tags/tag77.xml"/><Relationship Id="rId6" Type="http://schemas.openxmlformats.org/officeDocument/2006/relationships/tags" Target="../tags/tag82.xml"/><Relationship Id="rId5" Type="http://schemas.openxmlformats.org/officeDocument/2006/relationships/tags" Target="../tags/tag81.xml"/><Relationship Id="rId4" Type="http://schemas.openxmlformats.org/officeDocument/2006/relationships/tags" Target="../tags/tag8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tags" Target="../tags/tag85.xml"/><Relationship Id="rId7" Type="http://schemas.openxmlformats.org/officeDocument/2006/relationships/notesSlide" Target="../notesSlides/notesSlide7.xml"/><Relationship Id="rId2" Type="http://schemas.openxmlformats.org/officeDocument/2006/relationships/tags" Target="../tags/tag84.xml"/><Relationship Id="rId1" Type="http://schemas.openxmlformats.org/officeDocument/2006/relationships/tags" Target="../tags/tag83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87.xml"/><Relationship Id="rId4" Type="http://schemas.openxmlformats.org/officeDocument/2006/relationships/tags" Target="../tags/tag8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8.xml"/><Relationship Id="rId3" Type="http://schemas.openxmlformats.org/officeDocument/2006/relationships/tags" Target="../tags/tag90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89.xml"/><Relationship Id="rId1" Type="http://schemas.openxmlformats.org/officeDocument/2006/relationships/tags" Target="../tags/tag88.xml"/><Relationship Id="rId6" Type="http://schemas.openxmlformats.org/officeDocument/2006/relationships/tags" Target="../tags/tag93.xml"/><Relationship Id="rId5" Type="http://schemas.openxmlformats.org/officeDocument/2006/relationships/tags" Target="../tags/tag92.xml"/><Relationship Id="rId4" Type="http://schemas.openxmlformats.org/officeDocument/2006/relationships/tags" Target="../tags/tag9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tags" Target="../tags/tag101.xml"/><Relationship Id="rId13" Type="http://schemas.openxmlformats.org/officeDocument/2006/relationships/tags" Target="../tags/tag106.xml"/><Relationship Id="rId3" Type="http://schemas.openxmlformats.org/officeDocument/2006/relationships/tags" Target="../tags/tag96.xml"/><Relationship Id="rId7" Type="http://schemas.openxmlformats.org/officeDocument/2006/relationships/tags" Target="../tags/tag100.xml"/><Relationship Id="rId12" Type="http://schemas.openxmlformats.org/officeDocument/2006/relationships/tags" Target="../tags/tag105.xml"/><Relationship Id="rId2" Type="http://schemas.openxmlformats.org/officeDocument/2006/relationships/tags" Target="../tags/tag95.xml"/><Relationship Id="rId1" Type="http://schemas.openxmlformats.org/officeDocument/2006/relationships/tags" Target="../tags/tag94.xml"/><Relationship Id="rId6" Type="http://schemas.openxmlformats.org/officeDocument/2006/relationships/tags" Target="../tags/tag99.xml"/><Relationship Id="rId11" Type="http://schemas.openxmlformats.org/officeDocument/2006/relationships/tags" Target="../tags/tag104.xml"/><Relationship Id="rId5" Type="http://schemas.openxmlformats.org/officeDocument/2006/relationships/tags" Target="../tags/tag98.xml"/><Relationship Id="rId15" Type="http://schemas.openxmlformats.org/officeDocument/2006/relationships/notesSlide" Target="../notesSlides/notesSlide9.xml"/><Relationship Id="rId10" Type="http://schemas.openxmlformats.org/officeDocument/2006/relationships/tags" Target="../tags/tag103.xml"/><Relationship Id="rId4" Type="http://schemas.openxmlformats.org/officeDocument/2006/relationships/tags" Target="../tags/tag97.xml"/><Relationship Id="rId9" Type="http://schemas.openxmlformats.org/officeDocument/2006/relationships/tags" Target="../tags/tag102.xml"/><Relationship Id="rId14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tags" Target="../tags/tag114.xml"/><Relationship Id="rId13" Type="http://schemas.openxmlformats.org/officeDocument/2006/relationships/tags" Target="../tags/tag119.xml"/><Relationship Id="rId3" Type="http://schemas.openxmlformats.org/officeDocument/2006/relationships/tags" Target="../tags/tag109.xml"/><Relationship Id="rId7" Type="http://schemas.openxmlformats.org/officeDocument/2006/relationships/tags" Target="../tags/tag113.xml"/><Relationship Id="rId12" Type="http://schemas.openxmlformats.org/officeDocument/2006/relationships/tags" Target="../tags/tag118.xml"/><Relationship Id="rId17" Type="http://schemas.openxmlformats.org/officeDocument/2006/relationships/notesSlide" Target="../notesSlides/notesSlide10.xml"/><Relationship Id="rId2" Type="http://schemas.openxmlformats.org/officeDocument/2006/relationships/tags" Target="../tags/tag108.xml"/><Relationship Id="rId16" Type="http://schemas.openxmlformats.org/officeDocument/2006/relationships/slideLayout" Target="../slideLayouts/slideLayout2.xml"/><Relationship Id="rId1" Type="http://schemas.openxmlformats.org/officeDocument/2006/relationships/tags" Target="../tags/tag107.xml"/><Relationship Id="rId6" Type="http://schemas.openxmlformats.org/officeDocument/2006/relationships/tags" Target="../tags/tag112.xml"/><Relationship Id="rId11" Type="http://schemas.openxmlformats.org/officeDocument/2006/relationships/tags" Target="../tags/tag117.xml"/><Relationship Id="rId5" Type="http://schemas.openxmlformats.org/officeDocument/2006/relationships/tags" Target="../tags/tag111.xml"/><Relationship Id="rId15" Type="http://schemas.openxmlformats.org/officeDocument/2006/relationships/tags" Target="../tags/tag121.xml"/><Relationship Id="rId10" Type="http://schemas.openxmlformats.org/officeDocument/2006/relationships/tags" Target="../tags/tag116.xml"/><Relationship Id="rId4" Type="http://schemas.openxmlformats.org/officeDocument/2006/relationships/tags" Target="../tags/tag110.xml"/><Relationship Id="rId9" Type="http://schemas.openxmlformats.org/officeDocument/2006/relationships/tags" Target="../tags/tag115.xml"/><Relationship Id="rId14" Type="http://schemas.openxmlformats.org/officeDocument/2006/relationships/tags" Target="../tags/tag120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1.xml"/><Relationship Id="rId3" Type="http://schemas.openxmlformats.org/officeDocument/2006/relationships/tags" Target="../tags/tag124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123.xml"/><Relationship Id="rId1" Type="http://schemas.openxmlformats.org/officeDocument/2006/relationships/tags" Target="../tags/tag122.xml"/><Relationship Id="rId6" Type="http://schemas.openxmlformats.org/officeDocument/2006/relationships/tags" Target="../tags/tag127.xml"/><Relationship Id="rId5" Type="http://schemas.openxmlformats.org/officeDocument/2006/relationships/tags" Target="../tags/tag126.xml"/><Relationship Id="rId4" Type="http://schemas.openxmlformats.org/officeDocument/2006/relationships/tags" Target="../tags/tag125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2.xml"/><Relationship Id="rId3" Type="http://schemas.openxmlformats.org/officeDocument/2006/relationships/tags" Target="../tags/tag130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129.xml"/><Relationship Id="rId1" Type="http://schemas.openxmlformats.org/officeDocument/2006/relationships/tags" Target="../tags/tag128.xml"/><Relationship Id="rId6" Type="http://schemas.openxmlformats.org/officeDocument/2006/relationships/tags" Target="../tags/tag133.xml"/><Relationship Id="rId5" Type="http://schemas.openxmlformats.org/officeDocument/2006/relationships/tags" Target="../tags/tag132.xml"/><Relationship Id="rId4" Type="http://schemas.openxmlformats.org/officeDocument/2006/relationships/tags" Target="../tags/tag13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tags" Target="../tags/tag141.xml"/><Relationship Id="rId13" Type="http://schemas.openxmlformats.org/officeDocument/2006/relationships/tags" Target="../tags/tag146.xml"/><Relationship Id="rId18" Type="http://schemas.openxmlformats.org/officeDocument/2006/relationships/tags" Target="../tags/tag151.xml"/><Relationship Id="rId26" Type="http://schemas.openxmlformats.org/officeDocument/2006/relationships/tags" Target="../tags/tag159.xml"/><Relationship Id="rId3" Type="http://schemas.openxmlformats.org/officeDocument/2006/relationships/tags" Target="../tags/tag136.xml"/><Relationship Id="rId21" Type="http://schemas.openxmlformats.org/officeDocument/2006/relationships/tags" Target="../tags/tag154.xml"/><Relationship Id="rId7" Type="http://schemas.openxmlformats.org/officeDocument/2006/relationships/tags" Target="../tags/tag140.xml"/><Relationship Id="rId12" Type="http://schemas.openxmlformats.org/officeDocument/2006/relationships/tags" Target="../tags/tag145.xml"/><Relationship Id="rId17" Type="http://schemas.openxmlformats.org/officeDocument/2006/relationships/tags" Target="../tags/tag150.xml"/><Relationship Id="rId25" Type="http://schemas.openxmlformats.org/officeDocument/2006/relationships/tags" Target="../tags/tag158.xml"/><Relationship Id="rId2" Type="http://schemas.openxmlformats.org/officeDocument/2006/relationships/tags" Target="../tags/tag135.xml"/><Relationship Id="rId16" Type="http://schemas.openxmlformats.org/officeDocument/2006/relationships/tags" Target="../tags/tag149.xml"/><Relationship Id="rId20" Type="http://schemas.openxmlformats.org/officeDocument/2006/relationships/tags" Target="../tags/tag153.xml"/><Relationship Id="rId29" Type="http://schemas.openxmlformats.org/officeDocument/2006/relationships/notesSlide" Target="../notesSlides/notesSlide13.xml"/><Relationship Id="rId1" Type="http://schemas.openxmlformats.org/officeDocument/2006/relationships/tags" Target="../tags/tag134.xml"/><Relationship Id="rId6" Type="http://schemas.openxmlformats.org/officeDocument/2006/relationships/tags" Target="../tags/tag139.xml"/><Relationship Id="rId11" Type="http://schemas.openxmlformats.org/officeDocument/2006/relationships/tags" Target="../tags/tag144.xml"/><Relationship Id="rId24" Type="http://schemas.openxmlformats.org/officeDocument/2006/relationships/tags" Target="../tags/tag157.xml"/><Relationship Id="rId5" Type="http://schemas.openxmlformats.org/officeDocument/2006/relationships/tags" Target="../tags/tag138.xml"/><Relationship Id="rId15" Type="http://schemas.openxmlformats.org/officeDocument/2006/relationships/tags" Target="../tags/tag148.xml"/><Relationship Id="rId23" Type="http://schemas.openxmlformats.org/officeDocument/2006/relationships/tags" Target="../tags/tag156.xml"/><Relationship Id="rId28" Type="http://schemas.openxmlformats.org/officeDocument/2006/relationships/slideLayout" Target="../slideLayouts/slideLayout2.xml"/><Relationship Id="rId10" Type="http://schemas.openxmlformats.org/officeDocument/2006/relationships/tags" Target="../tags/tag143.xml"/><Relationship Id="rId19" Type="http://schemas.openxmlformats.org/officeDocument/2006/relationships/tags" Target="../tags/tag152.xml"/><Relationship Id="rId4" Type="http://schemas.openxmlformats.org/officeDocument/2006/relationships/tags" Target="../tags/tag137.xml"/><Relationship Id="rId9" Type="http://schemas.openxmlformats.org/officeDocument/2006/relationships/tags" Target="../tags/tag142.xml"/><Relationship Id="rId14" Type="http://schemas.openxmlformats.org/officeDocument/2006/relationships/tags" Target="../tags/tag147.xml"/><Relationship Id="rId22" Type="http://schemas.openxmlformats.org/officeDocument/2006/relationships/tags" Target="../tags/tag155.xml"/><Relationship Id="rId27" Type="http://schemas.openxmlformats.org/officeDocument/2006/relationships/tags" Target="../tags/tag160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tags" Target="../tags/tag168.xml"/><Relationship Id="rId13" Type="http://schemas.openxmlformats.org/officeDocument/2006/relationships/tags" Target="../tags/tag173.xml"/><Relationship Id="rId18" Type="http://schemas.openxmlformats.org/officeDocument/2006/relationships/tags" Target="../tags/tag178.xml"/><Relationship Id="rId26" Type="http://schemas.openxmlformats.org/officeDocument/2006/relationships/tags" Target="../tags/tag186.xml"/><Relationship Id="rId3" Type="http://schemas.openxmlformats.org/officeDocument/2006/relationships/tags" Target="../tags/tag163.xml"/><Relationship Id="rId21" Type="http://schemas.openxmlformats.org/officeDocument/2006/relationships/tags" Target="../tags/tag181.xml"/><Relationship Id="rId7" Type="http://schemas.openxmlformats.org/officeDocument/2006/relationships/tags" Target="../tags/tag167.xml"/><Relationship Id="rId12" Type="http://schemas.openxmlformats.org/officeDocument/2006/relationships/tags" Target="../tags/tag172.xml"/><Relationship Id="rId17" Type="http://schemas.openxmlformats.org/officeDocument/2006/relationships/tags" Target="../tags/tag177.xml"/><Relationship Id="rId25" Type="http://schemas.openxmlformats.org/officeDocument/2006/relationships/tags" Target="../tags/tag185.xml"/><Relationship Id="rId2" Type="http://schemas.openxmlformats.org/officeDocument/2006/relationships/tags" Target="../tags/tag162.xml"/><Relationship Id="rId16" Type="http://schemas.openxmlformats.org/officeDocument/2006/relationships/tags" Target="../tags/tag176.xml"/><Relationship Id="rId20" Type="http://schemas.openxmlformats.org/officeDocument/2006/relationships/tags" Target="../tags/tag180.xml"/><Relationship Id="rId29" Type="http://schemas.openxmlformats.org/officeDocument/2006/relationships/tags" Target="../tags/tag189.xml"/><Relationship Id="rId1" Type="http://schemas.openxmlformats.org/officeDocument/2006/relationships/tags" Target="../tags/tag161.xml"/><Relationship Id="rId6" Type="http://schemas.openxmlformats.org/officeDocument/2006/relationships/tags" Target="../tags/tag166.xml"/><Relationship Id="rId11" Type="http://schemas.openxmlformats.org/officeDocument/2006/relationships/tags" Target="../tags/tag171.xml"/><Relationship Id="rId24" Type="http://schemas.openxmlformats.org/officeDocument/2006/relationships/tags" Target="../tags/tag184.xml"/><Relationship Id="rId32" Type="http://schemas.openxmlformats.org/officeDocument/2006/relationships/notesSlide" Target="../notesSlides/notesSlide14.xml"/><Relationship Id="rId5" Type="http://schemas.openxmlformats.org/officeDocument/2006/relationships/tags" Target="../tags/tag165.xml"/><Relationship Id="rId15" Type="http://schemas.openxmlformats.org/officeDocument/2006/relationships/tags" Target="../tags/tag175.xml"/><Relationship Id="rId23" Type="http://schemas.openxmlformats.org/officeDocument/2006/relationships/tags" Target="../tags/tag183.xml"/><Relationship Id="rId28" Type="http://schemas.openxmlformats.org/officeDocument/2006/relationships/tags" Target="../tags/tag188.xml"/><Relationship Id="rId10" Type="http://schemas.openxmlformats.org/officeDocument/2006/relationships/tags" Target="../tags/tag170.xml"/><Relationship Id="rId19" Type="http://schemas.openxmlformats.org/officeDocument/2006/relationships/tags" Target="../tags/tag179.xml"/><Relationship Id="rId31" Type="http://schemas.openxmlformats.org/officeDocument/2006/relationships/slideLayout" Target="../slideLayouts/slideLayout2.xml"/><Relationship Id="rId4" Type="http://schemas.openxmlformats.org/officeDocument/2006/relationships/tags" Target="../tags/tag164.xml"/><Relationship Id="rId9" Type="http://schemas.openxmlformats.org/officeDocument/2006/relationships/tags" Target="../tags/tag169.xml"/><Relationship Id="rId14" Type="http://schemas.openxmlformats.org/officeDocument/2006/relationships/tags" Target="../tags/tag174.xml"/><Relationship Id="rId22" Type="http://schemas.openxmlformats.org/officeDocument/2006/relationships/tags" Target="../tags/tag182.xml"/><Relationship Id="rId27" Type="http://schemas.openxmlformats.org/officeDocument/2006/relationships/tags" Target="../tags/tag187.xml"/><Relationship Id="rId30" Type="http://schemas.openxmlformats.org/officeDocument/2006/relationships/tags" Target="../tags/tag190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tags" Target="../tags/tag198.xml"/><Relationship Id="rId3" Type="http://schemas.openxmlformats.org/officeDocument/2006/relationships/tags" Target="../tags/tag193.xml"/><Relationship Id="rId7" Type="http://schemas.openxmlformats.org/officeDocument/2006/relationships/tags" Target="../tags/tag197.xml"/><Relationship Id="rId2" Type="http://schemas.openxmlformats.org/officeDocument/2006/relationships/tags" Target="../tags/tag192.xml"/><Relationship Id="rId1" Type="http://schemas.openxmlformats.org/officeDocument/2006/relationships/tags" Target="../tags/tag191.xml"/><Relationship Id="rId6" Type="http://schemas.openxmlformats.org/officeDocument/2006/relationships/tags" Target="../tags/tag196.xml"/><Relationship Id="rId11" Type="http://schemas.openxmlformats.org/officeDocument/2006/relationships/image" Target="../media/image2.png"/><Relationship Id="rId5" Type="http://schemas.openxmlformats.org/officeDocument/2006/relationships/tags" Target="../tags/tag195.xml"/><Relationship Id="rId10" Type="http://schemas.openxmlformats.org/officeDocument/2006/relationships/notesSlide" Target="../notesSlides/notesSlide15.xml"/><Relationship Id="rId4" Type="http://schemas.openxmlformats.org/officeDocument/2006/relationships/tags" Target="../tags/tag194.xml"/><Relationship Id="rId9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tags" Target="../tags/tag206.xml"/><Relationship Id="rId13" Type="http://schemas.openxmlformats.org/officeDocument/2006/relationships/slideLayout" Target="../slideLayouts/slideLayout2.xml"/><Relationship Id="rId3" Type="http://schemas.openxmlformats.org/officeDocument/2006/relationships/tags" Target="../tags/tag201.xml"/><Relationship Id="rId7" Type="http://schemas.openxmlformats.org/officeDocument/2006/relationships/tags" Target="../tags/tag205.xml"/><Relationship Id="rId12" Type="http://schemas.openxmlformats.org/officeDocument/2006/relationships/tags" Target="../tags/tag210.xml"/><Relationship Id="rId2" Type="http://schemas.openxmlformats.org/officeDocument/2006/relationships/tags" Target="../tags/tag200.xml"/><Relationship Id="rId1" Type="http://schemas.openxmlformats.org/officeDocument/2006/relationships/tags" Target="../tags/tag199.xml"/><Relationship Id="rId6" Type="http://schemas.openxmlformats.org/officeDocument/2006/relationships/tags" Target="../tags/tag204.xml"/><Relationship Id="rId11" Type="http://schemas.openxmlformats.org/officeDocument/2006/relationships/tags" Target="../tags/tag209.xml"/><Relationship Id="rId5" Type="http://schemas.openxmlformats.org/officeDocument/2006/relationships/tags" Target="../tags/tag203.xml"/><Relationship Id="rId10" Type="http://schemas.openxmlformats.org/officeDocument/2006/relationships/tags" Target="../tags/tag208.xml"/><Relationship Id="rId4" Type="http://schemas.openxmlformats.org/officeDocument/2006/relationships/tags" Target="../tags/tag202.xml"/><Relationship Id="rId9" Type="http://schemas.openxmlformats.org/officeDocument/2006/relationships/tags" Target="../tags/tag207.xml"/><Relationship Id="rId1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7.xml"/><Relationship Id="rId3" Type="http://schemas.openxmlformats.org/officeDocument/2006/relationships/tags" Target="../tags/tag213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212.xml"/><Relationship Id="rId1" Type="http://schemas.openxmlformats.org/officeDocument/2006/relationships/tags" Target="../tags/tag211.xml"/><Relationship Id="rId6" Type="http://schemas.openxmlformats.org/officeDocument/2006/relationships/tags" Target="../tags/tag216.xml"/><Relationship Id="rId5" Type="http://schemas.openxmlformats.org/officeDocument/2006/relationships/tags" Target="../tags/tag215.xml"/><Relationship Id="rId4" Type="http://schemas.openxmlformats.org/officeDocument/2006/relationships/tags" Target="../tags/tag214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8.xml"/><Relationship Id="rId3" Type="http://schemas.openxmlformats.org/officeDocument/2006/relationships/tags" Target="../tags/tag219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218.xml"/><Relationship Id="rId1" Type="http://schemas.openxmlformats.org/officeDocument/2006/relationships/tags" Target="../tags/tag217.xml"/><Relationship Id="rId6" Type="http://schemas.openxmlformats.org/officeDocument/2006/relationships/tags" Target="../tags/tag222.xml"/><Relationship Id="rId5" Type="http://schemas.openxmlformats.org/officeDocument/2006/relationships/tags" Target="../tags/tag221.xml"/><Relationship Id="rId4" Type="http://schemas.openxmlformats.org/officeDocument/2006/relationships/tags" Target="../tags/tag220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tags" Target="../tags/tag230.xml"/><Relationship Id="rId3" Type="http://schemas.openxmlformats.org/officeDocument/2006/relationships/tags" Target="../tags/tag225.xml"/><Relationship Id="rId7" Type="http://schemas.openxmlformats.org/officeDocument/2006/relationships/tags" Target="../tags/tag229.xml"/><Relationship Id="rId12" Type="http://schemas.openxmlformats.org/officeDocument/2006/relationships/notesSlide" Target="../notesSlides/notesSlide19.xml"/><Relationship Id="rId2" Type="http://schemas.openxmlformats.org/officeDocument/2006/relationships/tags" Target="../tags/tag224.xml"/><Relationship Id="rId1" Type="http://schemas.openxmlformats.org/officeDocument/2006/relationships/tags" Target="../tags/tag223.xml"/><Relationship Id="rId6" Type="http://schemas.openxmlformats.org/officeDocument/2006/relationships/tags" Target="../tags/tag228.xml"/><Relationship Id="rId11" Type="http://schemas.openxmlformats.org/officeDocument/2006/relationships/slideLayout" Target="../slideLayouts/slideLayout2.xml"/><Relationship Id="rId5" Type="http://schemas.openxmlformats.org/officeDocument/2006/relationships/tags" Target="../tags/tag227.xml"/><Relationship Id="rId10" Type="http://schemas.openxmlformats.org/officeDocument/2006/relationships/tags" Target="../tags/tag232.xml"/><Relationship Id="rId4" Type="http://schemas.openxmlformats.org/officeDocument/2006/relationships/tags" Target="../tags/tag226.xml"/><Relationship Id="rId9" Type="http://schemas.openxmlformats.org/officeDocument/2006/relationships/tags" Target="../tags/tag231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tags" Target="../tags/tag240.xml"/><Relationship Id="rId13" Type="http://schemas.openxmlformats.org/officeDocument/2006/relationships/tags" Target="../tags/tag245.xml"/><Relationship Id="rId3" Type="http://schemas.openxmlformats.org/officeDocument/2006/relationships/tags" Target="../tags/tag235.xml"/><Relationship Id="rId7" Type="http://schemas.openxmlformats.org/officeDocument/2006/relationships/tags" Target="../tags/tag239.xml"/><Relationship Id="rId12" Type="http://schemas.openxmlformats.org/officeDocument/2006/relationships/tags" Target="../tags/tag244.xml"/><Relationship Id="rId2" Type="http://schemas.openxmlformats.org/officeDocument/2006/relationships/tags" Target="../tags/tag234.xml"/><Relationship Id="rId16" Type="http://schemas.openxmlformats.org/officeDocument/2006/relationships/notesSlide" Target="../notesSlides/notesSlide20.xml"/><Relationship Id="rId1" Type="http://schemas.openxmlformats.org/officeDocument/2006/relationships/tags" Target="../tags/tag233.xml"/><Relationship Id="rId6" Type="http://schemas.openxmlformats.org/officeDocument/2006/relationships/tags" Target="../tags/tag238.xml"/><Relationship Id="rId11" Type="http://schemas.openxmlformats.org/officeDocument/2006/relationships/tags" Target="../tags/tag243.xml"/><Relationship Id="rId5" Type="http://schemas.openxmlformats.org/officeDocument/2006/relationships/tags" Target="../tags/tag237.xml"/><Relationship Id="rId15" Type="http://schemas.openxmlformats.org/officeDocument/2006/relationships/slideLayout" Target="../slideLayouts/slideLayout2.xml"/><Relationship Id="rId10" Type="http://schemas.openxmlformats.org/officeDocument/2006/relationships/tags" Target="../tags/tag242.xml"/><Relationship Id="rId4" Type="http://schemas.openxmlformats.org/officeDocument/2006/relationships/tags" Target="../tags/tag236.xml"/><Relationship Id="rId9" Type="http://schemas.openxmlformats.org/officeDocument/2006/relationships/tags" Target="../tags/tag241.xml"/><Relationship Id="rId14" Type="http://schemas.openxmlformats.org/officeDocument/2006/relationships/tags" Target="../tags/tag246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tags" Target="../tags/tag254.xml"/><Relationship Id="rId3" Type="http://schemas.openxmlformats.org/officeDocument/2006/relationships/tags" Target="../tags/tag249.xml"/><Relationship Id="rId7" Type="http://schemas.openxmlformats.org/officeDocument/2006/relationships/tags" Target="../tags/tag253.xml"/><Relationship Id="rId2" Type="http://schemas.openxmlformats.org/officeDocument/2006/relationships/tags" Target="../tags/tag248.xml"/><Relationship Id="rId1" Type="http://schemas.openxmlformats.org/officeDocument/2006/relationships/tags" Target="../tags/tag247.xml"/><Relationship Id="rId6" Type="http://schemas.openxmlformats.org/officeDocument/2006/relationships/tags" Target="../tags/tag252.xml"/><Relationship Id="rId5" Type="http://schemas.openxmlformats.org/officeDocument/2006/relationships/tags" Target="../tags/tag251.xml"/><Relationship Id="rId10" Type="http://schemas.openxmlformats.org/officeDocument/2006/relationships/notesSlide" Target="../notesSlides/notesSlide21.xml"/><Relationship Id="rId4" Type="http://schemas.openxmlformats.org/officeDocument/2006/relationships/tags" Target="../tags/tag250.xml"/><Relationship Id="rId9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tags" Target="../tags/tag262.xml"/><Relationship Id="rId13" Type="http://schemas.openxmlformats.org/officeDocument/2006/relationships/tags" Target="../tags/tag267.xml"/><Relationship Id="rId18" Type="http://schemas.openxmlformats.org/officeDocument/2006/relationships/notesSlide" Target="../notesSlides/notesSlide22.xml"/><Relationship Id="rId3" Type="http://schemas.openxmlformats.org/officeDocument/2006/relationships/tags" Target="../tags/tag257.xml"/><Relationship Id="rId7" Type="http://schemas.openxmlformats.org/officeDocument/2006/relationships/tags" Target="../tags/tag261.xml"/><Relationship Id="rId12" Type="http://schemas.openxmlformats.org/officeDocument/2006/relationships/tags" Target="../tags/tag266.xml"/><Relationship Id="rId17" Type="http://schemas.openxmlformats.org/officeDocument/2006/relationships/slideLayout" Target="../slideLayouts/slideLayout2.xml"/><Relationship Id="rId2" Type="http://schemas.openxmlformats.org/officeDocument/2006/relationships/tags" Target="../tags/tag256.xml"/><Relationship Id="rId16" Type="http://schemas.openxmlformats.org/officeDocument/2006/relationships/tags" Target="../tags/tag270.xml"/><Relationship Id="rId1" Type="http://schemas.openxmlformats.org/officeDocument/2006/relationships/tags" Target="../tags/tag255.xml"/><Relationship Id="rId6" Type="http://schemas.openxmlformats.org/officeDocument/2006/relationships/tags" Target="../tags/tag260.xml"/><Relationship Id="rId11" Type="http://schemas.openxmlformats.org/officeDocument/2006/relationships/tags" Target="../tags/tag265.xml"/><Relationship Id="rId5" Type="http://schemas.openxmlformats.org/officeDocument/2006/relationships/tags" Target="../tags/tag259.xml"/><Relationship Id="rId15" Type="http://schemas.openxmlformats.org/officeDocument/2006/relationships/tags" Target="../tags/tag269.xml"/><Relationship Id="rId10" Type="http://schemas.openxmlformats.org/officeDocument/2006/relationships/tags" Target="../tags/tag264.xml"/><Relationship Id="rId4" Type="http://schemas.openxmlformats.org/officeDocument/2006/relationships/tags" Target="../tags/tag258.xml"/><Relationship Id="rId9" Type="http://schemas.openxmlformats.org/officeDocument/2006/relationships/tags" Target="../tags/tag263.xml"/><Relationship Id="rId14" Type="http://schemas.openxmlformats.org/officeDocument/2006/relationships/tags" Target="../tags/tag268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3.xml"/><Relationship Id="rId3" Type="http://schemas.openxmlformats.org/officeDocument/2006/relationships/tags" Target="../tags/tag273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272.xml"/><Relationship Id="rId1" Type="http://schemas.openxmlformats.org/officeDocument/2006/relationships/tags" Target="../tags/tag271.xml"/><Relationship Id="rId6" Type="http://schemas.openxmlformats.org/officeDocument/2006/relationships/tags" Target="../tags/tag276.xml"/><Relationship Id="rId5" Type="http://schemas.openxmlformats.org/officeDocument/2006/relationships/tags" Target="../tags/tag275.xml"/><Relationship Id="rId4" Type="http://schemas.openxmlformats.org/officeDocument/2006/relationships/tags" Target="../tags/tag274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4.xml"/><Relationship Id="rId3" Type="http://schemas.openxmlformats.org/officeDocument/2006/relationships/tags" Target="../tags/tag279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278.xml"/><Relationship Id="rId1" Type="http://schemas.openxmlformats.org/officeDocument/2006/relationships/tags" Target="../tags/tag277.xml"/><Relationship Id="rId6" Type="http://schemas.openxmlformats.org/officeDocument/2006/relationships/tags" Target="../tags/tag282.xml"/><Relationship Id="rId5" Type="http://schemas.openxmlformats.org/officeDocument/2006/relationships/tags" Target="../tags/tag281.xml"/><Relationship Id="rId4" Type="http://schemas.openxmlformats.org/officeDocument/2006/relationships/tags" Target="../tags/tag280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5.xml"/><Relationship Id="rId3" Type="http://schemas.openxmlformats.org/officeDocument/2006/relationships/tags" Target="../tags/tag285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284.xml"/><Relationship Id="rId1" Type="http://schemas.openxmlformats.org/officeDocument/2006/relationships/tags" Target="../tags/tag283.xml"/><Relationship Id="rId6" Type="http://schemas.openxmlformats.org/officeDocument/2006/relationships/tags" Target="../tags/tag288.xml"/><Relationship Id="rId5" Type="http://schemas.openxmlformats.org/officeDocument/2006/relationships/tags" Target="../tags/tag287.xml"/><Relationship Id="rId4" Type="http://schemas.openxmlformats.org/officeDocument/2006/relationships/tags" Target="../tags/tag286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6.xml"/><Relationship Id="rId3" Type="http://schemas.openxmlformats.org/officeDocument/2006/relationships/tags" Target="../tags/tag291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290.xml"/><Relationship Id="rId1" Type="http://schemas.openxmlformats.org/officeDocument/2006/relationships/tags" Target="../tags/tag289.xml"/><Relationship Id="rId6" Type="http://schemas.openxmlformats.org/officeDocument/2006/relationships/tags" Target="../tags/tag294.xml"/><Relationship Id="rId5" Type="http://schemas.openxmlformats.org/officeDocument/2006/relationships/tags" Target="../tags/tag293.xml"/><Relationship Id="rId4" Type="http://schemas.openxmlformats.org/officeDocument/2006/relationships/tags" Target="../tags/tag292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tags" Target="../tags/tag302.xml"/><Relationship Id="rId13" Type="http://schemas.openxmlformats.org/officeDocument/2006/relationships/notesSlide" Target="../notesSlides/notesSlide27.xml"/><Relationship Id="rId3" Type="http://schemas.openxmlformats.org/officeDocument/2006/relationships/tags" Target="../tags/tag297.xml"/><Relationship Id="rId7" Type="http://schemas.openxmlformats.org/officeDocument/2006/relationships/tags" Target="../tags/tag301.xml"/><Relationship Id="rId12" Type="http://schemas.openxmlformats.org/officeDocument/2006/relationships/slideLayout" Target="../slideLayouts/slideLayout2.xml"/><Relationship Id="rId2" Type="http://schemas.openxmlformats.org/officeDocument/2006/relationships/tags" Target="../tags/tag296.xml"/><Relationship Id="rId1" Type="http://schemas.openxmlformats.org/officeDocument/2006/relationships/tags" Target="../tags/tag295.xml"/><Relationship Id="rId6" Type="http://schemas.openxmlformats.org/officeDocument/2006/relationships/tags" Target="../tags/tag300.xml"/><Relationship Id="rId11" Type="http://schemas.openxmlformats.org/officeDocument/2006/relationships/tags" Target="../tags/tag305.xml"/><Relationship Id="rId5" Type="http://schemas.openxmlformats.org/officeDocument/2006/relationships/tags" Target="../tags/tag299.xml"/><Relationship Id="rId10" Type="http://schemas.openxmlformats.org/officeDocument/2006/relationships/tags" Target="../tags/tag304.xml"/><Relationship Id="rId4" Type="http://schemas.openxmlformats.org/officeDocument/2006/relationships/tags" Target="../tags/tag298.xml"/><Relationship Id="rId9" Type="http://schemas.openxmlformats.org/officeDocument/2006/relationships/tags" Target="../tags/tag303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3" Type="http://schemas.openxmlformats.org/officeDocument/2006/relationships/tags" Target="../tags/tag308.xml"/><Relationship Id="rId7" Type="http://schemas.openxmlformats.org/officeDocument/2006/relationships/tags" Target="../tags/tag312.xml"/><Relationship Id="rId2" Type="http://schemas.openxmlformats.org/officeDocument/2006/relationships/tags" Target="../tags/tag307.xml"/><Relationship Id="rId1" Type="http://schemas.openxmlformats.org/officeDocument/2006/relationships/tags" Target="../tags/tag306.xml"/><Relationship Id="rId6" Type="http://schemas.openxmlformats.org/officeDocument/2006/relationships/tags" Target="../tags/tag311.xml"/><Relationship Id="rId5" Type="http://schemas.openxmlformats.org/officeDocument/2006/relationships/tags" Target="../tags/tag310.xml"/><Relationship Id="rId4" Type="http://schemas.openxmlformats.org/officeDocument/2006/relationships/tags" Target="../tags/tag309.xml"/><Relationship Id="rId9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tags" Target="../tags/tag320.xml"/><Relationship Id="rId13" Type="http://schemas.openxmlformats.org/officeDocument/2006/relationships/tags" Target="../tags/tag325.xml"/><Relationship Id="rId3" Type="http://schemas.openxmlformats.org/officeDocument/2006/relationships/tags" Target="../tags/tag315.xml"/><Relationship Id="rId7" Type="http://schemas.openxmlformats.org/officeDocument/2006/relationships/tags" Target="../tags/tag319.xml"/><Relationship Id="rId12" Type="http://schemas.openxmlformats.org/officeDocument/2006/relationships/tags" Target="../tags/tag324.xml"/><Relationship Id="rId2" Type="http://schemas.openxmlformats.org/officeDocument/2006/relationships/tags" Target="../tags/tag314.xml"/><Relationship Id="rId16" Type="http://schemas.openxmlformats.org/officeDocument/2006/relationships/notesSlide" Target="../notesSlides/notesSlide29.xml"/><Relationship Id="rId1" Type="http://schemas.openxmlformats.org/officeDocument/2006/relationships/tags" Target="../tags/tag313.xml"/><Relationship Id="rId6" Type="http://schemas.openxmlformats.org/officeDocument/2006/relationships/tags" Target="../tags/tag318.xml"/><Relationship Id="rId11" Type="http://schemas.openxmlformats.org/officeDocument/2006/relationships/tags" Target="../tags/tag323.xml"/><Relationship Id="rId5" Type="http://schemas.openxmlformats.org/officeDocument/2006/relationships/tags" Target="../tags/tag317.xml"/><Relationship Id="rId15" Type="http://schemas.openxmlformats.org/officeDocument/2006/relationships/slideLayout" Target="../slideLayouts/slideLayout2.xml"/><Relationship Id="rId10" Type="http://schemas.openxmlformats.org/officeDocument/2006/relationships/tags" Target="../tags/tag322.xml"/><Relationship Id="rId4" Type="http://schemas.openxmlformats.org/officeDocument/2006/relationships/tags" Target="../tags/tag316.xml"/><Relationship Id="rId9" Type="http://schemas.openxmlformats.org/officeDocument/2006/relationships/tags" Target="../tags/tag321.xml"/><Relationship Id="rId14" Type="http://schemas.openxmlformats.org/officeDocument/2006/relationships/tags" Target="../tags/tag326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0.xml"/><Relationship Id="rId3" Type="http://schemas.openxmlformats.org/officeDocument/2006/relationships/tags" Target="../tags/tag329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328.xml"/><Relationship Id="rId1" Type="http://schemas.openxmlformats.org/officeDocument/2006/relationships/tags" Target="../tags/tag327.xml"/><Relationship Id="rId6" Type="http://schemas.openxmlformats.org/officeDocument/2006/relationships/tags" Target="../tags/tag332.xml"/><Relationship Id="rId5" Type="http://schemas.openxmlformats.org/officeDocument/2006/relationships/tags" Target="../tags/tag331.xml"/><Relationship Id="rId4" Type="http://schemas.openxmlformats.org/officeDocument/2006/relationships/tags" Target="../tags/tag330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tags" Target="../tags/tag340.xml"/><Relationship Id="rId13" Type="http://schemas.openxmlformats.org/officeDocument/2006/relationships/tags" Target="../tags/tag345.xml"/><Relationship Id="rId18" Type="http://schemas.openxmlformats.org/officeDocument/2006/relationships/slideLayout" Target="../slideLayouts/slideLayout2.xml"/><Relationship Id="rId3" Type="http://schemas.openxmlformats.org/officeDocument/2006/relationships/tags" Target="../tags/tag335.xml"/><Relationship Id="rId7" Type="http://schemas.openxmlformats.org/officeDocument/2006/relationships/tags" Target="../tags/tag339.xml"/><Relationship Id="rId12" Type="http://schemas.openxmlformats.org/officeDocument/2006/relationships/tags" Target="../tags/tag344.xml"/><Relationship Id="rId17" Type="http://schemas.openxmlformats.org/officeDocument/2006/relationships/tags" Target="../tags/tag349.xml"/><Relationship Id="rId2" Type="http://schemas.openxmlformats.org/officeDocument/2006/relationships/tags" Target="../tags/tag334.xml"/><Relationship Id="rId16" Type="http://schemas.openxmlformats.org/officeDocument/2006/relationships/tags" Target="../tags/tag348.xml"/><Relationship Id="rId1" Type="http://schemas.openxmlformats.org/officeDocument/2006/relationships/tags" Target="../tags/tag333.xml"/><Relationship Id="rId6" Type="http://schemas.openxmlformats.org/officeDocument/2006/relationships/tags" Target="../tags/tag338.xml"/><Relationship Id="rId11" Type="http://schemas.openxmlformats.org/officeDocument/2006/relationships/tags" Target="../tags/tag343.xml"/><Relationship Id="rId5" Type="http://schemas.openxmlformats.org/officeDocument/2006/relationships/tags" Target="../tags/tag337.xml"/><Relationship Id="rId15" Type="http://schemas.openxmlformats.org/officeDocument/2006/relationships/tags" Target="../tags/tag347.xml"/><Relationship Id="rId10" Type="http://schemas.openxmlformats.org/officeDocument/2006/relationships/tags" Target="../tags/tag342.xml"/><Relationship Id="rId19" Type="http://schemas.openxmlformats.org/officeDocument/2006/relationships/notesSlide" Target="../notesSlides/notesSlide31.xml"/><Relationship Id="rId4" Type="http://schemas.openxmlformats.org/officeDocument/2006/relationships/tags" Target="../tags/tag336.xml"/><Relationship Id="rId9" Type="http://schemas.openxmlformats.org/officeDocument/2006/relationships/tags" Target="../tags/tag341.xml"/><Relationship Id="rId14" Type="http://schemas.openxmlformats.org/officeDocument/2006/relationships/tags" Target="../tags/tag346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2.xml"/><Relationship Id="rId3" Type="http://schemas.openxmlformats.org/officeDocument/2006/relationships/tags" Target="../tags/tag352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351.xml"/><Relationship Id="rId1" Type="http://schemas.openxmlformats.org/officeDocument/2006/relationships/tags" Target="../tags/tag350.xml"/><Relationship Id="rId6" Type="http://schemas.openxmlformats.org/officeDocument/2006/relationships/tags" Target="../tags/tag355.xml"/><Relationship Id="rId5" Type="http://schemas.openxmlformats.org/officeDocument/2006/relationships/tags" Target="../tags/tag354.xml"/><Relationship Id="rId4" Type="http://schemas.openxmlformats.org/officeDocument/2006/relationships/tags" Target="../tags/tag353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tags" Target="../tags/tag363.xml"/><Relationship Id="rId13" Type="http://schemas.openxmlformats.org/officeDocument/2006/relationships/tags" Target="../tags/tag368.xml"/><Relationship Id="rId18" Type="http://schemas.openxmlformats.org/officeDocument/2006/relationships/tags" Target="../tags/tag373.xml"/><Relationship Id="rId3" Type="http://schemas.openxmlformats.org/officeDocument/2006/relationships/tags" Target="../tags/tag358.xml"/><Relationship Id="rId7" Type="http://schemas.openxmlformats.org/officeDocument/2006/relationships/tags" Target="../tags/tag362.xml"/><Relationship Id="rId12" Type="http://schemas.openxmlformats.org/officeDocument/2006/relationships/tags" Target="../tags/tag367.xml"/><Relationship Id="rId17" Type="http://schemas.openxmlformats.org/officeDocument/2006/relationships/tags" Target="../tags/tag372.xml"/><Relationship Id="rId2" Type="http://schemas.openxmlformats.org/officeDocument/2006/relationships/tags" Target="../tags/tag357.xml"/><Relationship Id="rId16" Type="http://schemas.openxmlformats.org/officeDocument/2006/relationships/tags" Target="../tags/tag371.xml"/><Relationship Id="rId20" Type="http://schemas.openxmlformats.org/officeDocument/2006/relationships/notesSlide" Target="../notesSlides/notesSlide33.xml"/><Relationship Id="rId1" Type="http://schemas.openxmlformats.org/officeDocument/2006/relationships/tags" Target="../tags/tag356.xml"/><Relationship Id="rId6" Type="http://schemas.openxmlformats.org/officeDocument/2006/relationships/tags" Target="../tags/tag361.xml"/><Relationship Id="rId11" Type="http://schemas.openxmlformats.org/officeDocument/2006/relationships/tags" Target="../tags/tag366.xml"/><Relationship Id="rId5" Type="http://schemas.openxmlformats.org/officeDocument/2006/relationships/tags" Target="../tags/tag360.xml"/><Relationship Id="rId15" Type="http://schemas.openxmlformats.org/officeDocument/2006/relationships/tags" Target="../tags/tag370.xml"/><Relationship Id="rId10" Type="http://schemas.openxmlformats.org/officeDocument/2006/relationships/tags" Target="../tags/tag365.xml"/><Relationship Id="rId19" Type="http://schemas.openxmlformats.org/officeDocument/2006/relationships/slideLayout" Target="../slideLayouts/slideLayout2.xml"/><Relationship Id="rId4" Type="http://schemas.openxmlformats.org/officeDocument/2006/relationships/tags" Target="../tags/tag359.xml"/><Relationship Id="rId9" Type="http://schemas.openxmlformats.org/officeDocument/2006/relationships/tags" Target="../tags/tag364.xml"/><Relationship Id="rId14" Type="http://schemas.openxmlformats.org/officeDocument/2006/relationships/tags" Target="../tags/tag369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tags" Target="../tags/tag381.xml"/><Relationship Id="rId13" Type="http://schemas.openxmlformats.org/officeDocument/2006/relationships/tags" Target="../tags/tag386.xml"/><Relationship Id="rId18" Type="http://schemas.openxmlformats.org/officeDocument/2006/relationships/tags" Target="../tags/tag391.xml"/><Relationship Id="rId3" Type="http://schemas.openxmlformats.org/officeDocument/2006/relationships/tags" Target="../tags/tag376.xml"/><Relationship Id="rId7" Type="http://schemas.openxmlformats.org/officeDocument/2006/relationships/tags" Target="../tags/tag380.xml"/><Relationship Id="rId12" Type="http://schemas.openxmlformats.org/officeDocument/2006/relationships/tags" Target="../tags/tag385.xml"/><Relationship Id="rId17" Type="http://schemas.openxmlformats.org/officeDocument/2006/relationships/tags" Target="../tags/tag390.xml"/><Relationship Id="rId2" Type="http://schemas.openxmlformats.org/officeDocument/2006/relationships/tags" Target="../tags/tag375.xml"/><Relationship Id="rId16" Type="http://schemas.openxmlformats.org/officeDocument/2006/relationships/tags" Target="../tags/tag389.xml"/><Relationship Id="rId20" Type="http://schemas.openxmlformats.org/officeDocument/2006/relationships/notesSlide" Target="../notesSlides/notesSlide34.xml"/><Relationship Id="rId1" Type="http://schemas.openxmlformats.org/officeDocument/2006/relationships/tags" Target="../tags/tag374.xml"/><Relationship Id="rId6" Type="http://schemas.openxmlformats.org/officeDocument/2006/relationships/tags" Target="../tags/tag379.xml"/><Relationship Id="rId11" Type="http://schemas.openxmlformats.org/officeDocument/2006/relationships/tags" Target="../tags/tag384.xml"/><Relationship Id="rId5" Type="http://schemas.openxmlformats.org/officeDocument/2006/relationships/tags" Target="../tags/tag378.xml"/><Relationship Id="rId15" Type="http://schemas.openxmlformats.org/officeDocument/2006/relationships/tags" Target="../tags/tag388.xml"/><Relationship Id="rId10" Type="http://schemas.openxmlformats.org/officeDocument/2006/relationships/tags" Target="../tags/tag383.xml"/><Relationship Id="rId19" Type="http://schemas.openxmlformats.org/officeDocument/2006/relationships/slideLayout" Target="../slideLayouts/slideLayout2.xml"/><Relationship Id="rId4" Type="http://schemas.openxmlformats.org/officeDocument/2006/relationships/tags" Target="../tags/tag377.xml"/><Relationship Id="rId9" Type="http://schemas.openxmlformats.org/officeDocument/2006/relationships/tags" Target="../tags/tag382.xml"/><Relationship Id="rId14" Type="http://schemas.openxmlformats.org/officeDocument/2006/relationships/tags" Target="../tags/tag38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tags" Target="../tags/tag394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393.xml"/><Relationship Id="rId1" Type="http://schemas.openxmlformats.org/officeDocument/2006/relationships/tags" Target="../tags/tag392.xml"/><Relationship Id="rId6" Type="http://schemas.openxmlformats.org/officeDocument/2006/relationships/tags" Target="../tags/tag397.xml"/><Relationship Id="rId5" Type="http://schemas.openxmlformats.org/officeDocument/2006/relationships/tags" Target="../tags/tag396.xml"/><Relationship Id="rId4" Type="http://schemas.openxmlformats.org/officeDocument/2006/relationships/tags" Target="../tags/tag395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tags" Target="../tags/tag405.xml"/><Relationship Id="rId13" Type="http://schemas.openxmlformats.org/officeDocument/2006/relationships/tags" Target="../tags/tag410.xml"/><Relationship Id="rId3" Type="http://schemas.openxmlformats.org/officeDocument/2006/relationships/tags" Target="../tags/tag400.xml"/><Relationship Id="rId7" Type="http://schemas.openxmlformats.org/officeDocument/2006/relationships/tags" Target="../tags/tag404.xml"/><Relationship Id="rId12" Type="http://schemas.openxmlformats.org/officeDocument/2006/relationships/tags" Target="../tags/tag409.xml"/><Relationship Id="rId2" Type="http://schemas.openxmlformats.org/officeDocument/2006/relationships/tags" Target="../tags/tag399.xml"/><Relationship Id="rId16" Type="http://schemas.openxmlformats.org/officeDocument/2006/relationships/notesSlide" Target="../notesSlides/notesSlide35.xml"/><Relationship Id="rId1" Type="http://schemas.openxmlformats.org/officeDocument/2006/relationships/tags" Target="../tags/tag398.xml"/><Relationship Id="rId6" Type="http://schemas.openxmlformats.org/officeDocument/2006/relationships/tags" Target="../tags/tag403.xml"/><Relationship Id="rId11" Type="http://schemas.openxmlformats.org/officeDocument/2006/relationships/tags" Target="../tags/tag408.xml"/><Relationship Id="rId5" Type="http://schemas.openxmlformats.org/officeDocument/2006/relationships/tags" Target="../tags/tag402.xml"/><Relationship Id="rId15" Type="http://schemas.openxmlformats.org/officeDocument/2006/relationships/slideLayout" Target="../slideLayouts/slideLayout2.xml"/><Relationship Id="rId10" Type="http://schemas.openxmlformats.org/officeDocument/2006/relationships/tags" Target="../tags/tag407.xml"/><Relationship Id="rId4" Type="http://schemas.openxmlformats.org/officeDocument/2006/relationships/tags" Target="../tags/tag401.xml"/><Relationship Id="rId9" Type="http://schemas.openxmlformats.org/officeDocument/2006/relationships/tags" Target="../tags/tag406.xml"/><Relationship Id="rId14" Type="http://schemas.openxmlformats.org/officeDocument/2006/relationships/tags" Target="../tags/tag411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6.xml"/><Relationship Id="rId3" Type="http://schemas.openxmlformats.org/officeDocument/2006/relationships/tags" Target="../tags/tag414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413.xml"/><Relationship Id="rId1" Type="http://schemas.openxmlformats.org/officeDocument/2006/relationships/tags" Target="../tags/tag412.xml"/><Relationship Id="rId6" Type="http://schemas.openxmlformats.org/officeDocument/2006/relationships/tags" Target="../tags/tag417.xml"/><Relationship Id="rId5" Type="http://schemas.openxmlformats.org/officeDocument/2006/relationships/tags" Target="../tags/tag416.xml"/><Relationship Id="rId4" Type="http://schemas.openxmlformats.org/officeDocument/2006/relationships/tags" Target="../tags/tag415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tags" Target="../tags/tag425.xml"/><Relationship Id="rId13" Type="http://schemas.openxmlformats.org/officeDocument/2006/relationships/tags" Target="../tags/tag430.xml"/><Relationship Id="rId18" Type="http://schemas.openxmlformats.org/officeDocument/2006/relationships/notesSlide" Target="../notesSlides/notesSlide37.xml"/><Relationship Id="rId3" Type="http://schemas.openxmlformats.org/officeDocument/2006/relationships/tags" Target="../tags/tag420.xml"/><Relationship Id="rId7" Type="http://schemas.openxmlformats.org/officeDocument/2006/relationships/tags" Target="../tags/tag424.xml"/><Relationship Id="rId12" Type="http://schemas.openxmlformats.org/officeDocument/2006/relationships/tags" Target="../tags/tag429.xml"/><Relationship Id="rId17" Type="http://schemas.openxmlformats.org/officeDocument/2006/relationships/slideLayout" Target="../slideLayouts/slideLayout2.xml"/><Relationship Id="rId2" Type="http://schemas.openxmlformats.org/officeDocument/2006/relationships/tags" Target="../tags/tag419.xml"/><Relationship Id="rId16" Type="http://schemas.openxmlformats.org/officeDocument/2006/relationships/tags" Target="../tags/tag433.xml"/><Relationship Id="rId1" Type="http://schemas.openxmlformats.org/officeDocument/2006/relationships/tags" Target="../tags/tag418.xml"/><Relationship Id="rId6" Type="http://schemas.openxmlformats.org/officeDocument/2006/relationships/tags" Target="../tags/tag423.xml"/><Relationship Id="rId11" Type="http://schemas.openxmlformats.org/officeDocument/2006/relationships/tags" Target="../tags/tag428.xml"/><Relationship Id="rId5" Type="http://schemas.openxmlformats.org/officeDocument/2006/relationships/tags" Target="../tags/tag422.xml"/><Relationship Id="rId15" Type="http://schemas.openxmlformats.org/officeDocument/2006/relationships/tags" Target="../tags/tag432.xml"/><Relationship Id="rId10" Type="http://schemas.openxmlformats.org/officeDocument/2006/relationships/tags" Target="../tags/tag427.xml"/><Relationship Id="rId4" Type="http://schemas.openxmlformats.org/officeDocument/2006/relationships/tags" Target="../tags/tag421.xml"/><Relationship Id="rId9" Type="http://schemas.openxmlformats.org/officeDocument/2006/relationships/tags" Target="../tags/tag426.xml"/><Relationship Id="rId14" Type="http://schemas.openxmlformats.org/officeDocument/2006/relationships/tags" Target="../tags/tag431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8.xml"/><Relationship Id="rId3" Type="http://schemas.openxmlformats.org/officeDocument/2006/relationships/tags" Target="../tags/tag436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435.xml"/><Relationship Id="rId1" Type="http://schemas.openxmlformats.org/officeDocument/2006/relationships/tags" Target="../tags/tag434.xml"/><Relationship Id="rId6" Type="http://schemas.openxmlformats.org/officeDocument/2006/relationships/tags" Target="../tags/tag439.xml"/><Relationship Id="rId5" Type="http://schemas.openxmlformats.org/officeDocument/2006/relationships/tags" Target="../tags/tag438.xml"/><Relationship Id="rId4" Type="http://schemas.openxmlformats.org/officeDocument/2006/relationships/tags" Target="../tags/tag437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9.xml"/><Relationship Id="rId3" Type="http://schemas.openxmlformats.org/officeDocument/2006/relationships/tags" Target="../tags/tag442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441.xml"/><Relationship Id="rId1" Type="http://schemas.openxmlformats.org/officeDocument/2006/relationships/tags" Target="../tags/tag440.xml"/><Relationship Id="rId6" Type="http://schemas.openxmlformats.org/officeDocument/2006/relationships/tags" Target="../tags/tag445.xml"/><Relationship Id="rId5" Type="http://schemas.openxmlformats.org/officeDocument/2006/relationships/tags" Target="../tags/tag444.xml"/><Relationship Id="rId4" Type="http://schemas.openxmlformats.org/officeDocument/2006/relationships/tags" Target="../tags/tag443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tags" Target="../tags/tag453.xml"/><Relationship Id="rId3" Type="http://schemas.openxmlformats.org/officeDocument/2006/relationships/tags" Target="../tags/tag448.xml"/><Relationship Id="rId7" Type="http://schemas.openxmlformats.org/officeDocument/2006/relationships/tags" Target="../tags/tag452.xml"/><Relationship Id="rId2" Type="http://schemas.openxmlformats.org/officeDocument/2006/relationships/tags" Target="../tags/tag447.xml"/><Relationship Id="rId1" Type="http://schemas.openxmlformats.org/officeDocument/2006/relationships/tags" Target="../tags/tag446.xml"/><Relationship Id="rId6" Type="http://schemas.openxmlformats.org/officeDocument/2006/relationships/tags" Target="../tags/tag451.xml"/><Relationship Id="rId11" Type="http://schemas.openxmlformats.org/officeDocument/2006/relationships/notesSlide" Target="../notesSlides/notesSlide40.xml"/><Relationship Id="rId5" Type="http://schemas.openxmlformats.org/officeDocument/2006/relationships/tags" Target="../tags/tag450.xml"/><Relationship Id="rId10" Type="http://schemas.openxmlformats.org/officeDocument/2006/relationships/slideLayout" Target="../slideLayouts/slideLayout2.xml"/><Relationship Id="rId4" Type="http://schemas.openxmlformats.org/officeDocument/2006/relationships/tags" Target="../tags/tag449.xml"/><Relationship Id="rId9" Type="http://schemas.openxmlformats.org/officeDocument/2006/relationships/tags" Target="../tags/tag454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tags" Target="../tags/tag462.xml"/><Relationship Id="rId13" Type="http://schemas.openxmlformats.org/officeDocument/2006/relationships/tags" Target="../tags/tag467.xml"/><Relationship Id="rId18" Type="http://schemas.openxmlformats.org/officeDocument/2006/relationships/tags" Target="../tags/tag472.xml"/><Relationship Id="rId26" Type="http://schemas.openxmlformats.org/officeDocument/2006/relationships/tags" Target="../tags/tag480.xml"/><Relationship Id="rId39" Type="http://schemas.openxmlformats.org/officeDocument/2006/relationships/tags" Target="../tags/tag493.xml"/><Relationship Id="rId3" Type="http://schemas.openxmlformats.org/officeDocument/2006/relationships/tags" Target="../tags/tag457.xml"/><Relationship Id="rId21" Type="http://schemas.openxmlformats.org/officeDocument/2006/relationships/tags" Target="../tags/tag475.xml"/><Relationship Id="rId34" Type="http://schemas.openxmlformats.org/officeDocument/2006/relationships/tags" Target="../tags/tag488.xml"/><Relationship Id="rId42" Type="http://schemas.openxmlformats.org/officeDocument/2006/relationships/tags" Target="../tags/tag496.xml"/><Relationship Id="rId7" Type="http://schemas.openxmlformats.org/officeDocument/2006/relationships/tags" Target="../tags/tag461.xml"/><Relationship Id="rId12" Type="http://schemas.openxmlformats.org/officeDocument/2006/relationships/tags" Target="../tags/tag466.xml"/><Relationship Id="rId17" Type="http://schemas.openxmlformats.org/officeDocument/2006/relationships/tags" Target="../tags/tag471.xml"/><Relationship Id="rId25" Type="http://schemas.openxmlformats.org/officeDocument/2006/relationships/tags" Target="../tags/tag479.xml"/><Relationship Id="rId33" Type="http://schemas.openxmlformats.org/officeDocument/2006/relationships/tags" Target="../tags/tag487.xml"/><Relationship Id="rId38" Type="http://schemas.openxmlformats.org/officeDocument/2006/relationships/tags" Target="../tags/tag492.xml"/><Relationship Id="rId2" Type="http://schemas.openxmlformats.org/officeDocument/2006/relationships/tags" Target="../tags/tag456.xml"/><Relationship Id="rId16" Type="http://schemas.openxmlformats.org/officeDocument/2006/relationships/tags" Target="../tags/tag470.xml"/><Relationship Id="rId20" Type="http://schemas.openxmlformats.org/officeDocument/2006/relationships/tags" Target="../tags/tag474.xml"/><Relationship Id="rId29" Type="http://schemas.openxmlformats.org/officeDocument/2006/relationships/tags" Target="../tags/tag483.xml"/><Relationship Id="rId41" Type="http://schemas.openxmlformats.org/officeDocument/2006/relationships/tags" Target="../tags/tag495.xml"/><Relationship Id="rId1" Type="http://schemas.openxmlformats.org/officeDocument/2006/relationships/tags" Target="../tags/tag455.xml"/><Relationship Id="rId6" Type="http://schemas.openxmlformats.org/officeDocument/2006/relationships/tags" Target="../tags/tag460.xml"/><Relationship Id="rId11" Type="http://schemas.openxmlformats.org/officeDocument/2006/relationships/tags" Target="../tags/tag465.xml"/><Relationship Id="rId24" Type="http://schemas.openxmlformats.org/officeDocument/2006/relationships/tags" Target="../tags/tag478.xml"/><Relationship Id="rId32" Type="http://schemas.openxmlformats.org/officeDocument/2006/relationships/tags" Target="../tags/tag486.xml"/><Relationship Id="rId37" Type="http://schemas.openxmlformats.org/officeDocument/2006/relationships/tags" Target="../tags/tag491.xml"/><Relationship Id="rId40" Type="http://schemas.openxmlformats.org/officeDocument/2006/relationships/tags" Target="../tags/tag494.xml"/><Relationship Id="rId45" Type="http://schemas.openxmlformats.org/officeDocument/2006/relationships/notesSlide" Target="../notesSlides/notesSlide41.xml"/><Relationship Id="rId5" Type="http://schemas.openxmlformats.org/officeDocument/2006/relationships/tags" Target="../tags/tag459.xml"/><Relationship Id="rId15" Type="http://schemas.openxmlformats.org/officeDocument/2006/relationships/tags" Target="../tags/tag469.xml"/><Relationship Id="rId23" Type="http://schemas.openxmlformats.org/officeDocument/2006/relationships/tags" Target="../tags/tag477.xml"/><Relationship Id="rId28" Type="http://schemas.openxmlformats.org/officeDocument/2006/relationships/tags" Target="../tags/tag482.xml"/><Relationship Id="rId36" Type="http://schemas.openxmlformats.org/officeDocument/2006/relationships/tags" Target="../tags/tag490.xml"/><Relationship Id="rId10" Type="http://schemas.openxmlformats.org/officeDocument/2006/relationships/tags" Target="../tags/tag464.xml"/><Relationship Id="rId19" Type="http://schemas.openxmlformats.org/officeDocument/2006/relationships/tags" Target="../tags/tag473.xml"/><Relationship Id="rId31" Type="http://schemas.openxmlformats.org/officeDocument/2006/relationships/tags" Target="../tags/tag485.xml"/><Relationship Id="rId44" Type="http://schemas.openxmlformats.org/officeDocument/2006/relationships/slideLayout" Target="../slideLayouts/slideLayout2.xml"/><Relationship Id="rId4" Type="http://schemas.openxmlformats.org/officeDocument/2006/relationships/tags" Target="../tags/tag458.xml"/><Relationship Id="rId9" Type="http://schemas.openxmlformats.org/officeDocument/2006/relationships/tags" Target="../tags/tag463.xml"/><Relationship Id="rId14" Type="http://schemas.openxmlformats.org/officeDocument/2006/relationships/tags" Target="../tags/tag468.xml"/><Relationship Id="rId22" Type="http://schemas.openxmlformats.org/officeDocument/2006/relationships/tags" Target="../tags/tag476.xml"/><Relationship Id="rId27" Type="http://schemas.openxmlformats.org/officeDocument/2006/relationships/tags" Target="../tags/tag481.xml"/><Relationship Id="rId30" Type="http://schemas.openxmlformats.org/officeDocument/2006/relationships/tags" Target="../tags/tag484.xml"/><Relationship Id="rId35" Type="http://schemas.openxmlformats.org/officeDocument/2006/relationships/tags" Target="../tags/tag489.xml"/><Relationship Id="rId43" Type="http://schemas.openxmlformats.org/officeDocument/2006/relationships/tags" Target="../tags/tag497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tags" Target="../tags/tag505.xml"/><Relationship Id="rId3" Type="http://schemas.openxmlformats.org/officeDocument/2006/relationships/tags" Target="../tags/tag500.xml"/><Relationship Id="rId7" Type="http://schemas.openxmlformats.org/officeDocument/2006/relationships/tags" Target="../tags/tag504.xml"/><Relationship Id="rId2" Type="http://schemas.openxmlformats.org/officeDocument/2006/relationships/tags" Target="../tags/tag499.xml"/><Relationship Id="rId1" Type="http://schemas.openxmlformats.org/officeDocument/2006/relationships/tags" Target="../tags/tag498.xml"/><Relationship Id="rId6" Type="http://schemas.openxmlformats.org/officeDocument/2006/relationships/tags" Target="../tags/tag503.xml"/><Relationship Id="rId11" Type="http://schemas.openxmlformats.org/officeDocument/2006/relationships/notesSlide" Target="../notesSlides/notesSlide42.xml"/><Relationship Id="rId5" Type="http://schemas.openxmlformats.org/officeDocument/2006/relationships/tags" Target="../tags/tag502.xml"/><Relationship Id="rId10" Type="http://schemas.openxmlformats.org/officeDocument/2006/relationships/slideLayout" Target="../slideLayouts/slideLayout2.xml"/><Relationship Id="rId4" Type="http://schemas.openxmlformats.org/officeDocument/2006/relationships/tags" Target="../tags/tag501.xml"/><Relationship Id="rId9" Type="http://schemas.openxmlformats.org/officeDocument/2006/relationships/tags" Target="../tags/tag506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3" Type="http://schemas.openxmlformats.org/officeDocument/2006/relationships/tags" Target="../tags/tag509.xml"/><Relationship Id="rId7" Type="http://schemas.openxmlformats.org/officeDocument/2006/relationships/tags" Target="../tags/tag513.xml"/><Relationship Id="rId2" Type="http://schemas.openxmlformats.org/officeDocument/2006/relationships/tags" Target="../tags/tag508.xml"/><Relationship Id="rId1" Type="http://schemas.openxmlformats.org/officeDocument/2006/relationships/tags" Target="../tags/tag507.xml"/><Relationship Id="rId6" Type="http://schemas.openxmlformats.org/officeDocument/2006/relationships/tags" Target="../tags/tag512.xml"/><Relationship Id="rId5" Type="http://schemas.openxmlformats.org/officeDocument/2006/relationships/tags" Target="../tags/tag511.xml"/><Relationship Id="rId4" Type="http://schemas.openxmlformats.org/officeDocument/2006/relationships/tags" Target="../tags/tag510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tags" Target="../tags/tag521.xml"/><Relationship Id="rId13" Type="http://schemas.openxmlformats.org/officeDocument/2006/relationships/tags" Target="../tags/tag526.xml"/><Relationship Id="rId18" Type="http://schemas.openxmlformats.org/officeDocument/2006/relationships/tags" Target="../tags/tag531.xml"/><Relationship Id="rId3" Type="http://schemas.openxmlformats.org/officeDocument/2006/relationships/tags" Target="../tags/tag516.xml"/><Relationship Id="rId21" Type="http://schemas.openxmlformats.org/officeDocument/2006/relationships/slideLayout" Target="../slideLayouts/slideLayout2.xml"/><Relationship Id="rId7" Type="http://schemas.openxmlformats.org/officeDocument/2006/relationships/tags" Target="../tags/tag520.xml"/><Relationship Id="rId12" Type="http://schemas.openxmlformats.org/officeDocument/2006/relationships/tags" Target="../tags/tag525.xml"/><Relationship Id="rId17" Type="http://schemas.openxmlformats.org/officeDocument/2006/relationships/tags" Target="../tags/tag530.xml"/><Relationship Id="rId2" Type="http://schemas.openxmlformats.org/officeDocument/2006/relationships/tags" Target="../tags/tag515.xml"/><Relationship Id="rId16" Type="http://schemas.openxmlformats.org/officeDocument/2006/relationships/tags" Target="../tags/tag529.xml"/><Relationship Id="rId20" Type="http://schemas.openxmlformats.org/officeDocument/2006/relationships/tags" Target="../tags/tag533.xml"/><Relationship Id="rId1" Type="http://schemas.openxmlformats.org/officeDocument/2006/relationships/tags" Target="../tags/tag514.xml"/><Relationship Id="rId6" Type="http://schemas.openxmlformats.org/officeDocument/2006/relationships/tags" Target="../tags/tag519.xml"/><Relationship Id="rId11" Type="http://schemas.openxmlformats.org/officeDocument/2006/relationships/tags" Target="../tags/tag524.xml"/><Relationship Id="rId5" Type="http://schemas.openxmlformats.org/officeDocument/2006/relationships/tags" Target="../tags/tag518.xml"/><Relationship Id="rId15" Type="http://schemas.openxmlformats.org/officeDocument/2006/relationships/tags" Target="../tags/tag528.xml"/><Relationship Id="rId10" Type="http://schemas.openxmlformats.org/officeDocument/2006/relationships/tags" Target="../tags/tag523.xml"/><Relationship Id="rId19" Type="http://schemas.openxmlformats.org/officeDocument/2006/relationships/tags" Target="../tags/tag532.xml"/><Relationship Id="rId4" Type="http://schemas.openxmlformats.org/officeDocument/2006/relationships/tags" Target="../tags/tag517.xml"/><Relationship Id="rId9" Type="http://schemas.openxmlformats.org/officeDocument/2006/relationships/tags" Target="../tags/tag522.xml"/><Relationship Id="rId14" Type="http://schemas.openxmlformats.org/officeDocument/2006/relationships/tags" Target="../tags/tag527.xml"/><Relationship Id="rId22" Type="http://schemas.openxmlformats.org/officeDocument/2006/relationships/notesSlide" Target="../notesSlides/notesSlide43.xm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tags" Target="../tags/tag539.xml"/><Relationship Id="rId3" Type="http://schemas.openxmlformats.org/officeDocument/2006/relationships/tags" Target="../tags/tag536.xml"/><Relationship Id="rId7" Type="http://schemas.openxmlformats.org/officeDocument/2006/relationships/video" Target="../media/media1.wmv"/><Relationship Id="rId2" Type="http://schemas.openxmlformats.org/officeDocument/2006/relationships/tags" Target="../tags/tag535.xml"/><Relationship Id="rId1" Type="http://schemas.openxmlformats.org/officeDocument/2006/relationships/tags" Target="../tags/tag534.xml"/><Relationship Id="rId6" Type="http://schemas.microsoft.com/office/2007/relationships/media" Target="../media/media1.wmv"/><Relationship Id="rId11" Type="http://schemas.openxmlformats.org/officeDocument/2006/relationships/image" Target="../media/image6.png"/><Relationship Id="rId5" Type="http://schemas.openxmlformats.org/officeDocument/2006/relationships/tags" Target="../tags/tag538.xml"/><Relationship Id="rId10" Type="http://schemas.openxmlformats.org/officeDocument/2006/relationships/notesSlide" Target="../notesSlides/notesSlide44.xml"/><Relationship Id="rId4" Type="http://schemas.openxmlformats.org/officeDocument/2006/relationships/tags" Target="../tags/tag537.xml"/><Relationship Id="rId9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45.xml"/><Relationship Id="rId3" Type="http://schemas.openxmlformats.org/officeDocument/2006/relationships/tags" Target="../tags/tag542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541.xml"/><Relationship Id="rId1" Type="http://schemas.openxmlformats.org/officeDocument/2006/relationships/tags" Target="../tags/tag540.xml"/><Relationship Id="rId6" Type="http://schemas.openxmlformats.org/officeDocument/2006/relationships/tags" Target="../tags/tag545.xml"/><Relationship Id="rId5" Type="http://schemas.openxmlformats.org/officeDocument/2006/relationships/tags" Target="../tags/tag544.xml"/><Relationship Id="rId4" Type="http://schemas.openxmlformats.org/officeDocument/2006/relationships/tags" Target="../tags/tag543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46.xml"/><Relationship Id="rId3" Type="http://schemas.openxmlformats.org/officeDocument/2006/relationships/tags" Target="../tags/tag548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547.xml"/><Relationship Id="rId1" Type="http://schemas.openxmlformats.org/officeDocument/2006/relationships/tags" Target="../tags/tag546.xml"/><Relationship Id="rId6" Type="http://schemas.openxmlformats.org/officeDocument/2006/relationships/tags" Target="../tags/tag551.xml"/><Relationship Id="rId5" Type="http://schemas.openxmlformats.org/officeDocument/2006/relationships/tags" Target="../tags/tag550.xml"/><Relationship Id="rId4" Type="http://schemas.openxmlformats.org/officeDocument/2006/relationships/tags" Target="../tags/tag549.xml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3" Type="http://schemas.openxmlformats.org/officeDocument/2006/relationships/tags" Target="../tags/tag554.xml"/><Relationship Id="rId7" Type="http://schemas.openxmlformats.org/officeDocument/2006/relationships/tags" Target="../tags/tag558.xml"/><Relationship Id="rId2" Type="http://schemas.openxmlformats.org/officeDocument/2006/relationships/tags" Target="../tags/tag553.xml"/><Relationship Id="rId1" Type="http://schemas.openxmlformats.org/officeDocument/2006/relationships/tags" Target="../tags/tag552.xml"/><Relationship Id="rId6" Type="http://schemas.openxmlformats.org/officeDocument/2006/relationships/tags" Target="../tags/tag557.xml"/><Relationship Id="rId5" Type="http://schemas.openxmlformats.org/officeDocument/2006/relationships/tags" Target="../tags/tag556.xml"/><Relationship Id="rId4" Type="http://schemas.openxmlformats.org/officeDocument/2006/relationships/tags" Target="../tags/tag555.xml"/><Relationship Id="rId9" Type="http://schemas.openxmlformats.org/officeDocument/2006/relationships/notesSlide" Target="../notesSlides/notesSlide47.xm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48.xml"/><Relationship Id="rId3" Type="http://schemas.openxmlformats.org/officeDocument/2006/relationships/tags" Target="../tags/tag561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560.xml"/><Relationship Id="rId1" Type="http://schemas.openxmlformats.org/officeDocument/2006/relationships/tags" Target="../tags/tag559.xml"/><Relationship Id="rId6" Type="http://schemas.openxmlformats.org/officeDocument/2006/relationships/tags" Target="../tags/tag564.xml"/><Relationship Id="rId5" Type="http://schemas.openxmlformats.org/officeDocument/2006/relationships/tags" Target="../tags/tag563.xml"/><Relationship Id="rId4" Type="http://schemas.openxmlformats.org/officeDocument/2006/relationships/tags" Target="../tags/tag562.xml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tags" Target="../tags/tag572.xml"/><Relationship Id="rId13" Type="http://schemas.openxmlformats.org/officeDocument/2006/relationships/image" Target="../media/image7.png"/><Relationship Id="rId3" Type="http://schemas.openxmlformats.org/officeDocument/2006/relationships/tags" Target="../tags/tag567.xml"/><Relationship Id="rId7" Type="http://schemas.openxmlformats.org/officeDocument/2006/relationships/tags" Target="../tags/tag571.xml"/><Relationship Id="rId12" Type="http://schemas.openxmlformats.org/officeDocument/2006/relationships/notesSlide" Target="../notesSlides/notesSlide49.xml"/><Relationship Id="rId2" Type="http://schemas.openxmlformats.org/officeDocument/2006/relationships/tags" Target="../tags/tag566.xml"/><Relationship Id="rId1" Type="http://schemas.openxmlformats.org/officeDocument/2006/relationships/tags" Target="../tags/tag565.xml"/><Relationship Id="rId6" Type="http://schemas.openxmlformats.org/officeDocument/2006/relationships/tags" Target="../tags/tag570.xml"/><Relationship Id="rId11" Type="http://schemas.openxmlformats.org/officeDocument/2006/relationships/slideLayout" Target="../slideLayouts/slideLayout2.xml"/><Relationship Id="rId5" Type="http://schemas.openxmlformats.org/officeDocument/2006/relationships/tags" Target="../tags/tag569.xml"/><Relationship Id="rId10" Type="http://schemas.openxmlformats.org/officeDocument/2006/relationships/tags" Target="../tags/tag574.xml"/><Relationship Id="rId4" Type="http://schemas.openxmlformats.org/officeDocument/2006/relationships/tags" Target="../tags/tag568.xml"/><Relationship Id="rId9" Type="http://schemas.openxmlformats.org/officeDocument/2006/relationships/tags" Target="../tags/tag573.xml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50.xml"/><Relationship Id="rId3" Type="http://schemas.openxmlformats.org/officeDocument/2006/relationships/tags" Target="../tags/tag577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576.xml"/><Relationship Id="rId1" Type="http://schemas.openxmlformats.org/officeDocument/2006/relationships/tags" Target="../tags/tag575.xml"/><Relationship Id="rId6" Type="http://schemas.openxmlformats.org/officeDocument/2006/relationships/tags" Target="../tags/tag580.xml"/><Relationship Id="rId5" Type="http://schemas.openxmlformats.org/officeDocument/2006/relationships/tags" Target="../tags/tag579.xml"/><Relationship Id="rId4" Type="http://schemas.openxmlformats.org/officeDocument/2006/relationships/tags" Target="../tags/tag578.xml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51.xml"/><Relationship Id="rId3" Type="http://schemas.openxmlformats.org/officeDocument/2006/relationships/tags" Target="../tags/tag583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582.xml"/><Relationship Id="rId1" Type="http://schemas.openxmlformats.org/officeDocument/2006/relationships/tags" Target="../tags/tag581.xml"/><Relationship Id="rId6" Type="http://schemas.openxmlformats.org/officeDocument/2006/relationships/tags" Target="../tags/tag586.xml"/><Relationship Id="rId5" Type="http://schemas.openxmlformats.org/officeDocument/2006/relationships/tags" Target="../tags/tag585.xml"/><Relationship Id="rId4" Type="http://schemas.openxmlformats.org/officeDocument/2006/relationships/tags" Target="../tags/tag584.xml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52.xml"/><Relationship Id="rId3" Type="http://schemas.openxmlformats.org/officeDocument/2006/relationships/tags" Target="../tags/tag589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588.xml"/><Relationship Id="rId1" Type="http://schemas.openxmlformats.org/officeDocument/2006/relationships/tags" Target="../tags/tag587.xml"/><Relationship Id="rId6" Type="http://schemas.openxmlformats.org/officeDocument/2006/relationships/tags" Target="../tags/tag592.xml"/><Relationship Id="rId5" Type="http://schemas.openxmlformats.org/officeDocument/2006/relationships/tags" Target="../tags/tag591.xml"/><Relationship Id="rId4" Type="http://schemas.openxmlformats.org/officeDocument/2006/relationships/tags" Target="../tags/tag590.xml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53.xml"/><Relationship Id="rId3" Type="http://schemas.openxmlformats.org/officeDocument/2006/relationships/tags" Target="../tags/tag595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594.xml"/><Relationship Id="rId1" Type="http://schemas.openxmlformats.org/officeDocument/2006/relationships/tags" Target="../tags/tag593.xml"/><Relationship Id="rId6" Type="http://schemas.openxmlformats.org/officeDocument/2006/relationships/tags" Target="../tags/tag598.xml"/><Relationship Id="rId5" Type="http://schemas.openxmlformats.org/officeDocument/2006/relationships/tags" Target="../tags/tag597.xml"/><Relationship Id="rId4" Type="http://schemas.openxmlformats.org/officeDocument/2006/relationships/tags" Target="../tags/tag596.xml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54.xml"/><Relationship Id="rId3" Type="http://schemas.openxmlformats.org/officeDocument/2006/relationships/tags" Target="../tags/tag601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600.xml"/><Relationship Id="rId1" Type="http://schemas.openxmlformats.org/officeDocument/2006/relationships/tags" Target="../tags/tag599.xml"/><Relationship Id="rId6" Type="http://schemas.openxmlformats.org/officeDocument/2006/relationships/tags" Target="../tags/tag604.xml"/><Relationship Id="rId5" Type="http://schemas.openxmlformats.org/officeDocument/2006/relationships/tags" Target="../tags/tag603.xml"/><Relationship Id="rId4" Type="http://schemas.openxmlformats.org/officeDocument/2006/relationships/tags" Target="../tags/tag602.xml"/><Relationship Id="rId9" Type="http://schemas.openxmlformats.org/officeDocument/2006/relationships/hyperlink" Target="mailto:edmcman@cmu.edu" TargetMode="External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55.xml"/><Relationship Id="rId3" Type="http://schemas.openxmlformats.org/officeDocument/2006/relationships/tags" Target="../tags/tag607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606.xml"/><Relationship Id="rId1" Type="http://schemas.openxmlformats.org/officeDocument/2006/relationships/tags" Target="../tags/tag605.xml"/><Relationship Id="rId6" Type="http://schemas.openxmlformats.org/officeDocument/2006/relationships/tags" Target="../tags/tag610.xml"/><Relationship Id="rId5" Type="http://schemas.openxmlformats.org/officeDocument/2006/relationships/tags" Target="../tags/tag609.xml"/><Relationship Id="rId4" Type="http://schemas.openxmlformats.org/officeDocument/2006/relationships/tags" Target="../tags/tag608.xm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tags" Target="../tags/tag618.xml"/><Relationship Id="rId3" Type="http://schemas.openxmlformats.org/officeDocument/2006/relationships/tags" Target="../tags/tag613.xml"/><Relationship Id="rId7" Type="http://schemas.openxmlformats.org/officeDocument/2006/relationships/tags" Target="../tags/tag617.xml"/><Relationship Id="rId2" Type="http://schemas.openxmlformats.org/officeDocument/2006/relationships/tags" Target="../tags/tag612.xml"/><Relationship Id="rId1" Type="http://schemas.openxmlformats.org/officeDocument/2006/relationships/tags" Target="../tags/tag611.xml"/><Relationship Id="rId6" Type="http://schemas.openxmlformats.org/officeDocument/2006/relationships/tags" Target="../tags/tag616.xml"/><Relationship Id="rId5" Type="http://schemas.openxmlformats.org/officeDocument/2006/relationships/tags" Target="../tags/tag615.xml"/><Relationship Id="rId10" Type="http://schemas.openxmlformats.org/officeDocument/2006/relationships/image" Target="../media/image8.png"/><Relationship Id="rId4" Type="http://schemas.openxmlformats.org/officeDocument/2006/relationships/tags" Target="../tags/tag614.xml"/><Relationship Id="rId9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tags" Target="../tags/tag626.xml"/><Relationship Id="rId13" Type="http://schemas.openxmlformats.org/officeDocument/2006/relationships/image" Target="../media/image9.png"/><Relationship Id="rId3" Type="http://schemas.openxmlformats.org/officeDocument/2006/relationships/tags" Target="../tags/tag621.xml"/><Relationship Id="rId7" Type="http://schemas.openxmlformats.org/officeDocument/2006/relationships/tags" Target="../tags/tag625.xml"/><Relationship Id="rId12" Type="http://schemas.openxmlformats.org/officeDocument/2006/relationships/notesSlide" Target="../notesSlides/notesSlide56.xml"/><Relationship Id="rId2" Type="http://schemas.openxmlformats.org/officeDocument/2006/relationships/tags" Target="../tags/tag620.xml"/><Relationship Id="rId1" Type="http://schemas.openxmlformats.org/officeDocument/2006/relationships/tags" Target="../tags/tag619.xml"/><Relationship Id="rId6" Type="http://schemas.openxmlformats.org/officeDocument/2006/relationships/tags" Target="../tags/tag624.xml"/><Relationship Id="rId11" Type="http://schemas.openxmlformats.org/officeDocument/2006/relationships/slideLayout" Target="../slideLayouts/slideLayout2.xml"/><Relationship Id="rId5" Type="http://schemas.openxmlformats.org/officeDocument/2006/relationships/tags" Target="../tags/tag623.xml"/><Relationship Id="rId10" Type="http://schemas.openxmlformats.org/officeDocument/2006/relationships/tags" Target="../tags/tag628.xml"/><Relationship Id="rId4" Type="http://schemas.openxmlformats.org/officeDocument/2006/relationships/tags" Target="../tags/tag622.xml"/><Relationship Id="rId9" Type="http://schemas.openxmlformats.org/officeDocument/2006/relationships/tags" Target="../tags/tag6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Q: Exploit Hardening Made Easy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 u="sng" dirty="0" smtClean="0"/>
              <a:t>Edward J. Schwartz</a:t>
            </a:r>
            <a:r>
              <a:rPr lang="en-US" dirty="0" smtClean="0"/>
              <a:t>, </a:t>
            </a:r>
            <a:r>
              <a:rPr lang="en-US" dirty="0" err="1" smtClean="0"/>
              <a:t>Thanassis</a:t>
            </a:r>
            <a:r>
              <a:rPr lang="en-US" dirty="0" smtClean="0"/>
              <a:t> Avgerinos, and David </a:t>
            </a:r>
            <a:r>
              <a:rPr lang="en-US" dirty="0" err="1" smtClean="0"/>
              <a:t>Brumley</a:t>
            </a:r>
            <a:endParaRPr lang="en-US" dirty="0"/>
          </a:p>
          <a:p>
            <a:r>
              <a:rPr lang="en-US" dirty="0" smtClean="0"/>
              <a:t>Carnegie Mellon University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  <p:custDataLst>
              <p:tags r:id="rId4"/>
            </p:custDataLst>
          </p:nvPr>
        </p:nvSpPr>
        <p:spPr/>
        <p:txBody>
          <a:bodyPr/>
          <a:lstStyle/>
          <a:p>
            <a:fld id="{CBFD6D1E-239E-4DFE-8F96-FBC6FA445E18}" type="datetime1">
              <a:rPr lang="en-US" smtClean="0"/>
              <a:t>8/15/2011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  <p:custDataLst>
              <p:tags r:id="rId5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1</a:t>
            </a:fld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4228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917"/>
    </mc:Choice>
    <mc:Fallback xmlns="">
      <p:transition spd="slow" advTm="8917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457200" y="0"/>
            <a:ext cx="8229600" cy="633412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Downloading Exploits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87F2E116-0F55-4135-B4A9-C2D9105DBFCC}" type="datetime1">
              <a:rPr lang="en-US" smtClean="0"/>
              <a:t>8/15/2011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2</a:t>
            </a:fld>
            <a:endParaRPr lang="en-US"/>
          </a:p>
        </p:txBody>
      </p:sp>
      <p:pic>
        <p:nvPicPr>
          <p:cNvPr id="1026" name="Picture 2" descr="http://www.unc.edu/~adamsonj/pictures/beastie/beastie_300.png"/>
          <p:cNvPicPr>
            <a:picLocks noChangeAspect="1" noChangeArrowheads="1"/>
          </p:cNvPicPr>
          <p:nvPr>
            <p:custDataLst>
              <p:tags r:id="rId5"/>
            </p:custData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904" y="1676400"/>
            <a:ext cx="2857500" cy="3095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ttp://www.augustaschools.org/images/Farrington_images/ECole/computer_clipart1.gif"/>
          <p:cNvPicPr>
            <a:picLocks noChangeAspect="1" noChangeArrowheads="1"/>
          </p:cNvPicPr>
          <p:nvPr>
            <p:custDataLst>
              <p:tags r:id="rId6"/>
            </p:custDataLst>
          </p:nvPr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7651" y="1323975"/>
            <a:ext cx="3306349" cy="3448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/>
          <p:cNvSpPr/>
          <p:nvPr>
            <p:custDataLst>
              <p:tags r:id="rId7"/>
            </p:custDataLst>
          </p:nvPr>
        </p:nvSpPr>
        <p:spPr>
          <a:xfrm>
            <a:off x="5981700" y="4800600"/>
            <a:ext cx="2857500" cy="9144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Windows 7</a:t>
            </a:r>
          </a:p>
        </p:txBody>
      </p:sp>
      <p:sp>
        <p:nvSpPr>
          <p:cNvPr id="11" name="Rectangle 10"/>
          <p:cNvSpPr/>
          <p:nvPr>
            <p:custDataLst>
              <p:tags r:id="rId8"/>
            </p:custDataLst>
          </p:nvPr>
        </p:nvSpPr>
        <p:spPr>
          <a:xfrm>
            <a:off x="228600" y="4800600"/>
            <a:ext cx="2857500" cy="9144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Evil Ed</a:t>
            </a:r>
          </a:p>
        </p:txBody>
      </p:sp>
      <p:sp>
        <p:nvSpPr>
          <p:cNvPr id="12" name="Rounded Rectangular Callout 11"/>
          <p:cNvSpPr/>
          <p:nvPr>
            <p:custDataLst>
              <p:tags r:id="rId9"/>
            </p:custDataLst>
          </p:nvPr>
        </p:nvSpPr>
        <p:spPr>
          <a:xfrm>
            <a:off x="2950215" y="1524000"/>
            <a:ext cx="2887436" cy="2362200"/>
          </a:xfrm>
          <a:prstGeom prst="wedgeRoundRectCallout">
            <a:avLst>
              <a:gd name="adj1" fmla="val -68335"/>
              <a:gd name="adj2" fmla="val -929"/>
              <a:gd name="adj3" fmla="val 1666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I found a control flow hijack exploit online!</a:t>
            </a:r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2"/>
            <p:custDataLst>
              <p:tags r:id="rId10"/>
            </p:custDataLst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14" name="Group 13"/>
          <p:cNvGrpSpPr/>
          <p:nvPr>
            <p:custDataLst>
              <p:tags r:id="rId11"/>
            </p:custDataLst>
          </p:nvPr>
        </p:nvGrpSpPr>
        <p:grpSpPr>
          <a:xfrm>
            <a:off x="229054" y="2118122"/>
            <a:ext cx="2743200" cy="1381125"/>
            <a:chOff x="228600" y="1066800"/>
            <a:chExt cx="8763000" cy="2438400"/>
          </a:xfrm>
        </p:grpSpPr>
        <p:sp>
          <p:nvSpPr>
            <p:cNvPr id="15" name="Rounded Rectangle 14"/>
            <p:cNvSpPr/>
            <p:nvPr/>
          </p:nvSpPr>
          <p:spPr>
            <a:xfrm>
              <a:off x="228600" y="1219200"/>
              <a:ext cx="8763000" cy="2286000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600" dirty="0" smtClean="0">
                <a:latin typeface="Calibri" pitchFamily="34" charset="0"/>
                <a:cs typeface="Calibri" pitchFamily="34" charset="0"/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81000" y="1981200"/>
              <a:ext cx="3048000" cy="1298448"/>
            </a:xfrm>
            <a:prstGeom prst="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3600" dirty="0" smtClean="0">
                <a:latin typeface="Calibri" pitchFamily="34" charset="0"/>
                <a:cs typeface="Calibri" pitchFamily="34" charset="0"/>
              </a:endParaRP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78909" y="1066800"/>
              <a:ext cx="8184087" cy="914400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sz="2800" dirty="0" smtClean="0">
                  <a:latin typeface="Calibri" pitchFamily="34" charset="0"/>
                  <a:cs typeface="Calibri" pitchFamily="34" charset="0"/>
                </a:rPr>
                <a:t>Exploit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6858000" y="1981200"/>
              <a:ext cx="1905000" cy="12954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3600" dirty="0" smtClean="0">
                <a:latin typeface="Calibri" pitchFamily="34" charset="0"/>
                <a:cs typeface="Calibri" pitchFamily="34" charset="0"/>
              </a:endParaRP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3429000" y="1981200"/>
              <a:ext cx="3429000" cy="1298448"/>
            </a:xfrm>
            <a:prstGeom prst="rect">
              <a:avLst/>
            </a:prstGeom>
            <a:ln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3600" dirty="0" smtClean="0">
                <a:latin typeface="Calibri" pitchFamily="34" charset="0"/>
                <a:cs typeface="Calibri" pitchFamily="34" charset="0"/>
              </a:endParaRPr>
            </a:p>
          </p:txBody>
        </p:sp>
        <p:cxnSp>
          <p:nvCxnSpPr>
            <p:cNvPr id="20" name="Straight Arrow Connector 29"/>
            <p:cNvCxnSpPr>
              <a:stCxn id="19" idx="3"/>
              <a:endCxn id="16" idx="1"/>
            </p:cNvCxnSpPr>
            <p:nvPr/>
          </p:nvCxnSpPr>
          <p:spPr>
            <a:xfrm flipH="1">
              <a:off x="381000" y="2630424"/>
              <a:ext cx="6477000" cy="12700"/>
            </a:xfrm>
            <a:prstGeom prst="curvedConnector5">
              <a:avLst>
                <a:gd name="adj1" fmla="val -3529"/>
                <a:gd name="adj2" fmla="val 4083425"/>
                <a:gd name="adj3" fmla="val 101260"/>
              </a:avLst>
            </a:prstGeom>
            <a:ln>
              <a:tailEnd type="arrow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</p:spTree>
    <p:custDataLst>
      <p:tags r:id="rId1"/>
    </p:custDataLst>
    <p:extLst>
      <p:ext uri="{BB962C8B-B14F-4D97-AF65-F5344CB8AC3E}">
        <p14:creationId xmlns:p14="http://schemas.microsoft.com/office/powerpoint/2010/main" val="42862810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236"/>
    </mc:Choice>
    <mc:Fallback xmlns="">
      <p:transition spd="slow" advTm="15236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7.40741E-7 L 0.60833 0.00162 " pathEditMode="relative" rAng="0" ptsTypes="AA">
                                      <p:cBhvr>
                                        <p:cTn id="11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0417" y="6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quarter" idx="10"/>
            <p:custDataLst>
              <p:tags r:id="rId2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4294967295"/>
            <p:custDataLst>
              <p:tags r:id="rId3"/>
            </p:custDataLst>
          </p:nvPr>
        </p:nvSpPr>
        <p:spPr>
          <a:xfrm>
            <a:off x="0" y="6356350"/>
            <a:ext cx="2133600" cy="365125"/>
          </a:xfrm>
        </p:spPr>
        <p:txBody>
          <a:bodyPr/>
          <a:lstStyle/>
          <a:p>
            <a:fld id="{1F8464B9-CB03-42C5-90A3-3FA794F9D722}" type="datetime1">
              <a:rPr lang="en-US" smtClean="0"/>
              <a:t>8/15/2011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  <p:custDataLst>
              <p:tags r:id="rId4"/>
            </p:custDataLst>
          </p:nvPr>
        </p:nvSpPr>
        <p:spPr>
          <a:xfrm>
            <a:off x="7010400" y="6356350"/>
            <a:ext cx="2133600" cy="365125"/>
          </a:xfrm>
        </p:spPr>
        <p:txBody>
          <a:bodyPr/>
          <a:lstStyle/>
          <a:p>
            <a:fld id="{D72DCFC7-CCD2-4D18-A5A6-8AD55EBAF26B}" type="slidenum">
              <a:rPr lang="en-US" smtClean="0"/>
              <a:t>3</a:t>
            </a:fld>
            <a:endParaRPr lang="en-US"/>
          </a:p>
        </p:txBody>
      </p:sp>
      <p:pic>
        <p:nvPicPr>
          <p:cNvPr id="7" name="Picture 4" descr="http://www.valsal.com/wp-content/uploads/2010/10/bsod.png"/>
          <p:cNvPicPr>
            <a:picLocks noChangeAspect="1" noChangeArrowheads="1"/>
          </p:cNvPicPr>
          <p:nvPr>
            <p:custDataLst>
              <p:tags r:id="rId5"/>
            </p:custDataLst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2297440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025"/>
    </mc:Choice>
    <mc:Fallback xmlns="">
      <p:transition spd="slow" advTm="6025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457200" y="0"/>
            <a:ext cx="8229600" cy="633412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Downloading Exploits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87F2E116-0F55-4135-B4A9-C2D9105DBFCC}" type="datetime1">
              <a:rPr lang="en-US" smtClean="0"/>
              <a:t>8/15/2011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4</a:t>
            </a:fld>
            <a:endParaRPr lang="en-US"/>
          </a:p>
        </p:txBody>
      </p:sp>
      <p:pic>
        <p:nvPicPr>
          <p:cNvPr id="15" name="Picture 2" descr="http://www.unc.edu/~adamsonj/pictures/beastie/beastie_300.png"/>
          <p:cNvPicPr>
            <a:picLocks noChangeAspect="1" noChangeArrowheads="1"/>
          </p:cNvPicPr>
          <p:nvPr>
            <p:custDataLst>
              <p:tags r:id="rId5"/>
            </p:custDataLst>
          </p:nvPr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904" y="1676400"/>
            <a:ext cx="2857500" cy="3095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4" descr="http://www.augustaschools.org/images/Farrington_images/ECole/computer_clipart1.gif"/>
          <p:cNvPicPr>
            <a:picLocks noChangeAspect="1" noChangeArrowheads="1"/>
          </p:cNvPicPr>
          <p:nvPr>
            <p:custDataLst>
              <p:tags r:id="rId6"/>
            </p:custDataLst>
          </p:nvPr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7651" y="1323975"/>
            <a:ext cx="3306349" cy="3448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4" descr="http://www.augustaschools.org/images/Farrington_images/ECole/computer_clipart1.gif"/>
          <p:cNvPicPr>
            <a:picLocks noChangeAspect="1" noChangeArrowheads="1"/>
          </p:cNvPicPr>
          <p:nvPr>
            <p:custDataLst>
              <p:tags r:id="rId7"/>
            </p:custDataLst>
          </p:nvPr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7651" y="1323975"/>
            <a:ext cx="3306349" cy="3448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/>
          <p:cNvSpPr/>
          <p:nvPr>
            <p:custDataLst>
              <p:tags r:id="rId8"/>
            </p:custDataLst>
          </p:nvPr>
        </p:nvSpPr>
        <p:spPr>
          <a:xfrm>
            <a:off x="5981700" y="4800600"/>
            <a:ext cx="2857500" cy="9144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Windows 7</a:t>
            </a:r>
          </a:p>
        </p:txBody>
      </p:sp>
      <p:sp>
        <p:nvSpPr>
          <p:cNvPr id="11" name="Rectangle 10"/>
          <p:cNvSpPr/>
          <p:nvPr>
            <p:custDataLst>
              <p:tags r:id="rId9"/>
            </p:custDataLst>
          </p:nvPr>
        </p:nvSpPr>
        <p:spPr>
          <a:xfrm>
            <a:off x="228600" y="4800600"/>
            <a:ext cx="2857500" cy="9144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Evil Ed</a:t>
            </a:r>
          </a:p>
        </p:txBody>
      </p:sp>
      <p:sp>
        <p:nvSpPr>
          <p:cNvPr id="12" name="Rounded Rectangular Callout 11"/>
          <p:cNvSpPr/>
          <p:nvPr>
            <p:custDataLst>
              <p:tags r:id="rId10"/>
            </p:custDataLst>
          </p:nvPr>
        </p:nvSpPr>
        <p:spPr>
          <a:xfrm>
            <a:off x="2950215" y="1524000"/>
            <a:ext cx="2887436" cy="1905000"/>
          </a:xfrm>
          <a:prstGeom prst="wedgeRoundRectCallout">
            <a:avLst>
              <a:gd name="adj1" fmla="val -68335"/>
              <a:gd name="adj2" fmla="val -929"/>
              <a:gd name="adj3" fmla="val 1666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Why didn’t the exploit work?</a:t>
            </a:r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2"/>
            <p:custDataLst>
              <p:tags r:id="rId11"/>
            </p:custDataLst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4" name="Picture 4" descr="http://www.valsal.com/wp-content/uploads/2010/10/bsod.png"/>
          <p:cNvPicPr>
            <a:picLocks noChangeAspect="1" noChangeArrowheads="1"/>
          </p:cNvPicPr>
          <p:nvPr>
            <p:custDataLst>
              <p:tags r:id="rId12"/>
            </p:custDataLst>
          </p:nvPr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4600" y="1657350"/>
            <a:ext cx="1549400" cy="1162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5482817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730"/>
    </mc:Choice>
    <mc:Fallback xmlns="">
      <p:transition spd="slow" advTm="6730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Causes of Broken Exploits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6E0D5B86-D5FE-4820-860D-574C9585D181}" type="datetime1">
              <a:rPr lang="en-US" smtClean="0"/>
              <a:t>8/15/2011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2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13"/>
            <p:custDataLst>
              <p:tags r:id="rId6"/>
            </p:custDataLst>
          </p:nvPr>
        </p:nvSpPr>
        <p:spPr>
          <a:xfrm>
            <a:off x="457200" y="609600"/>
            <a:ext cx="8229600" cy="3352800"/>
          </a:xfrm>
        </p:spPr>
        <p:txBody>
          <a:bodyPr>
            <a:normAutofit/>
          </a:bodyPr>
          <a:lstStyle/>
          <a:p>
            <a:pPr marL="685800" indent="-685800">
              <a:buFont typeface="+mj-lt"/>
              <a:buAutoNum type="arabicPeriod"/>
            </a:pPr>
            <a:r>
              <a:rPr lang="en-US" sz="4800" dirty="0" smtClean="0"/>
              <a:t>Exploit used OS/binary-specific tricks/features</a:t>
            </a:r>
          </a:p>
          <a:p>
            <a:pPr marL="914400" indent="-914400">
              <a:buFont typeface="+mj-lt"/>
              <a:buAutoNum type="arabicPeriod"/>
            </a:pPr>
            <a:endParaRPr lang="en-US" sz="4800" dirty="0"/>
          </a:p>
          <a:p>
            <a:pPr marL="685800" indent="-685800">
              <a:buFont typeface="+mj-lt"/>
              <a:buAutoNum type="arabicPeriod"/>
            </a:pPr>
            <a:r>
              <a:rPr lang="en-US" sz="4800" dirty="0" smtClean="0"/>
              <a:t>OS Defenses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478038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6738"/>
    </mc:Choice>
    <mc:Fallback xmlns="">
      <p:transition spd="slow" advTm="26738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OS Defenses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949641EE-A51B-49A3-99D8-27A1498F6C5A}" type="datetime1">
              <a:rPr lang="en-US" smtClean="0"/>
              <a:t>8/15/2011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6</a:t>
            </a:fld>
            <a:endParaRPr lang="en-US"/>
          </a:p>
        </p:txBody>
      </p:sp>
      <p:sp>
        <p:nvSpPr>
          <p:cNvPr id="5" name="Content Placeholder 4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sz="4800" dirty="0" smtClean="0"/>
              <a:t>Modern OS defenses are designed to make exploiting difficult</a:t>
            </a:r>
          </a:p>
          <a:p>
            <a:pPr lvl="1"/>
            <a:r>
              <a:rPr lang="en-US" sz="3800" b="1" dirty="0"/>
              <a:t>ASLR: </a:t>
            </a:r>
            <a:r>
              <a:rPr lang="en-US" sz="3800" dirty="0"/>
              <a:t>Address Space Layout Randomization</a:t>
            </a:r>
          </a:p>
          <a:p>
            <a:pPr lvl="1"/>
            <a:r>
              <a:rPr lang="en-US" sz="3800" b="1" dirty="0"/>
              <a:t>DEP: </a:t>
            </a:r>
            <a:r>
              <a:rPr lang="en-US" sz="3800" dirty="0"/>
              <a:t>Data Execution </a:t>
            </a:r>
            <a:r>
              <a:rPr lang="en-US" sz="3800" dirty="0" smtClean="0"/>
              <a:t>Prevention</a:t>
            </a:r>
          </a:p>
          <a:p>
            <a:pPr lvl="1"/>
            <a:r>
              <a:rPr lang="en-US" sz="3800" dirty="0" smtClean="0"/>
              <a:t>Do not guarantee control flow integrity</a:t>
            </a:r>
            <a:endParaRPr lang="en-US" sz="5600" dirty="0"/>
          </a:p>
          <a:p>
            <a:pPr marL="0" indent="0">
              <a:buNone/>
            </a:pPr>
            <a:endParaRPr lang="en-US" sz="4800" b="1" dirty="0" smtClean="0"/>
          </a:p>
          <a:p>
            <a:r>
              <a:rPr lang="en-US" sz="4800" b="1" dirty="0" smtClean="0"/>
              <a:t>How difficult?</a:t>
            </a:r>
          </a:p>
          <a:p>
            <a:endParaRPr lang="en-US" sz="4800" b="1" dirty="0"/>
          </a:p>
          <a:p>
            <a:endParaRPr lang="en-US" sz="480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2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50228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5911"/>
    </mc:Choice>
    <mc:Fallback xmlns="">
      <p:transition spd="slow" advTm="3591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949641EE-A51B-49A3-99D8-27A1498F6C5A}" type="datetime1">
              <a:rPr lang="en-US" smtClean="0"/>
              <a:t>8/15/2011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  <p:custDataLst>
              <p:tags r:id="rId3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7</a:t>
            </a:fld>
            <a:endParaRPr lang="en-US"/>
          </a:p>
        </p:txBody>
      </p:sp>
      <p:sp>
        <p:nvSpPr>
          <p:cNvPr id="5" name="Content Placeholder 4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/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4800" b="1" dirty="0" smtClean="0"/>
              <a:t>Exploit hardening: </a:t>
            </a:r>
            <a:br>
              <a:rPr lang="en-US" sz="4800" b="1" dirty="0" smtClean="0"/>
            </a:br>
            <a:r>
              <a:rPr lang="en-US" sz="4800" dirty="0" smtClean="0"/>
              <a:t>Modifying exploits to bypass defenses</a:t>
            </a:r>
            <a:endParaRPr lang="en-US" sz="4400" dirty="0" smtClean="0"/>
          </a:p>
          <a:p>
            <a:endParaRPr lang="en-US" sz="480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2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4877737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2358"/>
    </mc:Choice>
    <mc:Fallback xmlns="">
      <p:transition spd="slow" advTm="22358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Overview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 b="1" dirty="0" smtClean="0"/>
              <a:t>Background: Defenses and Return Oriented Programming (ROP)</a:t>
            </a:r>
          </a:p>
          <a:p>
            <a:r>
              <a:rPr lang="en-US" dirty="0" smtClean="0"/>
              <a:t>Q: ROP + Hardening</a:t>
            </a:r>
          </a:p>
          <a:p>
            <a:pPr lvl="1"/>
            <a:r>
              <a:rPr lang="en-US" dirty="0" smtClean="0"/>
              <a:t>Automatic ROP</a:t>
            </a:r>
          </a:p>
          <a:p>
            <a:pPr lvl="1"/>
            <a:r>
              <a:rPr lang="en-US" dirty="0" smtClean="0"/>
              <a:t>Automatic Hardening</a:t>
            </a:r>
            <a:endParaRPr lang="en-US" dirty="0"/>
          </a:p>
          <a:p>
            <a:r>
              <a:rPr lang="en-US" dirty="0" smtClean="0"/>
              <a:t>Evaluation</a:t>
            </a:r>
          </a:p>
          <a:p>
            <a:r>
              <a:rPr lang="en-US" dirty="0" smtClean="0"/>
              <a:t>Limitations</a:t>
            </a:r>
          </a:p>
          <a:p>
            <a:r>
              <a:rPr lang="en-US" dirty="0" smtClean="0"/>
              <a:t>Conclusion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2F1F15C3-E042-4DDA-BDB7-EDBA148E5889}" type="datetime1">
              <a:rPr lang="en-US" smtClean="0"/>
              <a:t>8/15/2011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  <p:custDataLst>
              <p:tags r:id="rId5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2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35337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0990"/>
    </mc:Choice>
    <mc:Fallback xmlns="">
      <p:transition spd="slow" advTm="40990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ounded Rectangle 18"/>
          <p:cNvSpPr/>
          <p:nvPr>
            <p:custDataLst>
              <p:tags r:id="rId2"/>
            </p:custDataLst>
          </p:nvPr>
        </p:nvSpPr>
        <p:spPr>
          <a:xfrm>
            <a:off x="228600" y="1600200"/>
            <a:ext cx="8763000" cy="2286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600" dirty="0" smtClean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 dirty="0" smtClean="0"/>
              <a:t>Simple Exploit</a:t>
            </a:r>
            <a:endParaRPr lang="en-US" dirty="0"/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A92CFE2C-1929-4D80-9B3B-163BA8388876}" type="datetime1">
              <a:rPr lang="en-US" smtClean="0"/>
              <a:t>8/15/2011</a:t>
            </a:fld>
            <a:endParaRPr lang="en-US"/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11"/>
            <p:custDataLst>
              <p:tags r:id="rId5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9</a:t>
            </a:fld>
            <a:endParaRPr lang="en-US"/>
          </a:p>
        </p:txBody>
      </p:sp>
      <p:sp>
        <p:nvSpPr>
          <p:cNvPr id="16" name="TextBox 15"/>
          <p:cNvSpPr txBox="1"/>
          <p:nvPr>
            <p:custDataLst>
              <p:tags r:id="rId6"/>
            </p:custDataLst>
          </p:nvPr>
        </p:nvSpPr>
        <p:spPr>
          <a:xfrm>
            <a:off x="32657" y="3893403"/>
            <a:ext cx="37338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>
                <a:solidFill>
                  <a:srgbClr val="FF0000"/>
                </a:solidFill>
                <a:latin typeface="Calibri" pitchFamily="34" charset="0"/>
                <a:cs typeface="Calibri" pitchFamily="34" charset="0"/>
              </a:rPr>
              <a:t>Computation</a:t>
            </a:r>
          </a:p>
        </p:txBody>
      </p:sp>
      <p:sp>
        <p:nvSpPr>
          <p:cNvPr id="17" name="Rectangle 16"/>
          <p:cNvSpPr/>
          <p:nvPr>
            <p:custDataLst>
              <p:tags r:id="rId7"/>
            </p:custDataLst>
          </p:nvPr>
        </p:nvSpPr>
        <p:spPr>
          <a:xfrm>
            <a:off x="381000" y="2362200"/>
            <a:ext cx="3048000" cy="129844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err="1" smtClean="0">
                <a:latin typeface="Calibri" pitchFamily="34" charset="0"/>
                <a:cs typeface="Calibri" pitchFamily="34" charset="0"/>
              </a:rPr>
              <a:t>Shellcode</a:t>
            </a:r>
            <a:endParaRPr lang="en-US" sz="3600" dirty="0" smtClean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21" name="TextBox 20"/>
          <p:cNvSpPr txBox="1"/>
          <p:nvPr>
            <p:custDataLst>
              <p:tags r:id="rId8"/>
            </p:custDataLst>
          </p:nvPr>
        </p:nvSpPr>
        <p:spPr>
          <a:xfrm>
            <a:off x="2971800" y="1447800"/>
            <a:ext cx="3200400" cy="685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4800" dirty="0" smtClean="0">
                <a:latin typeface="Calibri" pitchFamily="34" charset="0"/>
                <a:cs typeface="Calibri" pitchFamily="34" charset="0"/>
              </a:rPr>
              <a:t>Exploit</a:t>
            </a:r>
          </a:p>
        </p:txBody>
      </p:sp>
      <p:sp>
        <p:nvSpPr>
          <p:cNvPr id="22" name="TextBox 21"/>
          <p:cNvSpPr txBox="1"/>
          <p:nvPr>
            <p:custDataLst>
              <p:tags r:id="rId9"/>
            </p:custDataLst>
          </p:nvPr>
        </p:nvSpPr>
        <p:spPr>
          <a:xfrm>
            <a:off x="6667500" y="3886200"/>
            <a:ext cx="2476500" cy="838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>
                <a:solidFill>
                  <a:srgbClr val="002060"/>
                </a:solidFill>
                <a:latin typeface="Calibri" pitchFamily="34" charset="0"/>
                <a:cs typeface="Calibri" pitchFamily="34" charset="0"/>
              </a:rPr>
              <a:t>Control</a:t>
            </a:r>
          </a:p>
        </p:txBody>
      </p:sp>
      <p:sp>
        <p:nvSpPr>
          <p:cNvPr id="25" name="Rectangle 24"/>
          <p:cNvSpPr/>
          <p:nvPr>
            <p:custDataLst>
              <p:tags r:id="rId10"/>
            </p:custDataLst>
          </p:nvPr>
        </p:nvSpPr>
        <p:spPr>
          <a:xfrm>
            <a:off x="6858000" y="2362200"/>
            <a:ext cx="1905000" cy="12954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Pointer</a:t>
            </a:r>
          </a:p>
        </p:txBody>
      </p:sp>
      <p:sp>
        <p:nvSpPr>
          <p:cNvPr id="26" name="Rectangle 25"/>
          <p:cNvSpPr/>
          <p:nvPr>
            <p:custDataLst>
              <p:tags r:id="rId11"/>
            </p:custDataLst>
          </p:nvPr>
        </p:nvSpPr>
        <p:spPr>
          <a:xfrm>
            <a:off x="3429000" y="2362200"/>
            <a:ext cx="3429000" cy="1298448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Padding</a:t>
            </a:r>
          </a:p>
        </p:txBody>
      </p:sp>
      <p:cxnSp>
        <p:nvCxnSpPr>
          <p:cNvPr id="30" name="Straight Arrow Connector 29"/>
          <p:cNvCxnSpPr>
            <a:stCxn id="26" idx="3"/>
            <a:endCxn id="17" idx="1"/>
          </p:cNvCxnSpPr>
          <p:nvPr>
            <p:custDataLst>
              <p:tags r:id="rId12"/>
            </p:custDataLst>
          </p:nvPr>
        </p:nvCxnSpPr>
        <p:spPr>
          <a:xfrm flipH="1">
            <a:off x="381000" y="3011424"/>
            <a:ext cx="6477000" cy="12700"/>
          </a:xfrm>
          <a:prstGeom prst="curvedConnector5">
            <a:avLst>
              <a:gd name="adj1" fmla="val -3529"/>
              <a:gd name="adj2" fmla="val 4083425"/>
              <a:gd name="adj3" fmla="val 101260"/>
            </a:avLst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" name="Footer Placeholder 3"/>
          <p:cNvSpPr>
            <a:spLocks noGrp="1"/>
          </p:cNvSpPr>
          <p:nvPr>
            <p:ph type="ftr" sz="quarter" idx="12"/>
            <p:custDataLst>
              <p:tags r:id="rId13"/>
            </p:custDataLst>
          </p:nvPr>
        </p:nvSpPr>
        <p:spPr/>
        <p:txBody>
          <a:bodyPr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927093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922"/>
    </mc:Choice>
    <mc:Fallback xmlns="">
      <p:transition spd="slow" advTm="45922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 animBg="1"/>
      <p:bldP spid="22" grpId="0"/>
      <p:bldP spid="25" grpId="0" animBg="1"/>
      <p:bldP spid="2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457200" y="204788"/>
            <a:ext cx="8229600" cy="633412"/>
          </a:xfrm>
        </p:spPr>
        <p:txBody>
          <a:bodyPr/>
          <a:lstStyle/>
          <a:p>
            <a:r>
              <a:rPr lang="en-US" dirty="0" smtClean="0"/>
              <a:t>Data Execution Prevention (DEP)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25570368-55EE-42D8-9AE1-A73379019C62}" type="datetime1">
              <a:rPr lang="en-US" smtClean="0"/>
              <a:t>8/15/2011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10</a:t>
            </a:fld>
            <a:endParaRPr lang="en-US"/>
          </a:p>
        </p:txBody>
      </p:sp>
      <p:sp>
        <p:nvSpPr>
          <p:cNvPr id="6" name="Rounded Rectangle 5"/>
          <p:cNvSpPr/>
          <p:nvPr>
            <p:custDataLst>
              <p:tags r:id="rId5"/>
            </p:custDataLst>
          </p:nvPr>
        </p:nvSpPr>
        <p:spPr>
          <a:xfrm>
            <a:off x="228600" y="1219200"/>
            <a:ext cx="8763000" cy="22860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600" dirty="0" smtClean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7" name="Rectangle 6"/>
          <p:cNvSpPr/>
          <p:nvPr>
            <p:custDataLst>
              <p:tags r:id="rId6"/>
            </p:custDataLst>
          </p:nvPr>
        </p:nvSpPr>
        <p:spPr>
          <a:xfrm>
            <a:off x="381000" y="1981200"/>
            <a:ext cx="3048000" cy="1298448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err="1" smtClean="0">
                <a:latin typeface="Calibri" pitchFamily="34" charset="0"/>
                <a:cs typeface="Calibri" pitchFamily="34" charset="0"/>
              </a:rPr>
              <a:t>Shellcode</a:t>
            </a:r>
            <a:endParaRPr lang="en-US" sz="3600" dirty="0" smtClean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8" name="TextBox 7"/>
          <p:cNvSpPr txBox="1"/>
          <p:nvPr>
            <p:custDataLst>
              <p:tags r:id="rId7"/>
            </p:custDataLst>
          </p:nvPr>
        </p:nvSpPr>
        <p:spPr>
          <a:xfrm>
            <a:off x="2971800" y="1066800"/>
            <a:ext cx="3200400" cy="6858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4800" dirty="0" smtClean="0">
                <a:latin typeface="Calibri" pitchFamily="34" charset="0"/>
                <a:cs typeface="Calibri" pitchFamily="34" charset="0"/>
              </a:rPr>
              <a:t>Exploit</a:t>
            </a:r>
          </a:p>
        </p:txBody>
      </p:sp>
      <p:sp>
        <p:nvSpPr>
          <p:cNvPr id="9" name="Rectangle 8"/>
          <p:cNvSpPr/>
          <p:nvPr>
            <p:custDataLst>
              <p:tags r:id="rId8"/>
            </p:custDataLst>
          </p:nvPr>
        </p:nvSpPr>
        <p:spPr>
          <a:xfrm>
            <a:off x="6858000" y="1981200"/>
            <a:ext cx="1905000" cy="12954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Pointer</a:t>
            </a:r>
          </a:p>
        </p:txBody>
      </p:sp>
      <p:sp>
        <p:nvSpPr>
          <p:cNvPr id="10" name="Rectangle 9"/>
          <p:cNvSpPr/>
          <p:nvPr>
            <p:custDataLst>
              <p:tags r:id="rId9"/>
            </p:custDataLst>
          </p:nvPr>
        </p:nvSpPr>
        <p:spPr>
          <a:xfrm>
            <a:off x="3429000" y="1981200"/>
            <a:ext cx="3429000" cy="1298448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Padding</a:t>
            </a:r>
          </a:p>
        </p:txBody>
      </p:sp>
      <p:cxnSp>
        <p:nvCxnSpPr>
          <p:cNvPr id="11" name="Straight Arrow Connector 29"/>
          <p:cNvCxnSpPr>
            <a:stCxn id="10" idx="3"/>
            <a:endCxn id="7" idx="1"/>
          </p:cNvCxnSpPr>
          <p:nvPr>
            <p:custDataLst>
              <p:tags r:id="rId10"/>
            </p:custDataLst>
          </p:nvPr>
        </p:nvCxnSpPr>
        <p:spPr>
          <a:xfrm flipH="1">
            <a:off x="381000" y="2630424"/>
            <a:ext cx="6477000" cy="12700"/>
          </a:xfrm>
          <a:prstGeom prst="curvedConnector5">
            <a:avLst>
              <a:gd name="adj1" fmla="val -3529"/>
              <a:gd name="adj2" fmla="val 4083425"/>
              <a:gd name="adj3" fmla="val 101260"/>
            </a:avLst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3" name="&quot;No&quot; Symbol 12"/>
          <p:cNvSpPr/>
          <p:nvPr>
            <p:custDataLst>
              <p:tags r:id="rId11"/>
            </p:custDataLst>
          </p:nvPr>
        </p:nvSpPr>
        <p:spPr>
          <a:xfrm>
            <a:off x="1295400" y="2061001"/>
            <a:ext cx="1219200" cy="1135797"/>
          </a:xfrm>
          <a:prstGeom prst="noSmoking">
            <a:avLst/>
          </a:prstGeom>
          <a:solidFill>
            <a:srgbClr val="FF0000"/>
          </a:solidFill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600" dirty="0" smtClean="0">
              <a:solidFill>
                <a:schemeClr val="tx1"/>
              </a:solidFill>
              <a:latin typeface="Calibri" pitchFamily="34" charset="0"/>
              <a:cs typeface="Calibri" pitchFamily="34" charset="0"/>
            </a:endParaRPr>
          </a:p>
        </p:txBody>
      </p:sp>
      <p:sp>
        <p:nvSpPr>
          <p:cNvPr id="16" name="TextBox 15"/>
          <p:cNvSpPr txBox="1"/>
          <p:nvPr>
            <p:custDataLst>
              <p:tags r:id="rId12"/>
            </p:custDataLst>
          </p:nvPr>
        </p:nvSpPr>
        <p:spPr>
          <a:xfrm>
            <a:off x="609600" y="4678740"/>
            <a:ext cx="81534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 smtClean="0">
                <a:latin typeface="Calibri" pitchFamily="34" charset="0"/>
                <a:cs typeface="Calibri" pitchFamily="34" charset="0"/>
              </a:rPr>
              <a:t>DEP</a:t>
            </a:r>
            <a:r>
              <a:rPr lang="en-US" sz="4800" dirty="0" smtClean="0">
                <a:latin typeface="Calibri" pitchFamily="34" charset="0"/>
                <a:cs typeface="Calibri" pitchFamily="34" charset="0"/>
              </a:rPr>
              <a:t>: Buffers cannot be writable and executable</a:t>
            </a:r>
            <a:endParaRPr lang="en-US" sz="4800" b="1" dirty="0" smtClean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14" name="Rounded Rectangular Callout 13"/>
          <p:cNvSpPr/>
          <p:nvPr>
            <p:custDataLst>
              <p:tags r:id="rId13"/>
            </p:custDataLst>
          </p:nvPr>
        </p:nvSpPr>
        <p:spPr>
          <a:xfrm>
            <a:off x="914400" y="4229099"/>
            <a:ext cx="3429000" cy="1211997"/>
          </a:xfrm>
          <a:prstGeom prst="wedgeRoundRectCallout">
            <a:avLst>
              <a:gd name="adj1" fmla="val -22262"/>
              <a:gd name="adj2" fmla="val -128808"/>
              <a:gd name="adj3" fmla="val 16667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User input is non-executable</a:t>
            </a:r>
          </a:p>
        </p:txBody>
      </p:sp>
      <p:sp>
        <p:nvSpPr>
          <p:cNvPr id="15" name="Explosion 1 14"/>
          <p:cNvSpPr/>
          <p:nvPr>
            <p:custDataLst>
              <p:tags r:id="rId14"/>
            </p:custDataLst>
          </p:nvPr>
        </p:nvSpPr>
        <p:spPr>
          <a:xfrm>
            <a:off x="2240777" y="3369378"/>
            <a:ext cx="2376446" cy="1057425"/>
          </a:xfrm>
          <a:prstGeom prst="irregularSeal1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Crash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2"/>
            <p:custDataLst>
              <p:tags r:id="rId15"/>
            </p:custDataLst>
          </p:nvPr>
        </p:nvSpPr>
        <p:spPr/>
        <p:txBody>
          <a:bodyPr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353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3088"/>
    </mc:Choice>
    <mc:Fallback xmlns="">
      <p:transition spd="slow" advTm="43088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4" grpId="0" animBg="1"/>
      <p:bldP spid="1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Bypassing DEP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6A70DC9C-720C-458A-A402-6CB0049A69DD}" type="datetime1">
              <a:rPr lang="en-US" smtClean="0"/>
              <a:t>8/15/2011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/>
          <a:p>
            <a:fld id="{4FCDBC5D-AE0E-40AE-B2A3-D6594CFE961C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/>
        <p:txBody>
          <a:bodyPr/>
          <a:lstStyle/>
          <a:p>
            <a:r>
              <a:rPr lang="en-US" sz="3600" b="1" dirty="0" smtClean="0"/>
              <a:t>Goal:</a:t>
            </a:r>
            <a:r>
              <a:rPr lang="en-US" sz="3600" dirty="0" smtClean="0"/>
              <a:t> Specify exploit computation </a:t>
            </a:r>
            <a:r>
              <a:rPr lang="en-US" dirty="0"/>
              <a:t>e</a:t>
            </a:r>
            <a:r>
              <a:rPr lang="en-US" sz="3200" dirty="0" smtClean="0"/>
              <a:t>ven when DEP is enabled</a:t>
            </a:r>
          </a:p>
          <a:p>
            <a:endParaRPr lang="en-US" sz="3600" b="1" dirty="0" smtClean="0"/>
          </a:p>
          <a:p>
            <a:r>
              <a:rPr lang="en-US" sz="3600" b="1" dirty="0" smtClean="0"/>
              <a:t>Return Oriented Programming </a:t>
            </a:r>
            <a:r>
              <a:rPr lang="en-US" sz="3600" dirty="0" smtClean="0"/>
              <a:t>[S07]</a:t>
            </a:r>
          </a:p>
          <a:p>
            <a:pPr lvl="1"/>
            <a:r>
              <a:rPr lang="en-US" sz="3200" dirty="0" smtClean="0"/>
              <a:t>Use existing instructions from program in special order to encode computation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2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2719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9942"/>
    </mc:Choice>
    <mc:Fallback xmlns="">
      <p:transition spd="slow" advTm="29942"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Return Oriented Programming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6E0D5B86-D5FE-4820-860D-574C9585D181}" type="datetime1">
              <a:rPr lang="en-US" smtClean="0"/>
              <a:t>8/15/2011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2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13"/>
            <p:custDataLst>
              <p:tags r:id="rId6"/>
            </p:custDataLst>
          </p:nvPr>
        </p:nvSpPr>
        <p:spPr/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4800" b="1" dirty="0" smtClean="0"/>
              <a:t>Example: </a:t>
            </a:r>
            <a:r>
              <a:rPr lang="en-US" sz="4800" dirty="0" smtClean="0"/>
              <a:t>How can we write to memory without </a:t>
            </a:r>
            <a:r>
              <a:rPr lang="en-US" sz="4800" dirty="0" err="1" smtClean="0"/>
              <a:t>shellcode</a:t>
            </a:r>
            <a:r>
              <a:rPr lang="en-US" sz="4800" dirty="0" smtClean="0"/>
              <a:t>?</a:t>
            </a:r>
            <a:endParaRPr lang="en-US" sz="48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3374523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3834"/>
    </mc:Choice>
    <mc:Fallback xmlns="">
      <p:transition spd="slow" advTm="13834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Return Oriented Programming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D9D5109-2EB4-4DF3-A105-8B2D45DDE5CC}" type="datetime1">
              <a:rPr lang="en-US" smtClean="0"/>
              <a:t>8/15/2011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13</a:t>
            </a:fld>
            <a:endParaRPr lang="en-US"/>
          </a:p>
        </p:txBody>
      </p:sp>
      <p:sp>
        <p:nvSpPr>
          <p:cNvPr id="6" name="Rectangle 5"/>
          <p:cNvSpPr/>
          <p:nvPr>
            <p:custDataLst>
              <p:tags r:id="rId5"/>
            </p:custDataLst>
          </p:nvPr>
        </p:nvSpPr>
        <p:spPr>
          <a:xfrm>
            <a:off x="381000" y="4343400"/>
            <a:ext cx="2057400" cy="167640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u="sng" dirty="0" smtClean="0">
                <a:latin typeface="Calibri" pitchFamily="34" charset="0"/>
                <a:cs typeface="Calibri" pitchFamily="34" charset="0"/>
              </a:rPr>
              <a:t>addr1</a:t>
            </a:r>
          </a:p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pop %</a:t>
            </a:r>
            <a:r>
              <a:rPr lang="en-US" sz="3600" dirty="0" err="1" smtClean="0">
                <a:latin typeface="Calibri" pitchFamily="34" charset="0"/>
                <a:cs typeface="Calibri" pitchFamily="34" charset="0"/>
              </a:rPr>
              <a:t>eax</a:t>
            </a:r>
            <a:endParaRPr lang="en-US" sz="3600" dirty="0" smtClean="0">
              <a:latin typeface="Calibri" pitchFamily="34" charset="0"/>
              <a:cs typeface="Calibri" pitchFamily="34" charset="0"/>
            </a:endParaRPr>
          </a:p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ret</a:t>
            </a:r>
          </a:p>
        </p:txBody>
      </p:sp>
      <p:sp>
        <p:nvSpPr>
          <p:cNvPr id="7" name="Rectangle 6"/>
          <p:cNvSpPr/>
          <p:nvPr>
            <p:custDataLst>
              <p:tags r:id="rId6"/>
            </p:custDataLst>
          </p:nvPr>
        </p:nvSpPr>
        <p:spPr>
          <a:xfrm>
            <a:off x="2705100" y="4343400"/>
            <a:ext cx="2057400" cy="167640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u="sng" dirty="0">
                <a:latin typeface="Calibri" pitchFamily="34" charset="0"/>
                <a:cs typeface="Calibri" pitchFamily="34" charset="0"/>
              </a:rPr>
              <a:t>a</a:t>
            </a:r>
            <a:r>
              <a:rPr lang="en-US" sz="3600" u="sng" dirty="0" smtClean="0">
                <a:latin typeface="Calibri" pitchFamily="34" charset="0"/>
                <a:cs typeface="Calibri" pitchFamily="34" charset="0"/>
              </a:rPr>
              <a:t>ddr2</a:t>
            </a:r>
            <a:endParaRPr lang="en-US" sz="3600" dirty="0">
              <a:latin typeface="Calibri" pitchFamily="34" charset="0"/>
              <a:cs typeface="Calibri" pitchFamily="34" charset="0"/>
            </a:endParaRPr>
          </a:p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pop %</a:t>
            </a:r>
            <a:r>
              <a:rPr lang="en-US" sz="3600" dirty="0" err="1" smtClean="0">
                <a:latin typeface="Calibri" pitchFamily="34" charset="0"/>
                <a:cs typeface="Calibri" pitchFamily="34" charset="0"/>
              </a:rPr>
              <a:t>ebx</a:t>
            </a:r>
            <a:endParaRPr lang="en-US" sz="3600" dirty="0" smtClean="0">
              <a:latin typeface="Calibri" pitchFamily="34" charset="0"/>
              <a:cs typeface="Calibri" pitchFamily="34" charset="0"/>
            </a:endParaRPr>
          </a:p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ret</a:t>
            </a:r>
          </a:p>
        </p:txBody>
      </p:sp>
      <p:sp>
        <p:nvSpPr>
          <p:cNvPr id="8" name="Rectangle 7"/>
          <p:cNvSpPr/>
          <p:nvPr>
            <p:custDataLst>
              <p:tags r:id="rId7"/>
            </p:custDataLst>
          </p:nvPr>
        </p:nvSpPr>
        <p:spPr>
          <a:xfrm>
            <a:off x="5029200" y="4343400"/>
            <a:ext cx="3886200" cy="167640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u="sng" dirty="0">
                <a:latin typeface="Calibri" pitchFamily="34" charset="0"/>
                <a:cs typeface="Calibri" pitchFamily="34" charset="0"/>
              </a:rPr>
              <a:t>a</a:t>
            </a:r>
            <a:r>
              <a:rPr lang="en-US" sz="3600" u="sng" dirty="0" smtClean="0">
                <a:latin typeface="Calibri" pitchFamily="34" charset="0"/>
                <a:cs typeface="Calibri" pitchFamily="34" charset="0"/>
              </a:rPr>
              <a:t>ddr3</a:t>
            </a:r>
            <a:endParaRPr lang="en-US" sz="3600" dirty="0">
              <a:latin typeface="Calibri" pitchFamily="34" charset="0"/>
              <a:cs typeface="Calibri" pitchFamily="34" charset="0"/>
            </a:endParaRPr>
          </a:p>
          <a:p>
            <a:pPr algn="ctr"/>
            <a:r>
              <a:rPr lang="en-US" sz="3600" dirty="0" err="1" smtClean="0">
                <a:latin typeface="Calibri" pitchFamily="34" charset="0"/>
                <a:cs typeface="Calibri" pitchFamily="34" charset="0"/>
              </a:rPr>
              <a:t>movl</a:t>
            </a:r>
            <a:r>
              <a:rPr lang="en-US" sz="3600" dirty="0" smtClean="0">
                <a:latin typeface="Calibri" pitchFamily="34" charset="0"/>
                <a:cs typeface="Calibri" pitchFamily="34" charset="0"/>
              </a:rPr>
              <a:t> %</a:t>
            </a:r>
            <a:r>
              <a:rPr lang="en-US" sz="3600" dirty="0" err="1" smtClean="0">
                <a:latin typeface="Calibri" pitchFamily="34" charset="0"/>
                <a:cs typeface="Calibri" pitchFamily="34" charset="0"/>
              </a:rPr>
              <a:t>eax</a:t>
            </a:r>
            <a:r>
              <a:rPr lang="en-US" sz="3600" dirty="0" smtClean="0">
                <a:latin typeface="Calibri" pitchFamily="34" charset="0"/>
                <a:cs typeface="Calibri" pitchFamily="34" charset="0"/>
              </a:rPr>
              <a:t>, (%</a:t>
            </a:r>
            <a:r>
              <a:rPr lang="en-US" sz="3600" dirty="0" err="1" smtClean="0">
                <a:latin typeface="Calibri" pitchFamily="34" charset="0"/>
                <a:cs typeface="Calibri" pitchFamily="34" charset="0"/>
              </a:rPr>
              <a:t>ebx</a:t>
            </a:r>
            <a:r>
              <a:rPr lang="en-US" sz="3600" dirty="0" smtClean="0">
                <a:latin typeface="Calibri" pitchFamily="34" charset="0"/>
                <a:cs typeface="Calibri" pitchFamily="34" charset="0"/>
              </a:rPr>
              <a:t>)</a:t>
            </a:r>
          </a:p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ret</a:t>
            </a:r>
          </a:p>
        </p:txBody>
      </p:sp>
      <p:sp>
        <p:nvSpPr>
          <p:cNvPr id="10" name="Rounded Rectangle 9"/>
          <p:cNvSpPr/>
          <p:nvPr>
            <p:custDataLst>
              <p:tags r:id="rId8"/>
            </p:custDataLst>
          </p:nvPr>
        </p:nvSpPr>
        <p:spPr>
          <a:xfrm>
            <a:off x="304800" y="1457920"/>
            <a:ext cx="2743200" cy="129480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600" dirty="0" smtClean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11" name="Rectangle 10"/>
          <p:cNvSpPr/>
          <p:nvPr>
            <p:custDataLst>
              <p:tags r:id="rId9"/>
            </p:custDataLst>
          </p:nvPr>
        </p:nvSpPr>
        <p:spPr>
          <a:xfrm>
            <a:off x="352508" y="1889522"/>
            <a:ext cx="954157" cy="735449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3600" dirty="0" smtClean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12" name="TextBox 11"/>
          <p:cNvSpPr txBox="1"/>
          <p:nvPr>
            <p:custDataLst>
              <p:tags r:id="rId10"/>
            </p:custDataLst>
          </p:nvPr>
        </p:nvSpPr>
        <p:spPr>
          <a:xfrm>
            <a:off x="414462" y="1371600"/>
            <a:ext cx="2561975" cy="517922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/>
            <a:r>
              <a:rPr lang="en-US" sz="2800" dirty="0" smtClean="0">
                <a:latin typeface="Calibri" pitchFamily="34" charset="0"/>
                <a:cs typeface="Calibri" pitchFamily="34" charset="0"/>
              </a:rPr>
              <a:t>Exploit</a:t>
            </a:r>
          </a:p>
        </p:txBody>
      </p:sp>
      <p:sp>
        <p:nvSpPr>
          <p:cNvPr id="13" name="Rectangle 12"/>
          <p:cNvSpPr/>
          <p:nvPr>
            <p:custDataLst>
              <p:tags r:id="rId11"/>
            </p:custDataLst>
          </p:nvPr>
        </p:nvSpPr>
        <p:spPr>
          <a:xfrm>
            <a:off x="2380090" y="1889522"/>
            <a:ext cx="596348" cy="73372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3600" dirty="0" smtClean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14" name="Rectangle 13"/>
          <p:cNvSpPr/>
          <p:nvPr>
            <p:custDataLst>
              <p:tags r:id="rId12"/>
            </p:custDataLst>
          </p:nvPr>
        </p:nvSpPr>
        <p:spPr>
          <a:xfrm>
            <a:off x="1306664" y="1889522"/>
            <a:ext cx="1073426" cy="735449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3600" dirty="0" smtClean="0">
              <a:latin typeface="Calibri" pitchFamily="34" charset="0"/>
              <a:cs typeface="Calibri" pitchFamily="34" charset="0"/>
            </a:endParaRPr>
          </a:p>
        </p:txBody>
      </p:sp>
      <p:cxnSp>
        <p:nvCxnSpPr>
          <p:cNvPr id="15" name="Straight Arrow Connector 29"/>
          <p:cNvCxnSpPr>
            <a:stCxn id="14" idx="3"/>
            <a:endCxn id="6" idx="0"/>
          </p:cNvCxnSpPr>
          <p:nvPr>
            <p:custDataLst>
              <p:tags r:id="rId13"/>
            </p:custDataLst>
          </p:nvPr>
        </p:nvCxnSpPr>
        <p:spPr>
          <a:xfrm flipH="1">
            <a:off x="1409700" y="2257247"/>
            <a:ext cx="970390" cy="2086153"/>
          </a:xfrm>
          <a:prstGeom prst="curvedConnector4">
            <a:avLst>
              <a:gd name="adj1" fmla="val -23558"/>
              <a:gd name="adj2" fmla="val 58813"/>
            </a:avLst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7" name="Straight Arrow Connector 29"/>
          <p:cNvCxnSpPr>
            <a:stCxn id="6" idx="3"/>
            <a:endCxn id="7" idx="0"/>
          </p:cNvCxnSpPr>
          <p:nvPr>
            <p:custDataLst>
              <p:tags r:id="rId14"/>
            </p:custDataLst>
          </p:nvPr>
        </p:nvCxnSpPr>
        <p:spPr>
          <a:xfrm flipV="1">
            <a:off x="2438400" y="4343400"/>
            <a:ext cx="1295400" cy="838200"/>
          </a:xfrm>
          <a:prstGeom prst="curvedConnector4">
            <a:avLst>
              <a:gd name="adj1" fmla="val 10294"/>
              <a:gd name="adj2" fmla="val 146754"/>
            </a:avLst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0" name="Straight Arrow Connector 29"/>
          <p:cNvCxnSpPr>
            <a:stCxn id="7" idx="3"/>
            <a:endCxn id="8" idx="0"/>
          </p:cNvCxnSpPr>
          <p:nvPr>
            <p:custDataLst>
              <p:tags r:id="rId15"/>
            </p:custDataLst>
          </p:nvPr>
        </p:nvCxnSpPr>
        <p:spPr>
          <a:xfrm flipV="1">
            <a:off x="4762500" y="4343400"/>
            <a:ext cx="2209800" cy="838200"/>
          </a:xfrm>
          <a:prstGeom prst="curvedConnector4">
            <a:avLst>
              <a:gd name="adj1" fmla="val 6034"/>
              <a:gd name="adj2" fmla="val 152598"/>
            </a:avLst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" name="Footer Placeholder 4"/>
          <p:cNvSpPr>
            <a:spLocks noGrp="1"/>
          </p:cNvSpPr>
          <p:nvPr>
            <p:ph type="ftr" sz="quarter" idx="12"/>
            <p:custDataLst>
              <p:tags r:id="rId16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6" name="Rectangle 25"/>
          <p:cNvSpPr/>
          <p:nvPr>
            <p:custDataLst>
              <p:tags r:id="rId17"/>
            </p:custDataLst>
          </p:nvPr>
        </p:nvSpPr>
        <p:spPr>
          <a:xfrm>
            <a:off x="6857998" y="1066800"/>
            <a:ext cx="2057400" cy="4571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err="1" smtClean="0">
                <a:latin typeface="Calibri" pitchFamily="34" charset="0"/>
                <a:cs typeface="Calibri" pitchFamily="34" charset="0"/>
              </a:rPr>
              <a:t>nextaddr</a:t>
            </a:r>
            <a:endParaRPr lang="en-US" sz="3600" dirty="0" smtClean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27" name="Rectangle 26"/>
          <p:cNvSpPr/>
          <p:nvPr>
            <p:custDataLst>
              <p:tags r:id="rId18"/>
            </p:custDataLst>
          </p:nvPr>
        </p:nvSpPr>
        <p:spPr>
          <a:xfrm>
            <a:off x="6857999" y="1531404"/>
            <a:ext cx="2057400" cy="4571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addr3</a:t>
            </a:r>
          </a:p>
        </p:txBody>
      </p:sp>
      <p:sp>
        <p:nvSpPr>
          <p:cNvPr id="28" name="Rectangle 27"/>
          <p:cNvSpPr/>
          <p:nvPr>
            <p:custDataLst>
              <p:tags r:id="rId19"/>
            </p:custDataLst>
          </p:nvPr>
        </p:nvSpPr>
        <p:spPr>
          <a:xfrm>
            <a:off x="6858000" y="1981201"/>
            <a:ext cx="2057400" cy="4571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address</a:t>
            </a:r>
          </a:p>
        </p:txBody>
      </p:sp>
      <p:sp>
        <p:nvSpPr>
          <p:cNvPr id="29" name="Rectangle 28"/>
          <p:cNvSpPr/>
          <p:nvPr>
            <p:custDataLst>
              <p:tags r:id="rId20"/>
            </p:custDataLst>
          </p:nvPr>
        </p:nvSpPr>
        <p:spPr>
          <a:xfrm>
            <a:off x="6858000" y="2438400"/>
            <a:ext cx="2057400" cy="45719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addr2</a:t>
            </a:r>
          </a:p>
        </p:txBody>
      </p:sp>
      <p:sp>
        <p:nvSpPr>
          <p:cNvPr id="24" name="Rectangle 23"/>
          <p:cNvSpPr/>
          <p:nvPr>
            <p:custDataLst>
              <p:tags r:id="rId21"/>
            </p:custDataLst>
          </p:nvPr>
        </p:nvSpPr>
        <p:spPr>
          <a:xfrm>
            <a:off x="3124200" y="1828800"/>
            <a:ext cx="1028700" cy="4571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err="1" smtClean="0">
                <a:latin typeface="Calibri" pitchFamily="34" charset="0"/>
                <a:cs typeface="Calibri" pitchFamily="34" charset="0"/>
              </a:rPr>
              <a:t>eax</a:t>
            </a:r>
            <a:endParaRPr lang="en-US" sz="3600" dirty="0" smtClean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32" name="Rectangle 31"/>
          <p:cNvSpPr/>
          <p:nvPr>
            <p:custDataLst>
              <p:tags r:id="rId22"/>
            </p:custDataLst>
          </p:nvPr>
        </p:nvSpPr>
        <p:spPr>
          <a:xfrm>
            <a:off x="3124200" y="2286001"/>
            <a:ext cx="1028700" cy="4571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err="1" smtClean="0">
                <a:latin typeface="Calibri" pitchFamily="34" charset="0"/>
                <a:cs typeface="Calibri" pitchFamily="34" charset="0"/>
              </a:rPr>
              <a:t>ebx</a:t>
            </a:r>
            <a:endParaRPr lang="en-US" sz="3600" dirty="0" smtClean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33" name="Rectangle 32"/>
          <p:cNvSpPr/>
          <p:nvPr>
            <p:custDataLst>
              <p:tags r:id="rId23"/>
            </p:custDataLst>
          </p:nvPr>
        </p:nvSpPr>
        <p:spPr>
          <a:xfrm>
            <a:off x="7225391" y="3427455"/>
            <a:ext cx="1333500" cy="457199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stack</a:t>
            </a:r>
          </a:p>
        </p:txBody>
      </p:sp>
      <p:sp>
        <p:nvSpPr>
          <p:cNvPr id="16" name="Rectangle 15"/>
          <p:cNvSpPr/>
          <p:nvPr>
            <p:custDataLst>
              <p:tags r:id="rId24"/>
            </p:custDataLst>
          </p:nvPr>
        </p:nvSpPr>
        <p:spPr>
          <a:xfrm>
            <a:off x="3238500" y="762000"/>
            <a:ext cx="5753100" cy="3122654"/>
          </a:xfrm>
          <a:prstGeom prst="rect">
            <a:avLst/>
          </a:prstGeom>
          <a:noFill/>
          <a:ln w="38100">
            <a:prstDash val="lg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3600" dirty="0" smtClean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9" name="Rectangle 8"/>
          <p:cNvSpPr/>
          <p:nvPr>
            <p:custDataLst>
              <p:tags r:id="rId25"/>
            </p:custDataLst>
          </p:nvPr>
        </p:nvSpPr>
        <p:spPr>
          <a:xfrm>
            <a:off x="6858000" y="2895600"/>
            <a:ext cx="2057400" cy="45719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value</a:t>
            </a:r>
          </a:p>
        </p:txBody>
      </p:sp>
      <p:sp>
        <p:nvSpPr>
          <p:cNvPr id="37" name="Rounded Rectangle 36"/>
          <p:cNvSpPr/>
          <p:nvPr>
            <p:custDataLst>
              <p:tags r:id="rId26"/>
            </p:custDataLst>
          </p:nvPr>
        </p:nvSpPr>
        <p:spPr>
          <a:xfrm>
            <a:off x="152400" y="3962400"/>
            <a:ext cx="8839200" cy="236220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600" dirty="0" smtClean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38" name="TextBox 37"/>
          <p:cNvSpPr txBox="1"/>
          <p:nvPr>
            <p:custDataLst>
              <p:tags r:id="rId27"/>
            </p:custDataLst>
          </p:nvPr>
        </p:nvSpPr>
        <p:spPr>
          <a:xfrm>
            <a:off x="3202719" y="3886200"/>
            <a:ext cx="2738563" cy="762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ctr"/>
            <a:r>
              <a:rPr lang="en-US" sz="3200" dirty="0" smtClean="0">
                <a:latin typeface="Calibri" pitchFamily="34" charset="0"/>
                <a:cs typeface="Calibri" pitchFamily="34" charset="0"/>
              </a:rPr>
              <a:t>Gadgets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764342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44064"/>
    </mc:Choice>
    <mc:Fallback xmlns="">
      <p:transition spd="slow" advTm="144064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5" presetClass="emph" presetSubtype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1" dur="indefinite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6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2"/>
                                      </p:to>
                                    </p:animClr>
                                    <p:set>
                                      <p:cBhvr>
                                        <p:cTn id="37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8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4.44444E-6 L -0.30417 -0.15556 " pathEditMode="relative" rAng="0" ptsTypes="AA">
                                      <p:cBhvr>
                                        <p:cTn id="40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208" y="-7778"/>
                                    </p:animMotion>
                                  </p:childTnLst>
                                </p:cTn>
                              </p:par>
                              <p:par>
                                <p:cTn id="41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42" dur="2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43" dur="2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44" dur="2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5" presetClass="emph" presetSubtype="0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46" dur="indefinite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59" dur="2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60" dur="2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61" dur="2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5" presetClass="emph" presetSubtype="0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63" dur="indefinite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2.22222E-6 L -0.30417 0.04445 " pathEditMode="relative" rAng="0" ptsTypes="AA">
                                      <p:cBhvr>
                                        <p:cTn id="67" dur="2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208" y="2222"/>
                                    </p:animMotion>
                                  </p:childTnLst>
                                </p:cTn>
                              </p:par>
                              <p:par>
                                <p:cTn id="68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9" dur="2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2"/>
                                      </p:to>
                                    </p:animClr>
                                    <p:set>
                                      <p:cBhvr>
                                        <p:cTn id="70" dur="2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71" dur="2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73" dur="2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74" dur="2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75" dur="2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15" presetClass="emph" presetSubtype="0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77" dur="indefinite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90" dur="2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91" dur="2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2" dur="2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5" presetClass="emph" presetSubtype="0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94" dur="indefinite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5" presetClass="emph" presetSubtype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98" dur="indefinite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7" grpId="0" animBg="1"/>
      <p:bldP spid="27" grpId="1" animBg="1"/>
      <p:bldP spid="28" grpId="0" animBg="1"/>
      <p:bldP spid="28" grpId="1" animBg="1"/>
      <p:bldP spid="29" grpId="0" animBg="1"/>
      <p:bldP spid="29" grpId="1" animBg="1"/>
      <p:bldP spid="24" grpId="1"/>
      <p:bldP spid="32" grpId="0"/>
      <p:bldP spid="33" grpId="0" animBg="1"/>
      <p:bldP spid="16" grpId="0" animBg="1"/>
      <p:bldP spid="9" grpId="0" animBg="1"/>
      <p:bldP spid="9" grpId="1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>
            <p:custDataLst>
              <p:tags r:id="rId2"/>
            </p:custDataLst>
          </p:nvPr>
        </p:nvSpPr>
        <p:spPr>
          <a:xfrm>
            <a:off x="0" y="1677589"/>
            <a:ext cx="9144000" cy="1294805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3600" dirty="0" smtClean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457200" y="204788"/>
            <a:ext cx="8229600" cy="633412"/>
          </a:xfrm>
        </p:spPr>
        <p:txBody>
          <a:bodyPr/>
          <a:lstStyle/>
          <a:p>
            <a:r>
              <a:rPr lang="en-US" dirty="0" smtClean="0"/>
              <a:t>Address Space Layout Randomization (ASLR)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52500648-1DBE-4D2A-AABB-EDF14843978E}" type="datetime1">
              <a:rPr lang="en-US" smtClean="0"/>
              <a:t>8/15/2011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  <p:custDataLst>
              <p:tags r:id="rId5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14</a:t>
            </a:fld>
            <a:endParaRPr lang="en-US"/>
          </a:p>
        </p:txBody>
      </p:sp>
      <p:sp>
        <p:nvSpPr>
          <p:cNvPr id="14" name="TextBox 13"/>
          <p:cNvSpPr txBox="1"/>
          <p:nvPr>
            <p:custDataLst>
              <p:tags r:id="rId6"/>
            </p:custDataLst>
          </p:nvPr>
        </p:nvSpPr>
        <p:spPr>
          <a:xfrm>
            <a:off x="2328738" y="1143000"/>
            <a:ext cx="4529262" cy="533994"/>
          </a:xfrm>
          <a:prstGeom prst="rect">
            <a:avLst/>
          </a:prstGeom>
          <a:noFill/>
        </p:spPr>
        <p:txBody>
          <a:bodyPr wrap="square" rtlCol="0">
            <a:normAutofit lnSpcReduction="10000"/>
          </a:bodyPr>
          <a:lstStyle/>
          <a:p>
            <a:pPr algn="ctr"/>
            <a:r>
              <a:rPr lang="en-US" sz="3200" dirty="0" smtClean="0">
                <a:latin typeface="Calibri" pitchFamily="34" charset="0"/>
                <a:cs typeface="Calibri" pitchFamily="34" charset="0"/>
              </a:rPr>
              <a:t>ASLR disabled</a:t>
            </a:r>
          </a:p>
        </p:txBody>
      </p:sp>
      <p:sp>
        <p:nvSpPr>
          <p:cNvPr id="16" name="Rectangle 15"/>
          <p:cNvSpPr/>
          <p:nvPr>
            <p:custDataLst>
              <p:tags r:id="rId7"/>
            </p:custDataLst>
          </p:nvPr>
        </p:nvSpPr>
        <p:spPr>
          <a:xfrm>
            <a:off x="0" y="4034049"/>
            <a:ext cx="9144000" cy="129480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3600" dirty="0" smtClean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2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18" name="Group 17"/>
          <p:cNvGrpSpPr/>
          <p:nvPr>
            <p:custDataLst>
              <p:tags r:id="rId9"/>
            </p:custDataLst>
          </p:nvPr>
        </p:nvGrpSpPr>
        <p:grpSpPr>
          <a:xfrm>
            <a:off x="1112188" y="1591269"/>
            <a:ext cx="2743200" cy="1381125"/>
            <a:chOff x="1112188" y="1590674"/>
            <a:chExt cx="2743200" cy="1381125"/>
          </a:xfrm>
        </p:grpSpPr>
        <p:sp>
          <p:nvSpPr>
            <p:cNvPr id="38" name="Rounded Rectangle 37"/>
            <p:cNvSpPr/>
            <p:nvPr/>
          </p:nvSpPr>
          <p:spPr>
            <a:xfrm>
              <a:off x="1112188" y="1676994"/>
              <a:ext cx="2743200" cy="129480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600" dirty="0" smtClean="0">
                <a:latin typeface="Calibri" pitchFamily="34" charset="0"/>
                <a:cs typeface="Calibri" pitchFamily="34" charset="0"/>
              </a:endParaRP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159896" y="2108596"/>
              <a:ext cx="954156" cy="735449"/>
            </a:xfrm>
            <a:prstGeom prst="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3600" dirty="0" smtClean="0">
                <a:latin typeface="Calibri" pitchFamily="34" charset="0"/>
                <a:cs typeface="Calibri" pitchFamily="34" charset="0"/>
              </a:endParaRP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221850" y="1590674"/>
              <a:ext cx="2561975" cy="517922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sz="2800" dirty="0" smtClean="0">
                  <a:latin typeface="Calibri" pitchFamily="34" charset="0"/>
                  <a:cs typeface="Calibri" pitchFamily="34" charset="0"/>
                </a:rPr>
                <a:t>Exploit</a:t>
              </a: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3187478" y="2108596"/>
              <a:ext cx="596348" cy="733723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3600" dirty="0" smtClean="0">
                <a:latin typeface="Calibri" pitchFamily="34" charset="0"/>
                <a:cs typeface="Calibri" pitchFamily="34" charset="0"/>
              </a:endParaRP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2114052" y="2108596"/>
              <a:ext cx="1073426" cy="735449"/>
            </a:xfrm>
            <a:prstGeom prst="rect">
              <a:avLst/>
            </a:prstGeom>
            <a:ln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3600" dirty="0" smtClean="0">
                <a:latin typeface="Calibri" pitchFamily="34" charset="0"/>
                <a:cs typeface="Calibri" pitchFamily="34" charset="0"/>
              </a:endParaRPr>
            </a:p>
          </p:txBody>
        </p:sp>
      </p:grpSp>
      <p:grpSp>
        <p:nvGrpSpPr>
          <p:cNvPr id="15" name="Group 14"/>
          <p:cNvGrpSpPr/>
          <p:nvPr>
            <p:custDataLst>
              <p:tags r:id="rId10"/>
            </p:custDataLst>
          </p:nvPr>
        </p:nvGrpSpPr>
        <p:grpSpPr>
          <a:xfrm>
            <a:off x="4298467" y="1596877"/>
            <a:ext cx="2743200" cy="1369909"/>
            <a:chOff x="4298467" y="1596282"/>
            <a:chExt cx="2743200" cy="1369909"/>
          </a:xfrm>
        </p:grpSpPr>
        <p:sp>
          <p:nvSpPr>
            <p:cNvPr id="63" name="Rounded Rectangle 62"/>
            <p:cNvSpPr/>
            <p:nvPr>
              <p:custDataLst>
                <p:tags r:id="rId24"/>
              </p:custDataLst>
            </p:nvPr>
          </p:nvSpPr>
          <p:spPr>
            <a:xfrm>
              <a:off x="4298467" y="1682604"/>
              <a:ext cx="2743200" cy="1283587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600" dirty="0" smtClean="0">
                <a:latin typeface="Calibri" pitchFamily="34" charset="0"/>
                <a:cs typeface="Calibri" pitchFamily="34" charset="0"/>
              </a:endParaRPr>
            </a:p>
          </p:txBody>
        </p:sp>
        <p:sp>
          <p:nvSpPr>
            <p:cNvPr id="44" name="Rectangle 43"/>
            <p:cNvSpPr/>
            <p:nvPr>
              <p:custDataLst>
                <p:tags r:id="rId25"/>
              </p:custDataLst>
            </p:nvPr>
          </p:nvSpPr>
          <p:spPr>
            <a:xfrm>
              <a:off x="4432422" y="2106836"/>
              <a:ext cx="638503" cy="736637"/>
            </a:xfrm>
            <a:prstGeom prst="rect">
              <a:avLst/>
            </a:prstGeom>
            <a:noFill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3600" dirty="0" smtClean="0">
                <a:latin typeface="Calibri" pitchFamily="34" charset="0"/>
                <a:cs typeface="Calibri" pitchFamily="34" charset="0"/>
              </a:endParaRPr>
            </a:p>
          </p:txBody>
        </p:sp>
        <p:sp>
          <p:nvSpPr>
            <p:cNvPr id="52" name="Rectangle 51"/>
            <p:cNvSpPr/>
            <p:nvPr>
              <p:custDataLst>
                <p:tags r:id="rId26"/>
              </p:custDataLst>
            </p:nvPr>
          </p:nvSpPr>
          <p:spPr>
            <a:xfrm>
              <a:off x="5153695" y="2106836"/>
              <a:ext cx="638503" cy="736637"/>
            </a:xfrm>
            <a:prstGeom prst="rect">
              <a:avLst/>
            </a:prstGeom>
            <a:noFill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3600" dirty="0" smtClean="0">
                <a:latin typeface="Calibri" pitchFamily="34" charset="0"/>
                <a:cs typeface="Calibri" pitchFamily="34" charset="0"/>
              </a:endParaRPr>
            </a:p>
          </p:txBody>
        </p:sp>
        <p:sp>
          <p:nvSpPr>
            <p:cNvPr id="60" name="Rectangle 59"/>
            <p:cNvSpPr/>
            <p:nvPr>
              <p:custDataLst>
                <p:tags r:id="rId27"/>
              </p:custDataLst>
            </p:nvPr>
          </p:nvSpPr>
          <p:spPr>
            <a:xfrm>
              <a:off x="5874969" y="2106836"/>
              <a:ext cx="1077205" cy="736637"/>
            </a:xfrm>
            <a:prstGeom prst="rect">
              <a:avLst/>
            </a:prstGeom>
            <a:noFill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3600" dirty="0" smtClean="0">
                <a:latin typeface="Calibri" pitchFamily="34" charset="0"/>
                <a:cs typeface="Calibri" pitchFamily="34" charset="0"/>
              </a:endParaRPr>
            </a:p>
          </p:txBody>
        </p:sp>
        <p:sp>
          <p:nvSpPr>
            <p:cNvPr id="64" name="TextBox 63"/>
            <p:cNvSpPr txBox="1"/>
            <p:nvPr>
              <p:custDataLst>
                <p:tags r:id="rId28"/>
              </p:custDataLst>
            </p:nvPr>
          </p:nvSpPr>
          <p:spPr>
            <a:xfrm>
              <a:off x="4653340" y="1596282"/>
              <a:ext cx="2124492" cy="577898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sz="2800" dirty="0" smtClean="0">
                  <a:latin typeface="Calibri" pitchFamily="34" charset="0"/>
                  <a:cs typeface="Calibri" pitchFamily="34" charset="0"/>
                </a:rPr>
                <a:t>Gadgets</a:t>
              </a:r>
            </a:p>
          </p:txBody>
        </p:sp>
        <p:cxnSp>
          <p:nvCxnSpPr>
            <p:cNvPr id="61" name="Straight Arrow Connector 29"/>
            <p:cNvCxnSpPr>
              <a:stCxn id="44" idx="3"/>
              <a:endCxn id="52" idx="0"/>
            </p:cNvCxnSpPr>
            <p:nvPr>
              <p:custDataLst>
                <p:tags r:id="rId29"/>
              </p:custDataLst>
            </p:nvPr>
          </p:nvCxnSpPr>
          <p:spPr>
            <a:xfrm flipV="1">
              <a:off x="5070926" y="2106836"/>
              <a:ext cx="402021" cy="368318"/>
            </a:xfrm>
            <a:prstGeom prst="curvedConnector4">
              <a:avLst>
                <a:gd name="adj1" fmla="val 10294"/>
                <a:gd name="adj2" fmla="val 146754"/>
              </a:avLst>
            </a:prstGeom>
            <a:noFill/>
            <a:ln>
              <a:tailEnd type="arrow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62" name="Straight Arrow Connector 29"/>
            <p:cNvCxnSpPr>
              <a:stCxn id="52" idx="3"/>
              <a:endCxn id="60" idx="0"/>
            </p:cNvCxnSpPr>
            <p:nvPr>
              <p:custDataLst>
                <p:tags r:id="rId30"/>
              </p:custDataLst>
            </p:nvPr>
          </p:nvCxnSpPr>
          <p:spPr>
            <a:xfrm flipV="1">
              <a:off x="5792198" y="2106836"/>
              <a:ext cx="621374" cy="368319"/>
            </a:xfrm>
            <a:prstGeom prst="curvedConnector4">
              <a:avLst>
                <a:gd name="adj1" fmla="val 6660"/>
                <a:gd name="adj2" fmla="val 162066"/>
              </a:avLst>
            </a:prstGeom>
            <a:noFill/>
            <a:ln>
              <a:tailEnd type="arrow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66" name="Group 65"/>
          <p:cNvGrpSpPr/>
          <p:nvPr>
            <p:custDataLst>
              <p:tags r:id="rId11"/>
            </p:custDataLst>
          </p:nvPr>
        </p:nvGrpSpPr>
        <p:grpSpPr>
          <a:xfrm>
            <a:off x="914400" y="3949421"/>
            <a:ext cx="2743200" cy="1369909"/>
            <a:chOff x="4298467" y="1596282"/>
            <a:chExt cx="2743200" cy="1369909"/>
          </a:xfrm>
        </p:grpSpPr>
        <p:sp>
          <p:nvSpPr>
            <p:cNvPr id="67" name="Rounded Rectangle 66"/>
            <p:cNvSpPr/>
            <p:nvPr>
              <p:custDataLst>
                <p:tags r:id="rId17"/>
              </p:custDataLst>
            </p:nvPr>
          </p:nvSpPr>
          <p:spPr>
            <a:xfrm>
              <a:off x="4298467" y="1682604"/>
              <a:ext cx="2743200" cy="1283587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600" dirty="0" smtClean="0">
                <a:latin typeface="Calibri" pitchFamily="34" charset="0"/>
                <a:cs typeface="Calibri" pitchFamily="34" charset="0"/>
              </a:endParaRPr>
            </a:p>
          </p:txBody>
        </p:sp>
        <p:sp>
          <p:nvSpPr>
            <p:cNvPr id="68" name="Rectangle 67"/>
            <p:cNvSpPr/>
            <p:nvPr>
              <p:custDataLst>
                <p:tags r:id="rId18"/>
              </p:custDataLst>
            </p:nvPr>
          </p:nvSpPr>
          <p:spPr>
            <a:xfrm>
              <a:off x="4432422" y="2106836"/>
              <a:ext cx="638503" cy="736637"/>
            </a:xfrm>
            <a:prstGeom prst="rect">
              <a:avLst/>
            </a:prstGeom>
            <a:noFill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3600" dirty="0" smtClean="0">
                <a:latin typeface="Calibri" pitchFamily="34" charset="0"/>
                <a:cs typeface="Calibri" pitchFamily="34" charset="0"/>
              </a:endParaRPr>
            </a:p>
          </p:txBody>
        </p:sp>
        <p:sp>
          <p:nvSpPr>
            <p:cNvPr id="69" name="Rectangle 68"/>
            <p:cNvSpPr/>
            <p:nvPr>
              <p:custDataLst>
                <p:tags r:id="rId19"/>
              </p:custDataLst>
            </p:nvPr>
          </p:nvSpPr>
          <p:spPr>
            <a:xfrm>
              <a:off x="5153695" y="2106836"/>
              <a:ext cx="638503" cy="736637"/>
            </a:xfrm>
            <a:prstGeom prst="rect">
              <a:avLst/>
            </a:prstGeom>
            <a:noFill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3600" dirty="0" smtClean="0">
                <a:latin typeface="Calibri" pitchFamily="34" charset="0"/>
                <a:cs typeface="Calibri" pitchFamily="34" charset="0"/>
              </a:endParaRPr>
            </a:p>
          </p:txBody>
        </p:sp>
        <p:sp>
          <p:nvSpPr>
            <p:cNvPr id="70" name="Rectangle 69"/>
            <p:cNvSpPr/>
            <p:nvPr>
              <p:custDataLst>
                <p:tags r:id="rId20"/>
              </p:custDataLst>
            </p:nvPr>
          </p:nvSpPr>
          <p:spPr>
            <a:xfrm>
              <a:off x="5874969" y="2106836"/>
              <a:ext cx="1077205" cy="736637"/>
            </a:xfrm>
            <a:prstGeom prst="rect">
              <a:avLst/>
            </a:prstGeom>
            <a:noFill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3600" dirty="0" smtClean="0">
                <a:latin typeface="Calibri" pitchFamily="34" charset="0"/>
                <a:cs typeface="Calibri" pitchFamily="34" charset="0"/>
              </a:endParaRPr>
            </a:p>
          </p:txBody>
        </p:sp>
        <p:sp>
          <p:nvSpPr>
            <p:cNvPr id="71" name="TextBox 70"/>
            <p:cNvSpPr txBox="1"/>
            <p:nvPr>
              <p:custDataLst>
                <p:tags r:id="rId21"/>
              </p:custDataLst>
            </p:nvPr>
          </p:nvSpPr>
          <p:spPr>
            <a:xfrm>
              <a:off x="4653340" y="1596282"/>
              <a:ext cx="2124492" cy="577898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sz="2800" dirty="0" smtClean="0">
                  <a:latin typeface="Calibri" pitchFamily="34" charset="0"/>
                  <a:cs typeface="Calibri" pitchFamily="34" charset="0"/>
                </a:rPr>
                <a:t>Gadgets</a:t>
              </a:r>
            </a:p>
          </p:txBody>
        </p:sp>
        <p:cxnSp>
          <p:nvCxnSpPr>
            <p:cNvPr id="72" name="Straight Arrow Connector 29"/>
            <p:cNvCxnSpPr>
              <a:stCxn id="68" idx="3"/>
              <a:endCxn id="69" idx="0"/>
            </p:cNvCxnSpPr>
            <p:nvPr>
              <p:custDataLst>
                <p:tags r:id="rId22"/>
              </p:custDataLst>
            </p:nvPr>
          </p:nvCxnSpPr>
          <p:spPr>
            <a:xfrm flipV="1">
              <a:off x="5070926" y="2106836"/>
              <a:ext cx="402021" cy="368318"/>
            </a:xfrm>
            <a:prstGeom prst="curvedConnector4">
              <a:avLst>
                <a:gd name="adj1" fmla="val 10294"/>
                <a:gd name="adj2" fmla="val 146754"/>
              </a:avLst>
            </a:prstGeom>
            <a:noFill/>
            <a:ln>
              <a:tailEnd type="arrow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3" name="Straight Arrow Connector 29"/>
            <p:cNvCxnSpPr>
              <a:stCxn id="69" idx="3"/>
              <a:endCxn id="70" idx="0"/>
            </p:cNvCxnSpPr>
            <p:nvPr>
              <p:custDataLst>
                <p:tags r:id="rId23"/>
              </p:custDataLst>
            </p:nvPr>
          </p:nvCxnSpPr>
          <p:spPr>
            <a:xfrm flipV="1">
              <a:off x="5792198" y="2106836"/>
              <a:ext cx="621374" cy="368319"/>
            </a:xfrm>
            <a:prstGeom prst="curvedConnector4">
              <a:avLst>
                <a:gd name="adj1" fmla="val 6660"/>
                <a:gd name="adj2" fmla="val 162066"/>
              </a:avLst>
            </a:prstGeom>
            <a:noFill/>
            <a:ln>
              <a:tailEnd type="arrow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>
            <p:custDataLst>
              <p:tags r:id="rId12"/>
            </p:custDataLst>
          </p:nvPr>
        </p:nvGrpSpPr>
        <p:grpSpPr>
          <a:xfrm>
            <a:off x="4751673" y="3938205"/>
            <a:ext cx="3267442" cy="1381125"/>
            <a:chOff x="4751673" y="3114675"/>
            <a:chExt cx="3267442" cy="1381125"/>
          </a:xfrm>
        </p:grpSpPr>
        <p:sp>
          <p:nvSpPr>
            <p:cNvPr id="75" name="Rounded Rectangle 74"/>
            <p:cNvSpPr/>
            <p:nvPr/>
          </p:nvSpPr>
          <p:spPr>
            <a:xfrm>
              <a:off x="5275915" y="3200995"/>
              <a:ext cx="2743200" cy="129480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600" dirty="0" smtClean="0">
                <a:latin typeface="Calibri" pitchFamily="34" charset="0"/>
                <a:cs typeface="Calibri" pitchFamily="34" charset="0"/>
              </a:endParaRPr>
            </a:p>
          </p:txBody>
        </p:sp>
        <p:sp>
          <p:nvSpPr>
            <p:cNvPr id="76" name="Rectangle 75"/>
            <p:cNvSpPr/>
            <p:nvPr/>
          </p:nvSpPr>
          <p:spPr>
            <a:xfrm>
              <a:off x="5323623" y="3632597"/>
              <a:ext cx="954156" cy="735449"/>
            </a:xfrm>
            <a:prstGeom prst="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3600" dirty="0" smtClean="0">
                <a:latin typeface="Calibri" pitchFamily="34" charset="0"/>
                <a:cs typeface="Calibri" pitchFamily="34" charset="0"/>
              </a:endParaRPr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5385577" y="3114675"/>
              <a:ext cx="2561975" cy="517922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sz="2800" dirty="0" smtClean="0">
                  <a:latin typeface="Calibri" pitchFamily="34" charset="0"/>
                  <a:cs typeface="Calibri" pitchFamily="34" charset="0"/>
                </a:rPr>
                <a:t>Exploit</a:t>
              </a:r>
            </a:p>
          </p:txBody>
        </p:sp>
        <p:sp>
          <p:nvSpPr>
            <p:cNvPr id="78" name="Rectangle 77"/>
            <p:cNvSpPr/>
            <p:nvPr/>
          </p:nvSpPr>
          <p:spPr>
            <a:xfrm>
              <a:off x="7351205" y="3632597"/>
              <a:ext cx="596348" cy="733723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3600" dirty="0" smtClean="0">
                <a:latin typeface="Calibri" pitchFamily="34" charset="0"/>
                <a:cs typeface="Calibri" pitchFamily="34" charset="0"/>
              </a:endParaRPr>
            </a:p>
          </p:txBody>
        </p:sp>
        <p:sp>
          <p:nvSpPr>
            <p:cNvPr id="79" name="Rectangle 78"/>
            <p:cNvSpPr/>
            <p:nvPr/>
          </p:nvSpPr>
          <p:spPr>
            <a:xfrm>
              <a:off x="6277779" y="3632597"/>
              <a:ext cx="1073426" cy="735449"/>
            </a:xfrm>
            <a:prstGeom prst="rect">
              <a:avLst/>
            </a:prstGeom>
            <a:ln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3600" dirty="0" smtClean="0">
                <a:latin typeface="Calibri" pitchFamily="34" charset="0"/>
                <a:cs typeface="Calibri" pitchFamily="34" charset="0"/>
              </a:endParaRPr>
            </a:p>
          </p:txBody>
        </p:sp>
        <p:cxnSp>
          <p:nvCxnSpPr>
            <p:cNvPr id="80" name="Straight Arrow Connector 29"/>
            <p:cNvCxnSpPr>
              <a:stCxn id="79" idx="3"/>
            </p:cNvCxnSpPr>
            <p:nvPr/>
          </p:nvCxnSpPr>
          <p:spPr>
            <a:xfrm flipH="1" flipV="1">
              <a:off x="4751673" y="3632597"/>
              <a:ext cx="2599532" cy="367725"/>
            </a:xfrm>
            <a:prstGeom prst="curvedConnector5">
              <a:avLst>
                <a:gd name="adj1" fmla="val -8794"/>
                <a:gd name="adj2" fmla="val -162166"/>
                <a:gd name="adj3" fmla="val 70647"/>
              </a:avLst>
            </a:prstGeom>
            <a:ln>
              <a:tailEnd type="arrow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cxnSp>
        <p:nvCxnSpPr>
          <p:cNvPr id="43" name="Straight Arrow Connector 29"/>
          <p:cNvCxnSpPr>
            <a:stCxn id="42" idx="3"/>
          </p:cNvCxnSpPr>
          <p:nvPr>
            <p:custDataLst>
              <p:tags r:id="rId13"/>
            </p:custDataLst>
          </p:nvPr>
        </p:nvCxnSpPr>
        <p:spPr>
          <a:xfrm flipV="1">
            <a:off x="3187478" y="2109191"/>
            <a:ext cx="1564195" cy="367725"/>
          </a:xfrm>
          <a:prstGeom prst="curvedConnector3">
            <a:avLst>
              <a:gd name="adj1" fmla="val 50000"/>
            </a:avLst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6" name="Explosion 1 35"/>
          <p:cNvSpPr/>
          <p:nvPr>
            <p:custDataLst>
              <p:tags r:id="rId14"/>
            </p:custDataLst>
          </p:nvPr>
        </p:nvSpPr>
        <p:spPr>
          <a:xfrm>
            <a:off x="3266104" y="4277169"/>
            <a:ext cx="2376446" cy="1057425"/>
          </a:xfrm>
          <a:prstGeom prst="irregularSeal1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Crash</a:t>
            </a:r>
          </a:p>
        </p:txBody>
      </p:sp>
      <p:sp>
        <p:nvSpPr>
          <p:cNvPr id="57" name="TextBox 56"/>
          <p:cNvSpPr txBox="1"/>
          <p:nvPr>
            <p:custDataLst>
              <p:tags r:id="rId15"/>
            </p:custDataLst>
          </p:nvPr>
        </p:nvSpPr>
        <p:spPr>
          <a:xfrm>
            <a:off x="2328738" y="3505200"/>
            <a:ext cx="4529262" cy="533994"/>
          </a:xfrm>
          <a:prstGeom prst="rect">
            <a:avLst/>
          </a:prstGeom>
          <a:noFill/>
        </p:spPr>
        <p:txBody>
          <a:bodyPr wrap="square" rtlCol="0">
            <a:normAutofit lnSpcReduction="10000"/>
          </a:bodyPr>
          <a:lstStyle/>
          <a:p>
            <a:pPr algn="ctr"/>
            <a:r>
              <a:rPr lang="en-US" sz="3200" dirty="0" smtClean="0">
                <a:latin typeface="Calibri" pitchFamily="34" charset="0"/>
                <a:cs typeface="Calibri" pitchFamily="34" charset="0"/>
              </a:rPr>
              <a:t>ASLR enabled</a:t>
            </a:r>
          </a:p>
        </p:txBody>
      </p:sp>
      <p:sp>
        <p:nvSpPr>
          <p:cNvPr id="58" name="TextBox 57"/>
          <p:cNvSpPr txBox="1"/>
          <p:nvPr>
            <p:custDataLst>
              <p:tags r:id="rId16"/>
            </p:custDataLst>
          </p:nvPr>
        </p:nvSpPr>
        <p:spPr>
          <a:xfrm>
            <a:off x="228600" y="5569803"/>
            <a:ext cx="8915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 smtClean="0">
                <a:latin typeface="Calibri" pitchFamily="34" charset="0"/>
                <a:cs typeface="Calibri" pitchFamily="34" charset="0"/>
              </a:rPr>
              <a:t>ASLR</a:t>
            </a:r>
            <a:r>
              <a:rPr lang="en-US" sz="4800" dirty="0" smtClean="0">
                <a:latin typeface="Calibri" pitchFamily="34" charset="0"/>
                <a:cs typeface="Calibri" pitchFamily="34" charset="0"/>
              </a:rPr>
              <a:t>: Addresses are unpredictable</a:t>
            </a:r>
            <a:endParaRPr lang="en-US" sz="4800" b="1" dirty="0" smtClean="0">
              <a:latin typeface="Calibri" pitchFamily="34" charset="0"/>
              <a:cs typeface="Calibri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551619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2683"/>
    </mc:Choice>
    <mc:Fallback xmlns="">
      <p:transition spd="slow" advTm="42683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36" grpId="0" animBg="1"/>
      <p:bldP spid="57" grpId="0"/>
      <p:bldP spid="5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Return Oriented Programming + ASLR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6A70DC9C-720C-458A-A402-6CB0049A69DD}" type="datetime1">
              <a:rPr lang="en-US" smtClean="0"/>
              <a:t>8/15/2011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/>
          <a:p>
            <a:fld id="{4FCDBC5D-AE0E-40AE-B2A3-D6594CFE961C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457200" y="609600"/>
            <a:ext cx="5486400" cy="5715000"/>
          </a:xfrm>
        </p:spPr>
        <p:txBody>
          <a:bodyPr>
            <a:normAutofit/>
          </a:bodyPr>
          <a:lstStyle/>
          <a:p>
            <a:r>
              <a:rPr lang="en-US" sz="4000" b="1" dirty="0" smtClean="0"/>
              <a:t>Bad news: </a:t>
            </a:r>
            <a:r>
              <a:rPr lang="en-US" sz="4000" dirty="0" smtClean="0"/>
              <a:t>Randomized code can’t be used for ROP</a:t>
            </a:r>
          </a:p>
          <a:p>
            <a:pPr lvl="1"/>
            <a:endParaRPr lang="en-US" sz="3600" dirty="0"/>
          </a:p>
          <a:p>
            <a:r>
              <a:rPr lang="en-US" sz="4000" b="1" dirty="0" smtClean="0"/>
              <a:t>Good news: </a:t>
            </a:r>
            <a:r>
              <a:rPr lang="en-US" sz="4000" dirty="0" smtClean="0"/>
              <a:t>ASLR implementations leave small amounts of code unrandomized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2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2" descr="http://www.unc.edu/~adamsonj/pictures/beastie/beastie_300.png"/>
          <p:cNvPicPr>
            <a:picLocks noChangeAspect="1" noChangeArrowheads="1"/>
          </p:cNvPicPr>
          <p:nvPr>
            <p:custDataLst>
              <p:tags r:id="rId7"/>
            </p:custDataLst>
          </p:nvPr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77404" y="1371600"/>
            <a:ext cx="2857500" cy="3095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/>
          <p:cNvSpPr/>
          <p:nvPr>
            <p:custDataLst>
              <p:tags r:id="rId8"/>
            </p:custDataLst>
          </p:nvPr>
        </p:nvSpPr>
        <p:spPr>
          <a:xfrm>
            <a:off x="6134100" y="4495800"/>
            <a:ext cx="2857500" cy="9144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Evil Ed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56734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6051"/>
    </mc:Choice>
    <mc:Fallback xmlns="">
      <p:transition spd="slow" advTm="2605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ASLR in Linux (Example)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0EA821A-463F-444D-867E-348434EBCD16}" type="datetime1">
              <a:rPr lang="en-US" smtClean="0"/>
              <a:t>8/15/2011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16</a:t>
            </a:fld>
            <a:endParaRPr lang="en-US"/>
          </a:p>
        </p:txBody>
      </p:sp>
      <p:sp>
        <p:nvSpPr>
          <p:cNvPr id="6" name="Rectangle 5"/>
          <p:cNvSpPr/>
          <p:nvPr>
            <p:custDataLst>
              <p:tags r:id="rId5"/>
            </p:custDataLst>
          </p:nvPr>
        </p:nvSpPr>
        <p:spPr>
          <a:xfrm>
            <a:off x="4648200" y="609600"/>
            <a:ext cx="4114800" cy="48006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Randomized</a:t>
            </a:r>
          </a:p>
        </p:txBody>
      </p:sp>
      <p:sp>
        <p:nvSpPr>
          <p:cNvPr id="9" name="Rectangle 8"/>
          <p:cNvSpPr/>
          <p:nvPr>
            <p:custDataLst>
              <p:tags r:id="rId6"/>
            </p:custDataLst>
          </p:nvPr>
        </p:nvSpPr>
        <p:spPr>
          <a:xfrm>
            <a:off x="4876800" y="3733800"/>
            <a:ext cx="3657600" cy="68580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Stack</a:t>
            </a:r>
          </a:p>
        </p:txBody>
      </p:sp>
      <p:sp>
        <p:nvSpPr>
          <p:cNvPr id="10" name="Rectangle 9"/>
          <p:cNvSpPr/>
          <p:nvPr>
            <p:custDataLst>
              <p:tags r:id="rId7"/>
            </p:custDataLst>
          </p:nvPr>
        </p:nvSpPr>
        <p:spPr>
          <a:xfrm>
            <a:off x="4876800" y="4572000"/>
            <a:ext cx="3657600" cy="68580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Heap</a:t>
            </a:r>
          </a:p>
        </p:txBody>
      </p:sp>
      <p:sp>
        <p:nvSpPr>
          <p:cNvPr id="11" name="Rectangle 10"/>
          <p:cNvSpPr/>
          <p:nvPr>
            <p:custDataLst>
              <p:tags r:id="rId8"/>
            </p:custDataLst>
          </p:nvPr>
        </p:nvSpPr>
        <p:spPr>
          <a:xfrm>
            <a:off x="304800" y="609600"/>
            <a:ext cx="4114800" cy="48006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Unrandomized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2"/>
            <p:custDataLst>
              <p:tags r:id="rId9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Rectangle 11"/>
          <p:cNvSpPr/>
          <p:nvPr>
            <p:custDataLst>
              <p:tags r:id="rId10"/>
            </p:custDataLst>
          </p:nvPr>
        </p:nvSpPr>
        <p:spPr>
          <a:xfrm>
            <a:off x="3429000" y="5638800"/>
            <a:ext cx="2286000" cy="60960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Executable</a:t>
            </a:r>
          </a:p>
        </p:txBody>
      </p:sp>
      <p:sp>
        <p:nvSpPr>
          <p:cNvPr id="13" name="Oval 12"/>
          <p:cNvSpPr/>
          <p:nvPr>
            <p:custDataLst>
              <p:tags r:id="rId11"/>
            </p:custDataLst>
          </p:nvPr>
        </p:nvSpPr>
        <p:spPr>
          <a:xfrm>
            <a:off x="1371600" y="1219200"/>
            <a:ext cx="2057400" cy="8382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latin typeface="Calibri" pitchFamily="34" charset="0"/>
                <a:cs typeface="Calibri" pitchFamily="34" charset="0"/>
              </a:rPr>
              <a:t>Program Image</a:t>
            </a:r>
          </a:p>
        </p:txBody>
      </p:sp>
      <p:sp>
        <p:nvSpPr>
          <p:cNvPr id="14" name="Oval 13"/>
          <p:cNvSpPr/>
          <p:nvPr>
            <p:custDataLst>
              <p:tags r:id="rId12"/>
            </p:custDataLst>
          </p:nvPr>
        </p:nvSpPr>
        <p:spPr>
          <a:xfrm>
            <a:off x="4800600" y="1219201"/>
            <a:ext cx="3886200" cy="2362200"/>
          </a:xfrm>
          <a:prstGeom prst="ellipse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500" dirty="0" err="1" smtClean="0">
                <a:latin typeface="Calibri" pitchFamily="34" charset="0"/>
                <a:cs typeface="Calibri" pitchFamily="34" charset="0"/>
              </a:rPr>
              <a:t>Libc</a:t>
            </a:r>
            <a:endParaRPr lang="en-US" sz="11500" dirty="0" smtClean="0">
              <a:latin typeface="Calibri" pitchFamily="34" charset="0"/>
              <a:cs typeface="Calibri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71301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9828"/>
    </mc:Choice>
    <mc:Fallback xmlns="">
      <p:transition spd="slow" advTm="29828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3" grpId="0" animBg="1"/>
      <p:bldP spid="1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Consequences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F5228EE1-D184-4C4E-9C49-59CA98659F66}" type="datetime1">
              <a:rPr lang="en-US" smtClean="0"/>
              <a:t>8/15/2011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17</a:t>
            </a:fld>
            <a:endParaRPr lang="en-US"/>
          </a:p>
        </p:txBody>
      </p:sp>
      <p:sp>
        <p:nvSpPr>
          <p:cNvPr id="5" name="Content Placeholder 4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Challenge: </a:t>
            </a:r>
            <a:r>
              <a:rPr lang="en-US" dirty="0"/>
              <a:t>Program image is often the only unrandomized code</a:t>
            </a:r>
          </a:p>
          <a:p>
            <a:pPr lvl="1"/>
            <a:r>
              <a:rPr lang="en-US" dirty="0"/>
              <a:t>Small</a:t>
            </a:r>
          </a:p>
          <a:p>
            <a:pPr lvl="1"/>
            <a:r>
              <a:rPr lang="en-US" dirty="0" smtClean="0"/>
              <a:t>Program-specific</a:t>
            </a:r>
          </a:p>
          <a:p>
            <a:endParaRPr lang="en-US" dirty="0"/>
          </a:p>
          <a:p>
            <a:r>
              <a:rPr lang="en-US" dirty="0" smtClean="0"/>
              <a:t>Prior work on ROP assumes unrandomized large code bases; can’t simply reuse</a:t>
            </a:r>
            <a:endParaRPr lang="en-US" dirty="0"/>
          </a:p>
          <a:p>
            <a:pPr lvl="1"/>
            <a:endParaRPr lang="en-US" dirty="0"/>
          </a:p>
          <a:p>
            <a:r>
              <a:rPr lang="en-US" dirty="0" smtClean="0"/>
              <a:t>We developed new automated ROP techniques for targeting the program image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2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732994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4096"/>
    </mc:Choice>
    <mc:Fallback xmlns="">
      <p:transition spd="slow" advTm="64096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Overview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 dirty="0" smtClean="0"/>
              <a:t>Background: Defenses and Return Oriented Programming (ROP)</a:t>
            </a:r>
          </a:p>
          <a:p>
            <a:r>
              <a:rPr lang="en-US" dirty="0" smtClean="0"/>
              <a:t>Q: ROP + Hardening</a:t>
            </a:r>
          </a:p>
          <a:p>
            <a:pPr lvl="1"/>
            <a:r>
              <a:rPr lang="en-US" b="1" dirty="0" smtClean="0"/>
              <a:t>Automatic ROP</a:t>
            </a:r>
          </a:p>
          <a:p>
            <a:pPr lvl="1"/>
            <a:r>
              <a:rPr lang="en-US" dirty="0" smtClean="0"/>
              <a:t>Automatic Hardening</a:t>
            </a:r>
            <a:endParaRPr lang="en-US" dirty="0"/>
          </a:p>
          <a:p>
            <a:r>
              <a:rPr lang="en-US" dirty="0" smtClean="0"/>
              <a:t>Evaluation</a:t>
            </a:r>
          </a:p>
          <a:p>
            <a:r>
              <a:rPr lang="en-US" dirty="0" smtClean="0"/>
              <a:t>Limitations</a:t>
            </a:r>
          </a:p>
          <a:p>
            <a:r>
              <a:rPr lang="en-US" dirty="0" smtClean="0"/>
              <a:t>Conclusion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2F1F15C3-E042-4DDA-BDB7-EDBA148E5889}" type="datetime1">
              <a:rPr lang="en-US" smtClean="0"/>
              <a:t>8/15/2011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  <p:custDataLst>
              <p:tags r:id="rId5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2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35337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520"/>
    </mc:Choice>
    <mc:Fallback xmlns="">
      <p:transition spd="slow" advTm="9520"/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Automatic ROP Overview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4E431F3E-44D1-4FB1-9F6E-7D21F859C3B3}" type="datetime1">
              <a:rPr lang="en-US" smtClean="0"/>
              <a:t>8/15/2011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19</a:t>
            </a:fld>
            <a:endParaRPr lang="en-US"/>
          </a:p>
        </p:txBody>
      </p:sp>
      <p:sp>
        <p:nvSpPr>
          <p:cNvPr id="7" name="Rectangle 6"/>
          <p:cNvSpPr/>
          <p:nvPr>
            <p:custDataLst>
              <p:tags r:id="rId5"/>
            </p:custDataLst>
          </p:nvPr>
        </p:nvSpPr>
        <p:spPr>
          <a:xfrm>
            <a:off x="533400" y="1143000"/>
            <a:ext cx="2667000" cy="137160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Source P</a:t>
            </a:r>
          </a:p>
        </p:txBody>
      </p:sp>
      <p:sp>
        <p:nvSpPr>
          <p:cNvPr id="8" name="Rectangle 7"/>
          <p:cNvSpPr/>
          <p:nvPr>
            <p:custDataLst>
              <p:tags r:id="rId6"/>
            </p:custDataLst>
          </p:nvPr>
        </p:nvSpPr>
        <p:spPr>
          <a:xfrm>
            <a:off x="533400" y="4419600"/>
            <a:ext cx="2667000" cy="137160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Computation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2"/>
            <p:custDataLst>
              <p:tags r:id="rId7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Right Arrow 10"/>
          <p:cNvSpPr/>
          <p:nvPr>
            <p:custDataLst>
              <p:tags r:id="rId8"/>
            </p:custDataLst>
          </p:nvPr>
        </p:nvSpPr>
        <p:spPr>
          <a:xfrm>
            <a:off x="3505200" y="1104900"/>
            <a:ext cx="1905000" cy="1447800"/>
          </a:xfrm>
          <a:prstGeom prst="right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600" dirty="0" smtClean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13" name="Rectangle 12"/>
          <p:cNvSpPr/>
          <p:nvPr>
            <p:custDataLst>
              <p:tags r:id="rId9"/>
            </p:custDataLst>
          </p:nvPr>
        </p:nvSpPr>
        <p:spPr>
          <a:xfrm>
            <a:off x="5715000" y="1143000"/>
            <a:ext cx="2667000" cy="137160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Instructions from P</a:t>
            </a:r>
          </a:p>
        </p:txBody>
      </p:sp>
      <p:sp>
        <p:nvSpPr>
          <p:cNvPr id="12" name="Equal 11"/>
          <p:cNvSpPr/>
          <p:nvPr>
            <p:custDataLst>
              <p:tags r:id="rId10"/>
            </p:custDataLst>
          </p:nvPr>
        </p:nvSpPr>
        <p:spPr>
          <a:xfrm>
            <a:off x="5867400" y="2819400"/>
            <a:ext cx="2362200" cy="1295400"/>
          </a:xfrm>
          <a:prstGeom prst="mathEqual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600" dirty="0" smtClean="0">
              <a:solidFill>
                <a:schemeClr val="tx1"/>
              </a:solidFill>
              <a:latin typeface="Calibri" pitchFamily="34" charset="0"/>
              <a:cs typeface="Calibri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11682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1393"/>
    </mc:Choice>
    <mc:Fallback xmlns="">
      <p:transition spd="slow" advTm="21393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4.44444E-6 L 0.57083 -4.44444E-6 " pathEditMode="relative" rAng="0" ptsTypes="AA">
                                      <p:cBhvr>
                                        <p:cTn id="22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8542" y="0"/>
                                    </p:animMotion>
                                  </p:childTnLst>
                                </p:cTn>
                              </p:par>
                              <p:par>
                                <p:cTn id="2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rctx="PPT">
                                        <p:cTn id="24" dur="indefinite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5" dur="indefinite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rctx="PPT">
                                        <p:cTn id="27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8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8" grpId="1" animBg="1"/>
      <p:bldP spid="11" grpId="0" animBg="1"/>
      <p:bldP spid="11" grpId="1" animBg="1"/>
      <p:bldP spid="13" grpId="0" animBg="1"/>
      <p:bldP spid="12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ROP Overview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27599056-CC75-4476-9349-EEC3FF9660FD}" type="datetime1">
              <a:rPr lang="en-US" smtClean="0"/>
              <a:t>8/15/2011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20</a:t>
            </a:fld>
            <a:endParaRPr lang="en-US"/>
          </a:p>
        </p:txBody>
      </p:sp>
      <p:sp>
        <p:nvSpPr>
          <p:cNvPr id="7" name="Rectangle 6"/>
          <p:cNvSpPr/>
          <p:nvPr>
            <p:custDataLst>
              <p:tags r:id="rId5"/>
            </p:custDataLst>
          </p:nvPr>
        </p:nvSpPr>
        <p:spPr>
          <a:xfrm>
            <a:off x="228600" y="1143000"/>
            <a:ext cx="2667000" cy="137160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Source P</a:t>
            </a:r>
          </a:p>
        </p:txBody>
      </p:sp>
      <p:sp>
        <p:nvSpPr>
          <p:cNvPr id="8" name="Rectangle 7"/>
          <p:cNvSpPr/>
          <p:nvPr>
            <p:custDataLst>
              <p:tags r:id="rId6"/>
            </p:custDataLst>
          </p:nvPr>
        </p:nvSpPr>
        <p:spPr>
          <a:xfrm>
            <a:off x="228600" y="4419600"/>
            <a:ext cx="2667000" cy="137160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Computation</a:t>
            </a:r>
          </a:p>
        </p:txBody>
      </p:sp>
      <p:sp>
        <p:nvSpPr>
          <p:cNvPr id="15" name="Rectangle 14"/>
          <p:cNvSpPr/>
          <p:nvPr>
            <p:custDataLst>
              <p:tags r:id="rId7"/>
            </p:custDataLst>
          </p:nvPr>
        </p:nvSpPr>
        <p:spPr>
          <a:xfrm>
            <a:off x="3429000" y="4419600"/>
            <a:ext cx="2819400" cy="1371600"/>
          </a:xfrm>
          <a:prstGeom prst="rect">
            <a:avLst/>
          </a:prstGeom>
          <a:gradFill>
            <a:gsLst>
              <a:gs pos="0">
                <a:schemeClr val="accent6">
                  <a:tint val="92000"/>
                  <a:satMod val="170000"/>
                </a:schemeClr>
              </a:gs>
              <a:gs pos="15000">
                <a:schemeClr val="accent6">
                  <a:tint val="92000"/>
                  <a:shade val="99000"/>
                  <a:satMod val="170000"/>
                </a:schemeClr>
              </a:gs>
              <a:gs pos="62000">
                <a:schemeClr val="accent6">
                  <a:tint val="96000"/>
                  <a:shade val="80000"/>
                  <a:satMod val="170000"/>
                </a:schemeClr>
              </a:gs>
              <a:gs pos="97000">
                <a:schemeClr val="accent6">
                  <a:tint val="98000"/>
                  <a:shade val="63000"/>
                  <a:satMod val="170000"/>
                </a:schemeClr>
              </a:gs>
              <a:gs pos="100000">
                <a:schemeClr val="accent6">
                  <a:shade val="62000"/>
                  <a:satMod val="170000"/>
                </a:schemeClr>
              </a:gs>
            </a:gsLst>
          </a:gra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Arrangement</a:t>
            </a:r>
          </a:p>
        </p:txBody>
      </p:sp>
      <p:sp>
        <p:nvSpPr>
          <p:cNvPr id="16" name="Rectangle 15"/>
          <p:cNvSpPr/>
          <p:nvPr>
            <p:custDataLst>
              <p:tags r:id="rId8"/>
            </p:custDataLst>
          </p:nvPr>
        </p:nvSpPr>
        <p:spPr>
          <a:xfrm>
            <a:off x="3429000" y="1143000"/>
            <a:ext cx="2819400" cy="1371600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Discovery</a:t>
            </a:r>
          </a:p>
        </p:txBody>
      </p:sp>
      <p:sp>
        <p:nvSpPr>
          <p:cNvPr id="17" name="Rectangle 16"/>
          <p:cNvSpPr/>
          <p:nvPr>
            <p:custDataLst>
              <p:tags r:id="rId9"/>
            </p:custDataLst>
          </p:nvPr>
        </p:nvSpPr>
        <p:spPr>
          <a:xfrm>
            <a:off x="6221186" y="2819400"/>
            <a:ext cx="2819400" cy="1371600"/>
          </a:xfrm>
          <a:prstGeom prst="rect">
            <a:avLst/>
          </a:prstGeom>
          <a:gradFill>
            <a:gsLst>
              <a:gs pos="0">
                <a:schemeClr val="accent6">
                  <a:tint val="92000"/>
                  <a:satMod val="170000"/>
                </a:schemeClr>
              </a:gs>
              <a:gs pos="15000">
                <a:schemeClr val="accent6">
                  <a:tint val="92000"/>
                  <a:shade val="99000"/>
                  <a:satMod val="170000"/>
                </a:schemeClr>
              </a:gs>
              <a:gs pos="62000">
                <a:schemeClr val="accent6">
                  <a:tint val="96000"/>
                  <a:shade val="80000"/>
                  <a:satMod val="170000"/>
                </a:schemeClr>
              </a:gs>
              <a:gs pos="97000">
                <a:schemeClr val="accent6">
                  <a:tint val="98000"/>
                  <a:shade val="63000"/>
                  <a:satMod val="170000"/>
                </a:schemeClr>
              </a:gs>
              <a:gs pos="100000">
                <a:schemeClr val="accent6">
                  <a:shade val="62000"/>
                  <a:satMod val="170000"/>
                </a:schemeClr>
              </a:gs>
            </a:gsLst>
          </a:gra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Assignment</a:t>
            </a:r>
          </a:p>
        </p:txBody>
      </p:sp>
      <p:cxnSp>
        <p:nvCxnSpPr>
          <p:cNvPr id="19" name="Straight Arrow Connector 18"/>
          <p:cNvCxnSpPr>
            <a:stCxn id="7" idx="3"/>
            <a:endCxn id="16" idx="1"/>
          </p:cNvCxnSpPr>
          <p:nvPr>
            <p:custDataLst>
              <p:tags r:id="rId10"/>
            </p:custDataLst>
          </p:nvPr>
        </p:nvCxnSpPr>
        <p:spPr>
          <a:xfrm>
            <a:off x="2895600" y="1828800"/>
            <a:ext cx="533400" cy="0"/>
          </a:xfrm>
          <a:prstGeom prst="straightConnector1">
            <a:avLst/>
          </a:prstGeom>
          <a:ln>
            <a:tailEnd type="arrow" w="lg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/>
          <p:nvPr>
            <p:custDataLst>
              <p:tags r:id="rId11"/>
            </p:custDataLst>
          </p:nvPr>
        </p:nvCxnSpPr>
        <p:spPr>
          <a:xfrm>
            <a:off x="2895600" y="5110843"/>
            <a:ext cx="533400" cy="0"/>
          </a:xfrm>
          <a:prstGeom prst="straightConnector1">
            <a:avLst/>
          </a:prstGeom>
          <a:ln>
            <a:tailEnd type="arrow" w="lg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endCxn id="17" idx="0"/>
          </p:cNvCxnSpPr>
          <p:nvPr>
            <p:custDataLst>
              <p:tags r:id="rId12"/>
            </p:custDataLst>
          </p:nvPr>
        </p:nvCxnSpPr>
        <p:spPr>
          <a:xfrm>
            <a:off x="6248400" y="1834243"/>
            <a:ext cx="1382486" cy="985157"/>
          </a:xfrm>
          <a:prstGeom prst="curvedConnector2">
            <a:avLst/>
          </a:prstGeom>
          <a:ln>
            <a:tailEnd type="arrow" w="lg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2"/>
          <p:cNvCxnSpPr>
            <a:endCxn id="17" idx="2"/>
          </p:cNvCxnSpPr>
          <p:nvPr>
            <p:custDataLst>
              <p:tags r:id="rId13"/>
            </p:custDataLst>
          </p:nvPr>
        </p:nvCxnSpPr>
        <p:spPr>
          <a:xfrm flipV="1">
            <a:off x="6248401" y="4191000"/>
            <a:ext cx="1382485" cy="919844"/>
          </a:xfrm>
          <a:prstGeom prst="curvedConnector2">
            <a:avLst/>
          </a:prstGeom>
          <a:ln>
            <a:tailEnd type="arrow" w="lg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" name="Footer Placeholder 4"/>
          <p:cNvSpPr>
            <a:spLocks noGrp="1"/>
          </p:cNvSpPr>
          <p:nvPr>
            <p:ph type="ftr" sz="quarter" idx="12"/>
            <p:custDataLst>
              <p:tags r:id="rId14"/>
            </p:custDataLst>
          </p:nvPr>
        </p:nvSpPr>
        <p:spPr/>
        <p:txBody>
          <a:bodyPr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724987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584"/>
    </mc:Choice>
    <mc:Fallback xmlns="">
      <p:transition spd="slow" advTm="8584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rctx="PPT">
                                        <p:cTn id="6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7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mph" presetSubtype="0" grpId="0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rctx="PPT">
                                        <p:cTn id="9" dur="indefinite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0" dur="indefinite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rctx="PPT">
                                        <p:cTn id="12" dur="indefinit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3" dur="indefinite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rctx="PPT">
                                        <p:cTn id="15" dur="indefinite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6" dur="indefinite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rctx="PPT">
                                        <p:cTn id="18" dur="indefinite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9" dur="indefinite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6" grpId="1" animBg="1"/>
      <p:bldP spid="1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Gadget Discovery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6E0D5B86-D5FE-4820-860D-574C9585D181}" type="datetime1">
              <a:rPr lang="en-US" smtClean="0"/>
              <a:t>8/15/2011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2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13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en-US" b="1" dirty="0" smtClean="0"/>
              <a:t>Gadget Discovery: </a:t>
            </a:r>
            <a:r>
              <a:rPr lang="en-US" dirty="0" smtClean="0"/>
              <a:t>Does instruction sequence do something we can use for our computation?</a:t>
            </a:r>
          </a:p>
          <a:p>
            <a:r>
              <a:rPr lang="en-US" dirty="0" smtClean="0"/>
              <a:t>Fast randomized test for </a:t>
            </a:r>
            <a:r>
              <a:rPr lang="en-US" b="1" dirty="0" smtClean="0"/>
              <a:t>every program location </a:t>
            </a:r>
            <a:r>
              <a:rPr lang="en-US" dirty="0" smtClean="0"/>
              <a:t>(thousands or millions)</a:t>
            </a:r>
            <a:endParaRPr lang="en-US" b="1" dirty="0" smtClean="0"/>
          </a:p>
        </p:txBody>
      </p:sp>
      <p:sp>
        <p:nvSpPr>
          <p:cNvPr id="7" name="Rectangle 6"/>
          <p:cNvSpPr/>
          <p:nvPr>
            <p:custDataLst>
              <p:tags r:id="rId7"/>
            </p:custDataLst>
          </p:nvPr>
        </p:nvSpPr>
        <p:spPr>
          <a:xfrm>
            <a:off x="457200" y="3581400"/>
            <a:ext cx="2667000" cy="137160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Source P</a:t>
            </a:r>
          </a:p>
        </p:txBody>
      </p:sp>
      <p:sp>
        <p:nvSpPr>
          <p:cNvPr id="8" name="TextBox 7"/>
          <p:cNvSpPr txBox="1"/>
          <p:nvPr>
            <p:custDataLst>
              <p:tags r:id="rId8"/>
            </p:custDataLst>
          </p:nvPr>
        </p:nvSpPr>
        <p:spPr>
          <a:xfrm>
            <a:off x="114300" y="3728591"/>
            <a:ext cx="3352800" cy="1077218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3200" dirty="0" err="1"/>
              <a:t>sbb</a:t>
            </a:r>
            <a:r>
              <a:rPr lang="en-US" sz="3200" dirty="0"/>
              <a:t> %</a:t>
            </a:r>
            <a:r>
              <a:rPr lang="en-US" sz="3200" dirty="0" err="1"/>
              <a:t>eax</a:t>
            </a:r>
            <a:r>
              <a:rPr lang="en-US" sz="3200" dirty="0"/>
              <a:t>, %</a:t>
            </a:r>
            <a:r>
              <a:rPr lang="en-US" sz="3200" dirty="0" err="1"/>
              <a:t>eax</a:t>
            </a:r>
            <a:r>
              <a:rPr lang="en-US" sz="3200" dirty="0"/>
              <a:t>; </a:t>
            </a:r>
            <a:r>
              <a:rPr lang="en-US" sz="3200" dirty="0" err="1"/>
              <a:t>neg</a:t>
            </a:r>
            <a:r>
              <a:rPr lang="en-US" sz="3200" dirty="0"/>
              <a:t> %</a:t>
            </a:r>
            <a:r>
              <a:rPr lang="en-US" sz="3200" dirty="0" err="1" smtClean="0"/>
              <a:t>eax</a:t>
            </a:r>
            <a:r>
              <a:rPr lang="en-US" sz="3200" dirty="0" smtClean="0"/>
              <a:t>; </a:t>
            </a:r>
            <a:r>
              <a:rPr lang="en-US" sz="3200" dirty="0" smtClean="0">
                <a:latin typeface="Calibri" pitchFamily="34" charset="0"/>
                <a:cs typeface="Calibri" pitchFamily="34" charset="0"/>
              </a:rPr>
              <a:t>ret 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053969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4159"/>
    </mc:Choice>
    <mc:Fallback xmlns="">
      <p:transition spd="slow" advTm="34159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-2.22222E-6 L 0.55417 -2.22222E-6 " pathEditMode="relative" rAng="0" ptsTypes="AA">
                                      <p:cBhvr>
                                        <p:cTn id="9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7708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Randomized Testing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6E0D5B86-D5FE-4820-860D-574C9585D181}" type="datetime1">
              <a:rPr lang="en-US" smtClean="0"/>
              <a:t>8/15/2011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2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Box 6"/>
          <p:cNvSpPr txBox="1"/>
          <p:nvPr>
            <p:custDataLst>
              <p:tags r:id="rId6"/>
            </p:custDataLst>
          </p:nvPr>
        </p:nvSpPr>
        <p:spPr>
          <a:xfrm>
            <a:off x="609600" y="2667000"/>
            <a:ext cx="3352800" cy="1077218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3200" dirty="0" err="1"/>
              <a:t>sbb</a:t>
            </a:r>
            <a:r>
              <a:rPr lang="en-US" sz="3200" dirty="0"/>
              <a:t> %</a:t>
            </a:r>
            <a:r>
              <a:rPr lang="en-US" sz="3200" dirty="0" err="1"/>
              <a:t>eax</a:t>
            </a:r>
            <a:r>
              <a:rPr lang="en-US" sz="3200" dirty="0"/>
              <a:t>, %</a:t>
            </a:r>
            <a:r>
              <a:rPr lang="en-US" sz="3200" dirty="0" err="1"/>
              <a:t>eax</a:t>
            </a:r>
            <a:r>
              <a:rPr lang="en-US" sz="3200" dirty="0"/>
              <a:t>; </a:t>
            </a:r>
            <a:r>
              <a:rPr lang="en-US" sz="3200" dirty="0" err="1"/>
              <a:t>neg</a:t>
            </a:r>
            <a:r>
              <a:rPr lang="en-US" sz="3200" dirty="0"/>
              <a:t> %</a:t>
            </a:r>
            <a:r>
              <a:rPr lang="en-US" sz="3200" dirty="0" err="1"/>
              <a:t>eax</a:t>
            </a:r>
            <a:r>
              <a:rPr lang="en-US" sz="3200" dirty="0"/>
              <a:t>; </a:t>
            </a:r>
            <a:r>
              <a:rPr lang="en-US" sz="3200" dirty="0">
                <a:latin typeface="Calibri" pitchFamily="34" charset="0"/>
                <a:cs typeface="Calibri" pitchFamily="34" charset="0"/>
              </a:rPr>
              <a:t>ret 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custDataLst>
              <p:tags r:id="rId7"/>
            </p:custDataLst>
            <p:extLst>
              <p:ext uri="{D42A27DB-BD31-4B8C-83A1-F6EECF244321}">
                <p14:modId xmlns:p14="http://schemas.microsoft.com/office/powerpoint/2010/main" val="1765610456"/>
              </p:ext>
            </p:extLst>
          </p:nvPr>
        </p:nvGraphicFramePr>
        <p:xfrm>
          <a:off x="381000" y="685800"/>
          <a:ext cx="3810000" cy="1737360"/>
        </p:xfrm>
        <a:graphic>
          <a:graphicData uri="http://schemas.openxmlformats.org/drawingml/2006/table">
            <a:tbl>
              <a:tblPr bandRow="1">
                <a:tableStyleId>{18603FDC-E32A-4AB5-989C-0864C3EAD2B8}</a:tableStyleId>
              </a:tblPr>
              <a:tblGrid>
                <a:gridCol w="1219200"/>
                <a:gridCol w="2590800"/>
              </a:tblGrid>
              <a:tr h="482600">
                <a:tc>
                  <a:txBody>
                    <a:bodyPr/>
                    <a:lstStyle/>
                    <a:p>
                      <a:r>
                        <a:rPr lang="en-US" sz="3200" dirty="0" smtClean="0">
                          <a:latin typeface="Calibri" pitchFamily="34" charset="0"/>
                          <a:cs typeface="Calibri" pitchFamily="34" charset="0"/>
                        </a:rPr>
                        <a:t>EAX</a:t>
                      </a:r>
                      <a:endParaRPr lang="en-US" sz="320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 smtClean="0">
                          <a:latin typeface="Calibri" pitchFamily="34" charset="0"/>
                          <a:cs typeface="Calibri" pitchFamily="34" charset="0"/>
                        </a:rPr>
                        <a:t>0x0298a7bc</a:t>
                      </a:r>
                      <a:endParaRPr lang="en-US" sz="320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</a:tr>
              <a:tr h="482600">
                <a:tc>
                  <a:txBody>
                    <a:bodyPr/>
                    <a:lstStyle/>
                    <a:p>
                      <a:r>
                        <a:rPr lang="en-US" sz="3200" dirty="0" smtClean="0">
                          <a:latin typeface="Calibri" pitchFamily="34" charset="0"/>
                          <a:cs typeface="Calibri" pitchFamily="34" charset="0"/>
                        </a:rPr>
                        <a:t>CF</a:t>
                      </a:r>
                      <a:endParaRPr lang="en-US" sz="320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 smtClean="0">
                          <a:latin typeface="Calibri" pitchFamily="34" charset="0"/>
                          <a:cs typeface="Calibri" pitchFamily="34" charset="0"/>
                        </a:rPr>
                        <a:t>0x1</a:t>
                      </a:r>
                      <a:endParaRPr lang="en-US" sz="320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</a:tr>
              <a:tr h="482600">
                <a:tc>
                  <a:txBody>
                    <a:bodyPr/>
                    <a:lstStyle/>
                    <a:p>
                      <a:r>
                        <a:rPr lang="en-US" sz="3200" dirty="0" smtClean="0">
                          <a:latin typeface="Calibri" pitchFamily="34" charset="0"/>
                          <a:cs typeface="Calibri" pitchFamily="34" charset="0"/>
                        </a:rPr>
                        <a:t>ESP</a:t>
                      </a:r>
                      <a:endParaRPr lang="en-US" sz="320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3200" dirty="0" smtClean="0">
                          <a:latin typeface="Calibri" pitchFamily="34" charset="0"/>
                          <a:cs typeface="Calibri" pitchFamily="34" charset="0"/>
                        </a:rPr>
                        <a:t>0x81e4f104</a:t>
                      </a:r>
                      <a:endParaRPr lang="en-US" sz="320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>
            <p:custDataLst>
              <p:tags r:id="rId8"/>
            </p:custDataLst>
            <p:extLst>
              <p:ext uri="{D42A27DB-BD31-4B8C-83A1-F6EECF244321}">
                <p14:modId xmlns:p14="http://schemas.microsoft.com/office/powerpoint/2010/main" val="1161415014"/>
              </p:ext>
            </p:extLst>
          </p:nvPr>
        </p:nvGraphicFramePr>
        <p:xfrm>
          <a:off x="381000" y="3962400"/>
          <a:ext cx="3810000" cy="1737360"/>
        </p:xfrm>
        <a:graphic>
          <a:graphicData uri="http://schemas.openxmlformats.org/drawingml/2006/table">
            <a:tbl>
              <a:tblPr bandRow="1">
                <a:tableStyleId>{18603FDC-E32A-4AB5-989C-0864C3EAD2B8}</a:tableStyleId>
              </a:tblPr>
              <a:tblGrid>
                <a:gridCol w="1219200"/>
                <a:gridCol w="2590800"/>
              </a:tblGrid>
              <a:tr h="482600">
                <a:tc>
                  <a:txBody>
                    <a:bodyPr/>
                    <a:lstStyle/>
                    <a:p>
                      <a:r>
                        <a:rPr lang="en-US" sz="3200" dirty="0" smtClean="0">
                          <a:latin typeface="Calibri" pitchFamily="34" charset="0"/>
                          <a:cs typeface="Calibri" pitchFamily="34" charset="0"/>
                        </a:rPr>
                        <a:t>EAX</a:t>
                      </a:r>
                      <a:endParaRPr lang="en-US" sz="320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3200" dirty="0" smtClean="0">
                          <a:latin typeface="Calibri" pitchFamily="34" charset="0"/>
                          <a:cs typeface="Calibri" pitchFamily="34" charset="0"/>
                        </a:rPr>
                        <a:t>0x1</a:t>
                      </a:r>
                      <a:endParaRPr lang="en-US" sz="320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>
                    <a:lnB>
                      <a:noFill/>
                    </a:lnB>
                  </a:tcPr>
                </a:tc>
              </a:tr>
              <a:tr h="482600">
                <a:tc>
                  <a:txBody>
                    <a:bodyPr/>
                    <a:lstStyle/>
                    <a:p>
                      <a:r>
                        <a:rPr lang="en-US" sz="3200" dirty="0" smtClean="0">
                          <a:latin typeface="Calibri" pitchFamily="34" charset="0"/>
                          <a:cs typeface="Calibri" pitchFamily="34" charset="0"/>
                        </a:rPr>
                        <a:t>ESP</a:t>
                      </a:r>
                      <a:endParaRPr lang="en-US" sz="320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381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3200" dirty="0" smtClean="0">
                          <a:latin typeface="Calibri" pitchFamily="34" charset="0"/>
                          <a:cs typeface="Calibri" pitchFamily="34" charset="0"/>
                        </a:rPr>
                        <a:t>0x81e4f108</a:t>
                      </a:r>
                      <a:endParaRPr lang="en-US" sz="320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>
                    <a:lnL>
                      <a:noFill/>
                    </a:lnL>
                    <a:lnR w="381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482600">
                <a:tc>
                  <a:txBody>
                    <a:bodyPr/>
                    <a:lstStyle/>
                    <a:p>
                      <a:r>
                        <a:rPr lang="en-US" sz="3200" dirty="0" smtClean="0">
                          <a:latin typeface="Calibri" pitchFamily="34" charset="0"/>
                          <a:cs typeface="Calibri" pitchFamily="34" charset="0"/>
                        </a:rPr>
                        <a:t>EBX</a:t>
                      </a:r>
                      <a:endParaRPr lang="en-US" sz="320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>
                    <a:lnL w="381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381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3200" dirty="0" smtClean="0">
                          <a:latin typeface="Calibri" pitchFamily="34" charset="0"/>
                          <a:cs typeface="Calibri" pitchFamily="34" charset="0"/>
                        </a:rPr>
                        <a:t>0x0298a7bc</a:t>
                      </a:r>
                      <a:endParaRPr lang="en-US" sz="320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>
                    <a:lnL>
                      <a:noFill/>
                    </a:lnL>
                    <a:lnR w="381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8100" cap="flat" cmpd="sng" algn="ctr">
                      <a:noFill/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</a:tbl>
          </a:graphicData>
        </a:graphic>
      </p:graphicFrame>
      <p:cxnSp>
        <p:nvCxnSpPr>
          <p:cNvPr id="12" name="Straight Connector 11"/>
          <p:cNvCxnSpPr/>
          <p:nvPr>
            <p:custDataLst>
              <p:tags r:id="rId9"/>
            </p:custDataLst>
          </p:nvPr>
        </p:nvCxnSpPr>
        <p:spPr>
          <a:xfrm>
            <a:off x="4572000" y="762000"/>
            <a:ext cx="0" cy="5486400"/>
          </a:xfrm>
          <a:prstGeom prst="line">
            <a:avLst/>
          </a:prstGeom>
          <a:ln w="76200"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>
            <p:custDataLst>
              <p:tags r:id="rId10"/>
            </p:custDataLst>
          </p:nvPr>
        </p:nvSpPr>
        <p:spPr>
          <a:xfrm>
            <a:off x="5061857" y="914400"/>
            <a:ext cx="3624943" cy="58477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3200" smtClean="0">
                <a:latin typeface="Calibri" pitchFamily="34" charset="0"/>
                <a:cs typeface="Calibri" pitchFamily="34" charset="0"/>
              </a:rPr>
              <a:t>OutReg </a:t>
            </a:r>
            <a:r>
              <a:rPr lang="en-US" sz="3200" dirty="0" smtClean="0">
                <a:latin typeface="Calibri" pitchFamily="34" charset="0"/>
                <a:cs typeface="Calibri" pitchFamily="34" charset="0"/>
              </a:rPr>
              <a:t>&lt;- </a:t>
            </a:r>
            <a:r>
              <a:rPr lang="en-US" sz="3200" dirty="0" err="1" smtClean="0">
                <a:latin typeface="Calibri" pitchFamily="34" charset="0"/>
                <a:cs typeface="Calibri" pitchFamily="34" charset="0"/>
              </a:rPr>
              <a:t>InReg</a:t>
            </a:r>
            <a:endParaRPr lang="en-US" sz="3200" dirty="0" smtClean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15" name="TextBox 14"/>
          <p:cNvSpPr txBox="1"/>
          <p:nvPr>
            <p:custDataLst>
              <p:tags r:id="rId11"/>
            </p:custDataLst>
          </p:nvPr>
        </p:nvSpPr>
        <p:spPr>
          <a:xfrm>
            <a:off x="5747657" y="1524000"/>
            <a:ext cx="24384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 smtClean="0">
                <a:latin typeface="Calibri" pitchFamily="34" charset="0"/>
                <a:cs typeface="Calibri" pitchFamily="34" charset="0"/>
              </a:rPr>
              <a:t>Semantic Definition</a:t>
            </a:r>
          </a:p>
          <a:p>
            <a:pPr algn="ctr"/>
            <a:r>
              <a:rPr lang="en-US" sz="3200" dirty="0" smtClean="0">
                <a:latin typeface="Calibri" pitchFamily="34" charset="0"/>
                <a:cs typeface="Calibri" pitchFamily="34" charset="0"/>
              </a:rPr>
              <a:t>For Move</a:t>
            </a:r>
          </a:p>
        </p:txBody>
      </p:sp>
      <p:cxnSp>
        <p:nvCxnSpPr>
          <p:cNvPr id="18" name="Straight Arrow Connector 17"/>
          <p:cNvCxnSpPr/>
          <p:nvPr>
            <p:custDataLst>
              <p:tags r:id="rId12"/>
            </p:custDataLst>
          </p:nvPr>
        </p:nvCxnSpPr>
        <p:spPr>
          <a:xfrm flipH="1">
            <a:off x="2286000" y="1371600"/>
            <a:ext cx="3886200" cy="2895600"/>
          </a:xfrm>
          <a:prstGeom prst="straightConnector1">
            <a:avLst/>
          </a:prstGeom>
          <a:ln w="76200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/>
          <p:nvPr>
            <p:custDataLst>
              <p:tags r:id="rId13"/>
            </p:custDataLst>
          </p:nvPr>
        </p:nvCxnSpPr>
        <p:spPr>
          <a:xfrm flipH="1">
            <a:off x="2362200" y="990600"/>
            <a:ext cx="5334000" cy="533400"/>
          </a:xfrm>
          <a:prstGeom prst="straightConnector1">
            <a:avLst/>
          </a:prstGeom>
          <a:ln w="76200">
            <a:solidFill>
              <a:srgbClr val="00206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>
            <p:custDataLst>
              <p:tags r:id="rId14"/>
            </p:custDataLst>
          </p:nvPr>
        </p:nvSpPr>
        <p:spPr>
          <a:xfrm>
            <a:off x="-152400" y="914400"/>
            <a:ext cx="381000" cy="1524000"/>
          </a:xfrm>
          <a:prstGeom prst="rect">
            <a:avLst/>
          </a:prstGeom>
          <a:noFill/>
        </p:spPr>
        <p:txBody>
          <a:bodyPr vert="vert270" wrap="square" rtlCol="0">
            <a:noAutofit/>
          </a:bodyPr>
          <a:lstStyle/>
          <a:p>
            <a:pPr algn="ctr"/>
            <a:r>
              <a:rPr lang="en-US" sz="3200" dirty="0" smtClean="0">
                <a:latin typeface="Calibri" pitchFamily="34" charset="0"/>
                <a:cs typeface="Calibri" pitchFamily="34" charset="0"/>
              </a:rPr>
              <a:t>Before</a:t>
            </a:r>
            <a:endParaRPr lang="en-US" sz="3200" dirty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26" name="TextBox 25"/>
          <p:cNvSpPr txBox="1"/>
          <p:nvPr>
            <p:custDataLst>
              <p:tags r:id="rId15"/>
            </p:custDataLst>
          </p:nvPr>
        </p:nvSpPr>
        <p:spPr>
          <a:xfrm>
            <a:off x="-152400" y="4343400"/>
            <a:ext cx="381000" cy="1524000"/>
          </a:xfrm>
          <a:prstGeom prst="rect">
            <a:avLst/>
          </a:prstGeom>
          <a:noFill/>
        </p:spPr>
        <p:txBody>
          <a:bodyPr vert="vert270" wrap="square" rtlCol="0">
            <a:noAutofit/>
          </a:bodyPr>
          <a:lstStyle/>
          <a:p>
            <a:pPr algn="ctr"/>
            <a:r>
              <a:rPr lang="en-US" sz="3200" dirty="0" smtClean="0">
                <a:latin typeface="Calibri" pitchFamily="34" charset="0"/>
                <a:cs typeface="Calibri" pitchFamily="34" charset="0"/>
              </a:rPr>
              <a:t>After</a:t>
            </a:r>
            <a:endParaRPr lang="en-US" sz="3200" dirty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19" name="Content Placeholder 5"/>
          <p:cNvSpPr>
            <a:spLocks noGrp="1"/>
          </p:cNvSpPr>
          <p:nvPr>
            <p:ph sz="quarter" idx="13"/>
            <p:custDataLst>
              <p:tags r:id="rId16"/>
            </p:custDataLst>
          </p:nvPr>
        </p:nvSpPr>
        <p:spPr>
          <a:xfrm>
            <a:off x="4748892" y="3472543"/>
            <a:ext cx="4250872" cy="2743200"/>
          </a:xfrm>
        </p:spPr>
        <p:txBody>
          <a:bodyPr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5400" dirty="0" smtClean="0"/>
              <a:t>If 10 random runs satisfy a semantic definition, then Q </a:t>
            </a:r>
            <a:r>
              <a:rPr lang="en-US" sz="5400" b="1" dirty="0" smtClean="0"/>
              <a:t>probably</a:t>
            </a:r>
            <a:r>
              <a:rPr lang="en-US" sz="5400" dirty="0" smtClean="0"/>
              <a:t> found a gadget of that type</a:t>
            </a:r>
            <a:endParaRPr lang="en-US" sz="54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45461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8201"/>
    </mc:Choice>
    <mc:Fallback xmlns="">
      <p:transition spd="slow" advTm="5820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/>
      <p:bldP spid="25" grpId="0"/>
      <p:bldP spid="26" grpId="0"/>
      <p:bldP spid="19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Q’s Gadget Types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A1CEBBEA-F40F-4DDD-A209-00471A80FC4D}" type="datetime1">
              <a:rPr lang="en-US" smtClean="0"/>
              <a:t>8/15/2011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23</a:t>
            </a:fld>
            <a:endParaRPr lang="en-US"/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sz="quarter" idx="13"/>
            <p:custDataLst>
              <p:tags r:id="rId5"/>
            </p:custDataLst>
            <p:extLst>
              <p:ext uri="{D42A27DB-BD31-4B8C-83A1-F6EECF244321}">
                <p14:modId xmlns:p14="http://schemas.microsoft.com/office/powerpoint/2010/main" val="2909588454"/>
              </p:ext>
            </p:extLst>
          </p:nvPr>
        </p:nvGraphicFramePr>
        <p:xfrm>
          <a:off x="457200" y="1066800"/>
          <a:ext cx="8229600" cy="4572000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2209800"/>
                <a:gridCol w="3276600"/>
                <a:gridCol w="27432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200" dirty="0" smtClean="0"/>
                        <a:t>Gadget Type</a:t>
                      </a:r>
                      <a:endParaRPr lang="en-US" sz="2200" b="1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200" dirty="0" smtClean="0"/>
                        <a:t>Semantic Definition</a:t>
                      </a:r>
                      <a:endParaRPr lang="en-US" sz="2200" b="1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200" dirty="0" smtClean="0"/>
                        <a:t>Real World Example</a:t>
                      </a:r>
                      <a:endParaRPr lang="en-US" sz="2200" b="1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smtClean="0"/>
                        <a:t>MoveRegG</a:t>
                      </a:r>
                      <a:endParaRPr lang="en-US" sz="2200" b="0" dirty="0" smtClean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dirty="0" smtClean="0"/>
                        <a:t>Out &lt;- In</a:t>
                      </a:r>
                      <a:endParaRPr lang="en-US" sz="2200" b="0" dirty="0" smtClean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dirty="0" err="1" smtClean="0"/>
                        <a:t>xchg</a:t>
                      </a:r>
                      <a:r>
                        <a:rPr lang="en-US" sz="2200" dirty="0" smtClean="0"/>
                        <a:t> %</a:t>
                      </a:r>
                      <a:r>
                        <a:rPr lang="en-US" sz="2200" dirty="0" err="1" smtClean="0"/>
                        <a:t>eax</a:t>
                      </a:r>
                      <a:r>
                        <a:rPr lang="en-US" sz="2200" dirty="0" smtClean="0"/>
                        <a:t>, %</a:t>
                      </a:r>
                      <a:r>
                        <a:rPr lang="en-US" sz="2200" dirty="0" err="1" smtClean="0"/>
                        <a:t>ebp</a:t>
                      </a:r>
                      <a:r>
                        <a:rPr lang="en-US" sz="2200" baseline="0" dirty="0" smtClean="0"/>
                        <a:t>; ret</a:t>
                      </a:r>
                      <a:endParaRPr lang="en-US" sz="2200" b="0" dirty="0" smtClean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>
                    <a:solidFill>
                      <a:schemeClr val="accent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200" dirty="0" err="1" smtClean="0"/>
                        <a:t>LoadConstG</a:t>
                      </a:r>
                      <a:endParaRPr lang="en-US" sz="2200" b="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200" dirty="0" smtClean="0"/>
                        <a:t>Out &lt;- Constant</a:t>
                      </a:r>
                      <a:endParaRPr lang="en-US" sz="2200" b="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200" dirty="0" smtClean="0"/>
                        <a:t>pop</a:t>
                      </a:r>
                      <a:r>
                        <a:rPr lang="en-US" sz="2200" baseline="0" dirty="0" smtClean="0"/>
                        <a:t> %</a:t>
                      </a:r>
                      <a:r>
                        <a:rPr lang="en-US" sz="2200" baseline="0" dirty="0" err="1" smtClean="0"/>
                        <a:t>ebp</a:t>
                      </a:r>
                      <a:r>
                        <a:rPr lang="en-US" sz="2200" baseline="0" dirty="0" smtClean="0"/>
                        <a:t>; ret</a:t>
                      </a:r>
                      <a:endParaRPr lang="en-US" sz="2200" b="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200" dirty="0" err="1" smtClean="0"/>
                        <a:t>ArithmeticG</a:t>
                      </a:r>
                      <a:endParaRPr lang="en-US" sz="2200" b="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200" dirty="0" smtClean="0"/>
                        <a:t>Out &lt;- In1 + In2</a:t>
                      </a:r>
                      <a:endParaRPr lang="en-US" sz="2200" b="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200" dirty="0" smtClean="0"/>
                        <a:t>add</a:t>
                      </a:r>
                      <a:r>
                        <a:rPr lang="en-US" sz="2200" baseline="0" dirty="0" smtClean="0"/>
                        <a:t> %</a:t>
                      </a:r>
                      <a:r>
                        <a:rPr lang="en-US" sz="2200" baseline="0" dirty="0" err="1" smtClean="0"/>
                        <a:t>edx</a:t>
                      </a:r>
                      <a:r>
                        <a:rPr lang="en-US" sz="2200" baseline="0" dirty="0" smtClean="0"/>
                        <a:t>, %</a:t>
                      </a:r>
                      <a:r>
                        <a:rPr lang="en-US" sz="2200" baseline="0" dirty="0" err="1" smtClean="0"/>
                        <a:t>eax</a:t>
                      </a:r>
                      <a:r>
                        <a:rPr lang="en-US" sz="2200" baseline="0" dirty="0" smtClean="0"/>
                        <a:t>; ret</a:t>
                      </a:r>
                      <a:endParaRPr lang="en-US" sz="2200" b="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200" dirty="0" err="1" smtClean="0"/>
                        <a:t>LoadMemG</a:t>
                      </a:r>
                      <a:endParaRPr lang="en-US" sz="2200" b="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200" dirty="0" smtClean="0"/>
                        <a:t>Out &lt;- M[</a:t>
                      </a:r>
                      <a:r>
                        <a:rPr lang="en-US" sz="2200" dirty="0" err="1" smtClean="0"/>
                        <a:t>Addr</a:t>
                      </a:r>
                      <a:r>
                        <a:rPr lang="en-US" sz="2200" dirty="0" smtClean="0"/>
                        <a:t> + Offset]</a:t>
                      </a:r>
                      <a:endParaRPr lang="en-US" sz="2200" b="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200" dirty="0" err="1" smtClean="0"/>
                        <a:t>movl</a:t>
                      </a:r>
                      <a:r>
                        <a:rPr lang="en-US" sz="2200" dirty="0" smtClean="0"/>
                        <a:t> 0x60(%</a:t>
                      </a:r>
                      <a:r>
                        <a:rPr lang="en-US" sz="2200" dirty="0" err="1" smtClean="0"/>
                        <a:t>eax</a:t>
                      </a:r>
                      <a:r>
                        <a:rPr lang="en-US" sz="2200" dirty="0" smtClean="0"/>
                        <a:t>),</a:t>
                      </a:r>
                      <a:r>
                        <a:rPr lang="en-US" sz="2200" baseline="0" dirty="0" smtClean="0"/>
                        <a:t> %</a:t>
                      </a:r>
                      <a:r>
                        <a:rPr lang="en-US" sz="2200" baseline="0" dirty="0" err="1" smtClean="0"/>
                        <a:t>eax</a:t>
                      </a:r>
                      <a:r>
                        <a:rPr lang="en-US" sz="2200" baseline="0" dirty="0" smtClean="0"/>
                        <a:t>; ret</a:t>
                      </a:r>
                      <a:endParaRPr lang="en-US" sz="2200" b="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200" dirty="0" err="1" smtClean="0"/>
                        <a:t>StoreMemG</a:t>
                      </a:r>
                      <a:endParaRPr lang="en-US" sz="2200" b="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200" dirty="0" smtClean="0"/>
                        <a:t>M[</a:t>
                      </a:r>
                      <a:r>
                        <a:rPr lang="en-US" sz="2200" dirty="0" err="1" smtClean="0"/>
                        <a:t>Addr</a:t>
                      </a:r>
                      <a:r>
                        <a:rPr lang="en-US" sz="2200" baseline="0" dirty="0" smtClean="0"/>
                        <a:t> + Offset] &lt;- In</a:t>
                      </a:r>
                      <a:endParaRPr lang="en-US" sz="2200" b="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err="1" smtClean="0"/>
                        <a:t>mov</a:t>
                      </a:r>
                      <a:r>
                        <a:rPr lang="en-US" sz="2000" baseline="0" dirty="0" smtClean="0"/>
                        <a:t> %dl, 0x13(%</a:t>
                      </a:r>
                      <a:r>
                        <a:rPr lang="en-US" sz="2000" baseline="0" dirty="0" err="1" smtClean="0"/>
                        <a:t>eax</a:t>
                      </a:r>
                      <a:r>
                        <a:rPr lang="en-US" sz="2000" baseline="0" dirty="0" smtClean="0"/>
                        <a:t>); ret</a:t>
                      </a:r>
                      <a:endParaRPr lang="en-US" sz="2000" b="0" dirty="0" smtClean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200" dirty="0" err="1" smtClean="0"/>
                        <a:t>ArithmeticLoadG</a:t>
                      </a:r>
                      <a:endParaRPr lang="en-US" sz="2200" b="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200" dirty="0" smtClean="0"/>
                        <a:t>Out +&lt;-</a:t>
                      </a:r>
                      <a:r>
                        <a:rPr lang="en-US" sz="2200" baseline="0" dirty="0" smtClean="0"/>
                        <a:t> M[</a:t>
                      </a:r>
                      <a:r>
                        <a:rPr lang="en-US" sz="2200" baseline="0" dirty="0" err="1" smtClean="0"/>
                        <a:t>Addr</a:t>
                      </a:r>
                      <a:r>
                        <a:rPr lang="en-US" sz="2200" baseline="0" dirty="0" smtClean="0"/>
                        <a:t> + Offset]</a:t>
                      </a:r>
                      <a:endParaRPr lang="en-US" sz="2200" b="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add  0x1376dbe4(%</a:t>
                      </a:r>
                      <a:r>
                        <a:rPr lang="en-US" sz="2000" dirty="0" err="1" smtClean="0"/>
                        <a:t>ebx</a:t>
                      </a:r>
                      <a:r>
                        <a:rPr lang="en-US" sz="2000" dirty="0" smtClean="0"/>
                        <a:t>), %</a:t>
                      </a:r>
                      <a:r>
                        <a:rPr lang="en-US" sz="2000" dirty="0" err="1" smtClean="0"/>
                        <a:t>ecx</a:t>
                      </a:r>
                      <a:r>
                        <a:rPr lang="en-US" sz="2000" dirty="0" smtClean="0"/>
                        <a:t>; (…); ret</a:t>
                      </a:r>
                      <a:endParaRPr lang="en-US" sz="2000" b="0" dirty="0" smtClean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200" dirty="0" err="1" smtClean="0"/>
                        <a:t>ArithmeticStoreG</a:t>
                      </a:r>
                      <a:endParaRPr lang="en-US" sz="2200" b="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200" dirty="0" smtClean="0"/>
                        <a:t>M[</a:t>
                      </a:r>
                      <a:r>
                        <a:rPr lang="en-US" sz="2200" dirty="0" err="1" smtClean="0"/>
                        <a:t>Addr</a:t>
                      </a:r>
                      <a:r>
                        <a:rPr lang="en-US" sz="2200" dirty="0" smtClean="0"/>
                        <a:t> + Offset] +&lt;- In </a:t>
                      </a:r>
                      <a:endParaRPr lang="en-US" sz="2200" b="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add    %al, 0x5de474c0(%</a:t>
                      </a:r>
                      <a:r>
                        <a:rPr lang="en-US" sz="2000" dirty="0" err="1" smtClean="0"/>
                        <a:t>ebp</a:t>
                      </a:r>
                      <a:r>
                        <a:rPr lang="en-US" sz="2000" dirty="0" smtClean="0"/>
                        <a:t>); ret </a:t>
                      </a:r>
                      <a:endParaRPr lang="en-US" sz="2000" b="0" dirty="0" smtClean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Footer Placeholder 4"/>
          <p:cNvSpPr>
            <a:spLocks noGrp="1"/>
          </p:cNvSpPr>
          <p:nvPr>
            <p:ph type="ftr" sz="quarter" idx="12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609012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802"/>
    </mc:Choice>
    <mc:Fallback xmlns="">
      <p:transition spd="slow" advTm="9802"/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Q’s Gadget Types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A1CEBBEA-F40F-4DDD-A209-00471A80FC4D}" type="datetime1">
              <a:rPr lang="en-US" smtClean="0"/>
              <a:t>8/15/2011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24</a:t>
            </a:fld>
            <a:endParaRPr lang="en-US"/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sz="quarter" idx="13"/>
            <p:custDataLst>
              <p:tags r:id="rId5"/>
            </p:custDataLst>
            <p:extLst>
              <p:ext uri="{D42A27DB-BD31-4B8C-83A1-F6EECF244321}">
                <p14:modId xmlns:p14="http://schemas.microsoft.com/office/powerpoint/2010/main" val="1642617817"/>
              </p:ext>
            </p:extLst>
          </p:nvPr>
        </p:nvGraphicFramePr>
        <p:xfrm>
          <a:off x="457200" y="1066800"/>
          <a:ext cx="8229600" cy="4572000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2209800"/>
                <a:gridCol w="3276600"/>
                <a:gridCol w="27432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200" dirty="0" smtClean="0"/>
                        <a:t>Gadget Type</a:t>
                      </a:r>
                      <a:endParaRPr lang="en-US" sz="2200" b="1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200" dirty="0" smtClean="0"/>
                        <a:t>Semantic Definition</a:t>
                      </a:r>
                      <a:endParaRPr lang="en-US" sz="2200" b="1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200" dirty="0" smtClean="0"/>
                        <a:t>Real World Example</a:t>
                      </a:r>
                      <a:endParaRPr lang="en-US" sz="2200" b="1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dirty="0" err="1" smtClean="0"/>
                        <a:t>MoveRegG</a:t>
                      </a:r>
                      <a:endParaRPr lang="en-US" sz="2200" b="0" dirty="0" smtClean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dirty="0" smtClean="0"/>
                        <a:t>Out &lt;- In</a:t>
                      </a:r>
                      <a:endParaRPr lang="en-US" sz="2200" b="0" dirty="0" smtClean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dirty="0" err="1" smtClean="0"/>
                        <a:t>xchg</a:t>
                      </a:r>
                      <a:r>
                        <a:rPr lang="en-US" sz="2200" dirty="0" smtClean="0"/>
                        <a:t> %</a:t>
                      </a:r>
                      <a:r>
                        <a:rPr lang="en-US" sz="2200" dirty="0" err="1" smtClean="0"/>
                        <a:t>eax</a:t>
                      </a:r>
                      <a:r>
                        <a:rPr lang="en-US" sz="2200" dirty="0" smtClean="0"/>
                        <a:t>, %</a:t>
                      </a:r>
                      <a:r>
                        <a:rPr lang="en-US" sz="2200" dirty="0" err="1" smtClean="0"/>
                        <a:t>ebp</a:t>
                      </a:r>
                      <a:r>
                        <a:rPr lang="en-US" sz="2200" baseline="0" dirty="0" smtClean="0"/>
                        <a:t>; ret</a:t>
                      </a:r>
                      <a:endParaRPr lang="en-US" sz="2200" b="0" dirty="0" smtClean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200" dirty="0" err="1" smtClean="0"/>
                        <a:t>LoadConstG</a:t>
                      </a:r>
                      <a:endParaRPr lang="en-US" sz="2200" b="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200" dirty="0" smtClean="0"/>
                        <a:t>Out &lt;- Constant</a:t>
                      </a:r>
                      <a:endParaRPr lang="en-US" sz="2200" b="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200" dirty="0" smtClean="0"/>
                        <a:t>pop</a:t>
                      </a:r>
                      <a:r>
                        <a:rPr lang="en-US" sz="2200" baseline="0" dirty="0" smtClean="0"/>
                        <a:t> %</a:t>
                      </a:r>
                      <a:r>
                        <a:rPr lang="en-US" sz="2200" baseline="0" dirty="0" err="1" smtClean="0"/>
                        <a:t>ebp</a:t>
                      </a:r>
                      <a:r>
                        <a:rPr lang="en-US" sz="2200" baseline="0" dirty="0" smtClean="0"/>
                        <a:t>; ret</a:t>
                      </a:r>
                      <a:endParaRPr lang="en-US" sz="2200" b="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200" dirty="0" err="1" smtClean="0"/>
                        <a:t>ArithmeticG</a:t>
                      </a:r>
                      <a:endParaRPr lang="en-US" sz="2200" b="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200" dirty="0" smtClean="0"/>
                        <a:t>Out &lt;- In1 + In2</a:t>
                      </a:r>
                      <a:endParaRPr lang="en-US" sz="2200" b="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200" dirty="0" smtClean="0"/>
                        <a:t>add</a:t>
                      </a:r>
                      <a:r>
                        <a:rPr lang="en-US" sz="2200" baseline="0" dirty="0" smtClean="0"/>
                        <a:t> %</a:t>
                      </a:r>
                      <a:r>
                        <a:rPr lang="en-US" sz="2200" baseline="0" dirty="0" err="1" smtClean="0"/>
                        <a:t>edx</a:t>
                      </a:r>
                      <a:r>
                        <a:rPr lang="en-US" sz="2200" baseline="0" dirty="0" smtClean="0"/>
                        <a:t>, %</a:t>
                      </a:r>
                      <a:r>
                        <a:rPr lang="en-US" sz="2200" baseline="0" dirty="0" err="1" smtClean="0"/>
                        <a:t>eax</a:t>
                      </a:r>
                      <a:r>
                        <a:rPr lang="en-US" sz="2200" baseline="0" dirty="0" smtClean="0"/>
                        <a:t>; ret</a:t>
                      </a:r>
                      <a:endParaRPr lang="en-US" sz="2200" b="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200" dirty="0" err="1" smtClean="0"/>
                        <a:t>LoadMemG</a:t>
                      </a:r>
                      <a:endParaRPr lang="en-US" sz="2200" b="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200" dirty="0" smtClean="0"/>
                        <a:t>Out &lt;- M[</a:t>
                      </a:r>
                      <a:r>
                        <a:rPr lang="en-US" sz="2200" dirty="0" err="1" smtClean="0"/>
                        <a:t>Addr</a:t>
                      </a:r>
                      <a:r>
                        <a:rPr lang="en-US" sz="2200" dirty="0" smtClean="0"/>
                        <a:t> + Offset]</a:t>
                      </a:r>
                      <a:endParaRPr lang="en-US" sz="2200" b="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200" dirty="0" err="1" smtClean="0"/>
                        <a:t>movl</a:t>
                      </a:r>
                      <a:r>
                        <a:rPr lang="en-US" sz="2200" dirty="0" smtClean="0"/>
                        <a:t> 0x60(%</a:t>
                      </a:r>
                      <a:r>
                        <a:rPr lang="en-US" sz="2200" dirty="0" err="1" smtClean="0"/>
                        <a:t>eax</a:t>
                      </a:r>
                      <a:r>
                        <a:rPr lang="en-US" sz="2200" dirty="0" smtClean="0"/>
                        <a:t>),</a:t>
                      </a:r>
                      <a:r>
                        <a:rPr lang="en-US" sz="2200" baseline="0" dirty="0" smtClean="0"/>
                        <a:t> %</a:t>
                      </a:r>
                      <a:r>
                        <a:rPr lang="en-US" sz="2200" baseline="0" dirty="0" err="1" smtClean="0"/>
                        <a:t>eax</a:t>
                      </a:r>
                      <a:r>
                        <a:rPr lang="en-US" sz="2200" baseline="0" dirty="0" smtClean="0"/>
                        <a:t>; ret</a:t>
                      </a:r>
                      <a:endParaRPr lang="en-US" sz="2200" b="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200" dirty="0" err="1" smtClean="0"/>
                        <a:t>StoreMemG</a:t>
                      </a:r>
                      <a:endParaRPr lang="en-US" sz="2200" b="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dirty="0" smtClean="0"/>
                        <a:t>M[</a:t>
                      </a:r>
                      <a:r>
                        <a:rPr lang="en-US" sz="2200" dirty="0" err="1" smtClean="0"/>
                        <a:t>Addr</a:t>
                      </a:r>
                      <a:r>
                        <a:rPr lang="en-US" sz="2200" baseline="0" dirty="0" smtClean="0"/>
                        <a:t> + Offset] &lt;- In</a:t>
                      </a:r>
                      <a:endParaRPr lang="en-US" sz="2200" b="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 err="1" smtClean="0"/>
                        <a:t>mov</a:t>
                      </a:r>
                      <a:r>
                        <a:rPr lang="en-US" sz="2000" baseline="0" dirty="0" smtClean="0"/>
                        <a:t> %dl, 0x13(%</a:t>
                      </a:r>
                      <a:r>
                        <a:rPr lang="en-US" sz="2000" baseline="0" dirty="0" err="1" smtClean="0"/>
                        <a:t>eax</a:t>
                      </a:r>
                      <a:r>
                        <a:rPr lang="en-US" sz="2000" baseline="0" dirty="0" smtClean="0"/>
                        <a:t>); ret</a:t>
                      </a:r>
                      <a:endParaRPr lang="en-US" sz="2000" b="0" dirty="0" smtClean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>
                    <a:solidFill>
                      <a:schemeClr val="accent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200" dirty="0" err="1" smtClean="0"/>
                        <a:t>ArithmeticLoadG</a:t>
                      </a:r>
                      <a:endParaRPr lang="en-US" sz="2200" b="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200" dirty="0" smtClean="0"/>
                        <a:t>Out +&lt;-</a:t>
                      </a:r>
                      <a:r>
                        <a:rPr lang="en-US" sz="2200" baseline="0" dirty="0" smtClean="0"/>
                        <a:t> M[</a:t>
                      </a:r>
                      <a:r>
                        <a:rPr lang="en-US" sz="2200" baseline="0" dirty="0" err="1" smtClean="0"/>
                        <a:t>Addr</a:t>
                      </a:r>
                      <a:r>
                        <a:rPr lang="en-US" sz="2200" baseline="0" dirty="0" smtClean="0"/>
                        <a:t> + Offset]</a:t>
                      </a:r>
                      <a:endParaRPr lang="en-US" sz="2200" b="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add  0x1376dbe4(%</a:t>
                      </a:r>
                      <a:r>
                        <a:rPr lang="en-US" sz="2000" dirty="0" err="1" smtClean="0"/>
                        <a:t>ebx</a:t>
                      </a:r>
                      <a:r>
                        <a:rPr lang="en-US" sz="2000" dirty="0" smtClean="0"/>
                        <a:t>), %</a:t>
                      </a:r>
                      <a:r>
                        <a:rPr lang="en-US" sz="2000" dirty="0" err="1" smtClean="0"/>
                        <a:t>ecx</a:t>
                      </a:r>
                      <a:r>
                        <a:rPr lang="en-US" sz="2000" dirty="0" smtClean="0"/>
                        <a:t>; (…); ret</a:t>
                      </a:r>
                      <a:endParaRPr lang="en-US" sz="2000" b="0" dirty="0" smtClean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200" dirty="0" err="1" smtClean="0"/>
                        <a:t>ArithmeticStoreG</a:t>
                      </a:r>
                      <a:endParaRPr lang="en-US" sz="2200" b="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200" dirty="0" smtClean="0"/>
                        <a:t>M[</a:t>
                      </a:r>
                      <a:r>
                        <a:rPr lang="en-US" sz="2200" dirty="0" err="1" smtClean="0"/>
                        <a:t>Addr</a:t>
                      </a:r>
                      <a:r>
                        <a:rPr lang="en-US" sz="2200" dirty="0" smtClean="0"/>
                        <a:t> + Offset] +&lt;- In </a:t>
                      </a:r>
                      <a:endParaRPr lang="en-US" sz="2200" b="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add    %al, 0x5de474c0(%</a:t>
                      </a:r>
                      <a:r>
                        <a:rPr lang="en-US" sz="2000" dirty="0" err="1" smtClean="0"/>
                        <a:t>ebp</a:t>
                      </a:r>
                      <a:r>
                        <a:rPr lang="en-US" sz="2000" dirty="0" smtClean="0"/>
                        <a:t>); ret </a:t>
                      </a:r>
                      <a:endParaRPr lang="en-US" sz="2000" b="0" dirty="0" smtClean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Footer Placeholder 4"/>
          <p:cNvSpPr>
            <a:spLocks noGrp="1"/>
          </p:cNvSpPr>
          <p:nvPr>
            <p:ph type="ftr" sz="quarter" idx="12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770091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356"/>
    </mc:Choice>
    <mc:Fallback xmlns="">
      <p:transition spd="slow" advTm="7356"/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Q’s Gadget Types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A1CEBBEA-F40F-4DDD-A209-00471A80FC4D}" type="datetime1">
              <a:rPr lang="en-US" smtClean="0"/>
              <a:t>8/15/2011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25</a:t>
            </a:fld>
            <a:endParaRPr lang="en-US"/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sz="quarter" idx="13"/>
            <p:custDataLst>
              <p:tags r:id="rId5"/>
            </p:custDataLst>
            <p:extLst>
              <p:ext uri="{D42A27DB-BD31-4B8C-83A1-F6EECF244321}">
                <p14:modId xmlns:p14="http://schemas.microsoft.com/office/powerpoint/2010/main" val="1601793029"/>
              </p:ext>
            </p:extLst>
          </p:nvPr>
        </p:nvGraphicFramePr>
        <p:xfrm>
          <a:off x="457200" y="1066800"/>
          <a:ext cx="8229600" cy="4572000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2209800"/>
                <a:gridCol w="3276600"/>
                <a:gridCol w="27432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200" dirty="0" smtClean="0"/>
                        <a:t>Gadget Type</a:t>
                      </a:r>
                      <a:endParaRPr lang="en-US" sz="2200" b="1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200" dirty="0" smtClean="0"/>
                        <a:t>Semantic Definition</a:t>
                      </a:r>
                      <a:endParaRPr lang="en-US" sz="2200" b="1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200" dirty="0" smtClean="0"/>
                        <a:t>Real World Example</a:t>
                      </a:r>
                      <a:endParaRPr lang="en-US" sz="2200" b="1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dirty="0" err="1" smtClean="0"/>
                        <a:t>MoveRegG</a:t>
                      </a:r>
                      <a:endParaRPr lang="en-US" sz="2200" b="0" dirty="0" smtClean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dirty="0" smtClean="0"/>
                        <a:t>Out &lt;- In</a:t>
                      </a:r>
                      <a:endParaRPr lang="en-US" sz="2200" b="0" dirty="0" smtClean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dirty="0" err="1" smtClean="0"/>
                        <a:t>xchg</a:t>
                      </a:r>
                      <a:r>
                        <a:rPr lang="en-US" sz="2200" dirty="0" smtClean="0"/>
                        <a:t> %</a:t>
                      </a:r>
                      <a:r>
                        <a:rPr lang="en-US" sz="2200" dirty="0" err="1" smtClean="0"/>
                        <a:t>eax</a:t>
                      </a:r>
                      <a:r>
                        <a:rPr lang="en-US" sz="2200" dirty="0" smtClean="0"/>
                        <a:t>, %</a:t>
                      </a:r>
                      <a:r>
                        <a:rPr lang="en-US" sz="2200" dirty="0" err="1" smtClean="0"/>
                        <a:t>ebp</a:t>
                      </a:r>
                      <a:r>
                        <a:rPr lang="en-US" sz="2200" baseline="0" dirty="0" smtClean="0"/>
                        <a:t>; ret</a:t>
                      </a:r>
                      <a:endParaRPr lang="en-US" sz="2200" b="0" dirty="0" smtClean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200" dirty="0" err="1" smtClean="0"/>
                        <a:t>LoadConstG</a:t>
                      </a:r>
                      <a:endParaRPr lang="en-US" sz="2200" b="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200" dirty="0" smtClean="0"/>
                        <a:t>Out &lt;- Constant</a:t>
                      </a:r>
                      <a:endParaRPr lang="en-US" sz="2200" b="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200" dirty="0" smtClean="0"/>
                        <a:t>pop</a:t>
                      </a:r>
                      <a:r>
                        <a:rPr lang="en-US" sz="2200" baseline="0" dirty="0" smtClean="0"/>
                        <a:t> %</a:t>
                      </a:r>
                      <a:r>
                        <a:rPr lang="en-US" sz="2200" baseline="0" dirty="0" err="1" smtClean="0"/>
                        <a:t>ebp</a:t>
                      </a:r>
                      <a:r>
                        <a:rPr lang="en-US" sz="2200" baseline="0" dirty="0" smtClean="0"/>
                        <a:t>; ret</a:t>
                      </a:r>
                      <a:endParaRPr lang="en-US" sz="2200" b="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200" dirty="0" err="1" smtClean="0"/>
                        <a:t>ArithmeticG</a:t>
                      </a:r>
                      <a:endParaRPr lang="en-US" sz="2200" b="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200" dirty="0" smtClean="0"/>
                        <a:t>Out &lt;- In1 + In2</a:t>
                      </a:r>
                      <a:endParaRPr lang="en-US" sz="2200" b="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200" dirty="0" smtClean="0"/>
                        <a:t>add</a:t>
                      </a:r>
                      <a:r>
                        <a:rPr lang="en-US" sz="2200" baseline="0" dirty="0" smtClean="0"/>
                        <a:t> %</a:t>
                      </a:r>
                      <a:r>
                        <a:rPr lang="en-US" sz="2200" baseline="0" dirty="0" err="1" smtClean="0"/>
                        <a:t>edx</a:t>
                      </a:r>
                      <a:r>
                        <a:rPr lang="en-US" sz="2200" baseline="0" dirty="0" smtClean="0"/>
                        <a:t>, %</a:t>
                      </a:r>
                      <a:r>
                        <a:rPr lang="en-US" sz="2200" baseline="0" dirty="0" err="1" smtClean="0"/>
                        <a:t>eax</a:t>
                      </a:r>
                      <a:r>
                        <a:rPr lang="en-US" sz="2200" baseline="0" dirty="0" smtClean="0"/>
                        <a:t>; ret</a:t>
                      </a:r>
                      <a:endParaRPr lang="en-US" sz="2200" b="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200" dirty="0" err="1" smtClean="0"/>
                        <a:t>LoadMemG</a:t>
                      </a:r>
                      <a:endParaRPr lang="en-US" sz="2200" b="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200" dirty="0" smtClean="0"/>
                        <a:t>Out &lt;- M[</a:t>
                      </a:r>
                      <a:r>
                        <a:rPr lang="en-US" sz="2200" dirty="0" err="1" smtClean="0"/>
                        <a:t>Addr</a:t>
                      </a:r>
                      <a:r>
                        <a:rPr lang="en-US" sz="2200" dirty="0" smtClean="0"/>
                        <a:t> + Offset]</a:t>
                      </a:r>
                      <a:endParaRPr lang="en-US" sz="2200" b="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200" dirty="0" err="1" smtClean="0"/>
                        <a:t>movl</a:t>
                      </a:r>
                      <a:r>
                        <a:rPr lang="en-US" sz="2200" dirty="0" smtClean="0"/>
                        <a:t> 0x60(%</a:t>
                      </a:r>
                      <a:r>
                        <a:rPr lang="en-US" sz="2200" dirty="0" err="1" smtClean="0"/>
                        <a:t>eax</a:t>
                      </a:r>
                      <a:r>
                        <a:rPr lang="en-US" sz="2200" dirty="0" smtClean="0"/>
                        <a:t>),</a:t>
                      </a:r>
                      <a:r>
                        <a:rPr lang="en-US" sz="2200" baseline="0" dirty="0" smtClean="0"/>
                        <a:t> %</a:t>
                      </a:r>
                      <a:r>
                        <a:rPr lang="en-US" sz="2200" baseline="0" dirty="0" err="1" smtClean="0"/>
                        <a:t>eax</a:t>
                      </a:r>
                      <a:r>
                        <a:rPr lang="en-US" sz="2200" baseline="0" dirty="0" smtClean="0"/>
                        <a:t>; ret</a:t>
                      </a:r>
                      <a:endParaRPr lang="en-US" sz="2200" b="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200" dirty="0" err="1" smtClean="0"/>
                        <a:t>StoreMemG</a:t>
                      </a:r>
                      <a:endParaRPr lang="en-US" sz="2200" b="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200" dirty="0" smtClean="0"/>
                        <a:t>M[</a:t>
                      </a:r>
                      <a:r>
                        <a:rPr lang="en-US" sz="2200" dirty="0" err="1" smtClean="0"/>
                        <a:t>Addr</a:t>
                      </a:r>
                      <a:r>
                        <a:rPr lang="en-US" sz="2200" baseline="0" dirty="0" smtClean="0"/>
                        <a:t> + Offset] &lt;- In</a:t>
                      </a:r>
                      <a:endParaRPr lang="en-US" sz="2200" b="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err="1" smtClean="0"/>
                        <a:t>mov</a:t>
                      </a:r>
                      <a:r>
                        <a:rPr lang="en-US" sz="2000" baseline="0" dirty="0" smtClean="0"/>
                        <a:t> %dl, 0x13(%</a:t>
                      </a:r>
                      <a:r>
                        <a:rPr lang="en-US" sz="2000" baseline="0" dirty="0" err="1" smtClean="0"/>
                        <a:t>eax</a:t>
                      </a:r>
                      <a:r>
                        <a:rPr lang="en-US" sz="2000" baseline="0" dirty="0" smtClean="0"/>
                        <a:t>); ret</a:t>
                      </a:r>
                      <a:endParaRPr lang="en-US" sz="2000" b="0" dirty="0" smtClean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200" dirty="0" err="1" smtClean="0"/>
                        <a:t>ArithmeticLoadG</a:t>
                      </a:r>
                      <a:endParaRPr lang="en-US" sz="2200" b="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200" dirty="0" smtClean="0"/>
                        <a:t>Out +&lt;-</a:t>
                      </a:r>
                      <a:r>
                        <a:rPr lang="en-US" sz="2200" baseline="0" dirty="0" smtClean="0"/>
                        <a:t> M[</a:t>
                      </a:r>
                      <a:r>
                        <a:rPr lang="en-US" sz="2200" baseline="0" dirty="0" err="1" smtClean="0"/>
                        <a:t>Addr</a:t>
                      </a:r>
                      <a:r>
                        <a:rPr lang="en-US" sz="2200" baseline="0" dirty="0" smtClean="0"/>
                        <a:t> + Offset]</a:t>
                      </a:r>
                      <a:endParaRPr lang="en-US" sz="2200" b="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add  0x1376dbe4(%</a:t>
                      </a:r>
                      <a:r>
                        <a:rPr lang="en-US" sz="2000" dirty="0" err="1" smtClean="0"/>
                        <a:t>ebx</a:t>
                      </a:r>
                      <a:r>
                        <a:rPr lang="en-US" sz="2000" dirty="0" smtClean="0"/>
                        <a:t>), %</a:t>
                      </a:r>
                      <a:r>
                        <a:rPr lang="en-US" sz="2000" dirty="0" err="1" smtClean="0"/>
                        <a:t>ecx</a:t>
                      </a:r>
                      <a:r>
                        <a:rPr lang="en-US" sz="2000" dirty="0" smtClean="0"/>
                        <a:t>; (…); ret</a:t>
                      </a:r>
                      <a:endParaRPr lang="en-US" sz="2000" b="0" dirty="0" smtClean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200" dirty="0" err="1" smtClean="0"/>
                        <a:t>ArithmeticStoreG</a:t>
                      </a:r>
                      <a:endParaRPr lang="en-US" sz="2200" b="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200" dirty="0" smtClean="0"/>
                        <a:t>M[</a:t>
                      </a:r>
                      <a:r>
                        <a:rPr lang="en-US" sz="2200" dirty="0" err="1" smtClean="0"/>
                        <a:t>Addr</a:t>
                      </a:r>
                      <a:r>
                        <a:rPr lang="en-US" sz="2200" dirty="0" smtClean="0"/>
                        <a:t> + Offset] +&lt;- In </a:t>
                      </a:r>
                      <a:endParaRPr lang="en-US" sz="2200" b="0" dirty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add    %al, 0x5de474c0(%</a:t>
                      </a:r>
                      <a:r>
                        <a:rPr lang="en-US" sz="2000" dirty="0" err="1" smtClean="0"/>
                        <a:t>ebp</a:t>
                      </a:r>
                      <a:r>
                        <a:rPr lang="en-US" sz="2000" dirty="0" smtClean="0"/>
                        <a:t>); ret </a:t>
                      </a:r>
                      <a:endParaRPr lang="en-US" sz="2000" b="0" dirty="0" smtClean="0">
                        <a:latin typeface="Calibri" pitchFamily="34" charset="0"/>
                        <a:cs typeface="Calibri" pitchFamily="34" charset="0"/>
                      </a:endParaRPr>
                    </a:p>
                  </a:txBody>
                  <a:tcPr>
                    <a:solidFill>
                      <a:schemeClr val="accent6"/>
                    </a:solidFill>
                  </a:tcPr>
                </a:tc>
              </a:tr>
            </a:tbl>
          </a:graphicData>
        </a:graphic>
      </p:graphicFrame>
      <p:sp>
        <p:nvSpPr>
          <p:cNvPr id="5" name="Footer Placeholder 4"/>
          <p:cNvSpPr>
            <a:spLocks noGrp="1"/>
          </p:cNvSpPr>
          <p:nvPr>
            <p:ph type="ftr" sz="quarter" idx="12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48928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417"/>
    </mc:Choice>
    <mc:Fallback xmlns="">
      <p:transition spd="slow" advTm="5417"/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Randomized Testing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6E0D5B86-D5FE-4820-860D-574C9585D181}" type="datetime1">
              <a:rPr lang="en-US" smtClean="0"/>
              <a:t>8/15/2011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2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13"/>
            <p:custDataLst>
              <p:tags r:id="rId6"/>
            </p:custDataLst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Randomized </a:t>
            </a:r>
            <a:r>
              <a:rPr lang="en-US" dirty="0"/>
              <a:t>t</a:t>
            </a:r>
            <a:r>
              <a:rPr lang="en-US" dirty="0" smtClean="0"/>
              <a:t>esting tells us we </a:t>
            </a:r>
            <a:r>
              <a:rPr lang="en-US" b="1" dirty="0" smtClean="0"/>
              <a:t>likely</a:t>
            </a:r>
            <a:r>
              <a:rPr lang="en-US" dirty="0" smtClean="0"/>
              <a:t> found a gadget</a:t>
            </a:r>
          </a:p>
          <a:p>
            <a:pPr lvl="1"/>
            <a:r>
              <a:rPr lang="en-US" dirty="0" smtClean="0"/>
              <a:t>Fast; filters out many candidates</a:t>
            </a:r>
          </a:p>
          <a:p>
            <a:pPr lvl="1"/>
            <a:r>
              <a:rPr lang="en-US" dirty="0" smtClean="0"/>
              <a:t>Enables more expensive second stage</a:t>
            </a:r>
          </a:p>
          <a:p>
            <a:pPr lvl="1"/>
            <a:endParaRPr lang="en-US" b="1" dirty="0" smtClean="0"/>
          </a:p>
          <a:p>
            <a:r>
              <a:rPr lang="en-US" b="1" dirty="0" smtClean="0"/>
              <a:t>Second stage: SMT-based gadget discovery</a:t>
            </a:r>
          </a:p>
          <a:p>
            <a:pPr lvl="1"/>
            <a:r>
              <a:rPr lang="en-US" dirty="0" smtClean="0"/>
              <a:t>Gadget discovery is program verification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982882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251"/>
    </mc:Choice>
    <mc:Fallback xmlns="">
      <p:transition spd="slow" advTm="4525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/>
              <a:t>SMT-Based </a:t>
            </a:r>
            <a:r>
              <a:rPr lang="en-US" dirty="0" smtClean="0"/>
              <a:t>Gadget Discovery</a:t>
            </a:r>
            <a:endParaRPr lang="en-US" dirty="0"/>
          </a:p>
        </p:txBody>
      </p:sp>
      <p:sp>
        <p:nvSpPr>
          <p:cNvPr id="6" name="TextBox 5"/>
          <p:cNvSpPr txBox="1"/>
          <p:nvPr>
            <p:custDataLst>
              <p:tags r:id="rId3"/>
            </p:custDataLst>
          </p:nvPr>
        </p:nvSpPr>
        <p:spPr>
          <a:xfrm>
            <a:off x="152400" y="838200"/>
            <a:ext cx="3352800" cy="1077218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3200" dirty="0" err="1" smtClean="0">
                <a:latin typeface="Calibri" pitchFamily="34" charset="0"/>
                <a:cs typeface="Calibri" pitchFamily="34" charset="0"/>
              </a:rPr>
              <a:t>sbb</a:t>
            </a:r>
            <a:r>
              <a:rPr lang="en-US" sz="3200" dirty="0" smtClean="0">
                <a:latin typeface="Calibri" pitchFamily="34" charset="0"/>
                <a:cs typeface="Calibri" pitchFamily="34" charset="0"/>
              </a:rPr>
              <a:t> %</a:t>
            </a:r>
            <a:r>
              <a:rPr lang="en-US" sz="3200" dirty="0" err="1" smtClean="0">
                <a:latin typeface="Calibri" pitchFamily="34" charset="0"/>
                <a:cs typeface="Calibri" pitchFamily="34" charset="0"/>
              </a:rPr>
              <a:t>eax</a:t>
            </a:r>
            <a:r>
              <a:rPr lang="en-US" sz="3200" dirty="0" smtClean="0">
                <a:latin typeface="Calibri" pitchFamily="34" charset="0"/>
                <a:cs typeface="Calibri" pitchFamily="34" charset="0"/>
              </a:rPr>
              <a:t>, %</a:t>
            </a:r>
            <a:r>
              <a:rPr lang="en-US" sz="3200" dirty="0" err="1" smtClean="0">
                <a:latin typeface="Calibri" pitchFamily="34" charset="0"/>
                <a:cs typeface="Calibri" pitchFamily="34" charset="0"/>
              </a:rPr>
              <a:t>eax</a:t>
            </a:r>
            <a:endParaRPr lang="en-US" sz="3200" dirty="0" smtClean="0">
              <a:latin typeface="Calibri" pitchFamily="34" charset="0"/>
              <a:cs typeface="Calibri" pitchFamily="34" charset="0"/>
            </a:endParaRPr>
          </a:p>
          <a:p>
            <a:r>
              <a:rPr lang="en-US" sz="3200" dirty="0" err="1">
                <a:latin typeface="Calibri" pitchFamily="34" charset="0"/>
                <a:cs typeface="Calibri" pitchFamily="34" charset="0"/>
              </a:rPr>
              <a:t>n</a:t>
            </a:r>
            <a:r>
              <a:rPr lang="en-US" sz="3200" dirty="0" err="1" smtClean="0">
                <a:latin typeface="Calibri" pitchFamily="34" charset="0"/>
                <a:cs typeface="Calibri" pitchFamily="34" charset="0"/>
              </a:rPr>
              <a:t>eg</a:t>
            </a:r>
            <a:r>
              <a:rPr lang="en-US" sz="3200" dirty="0" smtClean="0">
                <a:latin typeface="Calibri" pitchFamily="34" charset="0"/>
                <a:cs typeface="Calibri" pitchFamily="34" charset="0"/>
              </a:rPr>
              <a:t> %</a:t>
            </a:r>
            <a:r>
              <a:rPr lang="en-US" sz="3200" dirty="0" err="1" smtClean="0">
                <a:latin typeface="Calibri" pitchFamily="34" charset="0"/>
                <a:cs typeface="Calibri" pitchFamily="34" charset="0"/>
              </a:rPr>
              <a:t>eax</a:t>
            </a:r>
            <a:r>
              <a:rPr lang="en-US" sz="3200" dirty="0" smtClean="0">
                <a:latin typeface="Calibri" pitchFamily="34" charset="0"/>
                <a:cs typeface="Calibri" pitchFamily="34" charset="0"/>
              </a:rPr>
              <a:t>; ret</a:t>
            </a:r>
          </a:p>
        </p:txBody>
      </p:sp>
      <p:sp>
        <p:nvSpPr>
          <p:cNvPr id="16" name="TextBox 15"/>
          <p:cNvSpPr txBox="1"/>
          <p:nvPr>
            <p:custDataLst>
              <p:tags r:id="rId4"/>
            </p:custDataLst>
          </p:nvPr>
        </p:nvSpPr>
        <p:spPr>
          <a:xfrm>
            <a:off x="152400" y="1915418"/>
            <a:ext cx="3355848" cy="58477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3200" dirty="0" smtClean="0">
                <a:latin typeface="Calibri" pitchFamily="34" charset="0"/>
                <a:cs typeface="Calibri" pitchFamily="34" charset="0"/>
              </a:rPr>
              <a:t>EAX &lt;- CF</a:t>
            </a:r>
          </a:p>
        </p:txBody>
      </p:sp>
      <p:sp>
        <p:nvSpPr>
          <p:cNvPr id="5" name="Right Arrow 4"/>
          <p:cNvSpPr/>
          <p:nvPr>
            <p:custDataLst>
              <p:tags r:id="rId5"/>
            </p:custDataLst>
          </p:nvPr>
        </p:nvSpPr>
        <p:spPr>
          <a:xfrm>
            <a:off x="3657600" y="990600"/>
            <a:ext cx="3733800" cy="2057400"/>
          </a:xfrm>
          <a:prstGeom prst="rightArrow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Weakest Precondition</a:t>
            </a:r>
          </a:p>
        </p:txBody>
      </p:sp>
      <p:sp>
        <p:nvSpPr>
          <p:cNvPr id="8" name="Rectangle 7"/>
          <p:cNvSpPr/>
          <p:nvPr>
            <p:custDataLst>
              <p:tags r:id="rId6"/>
            </p:custDataLst>
          </p:nvPr>
        </p:nvSpPr>
        <p:spPr>
          <a:xfrm>
            <a:off x="7620000" y="1295400"/>
            <a:ext cx="1009650" cy="137160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dirty="0" smtClean="0">
                <a:latin typeface="Calibri" pitchFamily="34" charset="0"/>
                <a:cs typeface="Calibri" pitchFamily="34" charset="0"/>
              </a:rPr>
              <a:t>F</a:t>
            </a:r>
          </a:p>
        </p:txBody>
      </p:sp>
      <p:sp>
        <p:nvSpPr>
          <p:cNvPr id="18" name="Rectangle 17"/>
          <p:cNvSpPr/>
          <p:nvPr>
            <p:custDataLst>
              <p:tags r:id="rId7"/>
            </p:custDataLst>
          </p:nvPr>
        </p:nvSpPr>
        <p:spPr>
          <a:xfrm>
            <a:off x="381000" y="4648200"/>
            <a:ext cx="1009650" cy="137160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dirty="0" smtClean="0">
                <a:latin typeface="Calibri" pitchFamily="34" charset="0"/>
                <a:cs typeface="Calibri" pitchFamily="34" charset="0"/>
              </a:rPr>
              <a:t>F</a:t>
            </a:r>
          </a:p>
        </p:txBody>
      </p:sp>
      <p:sp>
        <p:nvSpPr>
          <p:cNvPr id="21" name="Right Arrow 20"/>
          <p:cNvSpPr/>
          <p:nvPr>
            <p:custDataLst>
              <p:tags r:id="rId8"/>
            </p:custDataLst>
          </p:nvPr>
        </p:nvSpPr>
        <p:spPr>
          <a:xfrm>
            <a:off x="2133600" y="4305300"/>
            <a:ext cx="3733800" cy="2057400"/>
          </a:xfrm>
          <a:prstGeom prst="rightArrow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SMT Validity Check</a:t>
            </a:r>
          </a:p>
        </p:txBody>
      </p:sp>
      <p:sp>
        <p:nvSpPr>
          <p:cNvPr id="19" name="Rectangle 18"/>
          <p:cNvSpPr/>
          <p:nvPr>
            <p:custDataLst>
              <p:tags r:id="rId9"/>
            </p:custDataLst>
          </p:nvPr>
        </p:nvSpPr>
        <p:spPr>
          <a:xfrm>
            <a:off x="5943600" y="4419600"/>
            <a:ext cx="3124200" cy="18669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Valid (Gadget)</a:t>
            </a:r>
          </a:p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Invalid (not Gadget)</a:t>
            </a:r>
          </a:p>
        </p:txBody>
      </p:sp>
      <p:cxnSp>
        <p:nvCxnSpPr>
          <p:cNvPr id="25" name="Straight Connector 24"/>
          <p:cNvCxnSpPr/>
          <p:nvPr>
            <p:custDataLst>
              <p:tags r:id="rId10"/>
            </p:custDataLst>
          </p:nvPr>
        </p:nvCxnSpPr>
        <p:spPr>
          <a:xfrm>
            <a:off x="0" y="3962400"/>
            <a:ext cx="9144000" cy="0"/>
          </a:xfrm>
          <a:prstGeom prst="line">
            <a:avLst/>
          </a:prstGeom>
          <a:ln w="76200">
            <a:solidFill>
              <a:srgbClr val="00206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>
            <p:custDataLst>
              <p:tags r:id="rId11"/>
            </p:custDataLst>
          </p:nvPr>
        </p:nvSpPr>
        <p:spPr>
          <a:xfrm>
            <a:off x="4686300" y="838200"/>
            <a:ext cx="1181100" cy="53860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sz="3200" b="1" dirty="0" smtClean="0">
                <a:latin typeface="Calibri" pitchFamily="34" charset="0"/>
                <a:cs typeface="Calibri" pitchFamily="34" charset="0"/>
              </a:rPr>
              <a:t>[D76]</a:t>
            </a:r>
            <a:endParaRPr lang="en-US" sz="3200" b="1" dirty="0">
              <a:latin typeface="Calibri" pitchFamily="34" charset="0"/>
              <a:cs typeface="Calibri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461505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4616"/>
    </mc:Choice>
    <mc:Fallback xmlns="">
      <p:transition spd="slow" advTm="54616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  <p:bldP spid="18" grpId="0" animBg="1"/>
      <p:bldP spid="21" grpId="0" animBg="1"/>
      <p:bldP spid="19" grpId="0" animBg="1"/>
      <p:bldP spid="3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SMT-Based Gadget Discovery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CEA13707-D4FD-4288-84F4-CEE3503985F3}" type="datetime1">
              <a:rPr lang="en-US" smtClean="0"/>
              <a:t>8/15/2011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28</a:t>
            </a:fld>
            <a:endParaRPr lang="en-US"/>
          </a:p>
        </p:txBody>
      </p:sp>
      <p:sp>
        <p:nvSpPr>
          <p:cNvPr id="5" name="Content Placeholder 4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457200" y="609600"/>
            <a:ext cx="8229600" cy="685800"/>
          </a:xfrm>
        </p:spPr>
        <p:txBody>
          <a:bodyPr>
            <a:normAutofit/>
          </a:bodyPr>
          <a:lstStyle/>
          <a:p>
            <a:r>
              <a:rPr lang="en-US" sz="3600" dirty="0" smtClean="0"/>
              <a:t>Q is better at finding gadgets than I am!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2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custDataLst>
              <p:tags r:id="rId7"/>
            </p:custDataLst>
            <p:extLst>
              <p:ext uri="{D42A27DB-BD31-4B8C-83A1-F6EECF244321}">
                <p14:modId xmlns:p14="http://schemas.microsoft.com/office/powerpoint/2010/main" val="1156994558"/>
              </p:ext>
            </p:extLst>
          </p:nvPr>
        </p:nvGraphicFramePr>
        <p:xfrm>
          <a:off x="21771" y="2057400"/>
          <a:ext cx="9122229" cy="32004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007429"/>
                <a:gridCol w="4114800"/>
              </a:tblGrid>
              <a:tr h="863600">
                <a:tc>
                  <a:txBody>
                    <a:bodyPr/>
                    <a:lstStyle/>
                    <a:p>
                      <a:r>
                        <a:rPr lang="en-US" sz="3200" dirty="0" err="1" smtClean="0"/>
                        <a:t>imul</a:t>
                      </a:r>
                      <a:r>
                        <a:rPr lang="en-US" sz="3200" dirty="0" smtClean="0"/>
                        <a:t> $1, %</a:t>
                      </a:r>
                      <a:r>
                        <a:rPr lang="en-US" sz="3200" dirty="0" err="1" smtClean="0"/>
                        <a:t>eax</a:t>
                      </a:r>
                      <a:r>
                        <a:rPr lang="en-US" sz="3200" dirty="0" smtClean="0"/>
                        <a:t>, %</a:t>
                      </a:r>
                      <a:r>
                        <a:rPr lang="en-US" sz="3200" dirty="0" err="1" smtClean="0"/>
                        <a:t>ebx</a:t>
                      </a:r>
                      <a:endParaRPr lang="en-US" sz="3200" dirty="0" smtClean="0"/>
                    </a:p>
                    <a:p>
                      <a:r>
                        <a:rPr lang="en-US" sz="3200" dirty="0" smtClean="0"/>
                        <a:t>ret</a:t>
                      </a:r>
                      <a:endParaRPr lang="en-US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 smtClean="0"/>
                        <a:t>Move %</a:t>
                      </a:r>
                      <a:r>
                        <a:rPr lang="en-US" sz="2800" dirty="0" err="1" smtClean="0"/>
                        <a:t>eax</a:t>
                      </a:r>
                      <a:r>
                        <a:rPr lang="en-US" sz="2800" dirty="0" smtClean="0"/>
                        <a:t> to %</a:t>
                      </a:r>
                      <a:r>
                        <a:rPr lang="en-US" sz="2800" dirty="0" err="1" smtClean="0"/>
                        <a:t>ebx</a:t>
                      </a:r>
                      <a:endParaRPr lang="en-US" sz="2800" dirty="0"/>
                    </a:p>
                  </a:txBody>
                  <a:tcPr/>
                </a:tc>
              </a:tr>
              <a:tr h="863600">
                <a:tc>
                  <a:txBody>
                    <a:bodyPr/>
                    <a:lstStyle/>
                    <a:p>
                      <a:r>
                        <a:rPr lang="en-US" sz="3200" dirty="0" smtClean="0"/>
                        <a:t>lea (%ebx,%ecx,1), %</a:t>
                      </a:r>
                      <a:r>
                        <a:rPr lang="en-US" sz="3200" dirty="0" err="1" smtClean="0"/>
                        <a:t>eax</a:t>
                      </a:r>
                      <a:endParaRPr lang="en-US" sz="3200" dirty="0" smtClean="0"/>
                    </a:p>
                    <a:p>
                      <a:r>
                        <a:rPr lang="en-US" sz="3200" dirty="0" smtClean="0"/>
                        <a:t>ret</a:t>
                      </a:r>
                      <a:endParaRPr lang="en-US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 smtClean="0"/>
                        <a:t>Store</a:t>
                      </a:r>
                      <a:r>
                        <a:rPr lang="en-US" sz="2800" baseline="0" dirty="0" smtClean="0"/>
                        <a:t> %</a:t>
                      </a:r>
                      <a:r>
                        <a:rPr lang="en-US" sz="2800" baseline="0" dirty="0" err="1" smtClean="0"/>
                        <a:t>ebx</a:t>
                      </a:r>
                      <a:r>
                        <a:rPr lang="en-US" sz="2800" baseline="0" dirty="0" smtClean="0"/>
                        <a:t>+%</a:t>
                      </a:r>
                      <a:r>
                        <a:rPr lang="en-US" sz="2800" baseline="0" dirty="0" err="1" smtClean="0"/>
                        <a:t>ecx</a:t>
                      </a:r>
                      <a:r>
                        <a:rPr lang="en-US" sz="2800" baseline="0" dirty="0" smtClean="0"/>
                        <a:t> in %</a:t>
                      </a:r>
                      <a:r>
                        <a:rPr lang="en-US" sz="2800" baseline="0" dirty="0" err="1" smtClean="0"/>
                        <a:t>eax</a:t>
                      </a:r>
                      <a:endParaRPr lang="en-US" sz="2800" dirty="0"/>
                    </a:p>
                  </a:txBody>
                  <a:tcPr/>
                </a:tc>
              </a:tr>
              <a:tr h="939800">
                <a:tc>
                  <a:txBody>
                    <a:bodyPr/>
                    <a:lstStyle/>
                    <a:p>
                      <a:r>
                        <a:rPr lang="en-US" sz="3200" dirty="0" err="1" smtClean="0"/>
                        <a:t>sbb</a:t>
                      </a:r>
                      <a:r>
                        <a:rPr lang="en-US" sz="3200" dirty="0" smtClean="0"/>
                        <a:t> %</a:t>
                      </a:r>
                      <a:r>
                        <a:rPr lang="en-US" sz="3200" dirty="0" err="1" smtClean="0"/>
                        <a:t>eax</a:t>
                      </a:r>
                      <a:r>
                        <a:rPr lang="en-US" sz="3200" dirty="0" smtClean="0"/>
                        <a:t>, %</a:t>
                      </a:r>
                      <a:r>
                        <a:rPr lang="en-US" sz="3200" dirty="0" err="1" smtClean="0"/>
                        <a:t>eax</a:t>
                      </a:r>
                      <a:r>
                        <a:rPr lang="en-US" sz="3200" dirty="0" smtClean="0"/>
                        <a:t>; </a:t>
                      </a:r>
                      <a:r>
                        <a:rPr lang="en-US" sz="3200" dirty="0" err="1" smtClean="0"/>
                        <a:t>neg</a:t>
                      </a:r>
                      <a:r>
                        <a:rPr lang="en-US" sz="3200" dirty="0" smtClean="0"/>
                        <a:t> %</a:t>
                      </a:r>
                      <a:r>
                        <a:rPr lang="en-US" sz="3200" dirty="0" err="1" smtClean="0"/>
                        <a:t>eax</a:t>
                      </a:r>
                      <a:endParaRPr lang="en-US" sz="3200" dirty="0" smtClean="0"/>
                    </a:p>
                    <a:p>
                      <a:r>
                        <a:rPr lang="en-US" sz="3200" dirty="0" smtClean="0"/>
                        <a:t>ret</a:t>
                      </a:r>
                      <a:endParaRPr lang="en-US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 smtClean="0"/>
                        <a:t>Move carry flag to %</a:t>
                      </a:r>
                      <a:r>
                        <a:rPr lang="en-US" sz="2800" dirty="0" err="1" smtClean="0"/>
                        <a:t>eax</a:t>
                      </a:r>
                      <a:endParaRPr lang="en-US" sz="2800" dirty="0"/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12321911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7141"/>
    </mc:Choice>
    <mc:Fallback xmlns="">
      <p:transition spd="slow" advTm="37141"/>
    </mc:Fallback>
  </mc:AlternateContent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ROP Overview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27599056-CC75-4476-9349-EEC3FF9660FD}" type="datetime1">
              <a:rPr lang="en-US" smtClean="0"/>
              <a:t>8/15/2011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29</a:t>
            </a:fld>
            <a:endParaRPr lang="en-US"/>
          </a:p>
        </p:txBody>
      </p:sp>
      <p:sp>
        <p:nvSpPr>
          <p:cNvPr id="7" name="Rectangle 6"/>
          <p:cNvSpPr/>
          <p:nvPr>
            <p:custDataLst>
              <p:tags r:id="rId5"/>
            </p:custDataLst>
          </p:nvPr>
        </p:nvSpPr>
        <p:spPr>
          <a:xfrm>
            <a:off x="228600" y="1143000"/>
            <a:ext cx="2667000" cy="137160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Source P</a:t>
            </a:r>
          </a:p>
        </p:txBody>
      </p:sp>
      <p:sp>
        <p:nvSpPr>
          <p:cNvPr id="8" name="Rectangle 7"/>
          <p:cNvSpPr/>
          <p:nvPr>
            <p:custDataLst>
              <p:tags r:id="rId6"/>
            </p:custDataLst>
          </p:nvPr>
        </p:nvSpPr>
        <p:spPr>
          <a:xfrm>
            <a:off x="228600" y="4419600"/>
            <a:ext cx="2667000" cy="137160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Computation</a:t>
            </a:r>
          </a:p>
        </p:txBody>
      </p:sp>
      <p:sp>
        <p:nvSpPr>
          <p:cNvPr id="15" name="Rectangle 14"/>
          <p:cNvSpPr/>
          <p:nvPr>
            <p:custDataLst>
              <p:tags r:id="rId7"/>
            </p:custDataLst>
          </p:nvPr>
        </p:nvSpPr>
        <p:spPr>
          <a:xfrm>
            <a:off x="3429000" y="4419600"/>
            <a:ext cx="2819400" cy="1371600"/>
          </a:xfrm>
          <a:prstGeom prst="rect">
            <a:avLst/>
          </a:prstGeom>
          <a:gradFill>
            <a:gsLst>
              <a:gs pos="0">
                <a:schemeClr val="accent6">
                  <a:tint val="92000"/>
                  <a:satMod val="170000"/>
                </a:schemeClr>
              </a:gs>
              <a:gs pos="15000">
                <a:schemeClr val="accent6">
                  <a:tint val="92000"/>
                  <a:shade val="99000"/>
                  <a:satMod val="170000"/>
                </a:schemeClr>
              </a:gs>
              <a:gs pos="62000">
                <a:schemeClr val="accent6">
                  <a:tint val="96000"/>
                  <a:shade val="80000"/>
                  <a:satMod val="170000"/>
                </a:schemeClr>
              </a:gs>
              <a:gs pos="97000">
                <a:schemeClr val="accent6">
                  <a:tint val="98000"/>
                  <a:shade val="63000"/>
                  <a:satMod val="170000"/>
                </a:schemeClr>
              </a:gs>
              <a:gs pos="100000">
                <a:schemeClr val="accent6">
                  <a:shade val="62000"/>
                  <a:satMod val="170000"/>
                </a:schemeClr>
              </a:gs>
            </a:gsLst>
          </a:gra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Arrangement</a:t>
            </a:r>
          </a:p>
        </p:txBody>
      </p:sp>
      <p:sp>
        <p:nvSpPr>
          <p:cNvPr id="16" name="Rectangle 15"/>
          <p:cNvSpPr/>
          <p:nvPr>
            <p:custDataLst>
              <p:tags r:id="rId8"/>
            </p:custDataLst>
          </p:nvPr>
        </p:nvSpPr>
        <p:spPr>
          <a:xfrm>
            <a:off x="3429000" y="1143000"/>
            <a:ext cx="2819400" cy="1371600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Discovery</a:t>
            </a:r>
          </a:p>
        </p:txBody>
      </p:sp>
      <p:sp>
        <p:nvSpPr>
          <p:cNvPr id="17" name="Rectangle 16"/>
          <p:cNvSpPr/>
          <p:nvPr>
            <p:custDataLst>
              <p:tags r:id="rId9"/>
            </p:custDataLst>
          </p:nvPr>
        </p:nvSpPr>
        <p:spPr>
          <a:xfrm>
            <a:off x="6221186" y="2819400"/>
            <a:ext cx="2819400" cy="1371600"/>
          </a:xfrm>
          <a:prstGeom prst="rect">
            <a:avLst/>
          </a:prstGeom>
          <a:gradFill>
            <a:gsLst>
              <a:gs pos="0">
                <a:schemeClr val="accent6">
                  <a:tint val="92000"/>
                  <a:satMod val="170000"/>
                </a:schemeClr>
              </a:gs>
              <a:gs pos="15000">
                <a:schemeClr val="accent6">
                  <a:tint val="92000"/>
                  <a:shade val="99000"/>
                  <a:satMod val="170000"/>
                </a:schemeClr>
              </a:gs>
              <a:gs pos="62000">
                <a:schemeClr val="accent6">
                  <a:tint val="96000"/>
                  <a:shade val="80000"/>
                  <a:satMod val="170000"/>
                </a:schemeClr>
              </a:gs>
              <a:gs pos="97000">
                <a:schemeClr val="accent6">
                  <a:tint val="98000"/>
                  <a:shade val="63000"/>
                  <a:satMod val="170000"/>
                </a:schemeClr>
              </a:gs>
              <a:gs pos="100000">
                <a:schemeClr val="accent6">
                  <a:shade val="62000"/>
                  <a:satMod val="170000"/>
                </a:schemeClr>
              </a:gs>
            </a:gsLst>
          </a:gra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Assignment</a:t>
            </a:r>
          </a:p>
        </p:txBody>
      </p:sp>
      <p:cxnSp>
        <p:nvCxnSpPr>
          <p:cNvPr id="19" name="Straight Arrow Connector 18"/>
          <p:cNvCxnSpPr>
            <a:stCxn id="7" idx="3"/>
            <a:endCxn id="16" idx="1"/>
          </p:cNvCxnSpPr>
          <p:nvPr>
            <p:custDataLst>
              <p:tags r:id="rId10"/>
            </p:custDataLst>
          </p:nvPr>
        </p:nvCxnSpPr>
        <p:spPr>
          <a:xfrm>
            <a:off x="2895600" y="1828800"/>
            <a:ext cx="533400" cy="0"/>
          </a:xfrm>
          <a:prstGeom prst="straightConnector1">
            <a:avLst/>
          </a:prstGeom>
          <a:ln>
            <a:tailEnd type="arrow" w="lg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/>
          <p:nvPr>
            <p:custDataLst>
              <p:tags r:id="rId11"/>
            </p:custDataLst>
          </p:nvPr>
        </p:nvCxnSpPr>
        <p:spPr>
          <a:xfrm>
            <a:off x="2895600" y="5110843"/>
            <a:ext cx="533400" cy="0"/>
          </a:xfrm>
          <a:prstGeom prst="straightConnector1">
            <a:avLst/>
          </a:prstGeom>
          <a:ln>
            <a:tailEnd type="arrow" w="lg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endCxn id="17" idx="0"/>
          </p:cNvCxnSpPr>
          <p:nvPr>
            <p:custDataLst>
              <p:tags r:id="rId12"/>
            </p:custDataLst>
          </p:nvPr>
        </p:nvCxnSpPr>
        <p:spPr>
          <a:xfrm>
            <a:off x="6248400" y="1834243"/>
            <a:ext cx="1382486" cy="985157"/>
          </a:xfrm>
          <a:prstGeom prst="curvedConnector2">
            <a:avLst/>
          </a:prstGeom>
          <a:ln>
            <a:tailEnd type="arrow" w="lg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2"/>
          <p:cNvCxnSpPr>
            <a:endCxn id="17" idx="2"/>
          </p:cNvCxnSpPr>
          <p:nvPr>
            <p:custDataLst>
              <p:tags r:id="rId13"/>
            </p:custDataLst>
          </p:nvPr>
        </p:nvCxnSpPr>
        <p:spPr>
          <a:xfrm flipV="1">
            <a:off x="6248401" y="4191000"/>
            <a:ext cx="1382485" cy="919844"/>
          </a:xfrm>
          <a:prstGeom prst="curvedConnector2">
            <a:avLst/>
          </a:prstGeom>
          <a:ln>
            <a:tailEnd type="arrow" w="lg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" name="Footer Placeholder 4"/>
          <p:cNvSpPr>
            <a:spLocks noGrp="1"/>
          </p:cNvSpPr>
          <p:nvPr>
            <p:ph type="ftr" sz="quarter" idx="12"/>
            <p:custDataLst>
              <p:tags r:id="rId14"/>
            </p:custDataLst>
          </p:nvPr>
        </p:nvSpPr>
        <p:spPr/>
        <p:txBody>
          <a:bodyPr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18966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124"/>
    </mc:Choice>
    <mc:Fallback xmlns="">
      <p:transition spd="slow" advTm="11124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presetSubtype="0" grpId="0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rctx="PPT">
                                        <p:cTn id="6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7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rctx="PPT">
                                        <p:cTn id="9" dur="indefinit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0" dur="indefinite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rctx="PPT">
                                        <p:cTn id="12" dur="indefinite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3" dur="indefinite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rctx="PPT">
                                        <p:cTn id="15" dur="indefinite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6" dur="indefinite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5" grpId="1" animBg="1"/>
      <p:bldP spid="1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Gadget Arrangement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D32D250F-14EA-4F62-8DE0-B98BB653F159}" type="datetime1">
              <a:rPr lang="en-US" smtClean="0"/>
              <a:t>8/15/2011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30</a:t>
            </a:fld>
            <a:endParaRPr lang="en-US"/>
          </a:p>
        </p:txBody>
      </p:sp>
      <p:sp>
        <p:nvSpPr>
          <p:cNvPr id="5" name="Content Placeholder 4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4400" b="1" dirty="0" smtClean="0"/>
              <a:t>Gadget Arrangement:</a:t>
            </a:r>
            <a:r>
              <a:rPr lang="en-US" sz="4400" dirty="0" smtClean="0"/>
              <a:t> How can gadget types be combined to implement a computation?</a:t>
            </a:r>
          </a:p>
          <a:p>
            <a:endParaRPr lang="en-US" sz="4400" dirty="0"/>
          </a:p>
          <a:p>
            <a:r>
              <a:rPr lang="en-US" sz="4400" dirty="0" smtClean="0"/>
              <a:t>Alternate view: Compile user computation for gadget type architecture</a:t>
            </a:r>
          </a:p>
          <a:p>
            <a:endParaRPr lang="en-US" sz="4400" dirty="0"/>
          </a:p>
          <a:p>
            <a:r>
              <a:rPr lang="en-US" sz="4400" b="1" dirty="0" smtClean="0"/>
              <a:t>Example</a:t>
            </a:r>
            <a:r>
              <a:rPr lang="en-US" sz="4400" dirty="0" smtClean="0"/>
              <a:t>: </a:t>
            </a:r>
            <a:br>
              <a:rPr lang="en-US" sz="4400" dirty="0" smtClean="0"/>
            </a:br>
            <a:r>
              <a:rPr lang="en-US" sz="4400" dirty="0" smtClean="0"/>
              <a:t>M[0xcafecafe] := 0xdeadbeef</a:t>
            </a:r>
          </a:p>
          <a:p>
            <a:pPr marL="0" indent="0">
              <a:buNone/>
            </a:pPr>
            <a:endParaRPr lang="en-US" sz="440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2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4465420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9818"/>
    </mc:Choice>
    <mc:Fallback xmlns="">
      <p:transition spd="slow" advTm="39818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Arrangement: Storing to Memory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AB22F5E7-3F8F-419B-9714-E389FF2DA21A}" type="datetime1">
              <a:rPr lang="en-US" smtClean="0"/>
              <a:t>8/15/2011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31</a:t>
            </a:fld>
            <a:endParaRPr lang="en-US"/>
          </a:p>
        </p:txBody>
      </p:sp>
      <p:sp>
        <p:nvSpPr>
          <p:cNvPr id="6" name="Rounded Rectangle 5"/>
          <p:cNvSpPr/>
          <p:nvPr>
            <p:custDataLst>
              <p:tags r:id="rId5"/>
            </p:custDataLst>
          </p:nvPr>
        </p:nvSpPr>
        <p:spPr>
          <a:xfrm>
            <a:off x="5486400" y="4648200"/>
            <a:ext cx="3429000" cy="114300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err="1" smtClean="0">
                <a:latin typeface="Calibri" pitchFamily="34" charset="0"/>
                <a:cs typeface="Calibri" pitchFamily="34" charset="0"/>
              </a:rPr>
              <a:t>StoreMem</a:t>
            </a:r>
            <a:r>
              <a:rPr lang="en-US" sz="3600" dirty="0" smtClean="0">
                <a:latin typeface="Calibri" pitchFamily="34" charset="0"/>
                <a:cs typeface="Calibri" pitchFamily="34" charset="0"/>
              </a:rPr>
              <a:t>, u32</a:t>
            </a:r>
          </a:p>
        </p:txBody>
      </p:sp>
      <p:sp>
        <p:nvSpPr>
          <p:cNvPr id="8" name="Rounded Rectangle 7"/>
          <p:cNvSpPr/>
          <p:nvPr>
            <p:custDataLst>
              <p:tags r:id="rId6"/>
            </p:custDataLst>
          </p:nvPr>
        </p:nvSpPr>
        <p:spPr>
          <a:xfrm>
            <a:off x="228600" y="1905000"/>
            <a:ext cx="2438400" cy="114300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err="1" smtClean="0">
                <a:latin typeface="Calibri" pitchFamily="34" charset="0"/>
                <a:cs typeface="Calibri" pitchFamily="34" charset="0"/>
              </a:rPr>
              <a:t>LoadConst</a:t>
            </a:r>
            <a:endParaRPr lang="en-US" sz="3600" dirty="0" smtClean="0">
              <a:latin typeface="Calibri" pitchFamily="34" charset="0"/>
              <a:cs typeface="Calibri" pitchFamily="34" charset="0"/>
            </a:endParaRPr>
          </a:p>
          <a:p>
            <a:pPr algn="ctr"/>
            <a:r>
              <a:rPr lang="en-US" sz="3600" dirty="0" err="1" smtClean="0">
                <a:solidFill>
                  <a:schemeClr val="accent2"/>
                </a:solidFill>
                <a:latin typeface="Calibri" pitchFamily="34" charset="0"/>
                <a:cs typeface="Calibri" pitchFamily="34" charset="0"/>
              </a:rPr>
              <a:t>deadbeef</a:t>
            </a:r>
            <a:endParaRPr lang="en-US" sz="3600" dirty="0" smtClean="0">
              <a:solidFill>
                <a:schemeClr val="accent2"/>
              </a:solidFill>
              <a:latin typeface="Calibri" pitchFamily="34" charset="0"/>
              <a:cs typeface="Calibri" pitchFamily="34" charset="0"/>
            </a:endParaRPr>
          </a:p>
        </p:txBody>
      </p:sp>
      <p:cxnSp>
        <p:nvCxnSpPr>
          <p:cNvPr id="10" name="Curved Connector 9"/>
          <p:cNvCxnSpPr>
            <a:stCxn id="8" idx="2"/>
            <a:endCxn id="6" idx="1"/>
          </p:cNvCxnSpPr>
          <p:nvPr>
            <p:custDataLst>
              <p:tags r:id="rId7"/>
            </p:custDataLst>
          </p:nvPr>
        </p:nvCxnSpPr>
        <p:spPr>
          <a:xfrm rot="16200000" flipH="1">
            <a:off x="2381250" y="2114550"/>
            <a:ext cx="2171700" cy="4038600"/>
          </a:xfrm>
          <a:prstGeom prst="curvedConnector2">
            <a:avLst/>
          </a:prstGeom>
          <a:ln>
            <a:tailEnd type="arrow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2" name="Curved Connector 11"/>
          <p:cNvCxnSpPr>
            <a:stCxn id="20" idx="3"/>
            <a:endCxn id="6" idx="0"/>
          </p:cNvCxnSpPr>
          <p:nvPr>
            <p:custDataLst>
              <p:tags r:id="rId8"/>
            </p:custDataLst>
          </p:nvPr>
        </p:nvCxnSpPr>
        <p:spPr>
          <a:xfrm>
            <a:off x="5295900" y="3848100"/>
            <a:ext cx="1905000" cy="800100"/>
          </a:xfrm>
          <a:prstGeom prst="curvedConnector2">
            <a:avLst/>
          </a:prstGeom>
          <a:ln>
            <a:tailEnd type="arrow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>
            <p:custDataLst>
              <p:tags r:id="rId9"/>
            </p:custDataLst>
          </p:nvPr>
        </p:nvSpPr>
        <p:spPr>
          <a:xfrm>
            <a:off x="2857500" y="3276600"/>
            <a:ext cx="2438400" cy="114300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err="1" smtClean="0">
                <a:latin typeface="Calibri" pitchFamily="34" charset="0"/>
                <a:cs typeface="Calibri" pitchFamily="34" charset="0"/>
              </a:rPr>
              <a:t>LoadConst</a:t>
            </a:r>
            <a:endParaRPr lang="en-US" sz="3600" dirty="0" smtClean="0">
              <a:latin typeface="Calibri" pitchFamily="34" charset="0"/>
              <a:cs typeface="Calibri" pitchFamily="34" charset="0"/>
            </a:endParaRPr>
          </a:p>
          <a:p>
            <a:pPr algn="ctr"/>
            <a:r>
              <a:rPr lang="en-US" sz="3600" dirty="0" err="1" smtClean="0">
                <a:solidFill>
                  <a:schemeClr val="accent2"/>
                </a:solidFill>
                <a:latin typeface="Calibri" pitchFamily="34" charset="0"/>
                <a:cs typeface="Calibri" pitchFamily="34" charset="0"/>
              </a:rPr>
              <a:t>cafecafe</a:t>
            </a:r>
            <a:endParaRPr lang="en-US" sz="3600" dirty="0" smtClean="0">
              <a:solidFill>
                <a:schemeClr val="accent2"/>
              </a:solidFill>
              <a:latin typeface="Calibri" pitchFamily="34" charset="0"/>
              <a:cs typeface="Calibri" pitchFamily="34" charset="0"/>
            </a:endParaRPr>
          </a:p>
        </p:txBody>
      </p:sp>
      <p:cxnSp>
        <p:nvCxnSpPr>
          <p:cNvPr id="25" name="Straight Connector 24"/>
          <p:cNvCxnSpPr/>
          <p:nvPr>
            <p:custDataLst>
              <p:tags r:id="rId10"/>
            </p:custDataLst>
          </p:nvPr>
        </p:nvCxnSpPr>
        <p:spPr>
          <a:xfrm>
            <a:off x="2743200" y="914400"/>
            <a:ext cx="0" cy="525780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>
            <p:custDataLst>
              <p:tags r:id="rId11"/>
            </p:custDataLst>
          </p:nvPr>
        </p:nvCxnSpPr>
        <p:spPr>
          <a:xfrm>
            <a:off x="5410200" y="914400"/>
            <a:ext cx="0" cy="525780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>
            <p:custDataLst>
              <p:tags r:id="rId12"/>
            </p:custDataLst>
          </p:nvPr>
        </p:nvSpPr>
        <p:spPr>
          <a:xfrm>
            <a:off x="228600" y="838200"/>
            <a:ext cx="2438400" cy="762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ctr"/>
            <a:r>
              <a:rPr lang="en-US" sz="3200" dirty="0" smtClean="0">
                <a:latin typeface="Calibri" pitchFamily="34" charset="0"/>
                <a:cs typeface="Calibri" pitchFamily="34" charset="0"/>
              </a:rPr>
              <a:t>T1</a:t>
            </a:r>
          </a:p>
        </p:txBody>
      </p:sp>
      <p:sp>
        <p:nvSpPr>
          <p:cNvPr id="30" name="TextBox 29"/>
          <p:cNvSpPr txBox="1"/>
          <p:nvPr>
            <p:custDataLst>
              <p:tags r:id="rId13"/>
            </p:custDataLst>
          </p:nvPr>
        </p:nvSpPr>
        <p:spPr>
          <a:xfrm>
            <a:off x="2819400" y="838200"/>
            <a:ext cx="2438400" cy="762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ctr"/>
            <a:r>
              <a:rPr lang="en-US" sz="3200" dirty="0" smtClean="0">
                <a:latin typeface="Calibri" pitchFamily="34" charset="0"/>
                <a:cs typeface="Calibri" pitchFamily="34" charset="0"/>
              </a:rPr>
              <a:t>T2</a:t>
            </a:r>
          </a:p>
        </p:txBody>
      </p:sp>
      <p:sp>
        <p:nvSpPr>
          <p:cNvPr id="31" name="TextBox 30"/>
          <p:cNvSpPr txBox="1"/>
          <p:nvPr>
            <p:custDataLst>
              <p:tags r:id="rId14"/>
            </p:custDataLst>
          </p:nvPr>
        </p:nvSpPr>
        <p:spPr>
          <a:xfrm>
            <a:off x="5562600" y="838200"/>
            <a:ext cx="2438400" cy="762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ctr"/>
            <a:r>
              <a:rPr lang="en-US" sz="3200" dirty="0" smtClean="0">
                <a:latin typeface="Calibri" pitchFamily="34" charset="0"/>
                <a:cs typeface="Calibri" pitchFamily="34" charset="0"/>
              </a:rPr>
              <a:t>T3</a:t>
            </a:r>
          </a:p>
        </p:txBody>
      </p:sp>
      <p:sp>
        <p:nvSpPr>
          <p:cNvPr id="32" name="TextBox 31"/>
          <p:cNvSpPr txBox="1"/>
          <p:nvPr>
            <p:custDataLst>
              <p:tags r:id="rId15"/>
            </p:custDataLst>
          </p:nvPr>
        </p:nvSpPr>
        <p:spPr>
          <a:xfrm>
            <a:off x="990600" y="4191000"/>
            <a:ext cx="1752600" cy="6858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ctr"/>
            <a:r>
              <a:rPr lang="en-US" sz="3200" dirty="0">
                <a:latin typeface="Calibri" pitchFamily="34" charset="0"/>
                <a:cs typeface="Calibri" pitchFamily="34" charset="0"/>
              </a:rPr>
              <a:t>V</a:t>
            </a:r>
            <a:r>
              <a:rPr lang="en-US" sz="3200" dirty="0" smtClean="0">
                <a:latin typeface="Calibri" pitchFamily="34" charset="0"/>
                <a:cs typeface="Calibri" pitchFamily="34" charset="0"/>
              </a:rPr>
              <a:t>alue</a:t>
            </a:r>
          </a:p>
        </p:txBody>
      </p:sp>
      <p:sp>
        <p:nvSpPr>
          <p:cNvPr id="33" name="TextBox 32"/>
          <p:cNvSpPr txBox="1"/>
          <p:nvPr>
            <p:custDataLst>
              <p:tags r:id="rId16"/>
            </p:custDataLst>
          </p:nvPr>
        </p:nvSpPr>
        <p:spPr>
          <a:xfrm>
            <a:off x="5867400" y="3276600"/>
            <a:ext cx="1752600" cy="6858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ctr"/>
            <a:r>
              <a:rPr lang="en-US" sz="3200" dirty="0" smtClean="0">
                <a:latin typeface="Calibri" pitchFamily="34" charset="0"/>
                <a:cs typeface="Calibri" pitchFamily="34" charset="0"/>
              </a:rPr>
              <a:t>Address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2"/>
            <p:custDataLst>
              <p:tags r:id="rId17"/>
            </p:custDataLst>
          </p:nvPr>
        </p:nvSpPr>
        <p:spPr/>
        <p:txBody>
          <a:bodyPr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319271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9685"/>
    </mc:Choice>
    <mc:Fallback xmlns="">
      <p:transition spd="slow" advTm="2968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20" grpId="0" animBg="1"/>
      <p:bldP spid="32" grpId="0"/>
      <p:bldP spid="33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Gadget Arrangement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6E0D5B86-D5FE-4820-860D-574C9585D181}" type="datetime1">
              <a:rPr lang="en-US" smtClean="0"/>
              <a:t>8/15/2011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32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2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13"/>
            <p:custDataLst>
              <p:tags r:id="rId6"/>
            </p:custDataLst>
          </p:nvPr>
        </p:nvSpPr>
        <p:spPr/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en-US" sz="4800" dirty="0" smtClean="0"/>
              <a:t>How can we write to memory without </a:t>
            </a:r>
            <a:r>
              <a:rPr lang="en-US" sz="4800" dirty="0" err="1" smtClean="0"/>
              <a:t>StoreMem</a:t>
            </a:r>
            <a:r>
              <a:rPr lang="en-US" sz="4800" dirty="0" smtClean="0"/>
              <a:t>?</a:t>
            </a:r>
            <a:endParaRPr lang="en-US" sz="48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1598522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322"/>
    </mc:Choice>
    <mc:Fallback xmlns="">
      <p:transition spd="slow" advTm="20322"/>
    </mc:Fallback>
  </mc:AlternateContent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Arrangement: Storing to Memory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AB22F5E7-3F8F-419B-9714-E389FF2DA21A}" type="datetime1">
              <a:rPr lang="en-US" smtClean="0"/>
              <a:t>8/15/2011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33</a:t>
            </a:fld>
            <a:endParaRPr lang="en-US"/>
          </a:p>
        </p:txBody>
      </p:sp>
      <p:sp>
        <p:nvSpPr>
          <p:cNvPr id="6" name="Rounded Rectangle 5"/>
          <p:cNvSpPr/>
          <p:nvPr>
            <p:custDataLst>
              <p:tags r:id="rId5"/>
            </p:custDataLst>
          </p:nvPr>
        </p:nvSpPr>
        <p:spPr>
          <a:xfrm>
            <a:off x="5486400" y="4648200"/>
            <a:ext cx="3429000" cy="114300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err="1" smtClean="0">
                <a:latin typeface="Calibri" pitchFamily="34" charset="0"/>
                <a:cs typeface="Calibri" pitchFamily="34" charset="0"/>
              </a:rPr>
              <a:t>ArithmeticStore</a:t>
            </a:r>
            <a:r>
              <a:rPr lang="en-US" sz="3600" dirty="0" smtClean="0">
                <a:latin typeface="Calibri" pitchFamily="34" charset="0"/>
                <a:cs typeface="Calibri" pitchFamily="34" charset="0"/>
              </a:rPr>
              <a:t>, u32, </a:t>
            </a:r>
            <a:r>
              <a:rPr lang="en-US" sz="3600" dirty="0" smtClean="0">
                <a:solidFill>
                  <a:schemeClr val="accent2"/>
                </a:solidFill>
                <a:latin typeface="Calibri" pitchFamily="34" charset="0"/>
                <a:cs typeface="Calibri" pitchFamily="34" charset="0"/>
              </a:rPr>
              <a:t>Bitwise And</a:t>
            </a:r>
          </a:p>
        </p:txBody>
      </p:sp>
      <p:sp>
        <p:nvSpPr>
          <p:cNvPr id="8" name="Rounded Rectangle 7"/>
          <p:cNvSpPr/>
          <p:nvPr>
            <p:custDataLst>
              <p:tags r:id="rId6"/>
            </p:custDataLst>
          </p:nvPr>
        </p:nvSpPr>
        <p:spPr>
          <a:xfrm>
            <a:off x="228600" y="1905000"/>
            <a:ext cx="2438400" cy="114300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err="1" smtClean="0">
                <a:latin typeface="Calibri" pitchFamily="34" charset="0"/>
                <a:cs typeface="Calibri" pitchFamily="34" charset="0"/>
              </a:rPr>
              <a:t>LoadConst</a:t>
            </a:r>
            <a:endParaRPr lang="en-US" sz="3600" dirty="0" smtClean="0">
              <a:latin typeface="Calibri" pitchFamily="34" charset="0"/>
              <a:cs typeface="Calibri" pitchFamily="34" charset="0"/>
            </a:endParaRPr>
          </a:p>
          <a:p>
            <a:pPr algn="ctr"/>
            <a:r>
              <a:rPr lang="en-US" sz="3600" dirty="0" smtClean="0">
                <a:solidFill>
                  <a:schemeClr val="accent2"/>
                </a:solidFill>
                <a:latin typeface="Calibri" pitchFamily="34" charset="0"/>
                <a:cs typeface="Calibri" pitchFamily="34" charset="0"/>
              </a:rPr>
              <a:t>0</a:t>
            </a:r>
          </a:p>
        </p:txBody>
      </p:sp>
      <p:cxnSp>
        <p:nvCxnSpPr>
          <p:cNvPr id="10" name="Curved Connector 9"/>
          <p:cNvCxnSpPr>
            <a:stCxn id="8" idx="2"/>
            <a:endCxn id="6" idx="1"/>
          </p:cNvCxnSpPr>
          <p:nvPr>
            <p:custDataLst>
              <p:tags r:id="rId7"/>
            </p:custDataLst>
          </p:nvPr>
        </p:nvCxnSpPr>
        <p:spPr>
          <a:xfrm rot="16200000" flipH="1">
            <a:off x="2381250" y="2114550"/>
            <a:ext cx="2171700" cy="4038600"/>
          </a:xfrm>
          <a:prstGeom prst="curvedConnector2">
            <a:avLst/>
          </a:prstGeom>
          <a:ln>
            <a:tailEnd type="arrow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2" name="Curved Connector 11"/>
          <p:cNvCxnSpPr>
            <a:stCxn id="20" idx="3"/>
            <a:endCxn id="6" idx="0"/>
          </p:cNvCxnSpPr>
          <p:nvPr>
            <p:custDataLst>
              <p:tags r:id="rId8"/>
            </p:custDataLst>
          </p:nvPr>
        </p:nvCxnSpPr>
        <p:spPr>
          <a:xfrm>
            <a:off x="5295900" y="3848100"/>
            <a:ext cx="1905000" cy="800100"/>
          </a:xfrm>
          <a:prstGeom prst="curvedConnector2">
            <a:avLst/>
          </a:prstGeom>
          <a:ln>
            <a:tailEnd type="arrow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>
            <p:custDataLst>
              <p:tags r:id="rId9"/>
            </p:custDataLst>
          </p:nvPr>
        </p:nvSpPr>
        <p:spPr>
          <a:xfrm>
            <a:off x="2857500" y="3276600"/>
            <a:ext cx="2438400" cy="114300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err="1" smtClean="0">
                <a:latin typeface="Calibri" pitchFamily="34" charset="0"/>
                <a:cs typeface="Calibri" pitchFamily="34" charset="0"/>
              </a:rPr>
              <a:t>LoadConst</a:t>
            </a:r>
            <a:endParaRPr lang="en-US" sz="3600" dirty="0" smtClean="0">
              <a:latin typeface="Calibri" pitchFamily="34" charset="0"/>
              <a:cs typeface="Calibri" pitchFamily="34" charset="0"/>
            </a:endParaRPr>
          </a:p>
          <a:p>
            <a:pPr algn="ctr"/>
            <a:r>
              <a:rPr lang="en-US" sz="3600" dirty="0" err="1" smtClean="0">
                <a:solidFill>
                  <a:schemeClr val="accent2"/>
                </a:solidFill>
                <a:latin typeface="Calibri" pitchFamily="34" charset="0"/>
                <a:cs typeface="Calibri" pitchFamily="34" charset="0"/>
              </a:rPr>
              <a:t>cafecafe</a:t>
            </a:r>
            <a:endParaRPr lang="en-US" sz="3600" dirty="0" smtClean="0">
              <a:solidFill>
                <a:schemeClr val="accent2"/>
              </a:solidFill>
              <a:latin typeface="Calibri" pitchFamily="34" charset="0"/>
              <a:cs typeface="Calibri" pitchFamily="34" charset="0"/>
            </a:endParaRPr>
          </a:p>
        </p:txBody>
      </p:sp>
      <p:cxnSp>
        <p:nvCxnSpPr>
          <p:cNvPr id="25" name="Straight Connector 24"/>
          <p:cNvCxnSpPr/>
          <p:nvPr>
            <p:custDataLst>
              <p:tags r:id="rId10"/>
            </p:custDataLst>
          </p:nvPr>
        </p:nvCxnSpPr>
        <p:spPr>
          <a:xfrm>
            <a:off x="2743200" y="914400"/>
            <a:ext cx="0" cy="525780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>
            <p:custDataLst>
              <p:tags r:id="rId11"/>
            </p:custDataLst>
          </p:nvPr>
        </p:nvCxnSpPr>
        <p:spPr>
          <a:xfrm>
            <a:off x="5410200" y="914400"/>
            <a:ext cx="0" cy="525780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>
            <p:custDataLst>
              <p:tags r:id="rId12"/>
            </p:custDataLst>
          </p:nvPr>
        </p:nvSpPr>
        <p:spPr>
          <a:xfrm>
            <a:off x="228600" y="838200"/>
            <a:ext cx="2438400" cy="762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ctr"/>
            <a:r>
              <a:rPr lang="en-US" sz="3200" dirty="0" smtClean="0">
                <a:latin typeface="Calibri" pitchFamily="34" charset="0"/>
                <a:cs typeface="Calibri" pitchFamily="34" charset="0"/>
              </a:rPr>
              <a:t>T1</a:t>
            </a:r>
          </a:p>
        </p:txBody>
      </p:sp>
      <p:sp>
        <p:nvSpPr>
          <p:cNvPr id="30" name="TextBox 29"/>
          <p:cNvSpPr txBox="1"/>
          <p:nvPr>
            <p:custDataLst>
              <p:tags r:id="rId13"/>
            </p:custDataLst>
          </p:nvPr>
        </p:nvSpPr>
        <p:spPr>
          <a:xfrm>
            <a:off x="2819400" y="838200"/>
            <a:ext cx="2438400" cy="762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ctr"/>
            <a:r>
              <a:rPr lang="en-US" sz="3200" dirty="0" smtClean="0">
                <a:latin typeface="Calibri" pitchFamily="34" charset="0"/>
                <a:cs typeface="Calibri" pitchFamily="34" charset="0"/>
              </a:rPr>
              <a:t>T2</a:t>
            </a:r>
          </a:p>
        </p:txBody>
      </p:sp>
      <p:sp>
        <p:nvSpPr>
          <p:cNvPr id="31" name="TextBox 30"/>
          <p:cNvSpPr txBox="1"/>
          <p:nvPr>
            <p:custDataLst>
              <p:tags r:id="rId14"/>
            </p:custDataLst>
          </p:nvPr>
        </p:nvSpPr>
        <p:spPr>
          <a:xfrm>
            <a:off x="5562600" y="838200"/>
            <a:ext cx="2438400" cy="762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ctr"/>
            <a:r>
              <a:rPr lang="en-US" sz="3200" dirty="0" smtClean="0">
                <a:latin typeface="Calibri" pitchFamily="34" charset="0"/>
                <a:cs typeface="Calibri" pitchFamily="34" charset="0"/>
              </a:rPr>
              <a:t>T3</a:t>
            </a:r>
          </a:p>
        </p:txBody>
      </p:sp>
      <p:sp>
        <p:nvSpPr>
          <p:cNvPr id="32" name="TextBox 31"/>
          <p:cNvSpPr txBox="1"/>
          <p:nvPr>
            <p:custDataLst>
              <p:tags r:id="rId15"/>
            </p:custDataLst>
          </p:nvPr>
        </p:nvSpPr>
        <p:spPr>
          <a:xfrm>
            <a:off x="990600" y="4191000"/>
            <a:ext cx="1752600" cy="6858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ctr"/>
            <a:r>
              <a:rPr lang="en-US" sz="3200" dirty="0">
                <a:latin typeface="Calibri" pitchFamily="34" charset="0"/>
                <a:cs typeface="Calibri" pitchFamily="34" charset="0"/>
              </a:rPr>
              <a:t>V</a:t>
            </a:r>
            <a:r>
              <a:rPr lang="en-US" sz="3200" dirty="0" smtClean="0">
                <a:latin typeface="Calibri" pitchFamily="34" charset="0"/>
                <a:cs typeface="Calibri" pitchFamily="34" charset="0"/>
              </a:rPr>
              <a:t>alue</a:t>
            </a:r>
          </a:p>
        </p:txBody>
      </p:sp>
      <p:sp>
        <p:nvSpPr>
          <p:cNvPr id="33" name="TextBox 32"/>
          <p:cNvSpPr txBox="1"/>
          <p:nvPr>
            <p:custDataLst>
              <p:tags r:id="rId16"/>
            </p:custDataLst>
          </p:nvPr>
        </p:nvSpPr>
        <p:spPr>
          <a:xfrm>
            <a:off x="5867400" y="3276600"/>
            <a:ext cx="1752600" cy="6858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ctr"/>
            <a:r>
              <a:rPr lang="en-US" sz="3200" dirty="0" smtClean="0">
                <a:latin typeface="Calibri" pitchFamily="34" charset="0"/>
                <a:cs typeface="Calibri" pitchFamily="34" charset="0"/>
              </a:rPr>
              <a:t>Address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2"/>
            <p:custDataLst>
              <p:tags r:id="rId17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Rounded Rectangular Callout 8"/>
          <p:cNvSpPr/>
          <p:nvPr>
            <p:custDataLst>
              <p:tags r:id="rId18"/>
            </p:custDataLst>
          </p:nvPr>
        </p:nvSpPr>
        <p:spPr>
          <a:xfrm>
            <a:off x="5562600" y="1447800"/>
            <a:ext cx="3429000" cy="1676400"/>
          </a:xfrm>
          <a:prstGeom prst="wedgeRoundRectCallout">
            <a:avLst>
              <a:gd name="adj1" fmla="val 4881"/>
              <a:gd name="adj2" fmla="val 129383"/>
              <a:gd name="adj3" fmla="val 16667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Writes zero to M[</a:t>
            </a:r>
            <a:r>
              <a:rPr lang="en-US" sz="3600" dirty="0" err="1" smtClean="0">
                <a:latin typeface="Calibri" pitchFamily="34" charset="0"/>
                <a:cs typeface="Calibri" pitchFamily="34" charset="0"/>
              </a:rPr>
              <a:t>cafecafe</a:t>
            </a:r>
            <a:r>
              <a:rPr lang="en-US" sz="3600" dirty="0" smtClean="0">
                <a:latin typeface="Calibri" pitchFamily="34" charset="0"/>
                <a:cs typeface="Calibri" pitchFamily="34" charset="0"/>
              </a:rPr>
              <a:t>]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871907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4341"/>
    </mc:Choice>
    <mc:Fallback xmlns="">
      <p:transition spd="slow" advTm="2434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Arrangement: Storing to Memory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AB22F5E7-3F8F-419B-9714-E389FF2DA21A}" type="datetime1">
              <a:rPr lang="en-US" smtClean="0"/>
              <a:t>8/15/2011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34</a:t>
            </a:fld>
            <a:endParaRPr lang="en-US"/>
          </a:p>
        </p:txBody>
      </p:sp>
      <p:sp>
        <p:nvSpPr>
          <p:cNvPr id="6" name="Rounded Rectangle 5"/>
          <p:cNvSpPr/>
          <p:nvPr>
            <p:custDataLst>
              <p:tags r:id="rId5"/>
            </p:custDataLst>
          </p:nvPr>
        </p:nvSpPr>
        <p:spPr>
          <a:xfrm>
            <a:off x="5486400" y="4648200"/>
            <a:ext cx="3429000" cy="114300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err="1" smtClean="0">
                <a:latin typeface="Calibri" pitchFamily="34" charset="0"/>
                <a:cs typeface="Calibri" pitchFamily="34" charset="0"/>
              </a:rPr>
              <a:t>ArithmeticStore</a:t>
            </a:r>
            <a:r>
              <a:rPr lang="en-US" sz="3600" dirty="0" smtClean="0">
                <a:latin typeface="Calibri" pitchFamily="34" charset="0"/>
                <a:cs typeface="Calibri" pitchFamily="34" charset="0"/>
              </a:rPr>
              <a:t>, u32, </a:t>
            </a:r>
            <a:r>
              <a:rPr lang="en-US" sz="3600" dirty="0" smtClean="0">
                <a:solidFill>
                  <a:schemeClr val="accent2"/>
                </a:solidFill>
                <a:latin typeface="Calibri" pitchFamily="34" charset="0"/>
                <a:cs typeface="Calibri" pitchFamily="34" charset="0"/>
              </a:rPr>
              <a:t>Plus</a:t>
            </a:r>
          </a:p>
        </p:txBody>
      </p:sp>
      <p:sp>
        <p:nvSpPr>
          <p:cNvPr id="8" name="Rounded Rectangle 7"/>
          <p:cNvSpPr/>
          <p:nvPr>
            <p:custDataLst>
              <p:tags r:id="rId6"/>
            </p:custDataLst>
          </p:nvPr>
        </p:nvSpPr>
        <p:spPr>
          <a:xfrm>
            <a:off x="228600" y="1905000"/>
            <a:ext cx="2438400" cy="114300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err="1" smtClean="0">
                <a:latin typeface="Calibri" pitchFamily="34" charset="0"/>
                <a:cs typeface="Calibri" pitchFamily="34" charset="0"/>
              </a:rPr>
              <a:t>LoadConst</a:t>
            </a:r>
            <a:endParaRPr lang="en-US" sz="3600" dirty="0" smtClean="0">
              <a:latin typeface="Calibri" pitchFamily="34" charset="0"/>
              <a:cs typeface="Calibri" pitchFamily="34" charset="0"/>
            </a:endParaRPr>
          </a:p>
          <a:p>
            <a:pPr algn="ctr"/>
            <a:r>
              <a:rPr lang="en-US" sz="3600" dirty="0" err="1" smtClean="0">
                <a:solidFill>
                  <a:schemeClr val="accent2"/>
                </a:solidFill>
                <a:latin typeface="Calibri" pitchFamily="34" charset="0"/>
                <a:cs typeface="Calibri" pitchFamily="34" charset="0"/>
              </a:rPr>
              <a:t>deadbeef</a:t>
            </a:r>
            <a:endParaRPr lang="en-US" sz="3600" dirty="0" smtClean="0">
              <a:solidFill>
                <a:schemeClr val="accent2"/>
              </a:solidFill>
              <a:latin typeface="Calibri" pitchFamily="34" charset="0"/>
              <a:cs typeface="Calibri" pitchFamily="34" charset="0"/>
            </a:endParaRPr>
          </a:p>
        </p:txBody>
      </p:sp>
      <p:cxnSp>
        <p:nvCxnSpPr>
          <p:cNvPr id="10" name="Curved Connector 9"/>
          <p:cNvCxnSpPr>
            <a:stCxn id="8" idx="2"/>
            <a:endCxn id="6" idx="1"/>
          </p:cNvCxnSpPr>
          <p:nvPr>
            <p:custDataLst>
              <p:tags r:id="rId7"/>
            </p:custDataLst>
          </p:nvPr>
        </p:nvCxnSpPr>
        <p:spPr>
          <a:xfrm rot="16200000" flipH="1">
            <a:off x="2381250" y="2114550"/>
            <a:ext cx="2171700" cy="4038600"/>
          </a:xfrm>
          <a:prstGeom prst="curvedConnector2">
            <a:avLst/>
          </a:prstGeom>
          <a:ln>
            <a:tailEnd type="arrow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2" name="Curved Connector 11"/>
          <p:cNvCxnSpPr>
            <a:stCxn id="20" idx="3"/>
            <a:endCxn id="6" idx="0"/>
          </p:cNvCxnSpPr>
          <p:nvPr>
            <p:custDataLst>
              <p:tags r:id="rId8"/>
            </p:custDataLst>
          </p:nvPr>
        </p:nvCxnSpPr>
        <p:spPr>
          <a:xfrm>
            <a:off x="5295900" y="3848100"/>
            <a:ext cx="1905000" cy="800100"/>
          </a:xfrm>
          <a:prstGeom prst="curvedConnector2">
            <a:avLst/>
          </a:prstGeom>
          <a:ln>
            <a:tailEnd type="arrow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>
            <p:custDataLst>
              <p:tags r:id="rId9"/>
            </p:custDataLst>
          </p:nvPr>
        </p:nvSpPr>
        <p:spPr>
          <a:xfrm>
            <a:off x="2857500" y="3276600"/>
            <a:ext cx="2438400" cy="114300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err="1" smtClean="0">
                <a:latin typeface="Calibri" pitchFamily="34" charset="0"/>
                <a:cs typeface="Calibri" pitchFamily="34" charset="0"/>
              </a:rPr>
              <a:t>LoadConst</a:t>
            </a:r>
            <a:endParaRPr lang="en-US" sz="3600" dirty="0" smtClean="0">
              <a:latin typeface="Calibri" pitchFamily="34" charset="0"/>
              <a:cs typeface="Calibri" pitchFamily="34" charset="0"/>
            </a:endParaRPr>
          </a:p>
          <a:p>
            <a:pPr algn="ctr"/>
            <a:r>
              <a:rPr lang="en-US" sz="3600" dirty="0" err="1" smtClean="0">
                <a:solidFill>
                  <a:schemeClr val="accent2"/>
                </a:solidFill>
                <a:latin typeface="Calibri" pitchFamily="34" charset="0"/>
                <a:cs typeface="Calibri" pitchFamily="34" charset="0"/>
              </a:rPr>
              <a:t>cafecafe</a:t>
            </a:r>
            <a:endParaRPr lang="en-US" sz="3600" dirty="0" smtClean="0">
              <a:solidFill>
                <a:schemeClr val="accent2"/>
              </a:solidFill>
              <a:latin typeface="Calibri" pitchFamily="34" charset="0"/>
              <a:cs typeface="Calibri" pitchFamily="34" charset="0"/>
            </a:endParaRPr>
          </a:p>
        </p:txBody>
      </p:sp>
      <p:cxnSp>
        <p:nvCxnSpPr>
          <p:cNvPr id="25" name="Straight Connector 24"/>
          <p:cNvCxnSpPr/>
          <p:nvPr>
            <p:custDataLst>
              <p:tags r:id="rId10"/>
            </p:custDataLst>
          </p:nvPr>
        </p:nvCxnSpPr>
        <p:spPr>
          <a:xfrm>
            <a:off x="2743200" y="914400"/>
            <a:ext cx="0" cy="525780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>
            <p:custDataLst>
              <p:tags r:id="rId11"/>
            </p:custDataLst>
          </p:nvPr>
        </p:nvCxnSpPr>
        <p:spPr>
          <a:xfrm>
            <a:off x="5410200" y="914400"/>
            <a:ext cx="0" cy="525780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>
            <p:custDataLst>
              <p:tags r:id="rId12"/>
            </p:custDataLst>
          </p:nvPr>
        </p:nvSpPr>
        <p:spPr>
          <a:xfrm>
            <a:off x="228600" y="838200"/>
            <a:ext cx="2438400" cy="762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ctr"/>
            <a:r>
              <a:rPr lang="en-US" sz="3200" dirty="0" smtClean="0">
                <a:latin typeface="Calibri" pitchFamily="34" charset="0"/>
                <a:cs typeface="Calibri" pitchFamily="34" charset="0"/>
              </a:rPr>
              <a:t>T1</a:t>
            </a:r>
          </a:p>
        </p:txBody>
      </p:sp>
      <p:sp>
        <p:nvSpPr>
          <p:cNvPr id="30" name="TextBox 29"/>
          <p:cNvSpPr txBox="1"/>
          <p:nvPr>
            <p:custDataLst>
              <p:tags r:id="rId13"/>
            </p:custDataLst>
          </p:nvPr>
        </p:nvSpPr>
        <p:spPr>
          <a:xfrm>
            <a:off x="2819400" y="838200"/>
            <a:ext cx="2438400" cy="762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ctr"/>
            <a:r>
              <a:rPr lang="en-US" sz="3200" dirty="0" smtClean="0">
                <a:latin typeface="Calibri" pitchFamily="34" charset="0"/>
                <a:cs typeface="Calibri" pitchFamily="34" charset="0"/>
              </a:rPr>
              <a:t>T2</a:t>
            </a:r>
          </a:p>
        </p:txBody>
      </p:sp>
      <p:sp>
        <p:nvSpPr>
          <p:cNvPr id="31" name="TextBox 30"/>
          <p:cNvSpPr txBox="1"/>
          <p:nvPr>
            <p:custDataLst>
              <p:tags r:id="rId14"/>
            </p:custDataLst>
          </p:nvPr>
        </p:nvSpPr>
        <p:spPr>
          <a:xfrm>
            <a:off x="5562600" y="838200"/>
            <a:ext cx="2438400" cy="762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ctr"/>
            <a:r>
              <a:rPr lang="en-US" sz="3200" dirty="0" smtClean="0">
                <a:latin typeface="Calibri" pitchFamily="34" charset="0"/>
                <a:cs typeface="Calibri" pitchFamily="34" charset="0"/>
              </a:rPr>
              <a:t>T3</a:t>
            </a:r>
          </a:p>
        </p:txBody>
      </p:sp>
      <p:sp>
        <p:nvSpPr>
          <p:cNvPr id="32" name="TextBox 31"/>
          <p:cNvSpPr txBox="1"/>
          <p:nvPr>
            <p:custDataLst>
              <p:tags r:id="rId15"/>
            </p:custDataLst>
          </p:nvPr>
        </p:nvSpPr>
        <p:spPr>
          <a:xfrm>
            <a:off x="990600" y="4191000"/>
            <a:ext cx="1752600" cy="6858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ctr"/>
            <a:r>
              <a:rPr lang="en-US" sz="3200" dirty="0">
                <a:latin typeface="Calibri" pitchFamily="34" charset="0"/>
                <a:cs typeface="Calibri" pitchFamily="34" charset="0"/>
              </a:rPr>
              <a:t>V</a:t>
            </a:r>
            <a:r>
              <a:rPr lang="en-US" sz="3200" dirty="0" smtClean="0">
                <a:latin typeface="Calibri" pitchFamily="34" charset="0"/>
                <a:cs typeface="Calibri" pitchFamily="34" charset="0"/>
              </a:rPr>
              <a:t>alue</a:t>
            </a:r>
          </a:p>
        </p:txBody>
      </p:sp>
      <p:sp>
        <p:nvSpPr>
          <p:cNvPr id="33" name="TextBox 32"/>
          <p:cNvSpPr txBox="1"/>
          <p:nvPr>
            <p:custDataLst>
              <p:tags r:id="rId16"/>
            </p:custDataLst>
          </p:nvPr>
        </p:nvSpPr>
        <p:spPr>
          <a:xfrm>
            <a:off x="5867400" y="3276600"/>
            <a:ext cx="1752600" cy="6858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ctr"/>
            <a:r>
              <a:rPr lang="en-US" sz="3200" dirty="0" smtClean="0">
                <a:latin typeface="Calibri" pitchFamily="34" charset="0"/>
                <a:cs typeface="Calibri" pitchFamily="34" charset="0"/>
              </a:rPr>
              <a:t>Address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2"/>
            <p:custDataLst>
              <p:tags r:id="rId17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Rounded Rectangular Callout 8"/>
          <p:cNvSpPr/>
          <p:nvPr>
            <p:custDataLst>
              <p:tags r:id="rId18"/>
            </p:custDataLst>
          </p:nvPr>
        </p:nvSpPr>
        <p:spPr>
          <a:xfrm>
            <a:off x="3810000" y="1447800"/>
            <a:ext cx="5105400" cy="2286000"/>
          </a:xfrm>
          <a:prstGeom prst="wedgeRoundRectCallout">
            <a:avLst>
              <a:gd name="adj1" fmla="val 29401"/>
              <a:gd name="adj2" fmla="val 84145"/>
              <a:gd name="adj3" fmla="val 16667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Adds </a:t>
            </a:r>
            <a:r>
              <a:rPr lang="en-US" sz="3600" dirty="0" err="1" smtClean="0">
                <a:latin typeface="Calibri" pitchFamily="34" charset="0"/>
                <a:cs typeface="Calibri" pitchFamily="34" charset="0"/>
              </a:rPr>
              <a:t>deadbeef</a:t>
            </a:r>
            <a:r>
              <a:rPr lang="en-US" sz="3600" dirty="0" smtClean="0">
                <a:latin typeface="Calibri" pitchFamily="34" charset="0"/>
                <a:cs typeface="Calibri" pitchFamily="34" charset="0"/>
              </a:rPr>
              <a:t> to M[</a:t>
            </a:r>
            <a:r>
              <a:rPr lang="en-US" sz="3600" dirty="0" err="1" smtClean="0">
                <a:latin typeface="Calibri" pitchFamily="34" charset="0"/>
                <a:cs typeface="Calibri" pitchFamily="34" charset="0"/>
              </a:rPr>
              <a:t>cafecafe</a:t>
            </a:r>
            <a:r>
              <a:rPr lang="en-US" sz="3600" dirty="0" smtClean="0">
                <a:latin typeface="Calibri" pitchFamily="34" charset="0"/>
                <a:cs typeface="Calibri" pitchFamily="34" charset="0"/>
              </a:rPr>
              <a:t>].</a:t>
            </a:r>
          </a:p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0 + </a:t>
            </a:r>
            <a:r>
              <a:rPr lang="en-US" sz="3600" dirty="0" err="1" smtClean="0">
                <a:latin typeface="Calibri" pitchFamily="34" charset="0"/>
                <a:cs typeface="Calibri" pitchFamily="34" charset="0"/>
              </a:rPr>
              <a:t>deadbeef</a:t>
            </a:r>
            <a:r>
              <a:rPr lang="en-US" sz="3600" dirty="0" smtClean="0">
                <a:latin typeface="Calibri" pitchFamily="34" charset="0"/>
                <a:cs typeface="Calibri" pitchFamily="34" charset="0"/>
              </a:rPr>
              <a:t> =</a:t>
            </a:r>
          </a:p>
          <a:p>
            <a:pPr algn="ctr"/>
            <a:r>
              <a:rPr lang="en-US" sz="3600" dirty="0" err="1" smtClean="0">
                <a:latin typeface="Calibri" pitchFamily="34" charset="0"/>
                <a:cs typeface="Calibri" pitchFamily="34" charset="0"/>
              </a:rPr>
              <a:t>deadbeef</a:t>
            </a:r>
            <a:endParaRPr lang="en-US" sz="3600" dirty="0" smtClean="0">
              <a:latin typeface="Calibri" pitchFamily="34" charset="0"/>
              <a:cs typeface="Calibri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009843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7169"/>
    </mc:Choice>
    <mc:Fallback xmlns="">
      <p:transition spd="slow" advTm="17169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Gadget Arrangement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6E0D5B86-D5FE-4820-860D-574C9585D181}" type="datetime1">
              <a:rPr lang="en-US" smtClean="0"/>
              <a:t>8/15/2011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35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2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13"/>
            <p:custDataLst>
              <p:tags r:id="rId6"/>
            </p:custDataLst>
          </p:nvPr>
        </p:nvSpPr>
        <p:spPr/>
        <p:txBody>
          <a:bodyPr>
            <a:normAutofit/>
          </a:bodyPr>
          <a:lstStyle/>
          <a:p>
            <a:r>
              <a:rPr lang="en-US" sz="4400" dirty="0" smtClean="0"/>
              <a:t>Gadgets types are often unavailable</a:t>
            </a:r>
          </a:p>
          <a:p>
            <a:pPr lvl="1"/>
            <a:r>
              <a:rPr lang="en-US" sz="3600" dirty="0" smtClean="0"/>
              <a:t>Synthesize alternatives on the fly</a:t>
            </a:r>
            <a:endParaRPr lang="en-US" sz="3600" dirty="0"/>
          </a:p>
          <a:p>
            <a:endParaRPr lang="en-US" sz="4400" dirty="0" smtClean="0"/>
          </a:p>
          <a:p>
            <a:r>
              <a:rPr lang="en-US" sz="4400" dirty="0" smtClean="0"/>
              <a:t>Flexible arrangement rules are necessary for small code bases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924894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5642"/>
    </mc:Choice>
    <mc:Fallback xmlns="">
      <p:transition spd="slow" advTm="35642"/>
    </mc:Fallback>
  </mc:AlternateContent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ROP Overview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27599056-CC75-4476-9349-EEC3FF9660FD}" type="datetime1">
              <a:rPr lang="en-US" smtClean="0"/>
              <a:t>8/15/2011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36</a:t>
            </a:fld>
            <a:endParaRPr lang="en-US"/>
          </a:p>
        </p:txBody>
      </p:sp>
      <p:sp>
        <p:nvSpPr>
          <p:cNvPr id="7" name="Rectangle 6"/>
          <p:cNvSpPr/>
          <p:nvPr>
            <p:custDataLst>
              <p:tags r:id="rId5"/>
            </p:custDataLst>
          </p:nvPr>
        </p:nvSpPr>
        <p:spPr>
          <a:xfrm>
            <a:off x="228600" y="1143000"/>
            <a:ext cx="2667000" cy="137160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Source P</a:t>
            </a:r>
          </a:p>
        </p:txBody>
      </p:sp>
      <p:sp>
        <p:nvSpPr>
          <p:cNvPr id="8" name="Rectangle 7"/>
          <p:cNvSpPr/>
          <p:nvPr>
            <p:custDataLst>
              <p:tags r:id="rId6"/>
            </p:custDataLst>
          </p:nvPr>
        </p:nvSpPr>
        <p:spPr>
          <a:xfrm>
            <a:off x="228600" y="4419600"/>
            <a:ext cx="2667000" cy="137160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Computation</a:t>
            </a:r>
          </a:p>
        </p:txBody>
      </p:sp>
      <p:sp>
        <p:nvSpPr>
          <p:cNvPr id="15" name="Rectangle 14"/>
          <p:cNvSpPr/>
          <p:nvPr>
            <p:custDataLst>
              <p:tags r:id="rId7"/>
            </p:custDataLst>
          </p:nvPr>
        </p:nvSpPr>
        <p:spPr>
          <a:xfrm>
            <a:off x="3429000" y="4419600"/>
            <a:ext cx="2819400" cy="1371600"/>
          </a:xfrm>
          <a:prstGeom prst="rect">
            <a:avLst/>
          </a:prstGeom>
          <a:gradFill>
            <a:gsLst>
              <a:gs pos="0">
                <a:schemeClr val="accent6">
                  <a:tint val="92000"/>
                  <a:satMod val="170000"/>
                </a:schemeClr>
              </a:gs>
              <a:gs pos="15000">
                <a:schemeClr val="accent6">
                  <a:tint val="92000"/>
                  <a:shade val="99000"/>
                  <a:satMod val="170000"/>
                </a:schemeClr>
              </a:gs>
              <a:gs pos="62000">
                <a:schemeClr val="accent6">
                  <a:tint val="96000"/>
                  <a:shade val="80000"/>
                  <a:satMod val="170000"/>
                </a:schemeClr>
              </a:gs>
              <a:gs pos="97000">
                <a:schemeClr val="accent6">
                  <a:tint val="98000"/>
                  <a:shade val="63000"/>
                  <a:satMod val="170000"/>
                </a:schemeClr>
              </a:gs>
              <a:gs pos="100000">
                <a:schemeClr val="accent6">
                  <a:shade val="62000"/>
                  <a:satMod val="170000"/>
                </a:schemeClr>
              </a:gs>
            </a:gsLst>
          </a:gra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Arrangement</a:t>
            </a:r>
          </a:p>
        </p:txBody>
      </p:sp>
      <p:sp>
        <p:nvSpPr>
          <p:cNvPr id="16" name="Rectangle 15"/>
          <p:cNvSpPr/>
          <p:nvPr>
            <p:custDataLst>
              <p:tags r:id="rId8"/>
            </p:custDataLst>
          </p:nvPr>
        </p:nvSpPr>
        <p:spPr>
          <a:xfrm>
            <a:off x="3429000" y="1143000"/>
            <a:ext cx="2819400" cy="1371600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Discovery</a:t>
            </a:r>
          </a:p>
        </p:txBody>
      </p:sp>
      <p:sp>
        <p:nvSpPr>
          <p:cNvPr id="17" name="Rectangle 16"/>
          <p:cNvSpPr/>
          <p:nvPr>
            <p:custDataLst>
              <p:tags r:id="rId9"/>
            </p:custDataLst>
          </p:nvPr>
        </p:nvSpPr>
        <p:spPr>
          <a:xfrm>
            <a:off x="6221186" y="2819400"/>
            <a:ext cx="2819400" cy="1371600"/>
          </a:xfrm>
          <a:prstGeom prst="rect">
            <a:avLst/>
          </a:prstGeom>
          <a:gradFill>
            <a:gsLst>
              <a:gs pos="0">
                <a:schemeClr val="accent6">
                  <a:tint val="92000"/>
                  <a:satMod val="170000"/>
                </a:schemeClr>
              </a:gs>
              <a:gs pos="15000">
                <a:schemeClr val="accent6">
                  <a:tint val="92000"/>
                  <a:shade val="99000"/>
                  <a:satMod val="170000"/>
                </a:schemeClr>
              </a:gs>
              <a:gs pos="62000">
                <a:schemeClr val="accent6">
                  <a:tint val="96000"/>
                  <a:shade val="80000"/>
                  <a:satMod val="170000"/>
                </a:schemeClr>
              </a:gs>
              <a:gs pos="97000">
                <a:schemeClr val="accent6">
                  <a:tint val="98000"/>
                  <a:shade val="63000"/>
                  <a:satMod val="170000"/>
                </a:schemeClr>
              </a:gs>
              <a:gs pos="100000">
                <a:schemeClr val="accent6">
                  <a:shade val="62000"/>
                  <a:satMod val="170000"/>
                </a:schemeClr>
              </a:gs>
            </a:gsLst>
          </a:gra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Assignment</a:t>
            </a:r>
          </a:p>
        </p:txBody>
      </p:sp>
      <p:cxnSp>
        <p:nvCxnSpPr>
          <p:cNvPr id="19" name="Straight Arrow Connector 18"/>
          <p:cNvCxnSpPr>
            <a:stCxn id="7" idx="3"/>
            <a:endCxn id="16" idx="1"/>
          </p:cNvCxnSpPr>
          <p:nvPr>
            <p:custDataLst>
              <p:tags r:id="rId10"/>
            </p:custDataLst>
          </p:nvPr>
        </p:nvCxnSpPr>
        <p:spPr>
          <a:xfrm>
            <a:off x="2895600" y="1828800"/>
            <a:ext cx="533400" cy="0"/>
          </a:xfrm>
          <a:prstGeom prst="straightConnector1">
            <a:avLst/>
          </a:prstGeom>
          <a:ln>
            <a:tailEnd type="arrow" w="lg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/>
          <p:nvPr>
            <p:custDataLst>
              <p:tags r:id="rId11"/>
            </p:custDataLst>
          </p:nvPr>
        </p:nvCxnSpPr>
        <p:spPr>
          <a:xfrm>
            <a:off x="2895600" y="5110843"/>
            <a:ext cx="533400" cy="0"/>
          </a:xfrm>
          <a:prstGeom prst="straightConnector1">
            <a:avLst/>
          </a:prstGeom>
          <a:ln>
            <a:tailEnd type="arrow" w="lg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endCxn id="17" idx="0"/>
          </p:cNvCxnSpPr>
          <p:nvPr>
            <p:custDataLst>
              <p:tags r:id="rId12"/>
            </p:custDataLst>
          </p:nvPr>
        </p:nvCxnSpPr>
        <p:spPr>
          <a:xfrm>
            <a:off x="6248400" y="1834243"/>
            <a:ext cx="1382486" cy="985157"/>
          </a:xfrm>
          <a:prstGeom prst="curvedConnector2">
            <a:avLst/>
          </a:prstGeom>
          <a:ln>
            <a:tailEnd type="arrow" w="lg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2"/>
          <p:cNvCxnSpPr>
            <a:endCxn id="17" idx="2"/>
          </p:cNvCxnSpPr>
          <p:nvPr>
            <p:custDataLst>
              <p:tags r:id="rId13"/>
            </p:custDataLst>
          </p:nvPr>
        </p:nvCxnSpPr>
        <p:spPr>
          <a:xfrm flipV="1">
            <a:off x="6248401" y="4191000"/>
            <a:ext cx="1382485" cy="919844"/>
          </a:xfrm>
          <a:prstGeom prst="curvedConnector2">
            <a:avLst/>
          </a:prstGeom>
          <a:ln>
            <a:tailEnd type="arrow" w="lg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" name="Footer Placeholder 4"/>
          <p:cNvSpPr>
            <a:spLocks noGrp="1"/>
          </p:cNvSpPr>
          <p:nvPr>
            <p:ph type="ftr" sz="quarter" idx="12"/>
            <p:custDataLst>
              <p:tags r:id="rId14"/>
            </p:custDataLst>
          </p:nvPr>
        </p:nvSpPr>
        <p:spPr/>
        <p:txBody>
          <a:bodyPr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88748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646"/>
    </mc:Choice>
    <mc:Fallback xmlns="">
      <p:transition spd="slow" advTm="5646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presetSubtype="0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rctx="PPT">
                                        <p:cTn id="6" dur="indefinite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7" dur="indefinite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mph" presetSubtype="0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rctx="PPT">
                                        <p:cTn id="9" dur="indefinite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0" dur="indefinite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mph" presetSubtype="0" grpId="0" nodeType="with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rctx="PPT">
                                        <p:cTn id="12" dur="indefinite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3" dur="indefinite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7" grpId="1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Assignment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B0D8E1B7-4507-4B69-9DCB-8A407CD914F9}" type="datetime1">
              <a:rPr lang="en-US" smtClean="0"/>
              <a:t>8/15/2011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37</a:t>
            </a:fld>
            <a:endParaRPr lang="en-US"/>
          </a:p>
        </p:txBody>
      </p:sp>
      <p:sp>
        <p:nvSpPr>
          <p:cNvPr id="5" name="Content Placeholder 4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/>
        <p:txBody>
          <a:bodyPr>
            <a:normAutofit/>
          </a:bodyPr>
          <a:lstStyle/>
          <a:p>
            <a:r>
              <a:rPr lang="en-US" sz="4000" b="1" dirty="0" smtClean="0"/>
              <a:t>Gadget Assignment:</a:t>
            </a:r>
            <a:r>
              <a:rPr lang="en-US" sz="4000" dirty="0" smtClean="0"/>
              <a:t> Assign concrete gadgets found in source program to arrangements</a:t>
            </a:r>
          </a:p>
          <a:p>
            <a:endParaRPr lang="en-US" sz="4000" dirty="0" smtClean="0"/>
          </a:p>
          <a:p>
            <a:r>
              <a:rPr lang="en-US" sz="4000" dirty="0" smtClean="0"/>
              <a:t>Assignments must be </a:t>
            </a:r>
            <a:r>
              <a:rPr lang="en-US" sz="4000" b="1" dirty="0" smtClean="0"/>
              <a:t>compatible</a:t>
            </a:r>
            <a:endParaRPr lang="en-US" sz="4000" dirty="0" smtClean="0"/>
          </a:p>
          <a:p>
            <a:pPr lvl="1"/>
            <a:endParaRPr lang="en-US" sz="360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2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918711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4446"/>
    </mc:Choice>
    <mc:Fallback xmlns="">
      <p:transition spd="slow" advTm="14446"/>
    </mc:Fallback>
  </mc:AlternateContent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Assignment: Register Mismatch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AB22F5E7-3F8F-419B-9714-E389FF2DA21A}" type="datetime1">
              <a:rPr lang="en-US" smtClean="0"/>
              <a:t>8/15/2011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38</a:t>
            </a:fld>
            <a:endParaRPr lang="en-US"/>
          </a:p>
        </p:txBody>
      </p:sp>
      <p:sp>
        <p:nvSpPr>
          <p:cNvPr id="6" name="Rounded Rectangle 5"/>
          <p:cNvSpPr/>
          <p:nvPr>
            <p:custDataLst>
              <p:tags r:id="rId5"/>
            </p:custDataLst>
          </p:nvPr>
        </p:nvSpPr>
        <p:spPr>
          <a:xfrm>
            <a:off x="5486400" y="2362200"/>
            <a:ext cx="3429000" cy="114300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err="1" smtClean="0">
                <a:latin typeface="Calibri" pitchFamily="34" charset="0"/>
                <a:cs typeface="Calibri" pitchFamily="34" charset="0"/>
              </a:rPr>
              <a:t>StoreMem</a:t>
            </a:r>
            <a:r>
              <a:rPr lang="en-US" sz="3600" dirty="0" smtClean="0">
                <a:latin typeface="Calibri" pitchFamily="34" charset="0"/>
                <a:cs typeface="Calibri" pitchFamily="34" charset="0"/>
              </a:rPr>
              <a:t>, u32</a:t>
            </a:r>
          </a:p>
        </p:txBody>
      </p:sp>
      <p:sp>
        <p:nvSpPr>
          <p:cNvPr id="8" name="Rounded Rectangle 7"/>
          <p:cNvSpPr/>
          <p:nvPr>
            <p:custDataLst>
              <p:tags r:id="rId6"/>
            </p:custDataLst>
          </p:nvPr>
        </p:nvSpPr>
        <p:spPr>
          <a:xfrm>
            <a:off x="228600" y="1371600"/>
            <a:ext cx="2438400" cy="114300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err="1" smtClean="0">
                <a:latin typeface="Calibri" pitchFamily="34" charset="0"/>
                <a:cs typeface="Calibri" pitchFamily="34" charset="0"/>
              </a:rPr>
              <a:t>LoadConst</a:t>
            </a:r>
            <a:endParaRPr lang="en-US" sz="3600" dirty="0" smtClean="0">
              <a:latin typeface="Calibri" pitchFamily="34" charset="0"/>
              <a:cs typeface="Calibri" pitchFamily="34" charset="0"/>
            </a:endParaRPr>
          </a:p>
          <a:p>
            <a:pPr algn="ctr"/>
            <a:r>
              <a:rPr lang="en-US" sz="3600" dirty="0" err="1" smtClean="0">
                <a:solidFill>
                  <a:schemeClr val="accent2"/>
                </a:solidFill>
                <a:latin typeface="Calibri" pitchFamily="34" charset="0"/>
                <a:cs typeface="Calibri" pitchFamily="34" charset="0"/>
              </a:rPr>
              <a:t>deadbeef</a:t>
            </a:r>
            <a:endParaRPr lang="en-US" sz="3600" dirty="0" smtClean="0">
              <a:solidFill>
                <a:schemeClr val="accent2"/>
              </a:solidFill>
              <a:latin typeface="Calibri" pitchFamily="34" charset="0"/>
              <a:cs typeface="Calibri" pitchFamily="34" charset="0"/>
            </a:endParaRPr>
          </a:p>
        </p:txBody>
      </p:sp>
      <p:sp>
        <p:nvSpPr>
          <p:cNvPr id="20" name="Rounded Rectangle 19"/>
          <p:cNvSpPr/>
          <p:nvPr>
            <p:custDataLst>
              <p:tags r:id="rId7"/>
            </p:custDataLst>
          </p:nvPr>
        </p:nvSpPr>
        <p:spPr>
          <a:xfrm>
            <a:off x="2857500" y="3962400"/>
            <a:ext cx="2438400" cy="1143000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err="1" smtClean="0">
                <a:latin typeface="Calibri" pitchFamily="34" charset="0"/>
                <a:cs typeface="Calibri" pitchFamily="34" charset="0"/>
              </a:rPr>
              <a:t>LoadConst</a:t>
            </a:r>
            <a:endParaRPr lang="en-US" sz="3600" dirty="0" smtClean="0">
              <a:latin typeface="Calibri" pitchFamily="34" charset="0"/>
              <a:cs typeface="Calibri" pitchFamily="34" charset="0"/>
            </a:endParaRPr>
          </a:p>
          <a:p>
            <a:pPr algn="ctr"/>
            <a:r>
              <a:rPr lang="en-US" sz="3600" dirty="0" err="1" smtClean="0">
                <a:solidFill>
                  <a:schemeClr val="accent2"/>
                </a:solidFill>
                <a:latin typeface="Calibri" pitchFamily="34" charset="0"/>
                <a:cs typeface="Calibri" pitchFamily="34" charset="0"/>
              </a:rPr>
              <a:t>cafecafe</a:t>
            </a:r>
            <a:endParaRPr lang="en-US" sz="3600" dirty="0" smtClean="0">
              <a:solidFill>
                <a:schemeClr val="accent2"/>
              </a:solidFill>
              <a:latin typeface="Calibri" pitchFamily="34" charset="0"/>
              <a:cs typeface="Calibri" pitchFamily="34" charset="0"/>
            </a:endParaRPr>
          </a:p>
        </p:txBody>
      </p:sp>
      <p:cxnSp>
        <p:nvCxnSpPr>
          <p:cNvPr id="25" name="Straight Connector 24"/>
          <p:cNvCxnSpPr/>
          <p:nvPr>
            <p:custDataLst>
              <p:tags r:id="rId8"/>
            </p:custDataLst>
          </p:nvPr>
        </p:nvCxnSpPr>
        <p:spPr>
          <a:xfrm>
            <a:off x="2743200" y="914400"/>
            <a:ext cx="0" cy="525780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>
            <p:custDataLst>
              <p:tags r:id="rId9"/>
            </p:custDataLst>
          </p:nvPr>
        </p:nvCxnSpPr>
        <p:spPr>
          <a:xfrm>
            <a:off x="5410200" y="914400"/>
            <a:ext cx="0" cy="525780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/>
          <p:cNvSpPr>
            <a:spLocks noGrp="1"/>
          </p:cNvSpPr>
          <p:nvPr>
            <p:ph type="ftr" sz="quarter" idx="12"/>
            <p:custDataLst>
              <p:tags r:id="rId10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1" name="TextBox 20"/>
          <p:cNvSpPr txBox="1"/>
          <p:nvPr>
            <p:custDataLst>
              <p:tags r:id="rId11"/>
            </p:custDataLst>
          </p:nvPr>
        </p:nvSpPr>
        <p:spPr>
          <a:xfrm>
            <a:off x="228600" y="2547491"/>
            <a:ext cx="2438400" cy="1077218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3200" dirty="0">
                <a:latin typeface="Calibri" pitchFamily="34" charset="0"/>
                <a:cs typeface="Calibri" pitchFamily="34" charset="0"/>
              </a:rPr>
              <a:t>p</a:t>
            </a:r>
            <a:r>
              <a:rPr lang="en-US" sz="3200" dirty="0" smtClean="0">
                <a:latin typeface="Calibri" pitchFamily="34" charset="0"/>
                <a:cs typeface="Calibri" pitchFamily="34" charset="0"/>
              </a:rPr>
              <a:t>op %</a:t>
            </a:r>
            <a:r>
              <a:rPr lang="en-US" sz="3200" dirty="0" err="1" smtClean="0">
                <a:latin typeface="Calibri" pitchFamily="34" charset="0"/>
                <a:cs typeface="Calibri" pitchFamily="34" charset="0"/>
              </a:rPr>
              <a:t>eax</a:t>
            </a:r>
            <a:endParaRPr lang="en-US" sz="3200" dirty="0" smtClean="0">
              <a:latin typeface="Calibri" pitchFamily="34" charset="0"/>
              <a:cs typeface="Calibri" pitchFamily="34" charset="0"/>
            </a:endParaRPr>
          </a:p>
          <a:p>
            <a:r>
              <a:rPr lang="en-US" sz="3200" dirty="0" smtClean="0">
                <a:latin typeface="Calibri" pitchFamily="34" charset="0"/>
                <a:cs typeface="Calibri" pitchFamily="34" charset="0"/>
              </a:rPr>
              <a:t>ret </a:t>
            </a:r>
          </a:p>
        </p:txBody>
      </p:sp>
      <p:sp>
        <p:nvSpPr>
          <p:cNvPr id="22" name="TextBox 21"/>
          <p:cNvSpPr txBox="1"/>
          <p:nvPr>
            <p:custDataLst>
              <p:tags r:id="rId12"/>
            </p:custDataLst>
          </p:nvPr>
        </p:nvSpPr>
        <p:spPr>
          <a:xfrm>
            <a:off x="2895600" y="5171182"/>
            <a:ext cx="2438400" cy="1077218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3200" dirty="0">
                <a:latin typeface="Calibri" pitchFamily="34" charset="0"/>
                <a:cs typeface="Calibri" pitchFamily="34" charset="0"/>
              </a:rPr>
              <a:t>p</a:t>
            </a:r>
            <a:r>
              <a:rPr lang="en-US" sz="3200" dirty="0" smtClean="0">
                <a:latin typeface="Calibri" pitchFamily="34" charset="0"/>
                <a:cs typeface="Calibri" pitchFamily="34" charset="0"/>
              </a:rPr>
              <a:t>op %</a:t>
            </a:r>
            <a:r>
              <a:rPr lang="en-US" sz="3200" dirty="0" err="1" smtClean="0">
                <a:latin typeface="Calibri" pitchFamily="34" charset="0"/>
                <a:cs typeface="Calibri" pitchFamily="34" charset="0"/>
              </a:rPr>
              <a:t>ebx</a:t>
            </a:r>
            <a:endParaRPr lang="en-US" sz="3200" dirty="0" smtClean="0">
              <a:latin typeface="Calibri" pitchFamily="34" charset="0"/>
              <a:cs typeface="Calibri" pitchFamily="34" charset="0"/>
            </a:endParaRPr>
          </a:p>
          <a:p>
            <a:r>
              <a:rPr lang="en-US" sz="3200" dirty="0" smtClean="0">
                <a:latin typeface="Calibri" pitchFamily="34" charset="0"/>
                <a:cs typeface="Calibri" pitchFamily="34" charset="0"/>
              </a:rPr>
              <a:t>ret </a:t>
            </a:r>
          </a:p>
        </p:txBody>
      </p:sp>
      <p:sp>
        <p:nvSpPr>
          <p:cNvPr id="23" name="TextBox 22"/>
          <p:cNvSpPr txBox="1"/>
          <p:nvPr>
            <p:custDataLst>
              <p:tags r:id="rId13"/>
            </p:custDataLst>
          </p:nvPr>
        </p:nvSpPr>
        <p:spPr>
          <a:xfrm>
            <a:off x="5486400" y="3570982"/>
            <a:ext cx="3429000" cy="1077218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3200" dirty="0" err="1">
                <a:latin typeface="Calibri" pitchFamily="34" charset="0"/>
                <a:cs typeface="Calibri" pitchFamily="34" charset="0"/>
              </a:rPr>
              <a:t>m</a:t>
            </a:r>
            <a:r>
              <a:rPr lang="en-US" sz="3200" dirty="0" err="1" smtClean="0">
                <a:latin typeface="Calibri" pitchFamily="34" charset="0"/>
                <a:cs typeface="Calibri" pitchFamily="34" charset="0"/>
              </a:rPr>
              <a:t>ov</a:t>
            </a:r>
            <a:r>
              <a:rPr lang="en-US" sz="3200" dirty="0" smtClean="0">
                <a:latin typeface="Calibri" pitchFamily="34" charset="0"/>
                <a:cs typeface="Calibri" pitchFamily="34" charset="0"/>
              </a:rPr>
              <a:t> %</a:t>
            </a:r>
            <a:r>
              <a:rPr lang="en-US" sz="3200" dirty="0" err="1" smtClean="0">
                <a:latin typeface="Calibri" pitchFamily="34" charset="0"/>
                <a:cs typeface="Calibri" pitchFamily="34" charset="0"/>
              </a:rPr>
              <a:t>eax</a:t>
            </a:r>
            <a:r>
              <a:rPr lang="en-US" sz="3200" dirty="0" smtClean="0">
                <a:latin typeface="Calibri" pitchFamily="34" charset="0"/>
                <a:cs typeface="Calibri" pitchFamily="34" charset="0"/>
              </a:rPr>
              <a:t>, (%</a:t>
            </a:r>
            <a:r>
              <a:rPr lang="en-US" sz="3200" dirty="0" err="1" smtClean="0">
                <a:latin typeface="Calibri" pitchFamily="34" charset="0"/>
                <a:cs typeface="Calibri" pitchFamily="34" charset="0"/>
              </a:rPr>
              <a:t>ecx</a:t>
            </a:r>
            <a:r>
              <a:rPr lang="en-US" sz="3200" dirty="0" smtClean="0">
                <a:latin typeface="Calibri" pitchFamily="34" charset="0"/>
                <a:cs typeface="Calibri" pitchFamily="34" charset="0"/>
              </a:rPr>
              <a:t>)</a:t>
            </a:r>
          </a:p>
          <a:p>
            <a:r>
              <a:rPr lang="en-US" sz="3200" dirty="0" smtClean="0">
                <a:latin typeface="Calibri" pitchFamily="34" charset="0"/>
                <a:cs typeface="Calibri" pitchFamily="34" charset="0"/>
              </a:rPr>
              <a:t>ret </a:t>
            </a:r>
          </a:p>
        </p:txBody>
      </p:sp>
      <p:sp>
        <p:nvSpPr>
          <p:cNvPr id="11" name="Rectangle 10"/>
          <p:cNvSpPr/>
          <p:nvPr>
            <p:custDataLst>
              <p:tags r:id="rId14"/>
            </p:custDataLst>
          </p:nvPr>
        </p:nvSpPr>
        <p:spPr>
          <a:xfrm>
            <a:off x="2917371" y="685800"/>
            <a:ext cx="3962400" cy="16764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b="1" dirty="0" smtClean="0">
                <a:latin typeface="Calibri" pitchFamily="34" charset="0"/>
                <a:cs typeface="Calibri" pitchFamily="34" charset="0"/>
              </a:rPr>
              <a:t>CONFLICT</a:t>
            </a:r>
          </a:p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%</a:t>
            </a:r>
            <a:r>
              <a:rPr lang="en-US" sz="3600" dirty="0" err="1" smtClean="0">
                <a:latin typeface="Calibri" pitchFamily="34" charset="0"/>
                <a:cs typeface="Calibri" pitchFamily="34" charset="0"/>
              </a:rPr>
              <a:t>ebx</a:t>
            </a:r>
            <a:r>
              <a:rPr lang="en-US" sz="3600" dirty="0" smtClean="0">
                <a:latin typeface="Calibri" pitchFamily="34" charset="0"/>
                <a:cs typeface="Calibri" pitchFamily="34" charset="0"/>
              </a:rPr>
              <a:t> and %</a:t>
            </a:r>
            <a:r>
              <a:rPr lang="en-US" sz="3600" dirty="0" err="1" smtClean="0">
                <a:latin typeface="Calibri" pitchFamily="34" charset="0"/>
                <a:cs typeface="Calibri" pitchFamily="34" charset="0"/>
              </a:rPr>
              <a:t>ecx</a:t>
            </a:r>
            <a:r>
              <a:rPr lang="en-US" sz="3600" dirty="0" smtClean="0">
                <a:latin typeface="Calibri" pitchFamily="34" charset="0"/>
                <a:cs typeface="Calibri" pitchFamily="34" charset="0"/>
              </a:rPr>
              <a:t> mismatch</a:t>
            </a:r>
          </a:p>
        </p:txBody>
      </p:sp>
      <p:cxnSp>
        <p:nvCxnSpPr>
          <p:cNvPr id="12" name="Curved Connector 11"/>
          <p:cNvCxnSpPr/>
          <p:nvPr>
            <p:custDataLst>
              <p:tags r:id="rId15"/>
            </p:custDataLst>
          </p:nvPr>
        </p:nvCxnSpPr>
        <p:spPr>
          <a:xfrm flipV="1">
            <a:off x="4800600" y="4033391"/>
            <a:ext cx="3352800" cy="1376809"/>
          </a:xfrm>
          <a:prstGeom prst="curvedConnector3">
            <a:avLst>
              <a:gd name="adj1" fmla="val 50000"/>
            </a:avLst>
          </a:prstGeom>
          <a:ln w="76200">
            <a:solidFill>
              <a:srgbClr val="FF0000"/>
            </a:solidFill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" name="Curved Connector 9"/>
          <p:cNvCxnSpPr/>
          <p:nvPr>
            <p:custDataLst>
              <p:tags r:id="rId16"/>
            </p:custDataLst>
          </p:nvPr>
        </p:nvCxnSpPr>
        <p:spPr>
          <a:xfrm>
            <a:off x="2133600" y="2928257"/>
            <a:ext cx="4343400" cy="900793"/>
          </a:xfrm>
          <a:prstGeom prst="curvedConnector3">
            <a:avLst>
              <a:gd name="adj1" fmla="val 50000"/>
            </a:avLst>
          </a:prstGeom>
          <a:ln>
            <a:tailEnd type="arrow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22372421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5467"/>
    </mc:Choice>
    <mc:Fallback xmlns="">
      <p:transition spd="slow" advTm="3546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1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Gadget Assignment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6E0D5B86-D5FE-4820-860D-574C9585D181}" type="datetime1">
              <a:rPr lang="en-US" smtClean="0"/>
              <a:t>8/15/2011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39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2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13"/>
            <p:custDataLst>
              <p:tags r:id="rId6"/>
            </p:custDataLst>
          </p:nvPr>
        </p:nvSpPr>
        <p:spPr>
          <a:xfrm>
            <a:off x="228600" y="609600"/>
            <a:ext cx="8686800" cy="5715000"/>
          </a:xfrm>
        </p:spPr>
        <p:txBody>
          <a:bodyPr>
            <a:normAutofit/>
          </a:bodyPr>
          <a:lstStyle/>
          <a:p>
            <a:r>
              <a:rPr lang="en-US" sz="4000" dirty="0" smtClean="0"/>
              <a:t>Need to search over</a:t>
            </a:r>
          </a:p>
          <a:p>
            <a:pPr lvl="1"/>
            <a:r>
              <a:rPr lang="en-US" sz="3600" dirty="0" smtClean="0"/>
              <a:t>Gadgets</a:t>
            </a:r>
          </a:p>
          <a:p>
            <a:pPr lvl="1"/>
            <a:r>
              <a:rPr lang="en-US" sz="3600" smtClean="0"/>
              <a:t>Schedules</a:t>
            </a:r>
            <a:endParaRPr lang="en-US" sz="3600" dirty="0" smtClean="0"/>
          </a:p>
          <a:p>
            <a:r>
              <a:rPr lang="en-US" sz="4000" dirty="0" smtClean="0"/>
              <a:t>We developed dynamic programming approach to find assignment</a:t>
            </a:r>
          </a:p>
          <a:p>
            <a:endParaRPr lang="en-US" sz="4000" dirty="0"/>
          </a:p>
          <a:p>
            <a:r>
              <a:rPr lang="en-US" sz="4000" dirty="0" smtClean="0"/>
              <a:t>Easy to print payload bytes with assignment</a:t>
            </a:r>
            <a:endParaRPr lang="en-US" sz="40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861319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1395"/>
    </mc:Choice>
    <mc:Fallback xmlns="">
      <p:transition spd="slow" advTm="5139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Overview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 dirty="0" smtClean="0"/>
              <a:t>Background: Defenses and Return Oriented Programming (ROP)</a:t>
            </a:r>
          </a:p>
          <a:p>
            <a:r>
              <a:rPr lang="en-US" dirty="0" smtClean="0"/>
              <a:t>Q: ROP + Hardening</a:t>
            </a:r>
          </a:p>
          <a:p>
            <a:pPr lvl="1"/>
            <a:r>
              <a:rPr lang="en-US" dirty="0" smtClean="0"/>
              <a:t>Automatic ROP</a:t>
            </a:r>
          </a:p>
          <a:p>
            <a:pPr lvl="1"/>
            <a:r>
              <a:rPr lang="en-US" b="1" dirty="0" smtClean="0"/>
              <a:t>Automatic Hardening</a:t>
            </a:r>
            <a:endParaRPr lang="en-US" b="1" dirty="0"/>
          </a:p>
          <a:p>
            <a:r>
              <a:rPr lang="en-US" dirty="0" smtClean="0"/>
              <a:t>Evaluation</a:t>
            </a:r>
          </a:p>
          <a:p>
            <a:r>
              <a:rPr lang="en-US" dirty="0" smtClean="0"/>
              <a:t>Limitations</a:t>
            </a:r>
          </a:p>
          <a:p>
            <a:r>
              <a:rPr lang="en-US" dirty="0" smtClean="0"/>
              <a:t>Conclusion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2F1F15C3-E042-4DDA-BDB7-EDBA148E5889}" type="datetime1">
              <a:rPr lang="en-US" smtClean="0"/>
              <a:t>8/15/2011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  <p:custDataLst>
              <p:tags r:id="rId5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40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2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35337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145"/>
    </mc:Choice>
    <mc:Fallback xmlns="">
      <p:transition spd="slow" advTm="5145"/>
    </mc:Fallback>
  </mc:AlternateContent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Exploit Hardening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04682516-77D9-471C-8A89-AB3C4384F52D}" type="datetime1">
              <a:rPr lang="en-US" smtClean="0"/>
              <a:t>8/15/2011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41</a:t>
            </a:fld>
            <a:endParaRPr lang="en-US"/>
          </a:p>
        </p:txBody>
      </p:sp>
      <p:sp>
        <p:nvSpPr>
          <p:cNvPr id="8" name="Rectangle 7"/>
          <p:cNvSpPr/>
          <p:nvPr>
            <p:custDataLst>
              <p:tags r:id="rId5"/>
            </p:custDataLst>
          </p:nvPr>
        </p:nvSpPr>
        <p:spPr>
          <a:xfrm>
            <a:off x="495300" y="1104900"/>
            <a:ext cx="2895600" cy="16383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Old Exploit</a:t>
            </a:r>
          </a:p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(stopped by DEP+ASLR)</a:t>
            </a:r>
          </a:p>
        </p:txBody>
      </p:sp>
      <p:sp>
        <p:nvSpPr>
          <p:cNvPr id="9" name="Rectangle 8"/>
          <p:cNvSpPr/>
          <p:nvPr>
            <p:custDataLst>
              <p:tags r:id="rId6"/>
            </p:custDataLst>
          </p:nvPr>
        </p:nvSpPr>
        <p:spPr>
          <a:xfrm>
            <a:off x="511629" y="3886200"/>
            <a:ext cx="2895600" cy="10668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ROP Payload</a:t>
            </a:r>
          </a:p>
        </p:txBody>
      </p:sp>
      <p:sp>
        <p:nvSpPr>
          <p:cNvPr id="10" name="Right Arrow 9"/>
          <p:cNvSpPr/>
          <p:nvPr>
            <p:custDataLst>
              <p:tags r:id="rId7"/>
            </p:custDataLst>
          </p:nvPr>
        </p:nvSpPr>
        <p:spPr>
          <a:xfrm>
            <a:off x="3407229" y="2514600"/>
            <a:ext cx="2612571" cy="1600200"/>
          </a:xfrm>
          <a:prstGeom prst="rightArrow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600" dirty="0" smtClean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11" name="Rectangle 10"/>
          <p:cNvSpPr/>
          <p:nvPr>
            <p:custDataLst>
              <p:tags r:id="rId8"/>
            </p:custDataLst>
          </p:nvPr>
        </p:nvSpPr>
        <p:spPr>
          <a:xfrm>
            <a:off x="6172200" y="2166257"/>
            <a:ext cx="2895600" cy="225334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Hardened Exploit</a:t>
            </a:r>
          </a:p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(bypasses DEP+ASLR)</a:t>
            </a:r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2"/>
            <p:custDataLst>
              <p:tags r:id="rId9"/>
            </p:custDataLst>
          </p:nvPr>
        </p:nvSpPr>
        <p:spPr/>
        <p:txBody>
          <a:bodyPr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5327626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8031"/>
    </mc:Choice>
    <mc:Fallback xmlns="">
      <p:transition spd="slow" advTm="18031"/>
    </mc:Fallback>
  </mc:AlternateContent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47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Trace-based Analysis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1E59067F-97E0-495A-9853-49081AEF63EB}" type="datetime1">
              <a:rPr lang="en-US" smtClean="0"/>
              <a:t>8/15/2011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/>
          <a:p>
            <a:fld id="{3A3D790D-3B66-4FBE-B73B-CD56CACC06CB}" type="slidenum">
              <a:rPr lang="en-US" smtClean="0"/>
              <a:pPr/>
              <a:t>42</a:t>
            </a:fld>
            <a:endParaRPr lang="en-US"/>
          </a:p>
        </p:txBody>
      </p:sp>
      <p:sp>
        <p:nvSpPr>
          <p:cNvPr id="2" name="Content Placeholder 1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/>
        <p:txBody>
          <a:bodyPr/>
          <a:lstStyle/>
          <a:p>
            <a:r>
              <a:rPr lang="en-US" dirty="0" smtClean="0"/>
              <a:t>Record P on the old exploit</a:t>
            </a:r>
            <a:endParaRPr lang="en-US" dirty="0"/>
          </a:p>
        </p:txBody>
      </p:sp>
      <p:sp>
        <p:nvSpPr>
          <p:cNvPr id="29" name="Oval 28"/>
          <p:cNvSpPr/>
          <p:nvPr>
            <p:custDataLst>
              <p:tags r:id="rId6"/>
            </p:custDataLst>
          </p:nvPr>
        </p:nvSpPr>
        <p:spPr>
          <a:xfrm>
            <a:off x="4114800" y="1524000"/>
            <a:ext cx="609600" cy="304800"/>
          </a:xfrm>
          <a:prstGeom prst="ellipse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/>
          <p:cNvSpPr/>
          <p:nvPr>
            <p:custDataLst>
              <p:tags r:id="rId7"/>
            </p:custDataLst>
          </p:nvPr>
        </p:nvSpPr>
        <p:spPr>
          <a:xfrm>
            <a:off x="5334000" y="2286000"/>
            <a:ext cx="609600" cy="304800"/>
          </a:xfrm>
          <a:prstGeom prst="ellipse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/>
          <p:cNvSpPr/>
          <p:nvPr>
            <p:custDataLst>
              <p:tags r:id="rId8"/>
            </p:custDataLst>
          </p:nvPr>
        </p:nvSpPr>
        <p:spPr>
          <a:xfrm>
            <a:off x="2971800" y="2286000"/>
            <a:ext cx="609600" cy="304800"/>
          </a:xfrm>
          <a:prstGeom prst="ellipse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/>
          <p:cNvSpPr/>
          <p:nvPr>
            <p:custDataLst>
              <p:tags r:id="rId9"/>
            </p:custDataLst>
          </p:nvPr>
        </p:nvSpPr>
        <p:spPr>
          <a:xfrm>
            <a:off x="1905000" y="3429000"/>
            <a:ext cx="609600" cy="304800"/>
          </a:xfrm>
          <a:prstGeom prst="ellipse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/>
          <p:cNvSpPr/>
          <p:nvPr>
            <p:custDataLst>
              <p:tags r:id="rId10"/>
            </p:custDataLst>
          </p:nvPr>
        </p:nvSpPr>
        <p:spPr>
          <a:xfrm>
            <a:off x="3352800" y="3429000"/>
            <a:ext cx="609600" cy="304800"/>
          </a:xfrm>
          <a:prstGeom prst="ellipse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/>
          <p:cNvSpPr/>
          <p:nvPr>
            <p:custDataLst>
              <p:tags r:id="rId11"/>
            </p:custDataLst>
          </p:nvPr>
        </p:nvSpPr>
        <p:spPr>
          <a:xfrm>
            <a:off x="5029200" y="3429000"/>
            <a:ext cx="609600" cy="304800"/>
          </a:xfrm>
          <a:prstGeom prst="ellipse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/>
          <p:cNvSpPr/>
          <p:nvPr>
            <p:custDataLst>
              <p:tags r:id="rId12"/>
            </p:custDataLst>
          </p:nvPr>
        </p:nvSpPr>
        <p:spPr>
          <a:xfrm>
            <a:off x="6477000" y="3429000"/>
            <a:ext cx="609600" cy="304800"/>
          </a:xfrm>
          <a:prstGeom prst="ellipse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/>
          <p:cNvSpPr/>
          <p:nvPr>
            <p:custDataLst>
              <p:tags r:id="rId13"/>
            </p:custDataLst>
          </p:nvPr>
        </p:nvSpPr>
        <p:spPr>
          <a:xfrm>
            <a:off x="1219200" y="4419600"/>
            <a:ext cx="609600" cy="304800"/>
          </a:xfrm>
          <a:prstGeom prst="ellipse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/>
          <p:cNvSpPr/>
          <p:nvPr>
            <p:custDataLst>
              <p:tags r:id="rId14"/>
            </p:custDataLst>
          </p:nvPr>
        </p:nvSpPr>
        <p:spPr>
          <a:xfrm>
            <a:off x="2971800" y="4419600"/>
            <a:ext cx="609600" cy="304800"/>
          </a:xfrm>
          <a:prstGeom prst="ellipse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/>
          <p:cNvSpPr/>
          <p:nvPr>
            <p:custDataLst>
              <p:tags r:id="rId15"/>
            </p:custDataLst>
          </p:nvPr>
        </p:nvSpPr>
        <p:spPr>
          <a:xfrm>
            <a:off x="4724400" y="4419600"/>
            <a:ext cx="609600" cy="304800"/>
          </a:xfrm>
          <a:prstGeom prst="ellipse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/>
          <p:cNvSpPr/>
          <p:nvPr>
            <p:custDataLst>
              <p:tags r:id="rId16"/>
            </p:custDataLst>
          </p:nvPr>
        </p:nvSpPr>
        <p:spPr>
          <a:xfrm>
            <a:off x="6324600" y="4419600"/>
            <a:ext cx="609600" cy="304800"/>
          </a:xfrm>
          <a:prstGeom prst="ellipse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/>
          <p:cNvSpPr/>
          <p:nvPr>
            <p:custDataLst>
              <p:tags r:id="rId17"/>
            </p:custDataLst>
          </p:nvPr>
        </p:nvSpPr>
        <p:spPr>
          <a:xfrm>
            <a:off x="2133600" y="4419600"/>
            <a:ext cx="609600" cy="304800"/>
          </a:xfrm>
          <a:prstGeom prst="ellipse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/>
          <p:cNvSpPr/>
          <p:nvPr>
            <p:custDataLst>
              <p:tags r:id="rId18"/>
            </p:custDataLst>
          </p:nvPr>
        </p:nvSpPr>
        <p:spPr>
          <a:xfrm>
            <a:off x="7162800" y="4419600"/>
            <a:ext cx="609600" cy="304800"/>
          </a:xfrm>
          <a:prstGeom prst="ellipse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/>
          <p:cNvSpPr/>
          <p:nvPr>
            <p:custDataLst>
              <p:tags r:id="rId19"/>
            </p:custDataLst>
          </p:nvPr>
        </p:nvSpPr>
        <p:spPr>
          <a:xfrm>
            <a:off x="5486400" y="4419600"/>
            <a:ext cx="609600" cy="304800"/>
          </a:xfrm>
          <a:prstGeom prst="ellipse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/>
          <p:cNvSpPr/>
          <p:nvPr>
            <p:custDataLst>
              <p:tags r:id="rId20"/>
            </p:custDataLst>
          </p:nvPr>
        </p:nvSpPr>
        <p:spPr>
          <a:xfrm>
            <a:off x="3810000" y="4419600"/>
            <a:ext cx="609600" cy="304800"/>
          </a:xfrm>
          <a:prstGeom prst="ellipse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4" name="Straight Arrow Connector 53"/>
          <p:cNvCxnSpPr>
            <a:stCxn id="29" idx="3"/>
            <a:endCxn id="32" idx="7"/>
          </p:cNvCxnSpPr>
          <p:nvPr>
            <p:custDataLst>
              <p:tags r:id="rId21"/>
            </p:custDataLst>
          </p:nvPr>
        </p:nvCxnSpPr>
        <p:spPr>
          <a:xfrm rot="5400000">
            <a:off x="3574863" y="1701426"/>
            <a:ext cx="546474" cy="71194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>
            <a:stCxn id="29" idx="5"/>
            <a:endCxn id="31" idx="1"/>
          </p:cNvCxnSpPr>
          <p:nvPr>
            <p:custDataLst>
              <p:tags r:id="rId22"/>
            </p:custDataLst>
          </p:nvPr>
        </p:nvCxnSpPr>
        <p:spPr>
          <a:xfrm rot="16200000" flipH="1">
            <a:off x="4755963" y="1663326"/>
            <a:ext cx="546474" cy="78814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/>
          <p:cNvCxnSpPr>
            <a:stCxn id="32" idx="3"/>
            <a:endCxn id="34" idx="0"/>
          </p:cNvCxnSpPr>
          <p:nvPr>
            <p:custDataLst>
              <p:tags r:id="rId23"/>
            </p:custDataLst>
          </p:nvPr>
        </p:nvCxnSpPr>
        <p:spPr>
          <a:xfrm rot="5400000">
            <a:off x="2194019" y="2561944"/>
            <a:ext cx="882837" cy="85127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/>
          <p:cNvCxnSpPr>
            <a:stCxn id="32" idx="5"/>
            <a:endCxn id="35" idx="0"/>
          </p:cNvCxnSpPr>
          <p:nvPr>
            <p:custDataLst>
              <p:tags r:id="rId24"/>
            </p:custDataLst>
          </p:nvPr>
        </p:nvCxnSpPr>
        <p:spPr>
          <a:xfrm rot="16200000" flipH="1">
            <a:off x="3133445" y="2904844"/>
            <a:ext cx="882837" cy="16547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/>
          <p:cNvCxnSpPr>
            <a:stCxn id="34" idx="3"/>
            <a:endCxn id="40" idx="0"/>
          </p:cNvCxnSpPr>
          <p:nvPr>
            <p:custDataLst>
              <p:tags r:id="rId25"/>
            </p:custDataLst>
          </p:nvPr>
        </p:nvCxnSpPr>
        <p:spPr>
          <a:xfrm rot="5400000">
            <a:off x="1393919" y="3819244"/>
            <a:ext cx="730437" cy="47027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/>
          <p:cNvCxnSpPr>
            <a:stCxn id="34" idx="5"/>
            <a:endCxn id="47" idx="0"/>
          </p:cNvCxnSpPr>
          <p:nvPr>
            <p:custDataLst>
              <p:tags r:id="rId26"/>
            </p:custDataLst>
          </p:nvPr>
        </p:nvCxnSpPr>
        <p:spPr>
          <a:xfrm rot="16200000" flipH="1">
            <a:off x="2066645" y="4047844"/>
            <a:ext cx="730437" cy="1307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/>
          <p:cNvCxnSpPr>
            <a:stCxn id="31" idx="3"/>
            <a:endCxn id="37" idx="0"/>
          </p:cNvCxnSpPr>
          <p:nvPr>
            <p:custDataLst>
              <p:tags r:id="rId27"/>
            </p:custDataLst>
          </p:nvPr>
        </p:nvCxnSpPr>
        <p:spPr>
          <a:xfrm rot="5400000">
            <a:off x="4937219" y="2942944"/>
            <a:ext cx="882837" cy="8927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/>
          <p:cNvCxnSpPr>
            <a:stCxn id="31" idx="5"/>
            <a:endCxn id="38" idx="0"/>
          </p:cNvCxnSpPr>
          <p:nvPr>
            <p:custDataLst>
              <p:tags r:id="rId28"/>
            </p:custDataLst>
          </p:nvPr>
        </p:nvCxnSpPr>
        <p:spPr>
          <a:xfrm rot="16200000" flipH="1">
            <a:off x="5876645" y="2523844"/>
            <a:ext cx="882837" cy="92747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stCxn id="37" idx="3"/>
            <a:endCxn id="43" idx="0"/>
          </p:cNvCxnSpPr>
          <p:nvPr>
            <p:custDataLst>
              <p:tags r:id="rId29"/>
            </p:custDataLst>
          </p:nvPr>
        </p:nvCxnSpPr>
        <p:spPr>
          <a:xfrm rot="5400000">
            <a:off x="4708619" y="4009744"/>
            <a:ext cx="730437" cy="8927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>
            <a:stCxn id="37" idx="5"/>
            <a:endCxn id="50" idx="0"/>
          </p:cNvCxnSpPr>
          <p:nvPr>
            <p:custDataLst>
              <p:tags r:id="rId30"/>
            </p:custDataLst>
          </p:nvPr>
        </p:nvCxnSpPr>
        <p:spPr>
          <a:xfrm rot="16200000" flipH="1">
            <a:off x="5305145" y="3933544"/>
            <a:ext cx="730437" cy="24167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/>
          <p:cNvCxnSpPr>
            <a:stCxn id="35" idx="3"/>
            <a:endCxn id="41" idx="0"/>
          </p:cNvCxnSpPr>
          <p:nvPr>
            <p:custDataLst>
              <p:tags r:id="rId31"/>
            </p:custDataLst>
          </p:nvPr>
        </p:nvCxnSpPr>
        <p:spPr>
          <a:xfrm rot="5400000">
            <a:off x="2994119" y="3971644"/>
            <a:ext cx="730437" cy="16547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>
            <a:stCxn id="35" idx="5"/>
            <a:endCxn id="52" idx="0"/>
          </p:cNvCxnSpPr>
          <p:nvPr>
            <p:custDataLst>
              <p:tags r:id="rId32"/>
            </p:custDataLst>
          </p:nvPr>
        </p:nvCxnSpPr>
        <p:spPr>
          <a:xfrm rot="16200000" flipH="1">
            <a:off x="3628745" y="3933544"/>
            <a:ext cx="730437" cy="24167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/>
          <p:cNvCxnSpPr>
            <a:stCxn id="38" idx="5"/>
            <a:endCxn id="49" idx="0"/>
          </p:cNvCxnSpPr>
          <p:nvPr>
            <p:custDataLst>
              <p:tags r:id="rId33"/>
            </p:custDataLst>
          </p:nvPr>
        </p:nvCxnSpPr>
        <p:spPr>
          <a:xfrm rot="16200000" flipH="1">
            <a:off x="6867245" y="3819244"/>
            <a:ext cx="730437" cy="47027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/>
          <p:cNvCxnSpPr>
            <a:stCxn id="38" idx="3"/>
            <a:endCxn id="44" idx="0"/>
          </p:cNvCxnSpPr>
          <p:nvPr>
            <p:custDataLst>
              <p:tags r:id="rId34"/>
            </p:custDataLst>
          </p:nvPr>
        </p:nvCxnSpPr>
        <p:spPr>
          <a:xfrm rot="16200000" flipH="1">
            <a:off x="6232619" y="4022818"/>
            <a:ext cx="730437" cy="6312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>
            <p:custDataLst>
              <p:tags r:id="rId35"/>
            </p:custDataLst>
          </p:nvPr>
        </p:nvSpPr>
        <p:spPr>
          <a:xfrm>
            <a:off x="7391400" y="2590800"/>
            <a:ext cx="1371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>
                <a:latin typeface="Calibri" pitchFamily="34" charset="0"/>
                <a:cs typeface="Calibri" pitchFamily="34" charset="0"/>
              </a:rPr>
              <a:t>Branch 2</a:t>
            </a:r>
            <a:endParaRPr lang="en-US" sz="2400" dirty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84" name="TextBox 83"/>
          <p:cNvSpPr txBox="1"/>
          <p:nvPr>
            <p:custDataLst>
              <p:tags r:id="rId36"/>
            </p:custDataLst>
          </p:nvPr>
        </p:nvSpPr>
        <p:spPr>
          <a:xfrm>
            <a:off x="7391400" y="3581400"/>
            <a:ext cx="1371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>
                <a:latin typeface="Calibri" pitchFamily="34" charset="0"/>
                <a:cs typeface="Calibri" pitchFamily="34" charset="0"/>
              </a:rPr>
              <a:t>Branch 3</a:t>
            </a:r>
            <a:endParaRPr lang="en-US" sz="2400" dirty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85" name="TextBox 84"/>
          <p:cNvSpPr txBox="1"/>
          <p:nvPr>
            <p:custDataLst>
              <p:tags r:id="rId37"/>
            </p:custDataLst>
          </p:nvPr>
        </p:nvSpPr>
        <p:spPr>
          <a:xfrm>
            <a:off x="7391400" y="1524000"/>
            <a:ext cx="1371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>
                <a:latin typeface="Calibri" pitchFamily="34" charset="0"/>
                <a:cs typeface="Calibri" pitchFamily="34" charset="0"/>
              </a:rPr>
              <a:t>Branch 1</a:t>
            </a:r>
            <a:endParaRPr lang="en-US" sz="2400" dirty="0">
              <a:latin typeface="Calibri" pitchFamily="34" charset="0"/>
              <a:cs typeface="Calibri" pitchFamily="34" charset="0"/>
            </a:endParaRPr>
          </a:p>
        </p:txBody>
      </p:sp>
      <p:cxnSp>
        <p:nvCxnSpPr>
          <p:cNvPr id="103" name="Straight Connector 102"/>
          <p:cNvCxnSpPr/>
          <p:nvPr>
            <p:custDataLst>
              <p:tags r:id="rId38"/>
            </p:custDataLst>
          </p:nvPr>
        </p:nvCxnSpPr>
        <p:spPr>
          <a:xfrm>
            <a:off x="990600" y="1981200"/>
            <a:ext cx="75438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/>
          <p:nvPr>
            <p:custDataLst>
              <p:tags r:id="rId39"/>
            </p:custDataLst>
          </p:nvPr>
        </p:nvCxnSpPr>
        <p:spPr>
          <a:xfrm>
            <a:off x="990600" y="3048000"/>
            <a:ext cx="75438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/>
          <p:cNvCxnSpPr/>
          <p:nvPr>
            <p:custDataLst>
              <p:tags r:id="rId40"/>
            </p:custDataLst>
          </p:nvPr>
        </p:nvCxnSpPr>
        <p:spPr>
          <a:xfrm>
            <a:off x="990600" y="4038600"/>
            <a:ext cx="75438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ight Brace 41"/>
          <p:cNvSpPr/>
          <p:nvPr>
            <p:custDataLst>
              <p:tags r:id="rId41"/>
            </p:custDataLst>
          </p:nvPr>
        </p:nvSpPr>
        <p:spPr>
          <a:xfrm rot="5400000">
            <a:off x="4210050" y="1581150"/>
            <a:ext cx="723900" cy="7162800"/>
          </a:xfrm>
          <a:prstGeom prst="rightBrace">
            <a:avLst>
              <a:gd name="adj1" fmla="val 45474"/>
              <a:gd name="adj2" fmla="val 50000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ular Callout 50"/>
          <p:cNvSpPr/>
          <p:nvPr>
            <p:custDataLst>
              <p:tags r:id="rId42"/>
            </p:custDataLst>
          </p:nvPr>
        </p:nvSpPr>
        <p:spPr>
          <a:xfrm>
            <a:off x="228600" y="5257800"/>
            <a:ext cx="4343400" cy="990600"/>
          </a:xfrm>
          <a:prstGeom prst="wedgeRectCallout">
            <a:avLst>
              <a:gd name="adj1" fmla="val 34049"/>
              <a:gd name="adj2" fmla="val -101122"/>
            </a:avLst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Stop at vulnerability condition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2"/>
            <p:custDataLst>
              <p:tags r:id="rId43"/>
            </p:custDataLst>
          </p:nvPr>
        </p:nvSpPr>
        <p:spPr/>
        <p:txBody>
          <a:bodyPr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75151361"/>
      </p:ext>
    </p:extLst>
  </p:cSld>
  <p:clrMapOvr>
    <a:masterClrMapping/>
  </p:clrMapOvr>
  <p:transition advTm="18728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2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1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8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0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4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25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6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Reasoning about Executions</a:t>
            </a:r>
            <a:endParaRPr lang="en-US" dirty="0"/>
          </a:p>
        </p:txBody>
      </p:sp>
      <p:grpSp>
        <p:nvGrpSpPr>
          <p:cNvPr id="3" name="Group 2"/>
          <p:cNvGrpSpPr/>
          <p:nvPr>
            <p:custDataLst>
              <p:tags r:id="rId3"/>
            </p:custDataLst>
          </p:nvPr>
        </p:nvGrpSpPr>
        <p:grpSpPr>
          <a:xfrm>
            <a:off x="609600" y="1409700"/>
            <a:ext cx="1752600" cy="3200400"/>
            <a:chOff x="762000" y="1524000"/>
            <a:chExt cx="1752600" cy="3200400"/>
          </a:xfrm>
        </p:grpSpPr>
        <p:sp>
          <p:nvSpPr>
            <p:cNvPr id="4" name="Oval 3"/>
            <p:cNvSpPr/>
            <p:nvPr/>
          </p:nvSpPr>
          <p:spPr>
            <a:xfrm>
              <a:off x="1905000" y="1524000"/>
              <a:ext cx="609600" cy="304800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3">
              <a:schemeClr val="accent6"/>
            </a:fillRef>
            <a:effectRef idx="2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Oval 4"/>
            <p:cNvSpPr/>
            <p:nvPr/>
          </p:nvSpPr>
          <p:spPr>
            <a:xfrm>
              <a:off x="762000" y="2286000"/>
              <a:ext cx="609600" cy="304800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3">
              <a:schemeClr val="accent6"/>
            </a:fillRef>
            <a:effectRef idx="2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/>
            <p:cNvSpPr/>
            <p:nvPr/>
          </p:nvSpPr>
          <p:spPr>
            <a:xfrm>
              <a:off x="1143000" y="3429000"/>
              <a:ext cx="609600" cy="304800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3">
              <a:schemeClr val="accent6"/>
            </a:fillRef>
            <a:effectRef idx="2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/>
            <p:cNvSpPr/>
            <p:nvPr/>
          </p:nvSpPr>
          <p:spPr>
            <a:xfrm>
              <a:off x="1600200" y="4419600"/>
              <a:ext cx="609600" cy="304800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3">
              <a:schemeClr val="accent6"/>
            </a:fillRef>
            <a:effectRef idx="2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Arrow Connector 7"/>
            <p:cNvCxnSpPr>
              <a:stCxn id="4" idx="3"/>
              <a:endCxn id="5" idx="7"/>
            </p:cNvCxnSpPr>
            <p:nvPr/>
          </p:nvCxnSpPr>
          <p:spPr>
            <a:xfrm rot="5400000">
              <a:off x="1365063" y="1701426"/>
              <a:ext cx="546474" cy="711948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5" idx="5"/>
              <a:endCxn id="6" idx="0"/>
            </p:cNvCxnSpPr>
            <p:nvPr/>
          </p:nvCxnSpPr>
          <p:spPr>
            <a:xfrm rot="16200000" flipH="1">
              <a:off x="923645" y="2904844"/>
              <a:ext cx="882837" cy="165474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/>
            <p:cNvCxnSpPr>
              <a:stCxn id="6" idx="5"/>
              <a:endCxn id="7" idx="0"/>
            </p:cNvCxnSpPr>
            <p:nvPr/>
          </p:nvCxnSpPr>
          <p:spPr>
            <a:xfrm rot="16200000" flipH="1">
              <a:off x="1418945" y="3933544"/>
              <a:ext cx="730437" cy="241674"/>
            </a:xfrm>
            <a:prstGeom prst="straightConnector1">
              <a:avLst/>
            </a:prstGeom>
            <a:ln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Right Arrow 10"/>
          <p:cNvSpPr/>
          <p:nvPr>
            <p:custDataLst>
              <p:tags r:id="rId4"/>
            </p:custDataLst>
          </p:nvPr>
        </p:nvSpPr>
        <p:spPr>
          <a:xfrm>
            <a:off x="2933700" y="2400300"/>
            <a:ext cx="3200400" cy="1752600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 smtClean="0">
                <a:latin typeface="Calibri" pitchFamily="34" charset="0"/>
                <a:cs typeface="Calibri" pitchFamily="34" charset="0"/>
              </a:rPr>
              <a:t>Symbolic Execution</a:t>
            </a:r>
          </a:p>
        </p:txBody>
      </p:sp>
      <p:sp>
        <p:nvSpPr>
          <p:cNvPr id="12" name="Rectangle 11"/>
          <p:cNvSpPr/>
          <p:nvPr>
            <p:custDataLst>
              <p:tags r:id="rId5"/>
            </p:custDataLst>
          </p:nvPr>
        </p:nvSpPr>
        <p:spPr>
          <a:xfrm>
            <a:off x="6591300" y="1669862"/>
            <a:ext cx="2209800" cy="33908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Logical</a:t>
            </a:r>
            <a:br>
              <a:rPr lang="en-US" sz="3600" dirty="0" smtClean="0">
                <a:latin typeface="Calibri" pitchFamily="34" charset="0"/>
                <a:cs typeface="Calibri" pitchFamily="34" charset="0"/>
              </a:rPr>
            </a:br>
            <a:r>
              <a:rPr lang="en-US" sz="3600" dirty="0" smtClean="0">
                <a:latin typeface="Calibri" pitchFamily="34" charset="0"/>
                <a:cs typeface="Calibri" pitchFamily="34" charset="0"/>
              </a:rPr>
              <a:t>Formula</a:t>
            </a:r>
            <a:endParaRPr lang="en-US" sz="3600" dirty="0">
              <a:latin typeface="Calibri" pitchFamily="34" charset="0"/>
              <a:cs typeface="Calibri" pitchFamily="34" charset="0"/>
            </a:endParaRPr>
          </a:p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For All Inputs</a:t>
            </a:r>
          </a:p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On Path</a:t>
            </a:r>
          </a:p>
        </p:txBody>
      </p:sp>
      <p:sp>
        <p:nvSpPr>
          <p:cNvPr id="16" name="Date Placeholder 15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16EE2157-B3FE-4D59-8861-118369D43A23}" type="datetime1">
              <a:rPr lang="en-US" smtClean="0"/>
              <a:t>8/15/2011</a:t>
            </a:fld>
            <a:endParaRPr lang="en-US"/>
          </a:p>
        </p:txBody>
      </p:sp>
      <p:sp>
        <p:nvSpPr>
          <p:cNvPr id="17" name="Slide Number Placeholder 16"/>
          <p:cNvSpPr>
            <a:spLocks noGrp="1"/>
          </p:cNvSpPr>
          <p:nvPr>
            <p:ph type="sldNum" sz="quarter" idx="11"/>
            <p:custDataLst>
              <p:tags r:id="rId7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43</a:t>
            </a:fld>
            <a:endParaRPr lang="en-US"/>
          </a:p>
        </p:txBody>
      </p:sp>
      <p:sp>
        <p:nvSpPr>
          <p:cNvPr id="18" name="Footer Placeholder 17"/>
          <p:cNvSpPr>
            <a:spLocks noGrp="1"/>
          </p:cNvSpPr>
          <p:nvPr>
            <p:ph type="ftr" sz="quarter" idx="12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TextBox 12"/>
          <p:cNvSpPr txBox="1"/>
          <p:nvPr>
            <p:custDataLst>
              <p:tags r:id="rId9"/>
            </p:custDataLst>
          </p:nvPr>
        </p:nvSpPr>
        <p:spPr>
          <a:xfrm>
            <a:off x="3429000" y="2171700"/>
            <a:ext cx="1600200" cy="5715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sz="3200" b="1" dirty="0" smtClean="0">
                <a:latin typeface="Calibri" pitchFamily="34" charset="0"/>
                <a:cs typeface="Calibri" pitchFamily="34" charset="0"/>
              </a:rPr>
              <a:t>[SAB10]</a:t>
            </a:r>
            <a:endParaRPr lang="en-US" sz="3200" b="1" dirty="0">
              <a:latin typeface="Calibri" pitchFamily="34" charset="0"/>
              <a:cs typeface="Calibri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667699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8027"/>
    </mc:Choice>
    <mc:Fallback xmlns="">
      <p:transition spd="slow" advTm="1802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Exploit Constraints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6E0D5B86-D5FE-4820-860D-574C9585D181}" type="datetime1">
              <a:rPr lang="en-US" smtClean="0"/>
              <a:t>8/15/2011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44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2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8"/>
          <p:cNvSpPr/>
          <p:nvPr>
            <p:custDataLst>
              <p:tags r:id="rId6"/>
            </p:custDataLst>
          </p:nvPr>
        </p:nvSpPr>
        <p:spPr>
          <a:xfrm>
            <a:off x="1526095" y="1397000"/>
            <a:ext cx="2809874" cy="4064000"/>
          </a:xfrm>
          <a:custGeom>
            <a:avLst/>
            <a:gdLst>
              <a:gd name="connsiteX0" fmla="*/ 0 w 2809874"/>
              <a:gd name="connsiteY0" fmla="*/ 280987 h 4064000"/>
              <a:gd name="connsiteX1" fmla="*/ 280987 w 2809874"/>
              <a:gd name="connsiteY1" fmla="*/ 0 h 4064000"/>
              <a:gd name="connsiteX2" fmla="*/ 2528887 w 2809874"/>
              <a:gd name="connsiteY2" fmla="*/ 0 h 4064000"/>
              <a:gd name="connsiteX3" fmla="*/ 2809874 w 2809874"/>
              <a:gd name="connsiteY3" fmla="*/ 280987 h 4064000"/>
              <a:gd name="connsiteX4" fmla="*/ 2809874 w 2809874"/>
              <a:gd name="connsiteY4" fmla="*/ 3783013 h 4064000"/>
              <a:gd name="connsiteX5" fmla="*/ 2528887 w 2809874"/>
              <a:gd name="connsiteY5" fmla="*/ 4064000 h 4064000"/>
              <a:gd name="connsiteX6" fmla="*/ 280987 w 2809874"/>
              <a:gd name="connsiteY6" fmla="*/ 4064000 h 4064000"/>
              <a:gd name="connsiteX7" fmla="*/ 0 w 2809874"/>
              <a:gd name="connsiteY7" fmla="*/ 3783013 h 4064000"/>
              <a:gd name="connsiteX8" fmla="*/ 0 w 2809874"/>
              <a:gd name="connsiteY8" fmla="*/ 280987 h 406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809874" h="4064000">
                <a:moveTo>
                  <a:pt x="0" y="280987"/>
                </a:moveTo>
                <a:cubicBezTo>
                  <a:pt x="0" y="125802"/>
                  <a:pt x="125802" y="0"/>
                  <a:pt x="280987" y="0"/>
                </a:cubicBezTo>
                <a:lnTo>
                  <a:pt x="2528887" y="0"/>
                </a:lnTo>
                <a:cubicBezTo>
                  <a:pt x="2684072" y="0"/>
                  <a:pt x="2809874" y="125802"/>
                  <a:pt x="2809874" y="280987"/>
                </a:cubicBezTo>
                <a:lnTo>
                  <a:pt x="2809874" y="3783013"/>
                </a:lnTo>
                <a:cubicBezTo>
                  <a:pt x="2809874" y="3938198"/>
                  <a:pt x="2684072" y="4064000"/>
                  <a:pt x="2528887" y="4064000"/>
                </a:cubicBezTo>
                <a:lnTo>
                  <a:pt x="280987" y="4064000"/>
                </a:lnTo>
                <a:cubicBezTo>
                  <a:pt x="125802" y="4064000"/>
                  <a:pt x="0" y="3938198"/>
                  <a:pt x="0" y="3783013"/>
                </a:cubicBezTo>
                <a:lnTo>
                  <a:pt x="0" y="280987"/>
                </a:lnTo>
                <a:close/>
              </a:path>
            </a:pathLst>
          </a:cu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spcFirstLastPara="0" vert="horz" wrap="square" lIns="314708" tIns="314708" rIns="314708" bIns="314708" numCol="1" spcCol="1270" anchor="ctr" anchorCtr="0">
            <a:noAutofit/>
          </a:bodyPr>
          <a:lstStyle/>
          <a:p>
            <a:pPr lvl="0" algn="ctr" defTabSz="27114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6100" kern="1200" smtClean="0"/>
              <a:t>Path</a:t>
            </a:r>
            <a:endParaRPr lang="en-US" sz="6100" kern="1200" dirty="0"/>
          </a:p>
        </p:txBody>
      </p:sp>
      <p:sp>
        <p:nvSpPr>
          <p:cNvPr id="10" name="Freeform 9"/>
          <p:cNvSpPr/>
          <p:nvPr>
            <p:custDataLst>
              <p:tags r:id="rId7"/>
            </p:custDataLst>
          </p:nvPr>
        </p:nvSpPr>
        <p:spPr>
          <a:xfrm>
            <a:off x="4808029" y="1397000"/>
            <a:ext cx="2809874" cy="4064000"/>
          </a:xfrm>
          <a:custGeom>
            <a:avLst/>
            <a:gdLst>
              <a:gd name="connsiteX0" fmla="*/ 0 w 2809874"/>
              <a:gd name="connsiteY0" fmla="*/ 280987 h 4064000"/>
              <a:gd name="connsiteX1" fmla="*/ 280987 w 2809874"/>
              <a:gd name="connsiteY1" fmla="*/ 0 h 4064000"/>
              <a:gd name="connsiteX2" fmla="*/ 2528887 w 2809874"/>
              <a:gd name="connsiteY2" fmla="*/ 0 h 4064000"/>
              <a:gd name="connsiteX3" fmla="*/ 2809874 w 2809874"/>
              <a:gd name="connsiteY3" fmla="*/ 280987 h 4064000"/>
              <a:gd name="connsiteX4" fmla="*/ 2809874 w 2809874"/>
              <a:gd name="connsiteY4" fmla="*/ 3783013 h 4064000"/>
              <a:gd name="connsiteX5" fmla="*/ 2528887 w 2809874"/>
              <a:gd name="connsiteY5" fmla="*/ 4064000 h 4064000"/>
              <a:gd name="connsiteX6" fmla="*/ 280987 w 2809874"/>
              <a:gd name="connsiteY6" fmla="*/ 4064000 h 4064000"/>
              <a:gd name="connsiteX7" fmla="*/ 0 w 2809874"/>
              <a:gd name="connsiteY7" fmla="*/ 3783013 h 4064000"/>
              <a:gd name="connsiteX8" fmla="*/ 0 w 2809874"/>
              <a:gd name="connsiteY8" fmla="*/ 280987 h 406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809874" h="4064000">
                <a:moveTo>
                  <a:pt x="0" y="280987"/>
                </a:moveTo>
                <a:cubicBezTo>
                  <a:pt x="0" y="125802"/>
                  <a:pt x="125802" y="0"/>
                  <a:pt x="280987" y="0"/>
                </a:cubicBezTo>
                <a:lnTo>
                  <a:pt x="2528887" y="0"/>
                </a:lnTo>
                <a:cubicBezTo>
                  <a:pt x="2684072" y="0"/>
                  <a:pt x="2809874" y="125802"/>
                  <a:pt x="2809874" y="280987"/>
                </a:cubicBezTo>
                <a:lnTo>
                  <a:pt x="2809874" y="3783013"/>
                </a:lnTo>
                <a:cubicBezTo>
                  <a:pt x="2809874" y="3938198"/>
                  <a:pt x="2684072" y="4064000"/>
                  <a:pt x="2528887" y="4064000"/>
                </a:cubicBezTo>
                <a:lnTo>
                  <a:pt x="280987" y="4064000"/>
                </a:lnTo>
                <a:cubicBezTo>
                  <a:pt x="125802" y="4064000"/>
                  <a:pt x="0" y="3938198"/>
                  <a:pt x="0" y="3783013"/>
                </a:cubicBezTo>
                <a:lnTo>
                  <a:pt x="0" y="280987"/>
                </a:lnTo>
                <a:close/>
              </a:path>
            </a:pathLst>
          </a:cu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spcFirstLastPara="0" vert="horz" wrap="square" lIns="314708" tIns="314708" rIns="314708" bIns="314708" numCol="1" spcCol="1270" anchor="ctr" anchorCtr="0">
            <a:noAutofit/>
          </a:bodyPr>
          <a:lstStyle/>
          <a:p>
            <a:pPr lvl="0" algn="ctr" defTabSz="27114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6100" kern="1200" dirty="0" smtClean="0"/>
              <a:t>Exploit</a:t>
            </a:r>
            <a:endParaRPr lang="en-US" sz="6100" kern="12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024625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1595"/>
    </mc:Choice>
    <mc:Fallback xmlns="">
      <p:transition spd="slow" advTm="2159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Exploit Constraints</a:t>
            </a:r>
            <a:endParaRPr lang="en-US" dirty="0"/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1ADC5293-C593-416C-96B2-1E4E68158DB4}" type="datetime1">
              <a:rPr lang="en-US" smtClean="0"/>
              <a:t>8/15/2011</a:t>
            </a:fld>
            <a:endParaRPr lang="en-US"/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45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2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15" name="Group 14"/>
          <p:cNvGrpSpPr/>
          <p:nvPr>
            <p:custDataLst>
              <p:tags r:id="rId6"/>
            </p:custDataLst>
          </p:nvPr>
        </p:nvGrpSpPr>
        <p:grpSpPr>
          <a:xfrm>
            <a:off x="1461921" y="1590675"/>
            <a:ext cx="2743200" cy="1381125"/>
            <a:chOff x="1112188" y="1590674"/>
            <a:chExt cx="2743200" cy="1381125"/>
          </a:xfrm>
        </p:grpSpPr>
        <p:sp>
          <p:nvSpPr>
            <p:cNvPr id="18" name="Rounded Rectangle 17"/>
            <p:cNvSpPr/>
            <p:nvPr/>
          </p:nvSpPr>
          <p:spPr>
            <a:xfrm>
              <a:off x="1112188" y="1676994"/>
              <a:ext cx="2743200" cy="129480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600" dirty="0" smtClean="0">
                <a:latin typeface="Calibri" pitchFamily="34" charset="0"/>
                <a:cs typeface="Calibri" pitchFamily="34" charset="0"/>
              </a:endParaRP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1159896" y="2108596"/>
              <a:ext cx="954156" cy="735449"/>
            </a:xfrm>
            <a:prstGeom prst="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3600" dirty="0" smtClean="0">
                <a:latin typeface="Calibri" pitchFamily="34" charset="0"/>
                <a:cs typeface="Calibri" pitchFamily="34" charset="0"/>
              </a:endParaRP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221850" y="1590674"/>
              <a:ext cx="2561975" cy="517922"/>
            </a:xfrm>
            <a:prstGeom prst="rect">
              <a:avLst/>
            </a:prstGeom>
            <a:noFill/>
          </p:spPr>
          <p:txBody>
            <a:bodyPr wrap="square" rtlCol="0" anchor="ctr" anchorCtr="0">
              <a:noAutofit/>
            </a:bodyPr>
            <a:lstStyle/>
            <a:p>
              <a:pPr algn="ctr"/>
              <a:r>
                <a:rPr lang="en-US" sz="2800" dirty="0" smtClean="0">
                  <a:latin typeface="Calibri" pitchFamily="34" charset="0"/>
                  <a:cs typeface="Calibri" pitchFamily="34" charset="0"/>
                </a:rPr>
                <a:t>Exploit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3187478" y="2108596"/>
              <a:ext cx="596348" cy="733723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3600" dirty="0" smtClean="0">
                <a:latin typeface="Calibri" pitchFamily="34" charset="0"/>
                <a:cs typeface="Calibri" pitchFamily="34" charset="0"/>
              </a:endParaRP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2114052" y="2108596"/>
              <a:ext cx="1073426" cy="735449"/>
            </a:xfrm>
            <a:prstGeom prst="rect">
              <a:avLst/>
            </a:prstGeom>
            <a:ln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3600" dirty="0" smtClean="0">
                <a:latin typeface="Calibri" pitchFamily="34" charset="0"/>
                <a:cs typeface="Calibri" pitchFamily="34" charset="0"/>
              </a:endParaRPr>
            </a:p>
          </p:txBody>
        </p:sp>
      </p:grpSp>
      <p:sp>
        <p:nvSpPr>
          <p:cNvPr id="29" name="Rounded Rectangle 28"/>
          <p:cNvSpPr/>
          <p:nvPr>
            <p:custDataLst>
              <p:tags r:id="rId7"/>
            </p:custDataLst>
          </p:nvPr>
        </p:nvSpPr>
        <p:spPr>
          <a:xfrm>
            <a:off x="4648200" y="1682605"/>
            <a:ext cx="2743200" cy="128358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600" dirty="0" smtClean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31" name="Rectangle 30"/>
          <p:cNvSpPr/>
          <p:nvPr>
            <p:custDataLst>
              <p:tags r:id="rId8"/>
            </p:custDataLst>
          </p:nvPr>
        </p:nvSpPr>
        <p:spPr>
          <a:xfrm>
            <a:off x="4782155" y="2106837"/>
            <a:ext cx="638503" cy="736637"/>
          </a:xfrm>
          <a:prstGeom prst="rect">
            <a:avLst/>
          </a:prstGeom>
          <a:noFill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3600" dirty="0" smtClean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32" name="Rectangle 31"/>
          <p:cNvSpPr/>
          <p:nvPr>
            <p:custDataLst>
              <p:tags r:id="rId9"/>
            </p:custDataLst>
          </p:nvPr>
        </p:nvSpPr>
        <p:spPr>
          <a:xfrm>
            <a:off x="5503428" y="2106837"/>
            <a:ext cx="638503" cy="736637"/>
          </a:xfrm>
          <a:prstGeom prst="rect">
            <a:avLst/>
          </a:prstGeom>
          <a:noFill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3600" dirty="0" smtClean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33" name="Rectangle 32"/>
          <p:cNvSpPr/>
          <p:nvPr>
            <p:custDataLst>
              <p:tags r:id="rId10"/>
            </p:custDataLst>
          </p:nvPr>
        </p:nvSpPr>
        <p:spPr>
          <a:xfrm>
            <a:off x="6224702" y="2106837"/>
            <a:ext cx="1077205" cy="736637"/>
          </a:xfrm>
          <a:prstGeom prst="rect">
            <a:avLst/>
          </a:prstGeom>
          <a:noFill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3600" dirty="0" smtClean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34" name="TextBox 33"/>
          <p:cNvSpPr txBox="1"/>
          <p:nvPr>
            <p:custDataLst>
              <p:tags r:id="rId11"/>
            </p:custDataLst>
          </p:nvPr>
        </p:nvSpPr>
        <p:spPr>
          <a:xfrm>
            <a:off x="5003073" y="1596283"/>
            <a:ext cx="2124492" cy="577898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2800" dirty="0" smtClean="0">
                <a:latin typeface="Calibri" pitchFamily="34" charset="0"/>
                <a:cs typeface="Calibri" pitchFamily="34" charset="0"/>
              </a:rPr>
              <a:t>Gadgets</a:t>
            </a:r>
          </a:p>
        </p:txBody>
      </p:sp>
      <p:cxnSp>
        <p:nvCxnSpPr>
          <p:cNvPr id="35" name="Straight Arrow Connector 29"/>
          <p:cNvCxnSpPr>
            <a:stCxn id="31" idx="3"/>
            <a:endCxn id="32" idx="0"/>
          </p:cNvCxnSpPr>
          <p:nvPr>
            <p:custDataLst>
              <p:tags r:id="rId12"/>
            </p:custDataLst>
          </p:nvPr>
        </p:nvCxnSpPr>
        <p:spPr>
          <a:xfrm flipV="1">
            <a:off x="5420659" y="2106837"/>
            <a:ext cx="402021" cy="368318"/>
          </a:xfrm>
          <a:prstGeom prst="curvedConnector4">
            <a:avLst>
              <a:gd name="adj1" fmla="val 10294"/>
              <a:gd name="adj2" fmla="val 146754"/>
            </a:avLst>
          </a:prstGeom>
          <a:noFill/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29"/>
          <p:cNvCxnSpPr>
            <a:stCxn id="32" idx="3"/>
            <a:endCxn id="33" idx="0"/>
          </p:cNvCxnSpPr>
          <p:nvPr>
            <p:custDataLst>
              <p:tags r:id="rId13"/>
            </p:custDataLst>
          </p:nvPr>
        </p:nvCxnSpPr>
        <p:spPr>
          <a:xfrm flipV="1">
            <a:off x="6141931" y="2106837"/>
            <a:ext cx="621374" cy="368319"/>
          </a:xfrm>
          <a:prstGeom prst="curvedConnector4">
            <a:avLst>
              <a:gd name="adj1" fmla="val 6660"/>
              <a:gd name="adj2" fmla="val 162066"/>
            </a:avLst>
          </a:prstGeom>
          <a:noFill/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7" name="Straight Arrow Connector 29"/>
          <p:cNvCxnSpPr>
            <a:stCxn id="24" idx="3"/>
          </p:cNvCxnSpPr>
          <p:nvPr>
            <p:custDataLst>
              <p:tags r:id="rId14"/>
            </p:custDataLst>
          </p:nvPr>
        </p:nvCxnSpPr>
        <p:spPr>
          <a:xfrm flipV="1">
            <a:off x="4133559" y="2106837"/>
            <a:ext cx="967847" cy="368622"/>
          </a:xfrm>
          <a:prstGeom prst="curvedConnector3">
            <a:avLst>
              <a:gd name="adj1" fmla="val 50000"/>
            </a:avLst>
          </a:prstGeom>
          <a:noFill/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>
            <p:custDataLst>
              <p:tags r:id="rId15"/>
            </p:custDataLst>
          </p:nvPr>
        </p:nvSpPr>
        <p:spPr>
          <a:xfrm>
            <a:off x="2133600" y="3200400"/>
            <a:ext cx="4934505" cy="152400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noAutofit/>
          </a:bodyPr>
          <a:lstStyle/>
          <a:p>
            <a:r>
              <a:rPr lang="en-US" sz="3200" dirty="0" smtClean="0">
                <a:latin typeface="Calibri" pitchFamily="34" charset="0"/>
                <a:cs typeface="Calibri" pitchFamily="34" charset="0"/>
              </a:rPr>
              <a:t>M[ESP] = &amp;gadget1</a:t>
            </a:r>
          </a:p>
          <a:p>
            <a:r>
              <a:rPr lang="en-US" sz="3200" dirty="0" smtClean="0">
                <a:latin typeface="Calibri" pitchFamily="34" charset="0"/>
                <a:cs typeface="Calibri" pitchFamily="34" charset="0"/>
              </a:rPr>
              <a:t>M[ESP+off1] = &amp;gadget2</a:t>
            </a:r>
          </a:p>
          <a:p>
            <a:r>
              <a:rPr lang="en-US" sz="3200" dirty="0" smtClean="0">
                <a:latin typeface="Calibri" pitchFamily="34" charset="0"/>
                <a:cs typeface="Calibri" pitchFamily="34" charset="0"/>
              </a:rPr>
              <a:t>M[ESP+off2] = &amp;gadget3</a:t>
            </a:r>
          </a:p>
        </p:txBody>
      </p:sp>
      <p:sp>
        <p:nvSpPr>
          <p:cNvPr id="3" name="TextBox 2"/>
          <p:cNvSpPr txBox="1"/>
          <p:nvPr>
            <p:custDataLst>
              <p:tags r:id="rId16"/>
            </p:custDataLst>
          </p:nvPr>
        </p:nvSpPr>
        <p:spPr>
          <a:xfrm>
            <a:off x="555171" y="550279"/>
            <a:ext cx="7924800" cy="9048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sz="3200" dirty="0" smtClean="0">
                <a:latin typeface="Calibri" pitchFamily="34" charset="0"/>
                <a:cs typeface="Calibri" pitchFamily="34" charset="0"/>
              </a:rPr>
              <a:t>How do we ensure the ROP payload gets in the exploit?</a:t>
            </a:r>
            <a:endParaRPr lang="en-US" sz="3200" dirty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7" name="Rounded Rectangular Callout 6"/>
          <p:cNvSpPr/>
          <p:nvPr>
            <p:custDataLst>
              <p:tags r:id="rId17"/>
            </p:custDataLst>
          </p:nvPr>
        </p:nvSpPr>
        <p:spPr>
          <a:xfrm>
            <a:off x="304800" y="4952998"/>
            <a:ext cx="3900321" cy="457201"/>
          </a:xfrm>
          <a:prstGeom prst="wedgeRoundRectCallout">
            <a:avLst>
              <a:gd name="adj1" fmla="val -3396"/>
              <a:gd name="adj2" fmla="val -122463"/>
              <a:gd name="adj3" fmla="val 16667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Exploit Constraints</a:t>
            </a:r>
          </a:p>
        </p:txBody>
      </p:sp>
      <p:sp>
        <p:nvSpPr>
          <p:cNvPr id="5" name="Right Arrow 4"/>
          <p:cNvSpPr/>
          <p:nvPr>
            <p:custDataLst>
              <p:tags r:id="rId18"/>
            </p:custDataLst>
          </p:nvPr>
        </p:nvSpPr>
        <p:spPr>
          <a:xfrm>
            <a:off x="4367782" y="4952999"/>
            <a:ext cx="1956818" cy="1176338"/>
          </a:xfrm>
          <a:prstGeom prst="righ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SMT</a:t>
            </a:r>
          </a:p>
        </p:txBody>
      </p:sp>
      <p:sp>
        <p:nvSpPr>
          <p:cNvPr id="8" name="Rectangle 7"/>
          <p:cNvSpPr/>
          <p:nvPr>
            <p:custDataLst>
              <p:tags r:id="rId19"/>
            </p:custDataLst>
          </p:nvPr>
        </p:nvSpPr>
        <p:spPr>
          <a:xfrm>
            <a:off x="6553200" y="4952999"/>
            <a:ext cx="2209800" cy="1176338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>
                <a:latin typeface="Calibri" pitchFamily="34" charset="0"/>
                <a:cs typeface="Calibri" pitchFamily="34" charset="0"/>
              </a:rPr>
              <a:t>E</a:t>
            </a:r>
            <a:r>
              <a:rPr lang="en-US" sz="3600" dirty="0" smtClean="0">
                <a:latin typeface="Calibri" pitchFamily="34" charset="0"/>
                <a:cs typeface="Calibri" pitchFamily="34" charset="0"/>
              </a:rPr>
              <a:t>xploit</a:t>
            </a:r>
          </a:p>
        </p:txBody>
      </p:sp>
      <p:sp>
        <p:nvSpPr>
          <p:cNvPr id="25" name="Rounded Rectangular Callout 24"/>
          <p:cNvSpPr/>
          <p:nvPr>
            <p:custDataLst>
              <p:tags r:id="rId20"/>
            </p:custDataLst>
          </p:nvPr>
        </p:nvSpPr>
        <p:spPr>
          <a:xfrm>
            <a:off x="304800" y="5638799"/>
            <a:ext cx="3900321" cy="457201"/>
          </a:xfrm>
          <a:prstGeom prst="wedgeRoundRectCallout">
            <a:avLst>
              <a:gd name="adj1" fmla="val -4233"/>
              <a:gd name="adj2" fmla="val -43892"/>
              <a:gd name="adj3" fmla="val 16667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Path Constraints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56249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8049"/>
    </mc:Choice>
    <mc:Fallback xmlns="">
      <p:transition spd="slow" advTm="38049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5" grpId="0" animBg="1"/>
      <p:bldP spid="8" grpId="0" animBg="1"/>
      <p:bldP spid="2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Demo!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6E0D5B86-D5FE-4820-860D-574C9585D181}" type="datetime1">
              <a:rPr lang="en-US" smtClean="0"/>
              <a:t>8/15/2011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46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2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demo.mpeg">
            <a:hlinkClick r:id="" action="ppaction://media"/>
          </p:cNvPr>
          <p:cNvPicPr>
            <a:picLocks noGrp="1" noChangeAspect="1"/>
          </p:cNvPicPr>
          <p:nvPr>
            <p:ph sz="quarter" idx="13"/>
            <a:videoFile r:link="rId7"/>
            <p:custDataLst>
              <p:tags r:id="rId8"/>
            </p:custDataLst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457200" y="769938"/>
            <a:ext cx="8229600" cy="5394325"/>
          </a:xfr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1875526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5130"/>
    </mc:Choice>
    <mc:Fallback xmlns="">
      <p:transition spd="slow" advTm="3513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  <p:extLst mod="1">
    <p:ext uri="{E180D4A7-C9FB-4DFB-919C-405C955672EB}">
      <p14:showEvtLst xmlns:p14="http://schemas.microsoft.com/office/powerpoint/2010/main">
        <p14:playEvt time="3148" objId="7"/>
        <p14:triggerEvt type="onClick" time="3148" objId="7"/>
        <p14:stopEvt time="30638" objId="7"/>
      </p14:showEvtLst>
    </p:ext>
  </p:extLs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Overview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 dirty="0" smtClean="0"/>
              <a:t>Background: Defenses and Return Oriented Programming (ROP)</a:t>
            </a:r>
          </a:p>
          <a:p>
            <a:r>
              <a:rPr lang="en-US" dirty="0" smtClean="0"/>
              <a:t>Q: ROP + Hardening</a:t>
            </a:r>
          </a:p>
          <a:p>
            <a:pPr lvl="1"/>
            <a:r>
              <a:rPr lang="en-US" dirty="0" smtClean="0"/>
              <a:t>Automatic ROP</a:t>
            </a:r>
          </a:p>
          <a:p>
            <a:pPr lvl="1"/>
            <a:r>
              <a:rPr lang="en-US" dirty="0" smtClean="0"/>
              <a:t>Automatic Hardening</a:t>
            </a:r>
            <a:endParaRPr lang="en-US" dirty="0"/>
          </a:p>
          <a:p>
            <a:r>
              <a:rPr lang="en-US" b="1" dirty="0" smtClean="0"/>
              <a:t>Evaluation</a:t>
            </a:r>
          </a:p>
          <a:p>
            <a:r>
              <a:rPr lang="en-US" dirty="0" smtClean="0"/>
              <a:t>Limitations</a:t>
            </a:r>
          </a:p>
          <a:p>
            <a:r>
              <a:rPr lang="en-US" dirty="0" smtClean="0"/>
              <a:t>Conclusion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2F1F15C3-E042-4DDA-BDB7-EDBA148E5889}" type="datetime1">
              <a:rPr lang="en-US" smtClean="0"/>
              <a:t>8/15/2011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  <p:custDataLst>
              <p:tags r:id="rId5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47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2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35337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873"/>
    </mc:Choice>
    <mc:Fallback xmlns="">
      <p:transition spd="slow" advTm="2873"/>
    </mc:Fallback>
  </mc:AlternateContent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Evaluation Questions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6E0D5B86-D5FE-4820-860D-574C9585D181}" type="datetime1">
              <a:rPr lang="en-US" smtClean="0"/>
              <a:t>8/15/2011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48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2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13"/>
            <p:custDataLst>
              <p:tags r:id="rId6"/>
            </p:custDataLst>
          </p:nvPr>
        </p:nvSpPr>
        <p:spPr/>
        <p:txBody>
          <a:bodyPr>
            <a:normAutofit/>
          </a:bodyPr>
          <a:lstStyle/>
          <a:p>
            <a:pPr marL="914400" indent="-914400">
              <a:buFont typeface="+mj-lt"/>
              <a:buAutoNum type="arabicPeriod"/>
            </a:pPr>
            <a:r>
              <a:rPr lang="en-US" sz="4800" dirty="0" smtClean="0"/>
              <a:t>Can Q harden exploits for real binary programs?</a:t>
            </a:r>
            <a:endParaRPr lang="en-US" sz="4400" dirty="0" smtClean="0"/>
          </a:p>
          <a:p>
            <a:pPr marL="742950" indent="-742950">
              <a:buFont typeface="+mj-lt"/>
              <a:buAutoNum type="arabicPeriod"/>
            </a:pPr>
            <a:endParaRPr lang="en-US" sz="4400" dirty="0" smtClean="0"/>
          </a:p>
          <a:p>
            <a:pPr marL="914400" indent="-914400">
              <a:buFont typeface="+mj-lt"/>
              <a:buAutoNum type="arabicPeriod"/>
            </a:pPr>
            <a:r>
              <a:rPr lang="en-US" sz="4800" dirty="0" smtClean="0"/>
              <a:t>How much </a:t>
            </a:r>
            <a:r>
              <a:rPr lang="en-US" sz="4800" dirty="0" err="1" smtClean="0"/>
              <a:t>unrandomized</a:t>
            </a:r>
            <a:r>
              <a:rPr lang="en-US" sz="4800" dirty="0"/>
              <a:t> </a:t>
            </a:r>
            <a:r>
              <a:rPr lang="en-US" sz="4800" dirty="0" smtClean="0"/>
              <a:t>code is sufficient to create ROP payloads?</a:t>
            </a:r>
            <a:endParaRPr lang="en-US" sz="48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4872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679"/>
    </mc:Choice>
    <mc:Fallback xmlns="">
      <p:transition spd="slow" advTm="20679"/>
    </mc:Fallback>
  </mc:AlternateContent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Real Exploits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B168E0C2-E556-4357-9507-CAA5AEB33A2F}" type="datetime1">
              <a:rPr lang="en-US" smtClean="0"/>
              <a:t>8/15/2011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49</a:t>
            </a:fld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/>
        <p:txBody>
          <a:bodyPr/>
          <a:lstStyle/>
          <a:p>
            <a:r>
              <a:rPr lang="en-US" dirty="0" smtClean="0"/>
              <a:t>Q was able to </a:t>
            </a:r>
            <a:r>
              <a:rPr lang="en-US" b="1" dirty="0" smtClean="0"/>
              <a:t>automatically harden</a:t>
            </a:r>
            <a:r>
              <a:rPr lang="en-US" dirty="0" smtClean="0"/>
              <a:t> nine exploits downloaded from exploit-db.com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2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custDataLst>
              <p:tags r:id="rId7"/>
            </p:custDataLst>
            <p:extLst>
              <p:ext uri="{D42A27DB-BD31-4B8C-83A1-F6EECF244321}">
                <p14:modId xmlns:p14="http://schemas.microsoft.com/office/powerpoint/2010/main" val="763621583"/>
              </p:ext>
            </p:extLst>
          </p:nvPr>
        </p:nvGraphicFramePr>
        <p:xfrm>
          <a:off x="603104" y="1752600"/>
          <a:ext cx="7931296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00152"/>
                <a:gridCol w="1628559"/>
                <a:gridCol w="1702585"/>
              </a:tblGrid>
              <a:tr h="0">
                <a:tc>
                  <a:txBody>
                    <a:bodyPr/>
                    <a:lstStyle/>
                    <a:p>
                      <a:r>
                        <a:rPr lang="en-US" sz="2400" dirty="0" smtClean="0"/>
                        <a:t>Name</a:t>
                      </a:r>
                      <a:endParaRPr 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 smtClean="0"/>
                        <a:t>Total</a:t>
                      </a:r>
                      <a:r>
                        <a:rPr lang="en-US" sz="2400" baseline="0" dirty="0" smtClean="0"/>
                        <a:t> </a:t>
                      </a:r>
                      <a:r>
                        <a:rPr lang="en-US" sz="2400" dirty="0" smtClean="0"/>
                        <a:t>Time</a:t>
                      </a:r>
                      <a:endParaRPr 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 smtClean="0"/>
                        <a:t>OS</a:t>
                      </a:r>
                      <a:endParaRPr 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2400" dirty="0" smtClean="0"/>
                        <a:t>Free CD to MP3 Converter</a:t>
                      </a:r>
                      <a:endParaRPr 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 smtClean="0"/>
                        <a:t>130s</a:t>
                      </a:r>
                      <a:endParaRPr 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 smtClean="0"/>
                        <a:t>Windows 7</a:t>
                      </a:r>
                      <a:endParaRPr 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2400" dirty="0" err="1" smtClean="0"/>
                        <a:t>Fatplayer</a:t>
                      </a:r>
                      <a:endParaRPr 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 smtClean="0"/>
                        <a:t>133s</a:t>
                      </a:r>
                      <a:endParaRPr 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 smtClean="0"/>
                        <a:t>Windows 7</a:t>
                      </a:r>
                      <a:endParaRPr 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2400" dirty="0" smtClean="0"/>
                        <a:t>A-PDF Converter</a:t>
                      </a:r>
                      <a:endParaRPr 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 smtClean="0"/>
                        <a:t>378s</a:t>
                      </a:r>
                      <a:endParaRPr 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 smtClean="0"/>
                        <a:t>Windows 7</a:t>
                      </a:r>
                      <a:endParaRPr 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2400" dirty="0" smtClean="0"/>
                        <a:t>A-PDF Converter</a:t>
                      </a:r>
                      <a:r>
                        <a:rPr lang="en-US" sz="2400" baseline="0" dirty="0" smtClean="0"/>
                        <a:t> (SEH exploit)</a:t>
                      </a:r>
                      <a:endParaRPr 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 smtClean="0"/>
                        <a:t>357s</a:t>
                      </a:r>
                      <a:endParaRPr 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 smtClean="0"/>
                        <a:t>Windows 7</a:t>
                      </a:r>
                      <a:endParaRPr 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2400" dirty="0" smtClean="0"/>
                        <a:t>MP3</a:t>
                      </a:r>
                      <a:r>
                        <a:rPr lang="en-US" sz="2400" baseline="0" dirty="0" smtClean="0"/>
                        <a:t> CD Converter Pro</a:t>
                      </a:r>
                      <a:endParaRPr 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 smtClean="0"/>
                        <a:t>158s</a:t>
                      </a:r>
                      <a:endParaRPr 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 smtClean="0"/>
                        <a:t>Windows 7</a:t>
                      </a:r>
                      <a:endParaRPr 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2400" dirty="0" err="1" smtClean="0"/>
                        <a:t>rsync</a:t>
                      </a:r>
                      <a:endParaRPr 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 smtClean="0"/>
                        <a:t>65s</a:t>
                      </a:r>
                      <a:endParaRPr 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 smtClean="0"/>
                        <a:t>Linux</a:t>
                      </a:r>
                      <a:endParaRPr 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2400" dirty="0" err="1" smtClean="0"/>
                        <a:t>opendchub</a:t>
                      </a:r>
                      <a:endParaRPr 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 smtClean="0"/>
                        <a:t>225s</a:t>
                      </a:r>
                      <a:endParaRPr 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 smtClean="0"/>
                        <a:t>Linux</a:t>
                      </a:r>
                      <a:endParaRPr 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2400" dirty="0" err="1" smtClean="0"/>
                        <a:t>gv</a:t>
                      </a:r>
                      <a:endParaRPr 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 smtClean="0"/>
                        <a:t>237s</a:t>
                      </a:r>
                      <a:endParaRPr 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 smtClean="0"/>
                        <a:t>Linux</a:t>
                      </a:r>
                      <a:endParaRPr 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0">
                <a:tc>
                  <a:txBody>
                    <a:bodyPr/>
                    <a:lstStyle/>
                    <a:p>
                      <a:r>
                        <a:rPr lang="en-US" sz="2400" dirty="0" err="1" smtClean="0"/>
                        <a:t>Proftpd</a:t>
                      </a:r>
                      <a:endParaRPr 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 smtClean="0"/>
                        <a:t>44s</a:t>
                      </a:r>
                      <a:endParaRPr 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 smtClean="0"/>
                        <a:t>Linux</a:t>
                      </a:r>
                      <a:endParaRPr 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3585450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6224"/>
    </mc:Choice>
    <mc:Fallback xmlns="">
      <p:transition spd="slow" advTm="26224"/>
    </mc:Fallback>
  </mc:AlternateContent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ROP Probability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6DEBF103-01F2-41C2-B0FA-061C7810FBF3}" type="datetime1">
              <a:rPr lang="en-US" smtClean="0"/>
              <a:t>8/15/2011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50</a:t>
            </a:fld>
            <a:endParaRPr lang="en-US"/>
          </a:p>
        </p:txBody>
      </p:sp>
      <p:sp>
        <p:nvSpPr>
          <p:cNvPr id="5" name="Content Placeholder 4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/>
        <p:txBody>
          <a:bodyPr>
            <a:normAutofit/>
          </a:bodyPr>
          <a:lstStyle/>
          <a:p>
            <a:r>
              <a:rPr lang="en-US" sz="3600" dirty="0" smtClean="0"/>
              <a:t>Given program size, what is the probability Q can create a payload?</a:t>
            </a:r>
          </a:p>
          <a:p>
            <a:pPr lvl="1"/>
            <a:r>
              <a:rPr lang="en-US" dirty="0" smtClean="0"/>
              <a:t>Measure over all programs in /</a:t>
            </a:r>
            <a:r>
              <a:rPr lang="en-US" dirty="0" err="1" smtClean="0"/>
              <a:t>usr</a:t>
            </a:r>
            <a:r>
              <a:rPr lang="en-US" dirty="0" smtClean="0"/>
              <a:t>/bin</a:t>
            </a:r>
          </a:p>
          <a:p>
            <a:endParaRPr lang="en-US" sz="3600" dirty="0" smtClean="0"/>
          </a:p>
          <a:p>
            <a:r>
              <a:rPr lang="en-US" sz="3600" dirty="0" smtClean="0"/>
              <a:t>Depends on target computation</a:t>
            </a:r>
          </a:p>
          <a:p>
            <a:pPr lvl="1"/>
            <a:r>
              <a:rPr lang="en-US" sz="3200" dirty="0" smtClean="0"/>
              <a:t>Call functions statically or dynamically linked by the program </a:t>
            </a:r>
            <a:r>
              <a:rPr lang="en-US" sz="3200" dirty="0" smtClean="0">
                <a:solidFill>
                  <a:schemeClr val="tx2"/>
                </a:solidFill>
              </a:rPr>
              <a:t>(blue on next slide)</a:t>
            </a:r>
          </a:p>
          <a:p>
            <a:pPr lvl="1"/>
            <a:r>
              <a:rPr lang="en-US" sz="3200" dirty="0" smtClean="0"/>
              <a:t>Call any function in </a:t>
            </a:r>
            <a:r>
              <a:rPr lang="en-US" sz="3200" dirty="0" err="1" smtClean="0"/>
              <a:t>libc</a:t>
            </a:r>
            <a:r>
              <a:rPr lang="en-US" sz="3200" dirty="0" smtClean="0"/>
              <a:t> </a:t>
            </a:r>
            <a:r>
              <a:rPr lang="en-US" sz="3200" dirty="0" smtClean="0">
                <a:solidFill>
                  <a:srgbClr val="FF0000"/>
                </a:solidFill>
              </a:rPr>
              <a:t>(red; harder)</a:t>
            </a:r>
          </a:p>
          <a:p>
            <a:pPr lvl="2"/>
            <a:r>
              <a:rPr lang="en-US" dirty="0" smtClean="0"/>
              <a:t>system, </a:t>
            </a:r>
            <a:r>
              <a:rPr lang="en-US" dirty="0" err="1" smtClean="0"/>
              <a:t>execv</a:t>
            </a:r>
            <a:r>
              <a:rPr lang="en-US" dirty="0" smtClean="0"/>
              <a:t>, connect, </a:t>
            </a:r>
            <a:r>
              <a:rPr lang="en-US" dirty="0" err="1" smtClean="0"/>
              <a:t>mprotect</a:t>
            </a:r>
            <a:r>
              <a:rPr lang="en-US" dirty="0" smtClean="0"/>
              <a:t>, …</a:t>
            </a:r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2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32104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2300"/>
    </mc:Choice>
    <mc:Fallback xmlns="">
      <p:transition spd="slow" advTm="42300"/>
    </mc:Fallback>
  </mc:AlternateContent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2"/>
          <p:cNvPicPr>
            <a:picLocks noChangeAspect="1" noChangeArrowheads="1"/>
          </p:cNvPicPr>
          <p:nvPr>
            <p:custDataLst>
              <p:tags r:id="rId2"/>
            </p:custDataLst>
          </p:nvPr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0" y="1609725"/>
            <a:ext cx="8020050" cy="3571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 dirty="0" smtClean="0"/>
              <a:t>ROP Probability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636355F-1E1E-443C-AD94-48E99A148D6A}" type="datetime1">
              <a:rPr lang="en-US" smtClean="0"/>
              <a:t>8/15/2011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  <p:custDataLst>
              <p:tags r:id="rId5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51</a:t>
            </a:fld>
            <a:endParaRPr lang="en-US"/>
          </a:p>
        </p:txBody>
      </p:sp>
      <p:sp>
        <p:nvSpPr>
          <p:cNvPr id="7" name="TextBox 6"/>
          <p:cNvSpPr txBox="1"/>
          <p:nvPr>
            <p:custDataLst>
              <p:tags r:id="rId6"/>
            </p:custDataLst>
          </p:nvPr>
        </p:nvSpPr>
        <p:spPr>
          <a:xfrm>
            <a:off x="237292" y="762000"/>
            <a:ext cx="677108" cy="5181600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n-US" sz="3200" dirty="0" smtClean="0">
                <a:latin typeface="Calibri" pitchFamily="34" charset="0"/>
                <a:cs typeface="Calibri" pitchFamily="34" charset="0"/>
              </a:rPr>
              <a:t>Probability that attack works</a:t>
            </a:r>
          </a:p>
        </p:txBody>
      </p:sp>
      <p:sp>
        <p:nvSpPr>
          <p:cNvPr id="8" name="Rounded Rectangular Callout 7"/>
          <p:cNvSpPr/>
          <p:nvPr>
            <p:custDataLst>
              <p:tags r:id="rId7"/>
            </p:custDataLst>
          </p:nvPr>
        </p:nvSpPr>
        <p:spPr>
          <a:xfrm>
            <a:off x="914400" y="635876"/>
            <a:ext cx="5587425" cy="990600"/>
          </a:xfrm>
          <a:prstGeom prst="wedgeRoundRectCallout">
            <a:avLst>
              <a:gd name="adj1" fmla="val -16638"/>
              <a:gd name="adj2" fmla="val 123015"/>
              <a:gd name="adj3" fmla="val 16667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Call linked functions in 80% of programs &gt;= </a:t>
            </a:r>
            <a:r>
              <a:rPr lang="en-US" sz="3600" b="1" dirty="0" smtClean="0">
                <a:latin typeface="Calibri" pitchFamily="34" charset="0"/>
                <a:cs typeface="Calibri" pitchFamily="34" charset="0"/>
              </a:rPr>
              <a:t>true </a:t>
            </a:r>
            <a:r>
              <a:rPr lang="en-US" sz="3600" dirty="0" smtClean="0">
                <a:latin typeface="Calibri" pitchFamily="34" charset="0"/>
                <a:cs typeface="Calibri" pitchFamily="34" charset="0"/>
              </a:rPr>
              <a:t>(20KB)</a:t>
            </a:r>
          </a:p>
        </p:txBody>
      </p:sp>
      <p:sp>
        <p:nvSpPr>
          <p:cNvPr id="11" name="Rounded Rectangular Callout 10"/>
          <p:cNvSpPr/>
          <p:nvPr>
            <p:custDataLst>
              <p:tags r:id="rId8"/>
            </p:custDataLst>
          </p:nvPr>
        </p:nvSpPr>
        <p:spPr>
          <a:xfrm>
            <a:off x="1295400" y="3771900"/>
            <a:ext cx="6172200" cy="990600"/>
          </a:xfrm>
          <a:prstGeom prst="wedgeRoundRectCallout">
            <a:avLst>
              <a:gd name="adj1" fmla="val 10405"/>
              <a:gd name="adj2" fmla="val -163306"/>
              <a:gd name="adj3" fmla="val 16667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Call </a:t>
            </a:r>
            <a:r>
              <a:rPr lang="en-US" sz="3600" dirty="0" err="1" smtClean="0">
                <a:latin typeface="Calibri" pitchFamily="34" charset="0"/>
                <a:cs typeface="Calibri" pitchFamily="34" charset="0"/>
              </a:rPr>
              <a:t>libc</a:t>
            </a:r>
            <a:r>
              <a:rPr lang="en-US" sz="3600" dirty="0" smtClean="0">
                <a:latin typeface="Calibri" pitchFamily="34" charset="0"/>
                <a:cs typeface="Calibri" pitchFamily="34" charset="0"/>
              </a:rPr>
              <a:t> functions in 80% of programs &gt;= </a:t>
            </a:r>
            <a:r>
              <a:rPr lang="en-US" sz="3600" b="1" dirty="0" err="1" smtClean="0">
                <a:latin typeface="Calibri" pitchFamily="34" charset="0"/>
                <a:cs typeface="Calibri" pitchFamily="34" charset="0"/>
              </a:rPr>
              <a:t>nslookup</a:t>
            </a:r>
            <a:r>
              <a:rPr lang="en-US" sz="3600" b="1" dirty="0" smtClean="0">
                <a:latin typeface="Calibri" pitchFamily="34" charset="0"/>
                <a:cs typeface="Calibri" pitchFamily="34" charset="0"/>
              </a:rPr>
              <a:t> </a:t>
            </a:r>
            <a:r>
              <a:rPr lang="en-US" sz="3600" dirty="0" smtClean="0">
                <a:latin typeface="Calibri" pitchFamily="34" charset="0"/>
                <a:cs typeface="Calibri" pitchFamily="34" charset="0"/>
              </a:rPr>
              <a:t>(100KB)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2"/>
            <p:custDataLst>
              <p:tags r:id="rId9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TextBox 11"/>
          <p:cNvSpPr txBox="1"/>
          <p:nvPr>
            <p:custDataLst>
              <p:tags r:id="rId10"/>
            </p:custDataLst>
          </p:nvPr>
        </p:nvSpPr>
        <p:spPr>
          <a:xfrm>
            <a:off x="1524000" y="5181600"/>
            <a:ext cx="7162800" cy="6096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ctr"/>
            <a:r>
              <a:rPr lang="en-US" sz="3200" dirty="0" smtClean="0">
                <a:latin typeface="Calibri" pitchFamily="34" charset="0"/>
                <a:cs typeface="Calibri" pitchFamily="34" charset="0"/>
              </a:rPr>
              <a:t>Program Size (bytes)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49206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8800"/>
    </mc:Choice>
    <mc:Fallback xmlns="">
      <p:transition spd="slow" advTm="488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Overview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 dirty="0" smtClean="0"/>
              <a:t>Background: Defenses and Return Oriented Programming (ROP)</a:t>
            </a:r>
          </a:p>
          <a:p>
            <a:r>
              <a:rPr lang="en-US" dirty="0" smtClean="0"/>
              <a:t>Q: ROP + Hardening</a:t>
            </a:r>
          </a:p>
          <a:p>
            <a:pPr lvl="1"/>
            <a:r>
              <a:rPr lang="en-US" dirty="0" smtClean="0"/>
              <a:t>Automatic ROP</a:t>
            </a:r>
          </a:p>
          <a:p>
            <a:pPr lvl="1"/>
            <a:r>
              <a:rPr lang="en-US" dirty="0" smtClean="0"/>
              <a:t>Automatic Hardening</a:t>
            </a:r>
            <a:endParaRPr lang="en-US" dirty="0"/>
          </a:p>
          <a:p>
            <a:r>
              <a:rPr lang="en-US" dirty="0" smtClean="0"/>
              <a:t>Evaluation</a:t>
            </a:r>
          </a:p>
          <a:p>
            <a:r>
              <a:rPr lang="en-US" b="1" dirty="0" smtClean="0"/>
              <a:t>Limitations</a:t>
            </a:r>
          </a:p>
          <a:p>
            <a:r>
              <a:rPr lang="en-US" dirty="0" smtClean="0"/>
              <a:t>Conclusion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2F1F15C3-E042-4DDA-BDB7-EDBA148E5889}" type="datetime1">
              <a:rPr lang="en-US" smtClean="0"/>
              <a:t>8/15/2011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  <p:custDataLst>
              <p:tags r:id="rId5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52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2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512093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214"/>
    </mc:Choice>
    <mc:Fallback xmlns="">
      <p:transition spd="slow" advTm="2214"/>
    </mc:Fallback>
  </mc:AlternateContent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Limitations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6E0D5B86-D5FE-4820-860D-574C9585D181}" type="datetime1">
              <a:rPr lang="en-US" smtClean="0"/>
              <a:t>8/15/2011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53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2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13"/>
            <p:custDataLst>
              <p:tags r:id="rId6"/>
            </p:custDataLst>
          </p:nvPr>
        </p:nvSpPr>
        <p:spPr>
          <a:xfrm>
            <a:off x="457200" y="609600"/>
            <a:ext cx="8534400" cy="5715000"/>
          </a:xfrm>
        </p:spPr>
        <p:txBody>
          <a:bodyPr>
            <a:normAutofit/>
          </a:bodyPr>
          <a:lstStyle/>
          <a:p>
            <a:r>
              <a:rPr lang="en-US" dirty="0" smtClean="0"/>
              <a:t>Single path (trace-based) analysis</a:t>
            </a:r>
          </a:p>
          <a:p>
            <a:pPr lvl="1"/>
            <a:r>
              <a:rPr lang="en-US" dirty="0" smtClean="0"/>
              <a:t>restrictive; prevents finding exploits</a:t>
            </a:r>
          </a:p>
          <a:p>
            <a:pPr lvl="1"/>
            <a:endParaRPr lang="en-US" dirty="0"/>
          </a:p>
          <a:p>
            <a:r>
              <a:rPr lang="en-US" dirty="0" smtClean="0"/>
              <a:t>Q’s gadgets types are not Turing-complete</a:t>
            </a:r>
          </a:p>
          <a:p>
            <a:pPr lvl="1"/>
            <a:r>
              <a:rPr lang="en-US" dirty="0" smtClean="0"/>
              <a:t>Calling system(“/bin/</a:t>
            </a:r>
            <a:r>
              <a:rPr lang="en-US" dirty="0" err="1" smtClean="0"/>
              <a:t>sh</a:t>
            </a:r>
            <a:r>
              <a:rPr lang="en-US" dirty="0" smtClean="0"/>
              <a:t>”) </a:t>
            </a:r>
            <a:r>
              <a:rPr lang="en-US" dirty="0"/>
              <a:t> </a:t>
            </a:r>
            <a:r>
              <a:rPr lang="en-US" dirty="0" smtClean="0"/>
              <a:t>or </a:t>
            </a:r>
            <a:r>
              <a:rPr lang="en-US" dirty="0" err="1" smtClean="0"/>
              <a:t>mprotect</a:t>
            </a:r>
            <a:r>
              <a:rPr lang="en-US" dirty="0" smtClean="0"/>
              <a:t>()  usually enough</a:t>
            </a:r>
          </a:p>
          <a:p>
            <a:pPr lvl="1"/>
            <a:r>
              <a:rPr lang="en-US" dirty="0"/>
              <a:t>C</a:t>
            </a:r>
            <a:r>
              <a:rPr lang="en-US" dirty="0" smtClean="0"/>
              <a:t>omparison with related work</a:t>
            </a:r>
          </a:p>
          <a:p>
            <a:pPr lvl="1"/>
            <a:endParaRPr lang="en-US" dirty="0"/>
          </a:p>
          <a:p>
            <a:r>
              <a:rPr lang="en-US" dirty="0" smtClean="0"/>
              <a:t>Q cannot find conditional gadgets</a:t>
            </a:r>
          </a:p>
          <a:p>
            <a:pPr lvl="1"/>
            <a:r>
              <a:rPr lang="en-US" dirty="0" smtClean="0"/>
              <a:t>Potential automation of interesting work on ROP without Returns </a:t>
            </a:r>
            <a:r>
              <a:rPr lang="en-US" b="1" dirty="0" smtClean="0"/>
              <a:t>[CDSSW10]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75636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6745"/>
    </mc:Choice>
    <mc:Fallback xmlns="">
      <p:transition spd="slow" advTm="4674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Overview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 dirty="0" smtClean="0"/>
              <a:t>Background: Defenses and Return Oriented Programming (ROP)</a:t>
            </a:r>
          </a:p>
          <a:p>
            <a:r>
              <a:rPr lang="en-US" dirty="0" smtClean="0"/>
              <a:t>Q: ROP + Hardening</a:t>
            </a:r>
          </a:p>
          <a:p>
            <a:pPr lvl="1"/>
            <a:r>
              <a:rPr lang="en-US" dirty="0" smtClean="0"/>
              <a:t>Automatic ROP</a:t>
            </a:r>
          </a:p>
          <a:p>
            <a:pPr lvl="1"/>
            <a:r>
              <a:rPr lang="en-US" dirty="0" smtClean="0"/>
              <a:t>Automatic Hardening</a:t>
            </a:r>
            <a:endParaRPr lang="en-US" dirty="0"/>
          </a:p>
          <a:p>
            <a:r>
              <a:rPr lang="en-US" dirty="0" smtClean="0"/>
              <a:t>Evaluation</a:t>
            </a:r>
          </a:p>
          <a:p>
            <a:r>
              <a:rPr lang="en-US" dirty="0" smtClean="0"/>
              <a:t>Limitations</a:t>
            </a:r>
          </a:p>
          <a:p>
            <a:r>
              <a:rPr lang="en-US" b="1" dirty="0" smtClean="0"/>
              <a:t>Conclusion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2F1F15C3-E042-4DDA-BDB7-EDBA148E5889}" type="datetime1">
              <a:rPr lang="en-US" smtClean="0"/>
              <a:t>8/15/2011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  <p:custDataLst>
              <p:tags r:id="rId5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54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2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4546924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360"/>
    </mc:Choice>
    <mc:Fallback xmlns="">
      <p:transition spd="slow" advTm="1360"/>
    </mc:Fallback>
  </mc:AlternateContent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Conclusion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5E59911B-952A-4AFE-A5C5-185B17727B89}" type="datetime1">
              <a:rPr lang="en-US" smtClean="0"/>
              <a:t>8/15/2011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55</a:t>
            </a:fld>
            <a:endParaRPr lang="en-US"/>
          </a:p>
        </p:txBody>
      </p:sp>
      <p:sp>
        <p:nvSpPr>
          <p:cNvPr id="5" name="Content Placeholder 4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/>
        <p:txBody>
          <a:bodyPr/>
          <a:lstStyle/>
          <a:p>
            <a:r>
              <a:rPr lang="en-US" dirty="0" smtClean="0"/>
              <a:t>We built Q, a system that </a:t>
            </a:r>
            <a:r>
              <a:rPr lang="en-US" b="1" dirty="0" smtClean="0"/>
              <a:t>automatically hardens exploits</a:t>
            </a:r>
            <a:r>
              <a:rPr lang="en-US" dirty="0" smtClean="0"/>
              <a:t> to bypass defenses</a:t>
            </a:r>
          </a:p>
          <a:p>
            <a:pPr lvl="1"/>
            <a:r>
              <a:rPr lang="en-US" b="1" dirty="0" smtClean="0"/>
              <a:t>Challenge: </a:t>
            </a:r>
            <a:r>
              <a:rPr lang="en-US" dirty="0" smtClean="0"/>
              <a:t>Reusing small amounts of code</a:t>
            </a:r>
          </a:p>
          <a:p>
            <a:pPr lvl="1"/>
            <a:endParaRPr lang="en-US" dirty="0" smtClean="0"/>
          </a:p>
          <a:p>
            <a:r>
              <a:rPr lang="en-US" dirty="0" smtClean="0"/>
              <a:t>Q </a:t>
            </a:r>
            <a:r>
              <a:rPr lang="en-US" b="1" dirty="0" smtClean="0"/>
              <a:t>automatically hardened nine </a:t>
            </a:r>
            <a:r>
              <a:rPr lang="en-US" dirty="0" smtClean="0"/>
              <a:t>real </a:t>
            </a:r>
            <a:r>
              <a:rPr lang="en-US" dirty="0"/>
              <a:t>exploits found in the </a:t>
            </a:r>
            <a:r>
              <a:rPr lang="en-US" dirty="0" smtClean="0"/>
              <a:t>wild against latest </a:t>
            </a:r>
            <a:r>
              <a:rPr lang="en-US" smtClean="0"/>
              <a:t>OS defenses</a:t>
            </a:r>
          </a:p>
          <a:p>
            <a:endParaRPr lang="en-US" dirty="0" smtClean="0"/>
          </a:p>
          <a:p>
            <a:r>
              <a:rPr lang="en-US" b="1" dirty="0" smtClean="0"/>
              <a:t>Takeaway:</a:t>
            </a:r>
            <a:r>
              <a:rPr lang="en-US" dirty="0" smtClean="0"/>
              <a:t> </a:t>
            </a:r>
            <a:r>
              <a:rPr lang="en-US" dirty="0" err="1" smtClean="0"/>
              <a:t>Unrandomized</a:t>
            </a:r>
            <a:r>
              <a:rPr lang="en-US" dirty="0" smtClean="0"/>
              <a:t> code is dangerous</a:t>
            </a:r>
          </a:p>
          <a:p>
            <a:pPr lvl="1"/>
            <a:r>
              <a:rPr lang="en-US" dirty="0" smtClean="0"/>
              <a:t>20KB</a:t>
            </a:r>
            <a:r>
              <a:rPr lang="en-US" b="1" dirty="0" smtClean="0"/>
              <a:t> </a:t>
            </a:r>
            <a:r>
              <a:rPr lang="en-US" dirty="0" smtClean="0"/>
              <a:t>makes DEP+ASLR ineffective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2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86181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0438"/>
    </mc:Choice>
    <mc:Fallback xmlns="">
      <p:transition spd="slow" advTm="40438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Thanks! </a:t>
            </a:r>
            <a:r>
              <a:rPr lang="en-US" dirty="0" smtClean="0">
                <a:sym typeface="Wingdings" pitchFamily="2" charset="2"/>
              </a:rPr>
              <a:t>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6E0D5B86-D5FE-4820-860D-574C9585D181}" type="datetime1">
              <a:rPr lang="en-US" smtClean="0"/>
              <a:t>8/15/2011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56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2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13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en-US" dirty="0" smtClean="0"/>
              <a:t>Questions?</a:t>
            </a:r>
          </a:p>
          <a:p>
            <a:endParaRPr lang="en-US" dirty="0"/>
          </a:p>
          <a:p>
            <a:r>
              <a:rPr lang="en-US" dirty="0" smtClean="0"/>
              <a:t>Check out some of the gadgets Q can find at http://plaid.cylab.cmu.edu:8080/~ed/gadgets</a:t>
            </a:r>
          </a:p>
          <a:p>
            <a:endParaRPr lang="en-US" dirty="0" smtClean="0"/>
          </a:p>
          <a:p>
            <a:pPr marL="0" indent="0">
              <a:buNone/>
            </a:pPr>
            <a:r>
              <a:rPr lang="en-US" dirty="0" smtClean="0"/>
              <a:t>Edward J. Schwartz</a:t>
            </a:r>
            <a:endParaRPr lang="en-US" dirty="0"/>
          </a:p>
          <a:p>
            <a:pPr marL="0" indent="0">
              <a:buNone/>
            </a:pPr>
            <a:r>
              <a:rPr lang="en-US" dirty="0" smtClean="0">
                <a:hlinkClick r:id="rId9"/>
              </a:rPr>
              <a:t>edmcman@cmu.edu</a:t>
            </a:r>
            <a:endParaRPr lang="en-US" dirty="0" smtClean="0"/>
          </a:p>
          <a:p>
            <a:pPr marL="0" indent="0">
              <a:buNone/>
            </a:pPr>
            <a:r>
              <a:rPr lang="en-US" dirty="0" smtClean="0"/>
              <a:t>http://www.ece.cmu.edu/~ejschwar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747561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94"/>
    </mc:Choice>
    <mc:Fallback xmlns="">
      <p:transition spd="slow" advTm="2094"/>
    </mc:Fallback>
  </mc:AlternateContent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Related Work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6E0D5B86-D5FE-4820-860D-574C9585D181}" type="datetime1">
              <a:rPr lang="en-US" smtClean="0"/>
              <a:t>8/15/2011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57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2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13"/>
            <p:custDataLst>
              <p:tags r:id="rId6"/>
            </p:custDataLst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smtClean="0"/>
              <a:t>Seminal ROP Paper </a:t>
            </a:r>
            <a:r>
              <a:rPr lang="en-US" b="1" dirty="0" smtClean="0"/>
              <a:t>[S07]</a:t>
            </a:r>
          </a:p>
          <a:p>
            <a:pPr lvl="1"/>
            <a:r>
              <a:rPr lang="en-US" dirty="0" smtClean="0"/>
              <a:t>Found Turing-complete gadgets in </a:t>
            </a:r>
            <a:r>
              <a:rPr lang="en-US" dirty="0" err="1" smtClean="0"/>
              <a:t>libc</a:t>
            </a:r>
            <a:r>
              <a:rPr lang="en-US" dirty="0" smtClean="0"/>
              <a:t> </a:t>
            </a:r>
            <a:r>
              <a:rPr lang="en-US" dirty="0"/>
              <a:t>m</a:t>
            </a:r>
            <a:r>
              <a:rPr lang="en-US" dirty="0" smtClean="0"/>
              <a:t>ostly by hand</a:t>
            </a:r>
          </a:p>
          <a:p>
            <a:r>
              <a:rPr lang="en-US" dirty="0">
                <a:sym typeface="Wingdings" pitchFamily="2" charset="2"/>
              </a:rPr>
              <a:t>A</a:t>
            </a:r>
            <a:r>
              <a:rPr lang="en-US" dirty="0" smtClean="0">
                <a:sym typeface="Wingdings" pitchFamily="2" charset="2"/>
              </a:rPr>
              <a:t>utomatic </a:t>
            </a:r>
            <a:r>
              <a:rPr lang="en-US" dirty="0">
                <a:sym typeface="Wingdings" pitchFamily="2" charset="2"/>
              </a:rPr>
              <a:t>ROP </a:t>
            </a:r>
            <a:r>
              <a:rPr lang="en-US" b="1" dirty="0"/>
              <a:t>[HHF09,DKW10]</a:t>
            </a:r>
            <a:endParaRPr lang="en-US" dirty="0">
              <a:sym typeface="Wingdings" pitchFamily="2" charset="2"/>
            </a:endParaRPr>
          </a:p>
          <a:p>
            <a:pPr lvl="1"/>
            <a:r>
              <a:rPr lang="en-US" dirty="0">
                <a:sym typeface="Wingdings" pitchFamily="2" charset="2"/>
              </a:rPr>
              <a:t>Focuses on large code bases (</a:t>
            </a:r>
            <a:r>
              <a:rPr lang="en-US" dirty="0" err="1">
                <a:sym typeface="Wingdings" pitchFamily="2" charset="2"/>
              </a:rPr>
              <a:t>libc</a:t>
            </a:r>
            <a:r>
              <a:rPr lang="en-US" dirty="0">
                <a:sym typeface="Wingdings" pitchFamily="2" charset="2"/>
              </a:rPr>
              <a:t>, mobile libraries</a:t>
            </a:r>
            <a:r>
              <a:rPr lang="en-US" dirty="0" smtClean="0">
                <a:sym typeface="Wingdings" pitchFamily="2" charset="2"/>
              </a:rPr>
              <a:t>)</a:t>
            </a:r>
            <a:endParaRPr lang="en-US" dirty="0" smtClean="0"/>
          </a:p>
          <a:p>
            <a:r>
              <a:rPr lang="en-US" dirty="0" smtClean="0"/>
              <a:t>Surgically Returning to </a:t>
            </a:r>
            <a:r>
              <a:rPr lang="en-US" dirty="0" err="1" smtClean="0"/>
              <a:t>Libc</a:t>
            </a:r>
            <a:r>
              <a:rPr lang="en-US" dirty="0" smtClean="0"/>
              <a:t>, </a:t>
            </a:r>
            <a:r>
              <a:rPr lang="en-US" b="1" dirty="0" smtClean="0"/>
              <a:t>[RMPB09]</a:t>
            </a:r>
          </a:p>
          <a:p>
            <a:pPr lvl="1"/>
            <a:r>
              <a:rPr lang="en-US" dirty="0" smtClean="0"/>
              <a:t>Calculated address of </a:t>
            </a:r>
            <a:r>
              <a:rPr lang="en-US" dirty="0" err="1" smtClean="0"/>
              <a:t>libc</a:t>
            </a:r>
            <a:r>
              <a:rPr lang="en-US" dirty="0" smtClean="0"/>
              <a:t> functions using ROP gadgets from program image </a:t>
            </a:r>
            <a:r>
              <a:rPr lang="en-US" dirty="0" smtClean="0">
                <a:sym typeface="Wingdings" pitchFamily="2" charset="2"/>
              </a:rPr>
              <a:t></a:t>
            </a:r>
            <a:endParaRPr lang="en-US" dirty="0" smtClean="0"/>
          </a:p>
          <a:p>
            <a:pPr lvl="1"/>
            <a:r>
              <a:rPr lang="en-US" dirty="0" smtClean="0"/>
              <a:t>Implements a subset of our gadgets </a:t>
            </a:r>
            <a:r>
              <a:rPr lang="en-US" dirty="0" smtClean="0">
                <a:sym typeface="Wingdings" pitchFamily="2" charset="2"/>
              </a:rPr>
              <a:t></a:t>
            </a:r>
            <a:endParaRPr lang="en-US" dirty="0" smtClean="0"/>
          </a:p>
          <a:p>
            <a:r>
              <a:rPr lang="en-US" dirty="0" smtClean="0"/>
              <a:t>Immunity’s DEPLIB, </a:t>
            </a:r>
            <a:r>
              <a:rPr lang="en-US" b="1" dirty="0" smtClean="0"/>
              <a:t>[No Paper]</a:t>
            </a:r>
          </a:p>
          <a:p>
            <a:pPr lvl="1"/>
            <a:r>
              <a:rPr lang="en-US" dirty="0" smtClean="0"/>
              <a:t>Tool for creating ROP payloads</a:t>
            </a:r>
          </a:p>
          <a:p>
            <a:pPr lvl="1"/>
            <a:r>
              <a:rPr lang="en-US" dirty="0" smtClean="0"/>
              <a:t>Also uses SMT for gadget discovery </a:t>
            </a:r>
            <a:r>
              <a:rPr lang="en-US" dirty="0" smtClean="0">
                <a:sym typeface="Wingdings" pitchFamily="2" charset="2"/>
              </a:rPr>
              <a:t></a:t>
            </a:r>
          </a:p>
          <a:p>
            <a:pPr lvl="1"/>
            <a:r>
              <a:rPr lang="en-US" dirty="0" smtClean="0">
                <a:sym typeface="Wingdings" pitchFamily="2" charset="2"/>
              </a:rPr>
              <a:t>No public evaluation that we know of </a:t>
            </a:r>
          </a:p>
          <a:p>
            <a:pPr lvl="1"/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13181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618"/>
    </mc:Choice>
    <mc:Fallback xmlns="">
      <p:transition spd="slow" advTm="5618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Sizes of Gadget Sources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6E0D5B86-D5FE-4820-860D-574C9585D181}" type="datetime1">
              <a:rPr lang="en-US" smtClean="0"/>
              <a:t>8/15/2011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58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2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>
            <p:custDataLst>
              <p:tags r:id="rId6"/>
            </p:custData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051" y="2306542"/>
            <a:ext cx="8882063" cy="22449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TextBox 6"/>
          <p:cNvSpPr txBox="1"/>
          <p:nvPr>
            <p:custDataLst>
              <p:tags r:id="rId7"/>
            </p:custDataLst>
          </p:nvPr>
        </p:nvSpPr>
        <p:spPr>
          <a:xfrm>
            <a:off x="2171700" y="4533900"/>
            <a:ext cx="4800600" cy="9525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3200" dirty="0" smtClean="0">
                <a:latin typeface="Calibri" pitchFamily="34" charset="0"/>
                <a:cs typeface="Calibri" pitchFamily="34" charset="0"/>
              </a:rPr>
              <a:t>File size</a:t>
            </a:r>
          </a:p>
          <a:p>
            <a:pPr algn="ctr"/>
            <a:r>
              <a:rPr lang="en-US" sz="3200" dirty="0" smtClean="0">
                <a:latin typeface="Calibri" pitchFamily="34" charset="0"/>
                <a:cs typeface="Calibri" pitchFamily="34" charset="0"/>
              </a:rPr>
              <a:t>(bytes)</a:t>
            </a:r>
            <a:endParaRPr lang="en-US" sz="3200" dirty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8" name="TextBox 7"/>
          <p:cNvSpPr txBox="1"/>
          <p:nvPr>
            <p:custDataLst>
              <p:tags r:id="rId8"/>
            </p:custDataLst>
          </p:nvPr>
        </p:nvSpPr>
        <p:spPr>
          <a:xfrm>
            <a:off x="-152400" y="2057400"/>
            <a:ext cx="685800" cy="2438400"/>
          </a:xfrm>
          <a:prstGeom prst="rect">
            <a:avLst/>
          </a:prstGeom>
          <a:noFill/>
        </p:spPr>
        <p:txBody>
          <a:bodyPr vert="vert270" wrap="square" rtlCol="0">
            <a:noAutofit/>
          </a:bodyPr>
          <a:lstStyle/>
          <a:p>
            <a:pPr algn="ctr"/>
            <a:r>
              <a:rPr lang="en-US" sz="3200" dirty="0" smtClean="0">
                <a:latin typeface="Calibri" pitchFamily="34" charset="0"/>
                <a:cs typeface="Calibri" pitchFamily="34" charset="0"/>
              </a:rPr>
              <a:t>Ratio</a:t>
            </a:r>
            <a:endParaRPr lang="en-US" sz="3200" dirty="0">
              <a:latin typeface="Calibri" pitchFamily="34" charset="0"/>
              <a:cs typeface="Calibri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604563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209"/>
    </mc:Choice>
    <mc:Fallback xmlns="">
      <p:transition spd="slow" advTm="1209"/>
    </mc:Fallback>
  </mc:AlternateContent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dirty="0" smtClean="0"/>
              <a:t>Types of Gadgets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6E0D5B86-D5FE-4820-860D-574C9585D181}" type="datetime1">
              <a:rPr lang="en-US" smtClean="0"/>
              <a:t>8/15/2011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  <p:custDataLst>
              <p:tags r:id="rId4"/>
            </p:custDataLst>
          </p:nvPr>
        </p:nvSpPr>
        <p:spPr/>
        <p:txBody>
          <a:bodyPr/>
          <a:lstStyle/>
          <a:p>
            <a:fld id="{D72DCFC7-CCD2-4D18-A5A6-8AD55EBAF26B}" type="slidenum">
              <a:rPr lang="en-US" smtClean="0"/>
              <a:t>59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2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1" name="Picture 2"/>
          <p:cNvPicPr>
            <a:picLocks noChangeAspect="1" noChangeArrowheads="1"/>
          </p:cNvPicPr>
          <p:nvPr>
            <p:custDataLst>
              <p:tags r:id="rId6"/>
            </p:custDataLst>
          </p:nvPr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758422"/>
            <a:ext cx="9144000" cy="533757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" name="Rounded Rectangular Callout 7"/>
          <p:cNvSpPr/>
          <p:nvPr>
            <p:custDataLst>
              <p:tags r:id="rId7"/>
            </p:custDataLst>
          </p:nvPr>
        </p:nvSpPr>
        <p:spPr>
          <a:xfrm>
            <a:off x="228600" y="544286"/>
            <a:ext cx="2819400" cy="1600200"/>
          </a:xfrm>
          <a:prstGeom prst="wedgeRoundRectCallout">
            <a:avLst>
              <a:gd name="adj1" fmla="val 110055"/>
              <a:gd name="adj2" fmla="val 184269"/>
              <a:gd name="adj3" fmla="val 16667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Number of </a:t>
            </a:r>
            <a:r>
              <a:rPr lang="en-US" sz="3600" dirty="0" err="1" smtClean="0">
                <a:latin typeface="Calibri" pitchFamily="34" charset="0"/>
                <a:cs typeface="Calibri" pitchFamily="34" charset="0"/>
              </a:rPr>
              <a:t>StoreMem</a:t>
            </a:r>
            <a:endParaRPr lang="en-US" sz="3600" dirty="0" smtClean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10" name="Rounded Rectangular Callout 9"/>
          <p:cNvSpPr/>
          <p:nvPr>
            <p:custDataLst>
              <p:tags r:id="rId8"/>
            </p:custDataLst>
          </p:nvPr>
        </p:nvSpPr>
        <p:spPr>
          <a:xfrm>
            <a:off x="3276600" y="544286"/>
            <a:ext cx="2819400" cy="1600200"/>
          </a:xfrm>
          <a:prstGeom prst="wedgeRoundRectCallout">
            <a:avLst>
              <a:gd name="adj1" fmla="val 53298"/>
              <a:gd name="adj2" fmla="val 82908"/>
              <a:gd name="adj3" fmla="val 16667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dirty="0" smtClean="0">
                <a:latin typeface="Calibri" pitchFamily="34" charset="0"/>
                <a:cs typeface="Calibri" pitchFamily="34" charset="0"/>
              </a:rPr>
              <a:t>Number of </a:t>
            </a:r>
            <a:r>
              <a:rPr lang="en-US" sz="3600" dirty="0" err="1" smtClean="0">
                <a:latin typeface="Calibri" pitchFamily="34" charset="0"/>
                <a:cs typeface="Calibri" pitchFamily="34" charset="0"/>
              </a:rPr>
              <a:t>ArithStore</a:t>
            </a:r>
            <a:endParaRPr lang="en-US" sz="3600" dirty="0" smtClean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9" name="Rectangle 8"/>
          <p:cNvSpPr/>
          <p:nvPr>
            <p:custDataLst>
              <p:tags r:id="rId9"/>
            </p:custDataLst>
          </p:nvPr>
        </p:nvSpPr>
        <p:spPr>
          <a:xfrm>
            <a:off x="7924800" y="1295400"/>
            <a:ext cx="1066800" cy="76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600" dirty="0" smtClean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12" name="Rectangle 11"/>
          <p:cNvSpPr/>
          <p:nvPr>
            <p:custDataLst>
              <p:tags r:id="rId10"/>
            </p:custDataLst>
          </p:nvPr>
        </p:nvSpPr>
        <p:spPr>
          <a:xfrm>
            <a:off x="7990114" y="4800600"/>
            <a:ext cx="1066800" cy="76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600" dirty="0" smtClean="0">
              <a:latin typeface="Calibri" pitchFamily="34" charset="0"/>
              <a:cs typeface="Calibri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498662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8998"/>
    </mc:Choice>
    <mc:Fallback xmlns="">
      <p:transition spd="slow" advTm="18998"/>
    </mc:Fallback>
  </mc:AlternateContent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r2k5NtzQS25Pi2b5Y2O5u9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V4VFXn1zP560vpo1siOpqD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XCp3oi9IRqUi7g98vcPicZ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JhwMHWzwh4Ii6jgUYIq7dG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6dh7RkMBA7rXT7wBBc8k8Q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zP9QRBd6S5M3bjuz4fKGtA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Q9q8nm6dYTxfDsY1sbotfm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bPWd627TAsmYY0pJdQ0E6S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vVG2A3Nyi0luXAbaf465i4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SEuXBIXxtAfij0w4r461am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Dt3Px3AVx1Aq21yDr4BKwK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fEgbDbC2ZgUw10UMbTWx3d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ITXvwOC1qpPSeoymqpiv2j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ww0xIFSHOZH1Wnd8FOqXPu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H8MwdPtwfxbomrvY5W9JBQ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bcrb9hKu55u1ORLcr3dhJa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Qy0LDGItN6TRXA42GcMLr5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TlDDdTv5vj61lSanE3LChn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8XTb7on1uYIKEF7ZtOXIAz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KWecSixJZPOwdFJ1M6HuO7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iBdufFzWEzNycXXVw5uLZS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W8ssfr2R06KCDCYn2S92bf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IEtM4QAC038qF52Np8UNyG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NAjkX92CCWHGpNZtnbgn6H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ucXSkes18nG2RSsKTrzoq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JYFfOWKIwbA557m4OO9BOk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0nW60DiPOIhitZd5pwgpQv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rLMlnPCLeOnpXhjIV7qHmS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ONDnRIoCkotvWajFftc2ts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U41VMHB9Z98yXZIZXUmCuZ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Vsl8pfRXujplTylVVG1boj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nncjXfviGRYV9zADhlh1FO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9C69E2YFAiAB5XW5iBsbDx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nYpMlipFUnEyeAdNBsk0gG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kxuCHc3FzuaBe8KSGGgVnd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XwJmRu0ZQDhHDRhJAcBfNa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oCl52JMEJli7AYSlkzEADw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8RsXpwaLSGDasSBJn7bQ2D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DrdpbvEneTOcHEpMcEkFwj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549gKEwH9BCoFFacIqUBWu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5tTvOoxvmzGkm8gVKZQwKd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zjZKCZWUKUnAYGnfQ89De3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fGAblUwr1kuYdpqKWGXcjp"/>
  <p:tag name="TIMING" val="|10.4|0.7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Hki1WNFVKpKSUzw4LxzsOL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XMazxv9Hm7YvBErA39ePaX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Q6LNIMmC3MfWnwRmfaM22C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ToYSCbtqdYBZV3OKNnlK3b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fFgUIHT437VdcnPP9a8Dzh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loAOyvmoHhyH9jCHtMx9Ut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3IQrUYdaCqCYjRkU9oHEpD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EudwcrHm6pmRlSX7AobxF8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5aZKnzC8sf4p3ldoLLsfkc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BswrW2NitRYwp3xs47JXX6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aLXjPi4mUgj9uVmEhrYaSq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x51lrP6KJooKrZPBqX357o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ULXHgnQ4uazFG6RdR79Khf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wEkN46UEx5v9afnJyJUETd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bMiJJc6VWm6FeimtiK9PDt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7.8|5"/>
  <p:tag name="DVSECTIONID" val="6fe34CwdX8rSy2H2TdDAYt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9xVBP7zpQClityulmHyC99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2u14n5qav4zICLN8nZmwwt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kWPOYXnrh1k0urAKKtZF7g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IKVIxekzfDDya4ey7sN3My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VxcWKqSqGzR1iS0KEKIvrm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nBgmyCeSwQl3d4Tfq97ILH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nVgvvblwS4uanjrbFIkm6M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d6RaFR2DV4MGel5263xZYg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z2HzNetoooABIaElwtue8p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oG566DBhP6OWxOs64OawGn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5CCUoKx3vJ79E1tG7QN7zu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gGPSbG1ZSUfJFH5LerPGja"/>
  <p:tag name="TIMING" val="|17.1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NMCPTqpG4CJ0AtubfRJLA4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OnaqCnGjJzOBPQhyQ7EPEv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pDr0cWAVnNTIXfFsN10KSa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cZDDTG0C7LqiXwZCaJJOc0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H6S2TnjCPTDfrrmy2UUKF8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HBnkXeyKxisCZxecqQcXgw"/>
  <p:tag name="TIMING" val="|28.1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iEh8taQg14YbiwLQMCjvWw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FI5xgCHOTrlyOdLKU8LyRz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hf9PNb7hqabLZz3VUeydaw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QJIx52IaJnE5qQoqOvGB0a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n2ecHZew0EoKoq7f65zgqO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zutyuJeqUhdJHGOGQmuNEV"/>
  <p:tag name="TIMING" val="|1.2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FI5xgCHOTrlyOdLKU8LyRz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hf9PNb7hqabLZz3VUeydaw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QJIx52IaJnE5qQoqOvGB0a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n2ecHZew0EoKoq7f65zgqO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COmZX7ZbKh95YevRINr7nX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6T8dxup3xzvFlFjTlJWcn0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HGrXjzoA2KJzWk3trJ6W6P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fI4rWdKQkeq6crMAbQEWwL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WMJZPRhc5qTRrISRCbPbpv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8Q7BHRygi9itMiIWnTy88Z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h2Ixx20ZulUbZyXXgqLlxa"/>
  <p:tag name="TIMING" val="|12.4|4.2|7.8|5.8|5.7|4.5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cl03Hkes6llqETRd9qDP8J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yXVA8FNWDgn8DMBDae1P3X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7mDP5aJ8viQsM276byFaH5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2vf5CwfoNjGAQzWiADdvL5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ibZyw32t9Sg2j8AZydS6ux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LbcxaTX1WcjXd364Zclk9O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kNgOIB50CFBKqNlYT9w7W3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IlVwTtdFKanXRpgmalWWzE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msDiI1jcN1Sg4USbIBNWUr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ntWWHwYbbZu4ZtTALcmyml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5AkltZCl9CKU5amMjMdCQS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M0Vph8QAAl41omBl3ZyQQR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1j1DGQQN9LmEILLKFmSvN6"/>
  <p:tag name="TIMING" val="|11.3|14.1|11.7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rnmaq47h1bOZqlBvzshux6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6nFEnHQ6MCCKkMILpwZReM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w1x5WdT9VhIlhZuMGqrUpc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mF0ONN3KuGSjQE7hKCcCGk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2ZuIgCQzpjnkER58q66aN1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tY9QFpFOIMv1C1j4wrUVgy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VwZfcCc6wvx1wwzqXrTABA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ODf3OlzFgRKU2DQqc3CBgZ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uBuNv5tt1GXlHmZ8NRxRfF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gCtWAxePYZkP9Ez1PtbMQ4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WHVtq3fK4pKOlSjzvWfbIY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0SdlzM13FtPbFM066aAdVV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4kiGIgXexEmYG3g4ttI0Jh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Z9cwzpP4Bu25NS2T3L5rWa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fpKtr2CKTJZqLVVg5FaySE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PH5WP1H6uVcNl9tbGyos2S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VAgn2AqXUhlOjurCzOnvZ7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TZxTpS4x2t8XMuFrZ6Fx0U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swPZK4ZA5wSOHhQ8bxSnfR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GmIWX7OgPr6Zw03q70ysnB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M9tgNkg9kL3FOf7nueoyq9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Y3FZW58gRI7aNbeVvr9Iwo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XW3q0llTJEfVILWYNHfwq4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vUdcwRgwfWdA5JVv4NUXYt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VRtsYxEss0XSr9dOOuDdoi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I7Fd2iCsBt52YlJ4TJRNuc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EhZPOohckfeAEPmef1YoxG"/>
  <p:tag name="TIMING" val="|13.2|14.2|29.9|14.9|7|8|38.9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0jBrd4DhzUQ8yE0i4mYQye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G6CbvK3qZquFomdHa2HFWB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jOtLXUQ8js5MCuP2zSd9Uq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ETgE4nbV9Sh4MOIJM8zR71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zBJIS8tOrNGTazvjQtWojd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vxI1jP65z3jCkEUlu3rkrt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oTE8esi6UIIl6b0ROEImeC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AxfQouYTWYL19OmbADMs8A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TYxIkCeMC5fLj6Tn4N71MK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A52buD34zLtZEgjG9lEalG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MovghczZk7O8osG88BIywt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hjsD4nEMnBoUiEGelRuAqm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bvSQZ0d2rNaj6bOE8blyJc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Ju91sTfR3V2U7WKdoDykaB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JZxuqGIjfRDZLoGXyjMzKe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XH8iydD3QWiPe2Pss3yMKE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YDDwtzQdqZx5UVGwmnCMRq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gfr8yULke9j3axJ1WvojaR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XDruSgr8U5mymo4l1Vs6Lo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h8amxq5exBRvIlqyNOvxRd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WCNlRGc19EFBT0LanSzqW0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7qxQZVwx3PQjLwudlWRPNE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cRIUsW6cuNWqgLSPnZABCA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gb4RTUNH0p18KauYtz8KGa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5Ys6qoBvI3hraaGbO6HuqT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ISTuFkaemu8LvR1qZmyUny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3hZ4YgmP20QUFsuhafTQkv"/>
  <p:tag name="TIMING" val="|17.5|11.9|9.5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RBJCCYSfeft3Tjlm3QvAxi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rLhOOPsBjv8PxbRAVwrRrd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f6cF4dHBgcSyaXkO92MDVY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U4M9utVZ9GRdvbC9LfTIeV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XZ1Tf6no4Ohhb7SUIeGg2b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HWs9bZgxJdJY6N8AeOCKB2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yd05M70RDizE0daGIp14bL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5lv388SfC5YSGMub4oE9kB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bD3eVfFIvZRN7FAIZRZoFu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G8xncwkCq2qu9RZUdDzUzY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0TEOAlpMaVVHWVGx28nSzP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mDwIJ4ElOLUI8EInVYdERv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jY7H53mSw2onFGicRVe72u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DciMhgYqkL4D8mMLumPZou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MjqB7NtKrs8Xh5klZPrNu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1mFnaBzBbBGYrmWjAYKokV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wlKf66TgmKajpZnuS2MIsE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D7igdGBqqabziEvoNZdqN0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YhuFOUXI18BSHCXQTdFVjZ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w7G60ZvJFvyROTBcMiAVtr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3lK3pTZ6BUIekhNo7QLCiQ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sgleER4eTixrrxaE9vVKRF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1mFnaBzBbBGYrmWjAYKokV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wlKf66TgmKajpZnuS2MIs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D7igdGBqqabziEvoNZdqN0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YhuFOUXI18BSHCXQTdFVjZ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w7G60ZvJFvyROTBcMiAVtr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3lK3pTZ6BUIekhNo7QLCiQ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sgleER4eTixrrxaE9vVKRF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h4Yz9FnQaFKvrhyWkZekwH"/>
  <p:tag name="TIMING" val="|13.2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sHp7mD6P87aOMrLSYonmZF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s5KuhKm54f6hefOXBR3dAN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o62tlHaEp1VMekmSlmt23V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Iucw30NvjL4EGEsOpEVqQ4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lr0uBIvHKyKtnxgPDaQTHa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ToYSCbtqdYBZV3OKNnlK3b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3IQrUYdaCqCYjRkU9oHEpD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lDIrkyJIsWoq226YJdjFkd"/>
  <p:tag name="TIMING" val="|8.2|6.7|8.5|3.7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SSyoyOcJjyFwHKZ5g5NySN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OrZrMYmDCrnY6gxae8r7lf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T6GeFIwgrjI547o61dnGVd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9JDIx5QF7KryxSLxjD7m03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EvzwltUJyzd5sCv7jJzT0M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eRVOWmsHWdRjmGQfMCj16K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sSuYr36GciXRhHAxxxgRCZ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mvp8Fe5MKe7sEkJCN2JgHY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VoFINZCe03kluyZnzPTKwm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VKNZyjrLSRD5IULNLgJMr1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KXtKMQ6WIBn6cdVpAWmzKp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VwVMFUlCmtRUHkIgvFd3fQ"/>
  <p:tag name="TIMING" val="|37.2|15.6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LK5KfFKzbw6eBycbDJxHOw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Pvr60lv1I0EIZN8DoAPTTa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dd4w9w6Y8ZcfVAj8Fo4aO6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zTzp20lWSVCEie1tcYVJRF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wKRykfVqOJl6DbXJt5Dc7h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x6L7fRD1p4A5u7lzxIRmBy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Cgi46bc5f4fUnOxuG51r6S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jbAQwsvP6Fye7Bgf9KeJug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RJO8bZpxbFbJX6ugFJApXA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l8GWdrWhcmo2jQ1nhvqzuS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2nE9KS5v94jhoFsfMXBUtP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Fq7wM5u0P0o5YP0yEuZk4N"/>
  <p:tag name="TIMING" val="|5.6|3.4|3.2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lVNDfhs4Zo5s5ii3H3bHdj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I1slV1JsXApd2Im6CN345U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bVA9XIgxILB2cLbTlqlwrv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3SgzHAqoE9dOPxLM41cqRD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CZwBVJrCIztFRISn1F6j7s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OnVE8zmkj0Dpfg35FHW1qE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l9F3TG0wjyv9b8GgASgofs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2ssBkV0on6192LZ5FGkNH5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U65Upo74L2pS7dBil4wUap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kCPAVV8ubSeYrkZI4xwoez"/>
  <p:tag name="TIMING" val="|2.8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725UhvcA4sLWylwpvBhjkZ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K9DMunkfhMUuY3Ou7CRbXW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7bFfMVzUDR47hWhv0PfPbY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13ntB0uFr92N1r6eBoGm83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pQLSdBB2V8L9aBRikypYqU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5uUPoMeQ9OQYDwHINS3peT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1Shvni47W9CvKhYodPN4ZW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icXkBCLxU1Gbs1xTpWM1RG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l8MqJoFeB9U5z5x2GrmpeB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OzPWQkqRiY5CQPybSmRGpw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gnrslmflEsrJkcAMylOJRW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ZXeItvz0xybhisvnY3CXjD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b6ulA5NwRFFknudDTKLDUS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Hp8wyY3nnhuR6vGbazSlOv"/>
  <p:tag name="TIMING" val="|10.5|14.2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x2U8hamL7UCmL8d7Vtd1Gv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CY41al9SbGIizsrrOCa6yL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H0I5pLOiqTc1qW4g01BfJW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EtyLGtFAQAXQg4i5Vo3SgP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6x1unxC8ui1KmfwE5lCP2B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4zFZXU6dcQGOm1Jb67YI5E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PvI3ygiHfqNutsOnAH2h6b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R0oGyWprNFzKVqrpn9rOvX"/>
  <p:tag name="TIMING" val="|4.3|3.1|12.8|14.3|12.1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4xSuVTevRjwpK9hUmPUuAg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0SyhmIxgGNyErab3lptKzt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X3HE6GlcmBAOxZWDwvYADI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Q6I6Iiuv1QGxUuzHCRVuqW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3DDb7HSXMYPfcBWZX3HRzJ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7Z5r3OT6F9iU24txaMC44I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HFiYLDTSMzmkwD6GD33FjG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XiySvqSUevFpip953gcNnI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WoMbaGm76Vos9SFOcFYg8n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k4n0EBz4nhpyHEX4wXq84M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E7lGwy0NswjeLQkFZoLGuh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0hH9Fa8JNvoF3quKXAydVS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HudyyruB5Enn63YmSPEJIN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P6MTaeqa7hl8zdW6CHebpK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QArdNsGwS7qk7XuERTcF25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3Za4YFFnLOmzyOcMWlzVMl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PLl6Nxvg3c7EJJeSJlEWgf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sGHf8MnEjQQLLGRGE80B4d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ctdKpZ9Q06OAiFpypISoTh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OYYy02GwVEaetd1nnousPJ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Wanch6JhJFkVFfMQZ7aua9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9YQ6ukmdqurHgoKnPIJlRV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PLl6Nxvg3c7EJJeSJlEWgf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sGHf8MnEjQQLLGRGE80B4d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ctdKpZ9Q06OAiFpypISoTh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OYYy02GwVEaetd1nnousPJ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Wanch6JhJFkVFfMQZ7aua9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DNtqYwMoRoAeDlKJtj4J1r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PLl6Nxvg3c7EJJeSJlEWgf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sGHf8MnEjQQLLGRGE80B4d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ctdKpZ9Q06OAiFpypISoTh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OYYy02GwVEaetd1nnousPJ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Wanch6JhJFkVFfMQZ7aua9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qRxza9ns3mGgyeFX3m7pHP"/>
  <p:tag name="TIMING" val="|25.5|7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XWZCg955tpggEHtHqA1jTg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QsQJQmBz7LfdWdXjKb4e0F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86Wq2BK7qqTG5wMxiJtUhu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0rKfJ6QPfFgbkKMqj0PZkP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jf7qxdSkK6nD5vFMRDhAae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T3Ze24hZFDpzgDK9EGEl1i"/>
  <p:tag name="TIMING" val="|10.3|8.6|2.9|1.1|2.5|10.4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i0cL6i6BmXV6MKFb14Oouq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hpsqySWcdv3V8rIyNIsShh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ErueSa18u16RJMiGJeEaJq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3RCestg6WC9ZL0VkZLa511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OgHWf7Ydd7yeoDCEHyRn4t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IK1iLpeT0Eo12lxwe98Ip1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rxChHl3CeEWlyXUXlyZj7T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PmBg6ajHfm3GjuFtHSQoqK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4GMAChNzI6UxHfGqeSiwoA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Xlcnh7fvXuO8pTAqbdPrps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6.6|9.9|7.5|7.6"/>
  <p:tag name="DVSECTIONID" val="jCvpFakmFpCdl2C4lPq1D2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MLMpMgEY5TltoTWbZVJCDb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4CXMWHjfDJXk6SDS6zsuDz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JOvAAn3YW1jAHarZkWEPgC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w4N3x6O999xuT9hm7WcFNW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1vatq6fwPNj7hqMwPW9MR9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CpZH6oYei0OhwtEgwe6f8t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qd8nygt7jSDACqwiegYj4X"/>
  <p:tag name="TIMING" val="|9.7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3chiIYPIDBOA2hT3FHUDkJ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bMRQzA6gv04RsXc8ohG6aI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iHovDLgsSePj1uqSoeBm6O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wbPVQxjCWdzstas4WkZ28Q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28WHIvSruOCtbcFIUJ9fhC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Kz1gqkihm3FF9GZ9PNKuIK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QZZfoeqgTSzponGr5x9dry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Nv3YJLUluMUZI1haW3R6aN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6JiBsnHckujhbtbpvElxnM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voEFaUB6mko0okG7jwEirp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GqPNZwycKCpkdUXMcMBe7Y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Tb4QJnkOT5k5IdQnV5yaAL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B47L9wjRGdiHxDI8MaRVJj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mziEuu8ZSsvO8vCssLSq8k"/>
  <p:tag name="TIMING" val="|9|21.1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Z7bJVPRvGXo7z0JYeNv1o7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N1GcEMjniE2h5ZAqBuZbwl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ip3HoOW3qHUSja3Jb5ciEK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5iVKnNc02dAsJg8Wnvredk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mdFqmRiUZeGxkLMEq8QpFH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2KteEfqbAsxtQy5ULYZk0b"/>
  <p:tag name="TIMING" val="|2.6|6.4|5.6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hRrMAeHHRqwLVI4XqkI7em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MbWnaJ4jnOEFVOYAh4dhmg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1yQ4AsHvHysU5gQd4YCy2I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6fMgYQ3EUWZv9nw58CBR66"/>
</p:tagLst>
</file>

<file path=ppt/tags/tag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d0JIJ4ZfFOdisAhktQs3Ev"/>
</p:tagLst>
</file>

<file path=ppt/tags/tag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Vz6sGYP0WaB02Lwg6YEEha"/>
</p:tagLst>
</file>

<file path=ppt/tags/tag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iQVWOO8Ko3sH5aCho0qFS3"/>
</p:tagLst>
</file>

<file path=ppt/tags/tag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GryvNdJuoZeKhfxJa0SbLy"/>
</p:tagLst>
</file>

<file path=ppt/tags/tag3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ylGmDPAEeBieatoi1U0UFs"/>
</p:tagLst>
</file>

<file path=ppt/tags/tag3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skTnJEPqNGh8TcPqAUUJLD"/>
</p:tagLst>
</file>

<file path=ppt/tags/tag3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s253lSYXaRT5Sltg5VOOOB"/>
</p:tagLst>
</file>

<file path=ppt/tags/tag3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X1AbtAk60VHPSRiGiXrPvq"/>
</p:tagLst>
</file>

<file path=ppt/tags/tag3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eNjtXjOYUXOR43sapoC4QX"/>
</p:tagLst>
</file>

<file path=ppt/tags/tag3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o3tCYpCRmY5xMNRZD0h10K"/>
</p:tagLst>
</file>

<file path=ppt/tags/tag3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00Mee8y3drzhpfZllpl3AQ"/>
</p:tagLst>
</file>

<file path=ppt/tags/tag3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MxgFipLBMOXE3tPJaujjLD"/>
</p:tagLst>
</file>

<file path=ppt/tags/tag3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gFF3mxZTrOkRFEWDyDnn1T"/>
</p:tagLst>
</file>

<file path=ppt/tags/tag3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C27N3wp9TTy3MZLRaqsoLV"/>
</p:tagLst>
</file>

<file path=ppt/tags/tag3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DdWNgGf76k8MUdoJDmllPN"/>
</p:tagLst>
</file>

<file path=ppt/tags/tag3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RPo61sK3daFGoTRffJTMNe"/>
</p:tagLst>
</file>

<file path=ppt/tags/tag3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V05ysrM53q6Ql6p9ENm26Y"/>
</p:tagLst>
</file>

<file path=ppt/tags/tag3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6dOuRn6Br20DUn1tZjg86f"/>
</p:tagLst>
</file>

<file path=ppt/tags/tag3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EN1yJv85Kjj2xBlCqgdycZ"/>
  <p:tag name="TIMING" val="|14.6"/>
</p:tagLst>
</file>

<file path=ppt/tags/tag3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AyyKP556qK8XUSJYzpYrY3"/>
</p:tagLst>
</file>

<file path=ppt/tags/tag3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PIc28aN2LXRQCfW6x0wkBf"/>
</p:tagLst>
</file>

<file path=ppt/tags/tag3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uXt9J1KR9EgwIQyNXUjoYa"/>
</p:tagLst>
</file>

<file path=ppt/tags/tag3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63fu2sRXVDrAdfyZrLiUOc"/>
</p:tagLst>
</file>

<file path=ppt/tags/tag3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A5x5yK3B1dhkRqTfZh0bJC"/>
</p:tagLst>
</file>

<file path=ppt/tags/tag3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48DjfXty54lTt9XWU7TjCe"/>
</p:tagLst>
</file>

<file path=ppt/tags/tag3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iSn86bL0UCsX0osev68t8c"/>
</p:tagLst>
</file>

<file path=ppt/tags/tag3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YXWJi3nShpZQPKV6RhM49J"/>
</p:tagLst>
</file>

<file path=ppt/tags/tag3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rv8ytFCNb955UqbmTID1k3"/>
</p:tagLst>
</file>

<file path=ppt/tags/tag3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XayHioeQG32fwrBJzHgteQ"/>
</p:tagLst>
</file>

<file path=ppt/tags/tag3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KJQvVvo4r8onxY0Lndzls2"/>
</p:tagLst>
</file>

<file path=ppt/tags/tag3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3EUJK99VKQP7pORNsJrCBU"/>
</p:tagLst>
</file>

<file path=ppt/tags/tag3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R8TCJNk2UTnHGbBbKfVvox"/>
</p:tagLst>
</file>

<file path=ppt/tags/tag3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yqycUALPTQr8NLQ8qlBHVV"/>
</p:tagLst>
</file>

<file path=ppt/tags/tag3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JH7FchZcH5wkzs3xSJh5Zw"/>
</p:tagLst>
</file>

<file path=ppt/tags/tag3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gyoPkCOzUGBCHR4eotQG9l"/>
</p:tagLst>
</file>

<file path=ppt/tags/tag3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Ctco4TsSqQWcrzhmWmo7bP"/>
</p:tagLst>
</file>

<file path=ppt/tags/tag3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IFSwjckWjt1m1S1OOuKm40"/>
  <p:tag name="TIMING" val="|9"/>
</p:tagLst>
</file>

<file path=ppt/tags/tag3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IWLcsElNejnUVVDWyV61gK"/>
</p:tagLst>
</file>

<file path=ppt/tags/tag3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GupvX1xti1aMKfCRqOwCBC"/>
</p:tagLst>
</file>

<file path=ppt/tags/tag3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PwDlJZOs19zYggNXGjgL0l"/>
</p:tagLst>
</file>

<file path=ppt/tags/tag3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K8aojGuhvE83FTRBixEP00"/>
</p:tagLst>
</file>

<file path=ppt/tags/tag3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dMYm4t8cmQBuLvblF8YJEU"/>
</p:tagLst>
</file>

<file path=ppt/tags/tag3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PcBT551I6bkKUopXC09iii"/>
</p:tagLst>
</file>

<file path=ppt/tags/tag3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ra7mqXRwRgmiXMLan3bDKq"/>
</p:tagLst>
</file>

<file path=ppt/tags/tag3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91AMVIvXAmCwKqLJE4Qzj3"/>
</p:tagLst>
</file>

<file path=ppt/tags/tag3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nBrDbrC67Ey115MD191TG0"/>
</p:tagLst>
</file>

<file path=ppt/tags/tag3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Gq1loEo6Na65DYliw3kueY"/>
</p:tagLst>
</file>

<file path=ppt/tags/tag3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YJoFX13HyqnnV1BQ2YH0Rn"/>
</p:tagLst>
</file>

<file path=ppt/tags/tag3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UVsNiJCXycLHriWJGn35CG"/>
</p:tagLst>
</file>

<file path=ppt/tags/tag3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Ig2kHG0lMd6APtd9Jk5ARb"/>
</p:tagLst>
</file>

<file path=ppt/tags/tag3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CeziUjikXLLddbLX2WWcpx"/>
</p:tagLst>
</file>

<file path=ppt/tags/tag3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ARtsvwEJ01OwDOKoLH3sgl"/>
</p:tagLst>
</file>

<file path=ppt/tags/tag3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OBg1oLi8EEL4DHPsOLGeLK"/>
</p:tagLst>
</file>

<file path=ppt/tags/tag3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oGyXdDbf9Xhf2Sct8SqRna"/>
</p:tagLst>
</file>

<file path=ppt/tags/tag3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4sS2xtbV6jGLz8ro68GH2T"/>
</p:tagLst>
</file>

<file path=ppt/tags/tag3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ODSjQdmtvdlsrQFHttEQEk"/>
</p:tagLst>
</file>

<file path=ppt/tags/tag3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Hl31FzbglHVuwzvXh19uYA"/>
</p:tagLst>
</file>

<file path=ppt/tags/tag3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NXrKLtKmMyOuVwfOyMhfRE"/>
</p:tagLst>
</file>

<file path=ppt/tags/tag3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wWj5cvbDG9m6y6AVOHvZUm"/>
</p:tagLst>
</file>

<file path=ppt/tags/tag3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G1EYHttncII8rvqFgea9RE"/>
</p:tagLst>
</file>

<file path=ppt/tags/tag3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FGOCXJMoMiNC40nKMMXoEJ"/>
  <p:tag name="TIMING" val="|3.9"/>
</p:tagLst>
</file>

<file path=ppt/tags/tag3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3chiIYPIDBOA2hT3FHUDkJ"/>
</p:tagLst>
</file>

<file path=ppt/tags/tag4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bMRQzA6gv04RsXc8ohG6aI"/>
</p:tagLst>
</file>

<file path=ppt/tags/tag4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iHovDLgsSePj1uqSoeBm6O"/>
</p:tagLst>
</file>

<file path=ppt/tags/tag4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wbPVQxjCWdzstas4WkZ28Q"/>
</p:tagLst>
</file>

<file path=ppt/tags/tag4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28WHIvSruOCtbcFIUJ9fhC"/>
</p:tagLst>
</file>

<file path=ppt/tags/tag4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Kz1gqkihm3FF9GZ9PNKuIK"/>
</p:tagLst>
</file>

<file path=ppt/tags/tag4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QZZfoeqgTSzponGr5x9dry"/>
</p:tagLst>
</file>

<file path=ppt/tags/tag4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Nv3YJLUluMUZI1haW3R6aN"/>
</p:tagLst>
</file>

<file path=ppt/tags/tag4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6JiBsnHckujhbtbpvElxnM"/>
</p:tagLst>
</file>

<file path=ppt/tags/tag4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voEFaUB6mko0okG7jwEirp"/>
</p:tagLst>
</file>

<file path=ppt/tags/tag4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GqPNZwycKCpkdUXMcMBe7Y"/>
</p:tagLst>
</file>

<file path=ppt/tags/tag4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Tb4QJnkOT5k5IdQnV5yaAL"/>
</p:tagLst>
</file>

<file path=ppt/tags/tag4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B47L9wjRGdiHxDI8MaRVJj"/>
</p:tagLst>
</file>

<file path=ppt/tags/tag4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0.4|38.5"/>
  <p:tag name="DVSECTIONID" val="ImfqOc0m5OwrvcFVuRpYeG"/>
</p:tagLst>
</file>

<file path=ppt/tags/tag4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JuFQE3sHYeI90Z79M8xW4W"/>
</p:tagLst>
</file>

<file path=ppt/tags/tag4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FUWKBnD4Upj6qle2mAAROd"/>
</p:tagLst>
</file>

<file path=ppt/tags/tag4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NzDS9o6FWt7NOLUUr53Tki"/>
</p:tagLst>
</file>

<file path=ppt/tags/tag4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PTyMVKLXmd7s6m6JeeYftQ"/>
</p:tagLst>
</file>

<file path=ppt/tags/tag4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YDws7s9uNVTvKJjmtlTZ6U"/>
</p:tagLst>
</file>

<file path=ppt/tags/tag4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HoDsd739wRTOErqHN6Pf9c"/>
  <p:tag name="TIMING" val="|7.2|0.8|0.8|5.1"/>
</p:tagLst>
</file>

<file path=ppt/tags/tag4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FmFxNIROV4PZVVfsCjNRpc"/>
</p:tagLst>
</file>

<file path=ppt/tags/tag4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zBCnpRLCltJ4YaNAEqDYZO"/>
</p:tagLst>
</file>

<file path=ppt/tags/tag4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GKOo70IzbfusN3VpjZ3iIl"/>
</p:tagLst>
</file>

<file path=ppt/tags/tag4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gQW5F2EmdrcLVRz0JKUMiu"/>
</p:tagLst>
</file>

<file path=ppt/tags/tag4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zvnJFe7DUH5kuXr2lGUO13"/>
</p:tagLst>
</file>

<file path=ppt/tags/tag4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iIH0kqjuzrwLmyGfKyTa5y"/>
</p:tagLst>
</file>

<file path=ppt/tags/tag4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jJbmjK1qcVbxiEUymZTmU0"/>
</p:tagLst>
</file>

<file path=ppt/tags/tag4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0uY3V84OH83JoXOY6yt8fB"/>
</p:tagLst>
</file>

<file path=ppt/tags/tag4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mbdCFP1YkwSGjppoMH2XEe"/>
</p:tagLst>
</file>

<file path=ppt/tags/tag4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GhCQiqHMPGK20DSvJBMMAX"/>
</p:tagLst>
</file>

<file path=ppt/tags/tag4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jQzVXX1Lfaj7uV0OxAgyGb"/>
</p:tagLst>
</file>

<file path=ppt/tags/tag4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WgpLwhYraSEJXLgmsKK3rz"/>
</p:tagLst>
</file>

<file path=ppt/tags/tag4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JS8WvU4bv2g7TiwcqKNOZq"/>
</p:tagLst>
</file>

<file path=ppt/tags/tag4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FAnByHpdRtswflBBoOnBj8"/>
</p:tagLst>
</file>

<file path=ppt/tags/tag4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f283QigioW2LgrHVmpfzwu"/>
</p:tagLst>
</file>

<file path=ppt/tags/tag4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yHyeuM3j8Zwubs0EZD3JQc"/>
  <p:tag name="TIMING" val="|16.8|14.3"/>
</p:tagLst>
</file>

<file path=ppt/tags/tag4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0P5VsHfjvh9kaArJHafvtc"/>
</p:tagLst>
</file>

<file path=ppt/tags/tag4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PJzJ0g0s7R7AbyT3TMWAMW"/>
</p:tagLst>
</file>

<file path=ppt/tags/tag4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TZv9GL8vZcUNZllJHZj3ah"/>
</p:tagLst>
</file>

<file path=ppt/tags/tag4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cApTQEhtzSqSQAeQAfjBSV"/>
</p:tagLst>
</file>

<file path=ppt/tags/tag4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FnzyH94XhJMBMUKNVuevD2"/>
</p:tagLst>
</file>

<file path=ppt/tags/tag4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bCMzUr6WWdVyCKZTVjJHyD"/>
</p:tagLst>
</file>

<file path=ppt/tags/tag4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n6uKvRo4JyphU2kiW7pBAH"/>
</p:tagLst>
</file>

<file path=ppt/tags/tag4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6fOj6NjPnniDZs3WEcydZd"/>
</p:tagLst>
</file>

<file path=ppt/tags/tag4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cv0HsDx661rG0fWcLBKUa2"/>
</p:tagLst>
</file>

<file path=ppt/tags/tag4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Yg2Re0sc3nHS3jiokGihhh"/>
</p:tagLst>
</file>

<file path=ppt/tags/tag4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cjsN0srWt53awJFBoxETX3"/>
</p:tagLst>
</file>

<file path=ppt/tags/tag4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v9FkllSFTyNmvWrUSCdc2j"/>
  <p:tag name="TIMING" val="|22.7|7.4"/>
</p:tagLst>
</file>

<file path=ppt/tags/tag4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Y7cDTnh3CTKH4IprZ0L6UC"/>
</p:tagLst>
</file>

<file path=ppt/tags/tag4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PSMyIIiKCnj8kkBmy3Fpt9"/>
</p:tagLst>
</file>

<file path=ppt/tags/tag4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pOFWcXxD8Q9mijQkEyLRgn"/>
</p:tagLst>
</file>

<file path=ppt/tags/tag4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oVo4PDrHru8FtYTMwldZfs"/>
</p:tagLst>
</file>

<file path=ppt/tags/tag4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YY2hvep6ECT2pJy77UcqpF"/>
</p:tagLst>
</file>

<file path=ppt/tags/tag4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dCPRrS2qDh7WWp2x7dilPw"/>
</p:tagLst>
</file>

<file path=ppt/tags/tag4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Mry9dodjMP3jKprDMx3eYB"/>
</p:tagLst>
</file>

<file path=ppt/tags/tag4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s3z3ktTp2D6CA9ttujynMf"/>
</p:tagLst>
</file>

<file path=ppt/tags/tag4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zDQfE6HJZ8Dx6DTz5L3hkn"/>
  <p:tag name="TIMING" val="|11.4|0.7|0.7|0.8|1.1"/>
</p:tagLst>
</file>

<file path=ppt/tags/tag4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8ERdWylzNIBTaB228WRRyU"/>
</p:tagLst>
</file>

<file path=ppt/tags/tag4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4UudBP9deiccVUb7xk4sPo"/>
</p:tagLst>
</file>

<file path=ppt/tags/tag4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0HYSqraBwVHdAWJJWvqAti"/>
</p:tagLst>
</file>

<file path=ppt/tags/tag4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GXG7Q1pxM55GUMeJoH3CMh"/>
</p:tagLst>
</file>

<file path=ppt/tags/tag4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vHkfnOny2fUH00bjB8cZ8B"/>
</p:tagLst>
</file>

<file path=ppt/tags/tag4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8T1Wuc7IwRwpsYMBEA9d3P"/>
</p:tagLst>
</file>

<file path=ppt/tags/tag4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LdMey56UpN9TzqdqkarjI3"/>
</p:tagLst>
</file>

<file path=ppt/tags/tag4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aBxcw0uBPUyi8OafE2CCrI"/>
</p:tagLst>
</file>

<file path=ppt/tags/tag4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fypmndgYMJ7I2aGlz5pOYf"/>
</p:tagLst>
</file>

<file path=ppt/tags/tag4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lgipf4vpG6BslZNaChlQ8O"/>
</p:tagLst>
</file>

<file path=ppt/tags/tag4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bpLZzjswcDK0d83YXctm31"/>
</p:tagLst>
</file>

<file path=ppt/tags/tag4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6APHxot8s77x5SDgucW9TY"/>
</p:tagLst>
</file>

<file path=ppt/tags/tag4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HlMF6Ej9nLK9jbaSL334aD"/>
</p:tagLst>
</file>

<file path=ppt/tags/tag4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TF2akHHgqT88SuUSiOPjKl"/>
</p:tagLst>
</file>

<file path=ppt/tags/tag4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MVzr5CqS5ON4r6CWjBs6kR"/>
</p:tagLst>
</file>

<file path=ppt/tags/tag4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1biGXSLffRSxT6ATC4PxNj"/>
</p:tagLst>
</file>

<file path=ppt/tags/tag4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kO2OgmudQD1VUo8oFy6QzV"/>
</p:tagLst>
</file>

<file path=ppt/tags/tag4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bTdvlqZnhM3IQuE9CpK21f"/>
</p:tagLst>
</file>

<file path=ppt/tags/tag4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wYcbKdphrXJoC8AK04dsme"/>
</p:tagLst>
</file>

<file path=ppt/tags/tag4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RbyEKvVH6xUVnfj9GMYZl6"/>
</p:tagLst>
</file>

<file path=ppt/tags/tag4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YsRvyRpGOyTh61D5sTmJQc"/>
</p:tagLst>
</file>

<file path=ppt/tags/tag4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tGLlrQnqumTLc5NfW3hpIm"/>
</p:tagLst>
</file>

<file path=ppt/tags/tag4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268hwBk4DBfLYaJcqyjn3w"/>
</p:tagLst>
</file>

<file path=ppt/tags/tag4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nkOxicWirru7EFc9kM6pJh"/>
</p:tagLst>
</file>

<file path=ppt/tags/tag4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wr7CwKDJ6kiwIOtYi77k9N"/>
</p:tagLst>
</file>

<file path=ppt/tags/tag4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hRw4ZgewhEM5NnqFGcEIk9"/>
</p:tagLst>
</file>

<file path=ppt/tags/tag4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O7WoGmtYhp8I9g6rKnuz3E"/>
</p:tagLst>
</file>

<file path=ppt/tags/tag4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JC06xDrVFqt82o7BAS3imn"/>
</p:tagLst>
</file>

<file path=ppt/tags/tag4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X4d9zesheK6aoknzOQwmJH"/>
</p:tagLst>
</file>

<file path=ppt/tags/tag4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f1eHk8MCvKimFWSn3csocI"/>
</p:tagLst>
</file>

<file path=ppt/tags/tag4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1R0Nd04dLZDfPcVRUjuBel"/>
</p:tagLst>
</file>

<file path=ppt/tags/tag4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S1ErHqMjUluwZmHwUMxiYi"/>
</p:tagLst>
</file>

<file path=ppt/tags/tag4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Ip6Fsci8TAtFZY8MjErs4i"/>
</p:tagLst>
</file>

<file path=ppt/tags/tag4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Kidz9opI3Wnzifk1YA1MsU"/>
</p:tagLst>
</file>

<file path=ppt/tags/tag4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2jnJn8sTRwdqEOsS2UJawx"/>
</p:tagLst>
</file>

<file path=ppt/tags/tag4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ipGSsiFQqiQQfTbq0gg95R"/>
</p:tagLst>
</file>

<file path=ppt/tags/tag4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mSBvy5y72hnv1Y2uG9d05U"/>
</p:tagLst>
</file>

<file path=ppt/tags/tag4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ANzyHBTsTnrr3NhWJAiigy"/>
</p:tagLst>
</file>

<file path=ppt/tags/tag4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tJSdnvA6V4LriNW0nWdAoZ"/>
</p:tagLst>
</file>

<file path=ppt/tags/tag4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3zUfdJqDINE1jPFtdoRMrn"/>
</p:tagLst>
</file>

<file path=ppt/tags/tag4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FBvuZJdl5FatFii8iQGimY"/>
</p:tagLst>
</file>

<file path=ppt/tags/tag4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Mgt7kUJOJByGUjJIKGqmHY"/>
</p:tagLst>
</file>

<file path=ppt/tags/tag4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Kge3s0r7umBbz2u5GMX9yF"/>
  <p:tag name="TIMING" val="|6.6"/>
</p:tagLst>
</file>

<file path=ppt/tags/tag4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RP9ma460680HPf0SoiCgWy"/>
</p:tagLst>
</file>

<file path=ppt/tags/tag5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VZoZpz6ZSZgNoEXYJEIIuq"/>
</p:tagLst>
</file>

<file path=ppt/tags/tag5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GcttIRh7Kr2iUaXbFwU6f0"/>
</p:tagLst>
</file>

<file path=ppt/tags/tag5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r1QmUqzYxe4uicvVReHLfP"/>
</p:tagLst>
</file>

<file path=ppt/tags/tag5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L6JN0yYbOoaFLsCmXRxLTO"/>
</p:tagLst>
</file>

<file path=ppt/tags/tag5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eqRKFJFFouKBfKC7q1ZmqF"/>
</p:tagLst>
</file>

<file path=ppt/tags/tag5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jCr3juhQduVXRjVfSfv80G"/>
</p:tagLst>
</file>

<file path=ppt/tags/tag5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opF5u9rgOLu1TPZyfQpCYQ"/>
</p:tagLst>
</file>

<file path=ppt/tags/tag5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pgwnpIOlQJIo6fVgfJe3h4"/>
  <p:tag name="TIMING" val="|11"/>
</p:tagLst>
</file>

<file path=ppt/tags/tag5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QqVAbZF0rxoM3XAKi4qM6H"/>
</p:tagLst>
</file>

<file path=ppt/tags/tag5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kdASxfy2NKAkp5rOwPFPia"/>
</p:tagLst>
</file>

<file path=ppt/tags/tag5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ZkbYFvraCuX85IZjrpsoKE"/>
</p:tagLst>
</file>

<file path=ppt/tags/tag5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bJxvitxB7hpadgGzz3BC76"/>
</p:tagLst>
</file>

<file path=ppt/tags/tag5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nhZJPdnfnTql9sqacXD0nF"/>
</p:tagLst>
</file>

<file path=ppt/tags/tag5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JVuJCSQpM7w4lgvzDjeRUv"/>
</p:tagLst>
</file>

<file path=ppt/tags/tag5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oN2Ln0HaiA46IGGbV084j7"/>
  <p:tag name="TIMING" val="|6.6|1|0.9|5.7|4.9|5.2"/>
</p:tagLst>
</file>

<file path=ppt/tags/tag5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RNLJWFmu0GhRwgrRTct2DT"/>
</p:tagLst>
</file>

<file path=ppt/tags/tag5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1m9CcfPEu6whUymGzTUBDH"/>
</p:tagLst>
</file>

<file path=ppt/tags/tag5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NJF1vheeoviXLpAks7Fmba"/>
</p:tagLst>
</file>

<file path=ppt/tags/tag5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lfmTudDz81gkypXaKxqgI1"/>
</p:tagLst>
</file>

<file path=ppt/tags/tag5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YWNX6fqNWhvCnpFCN1BOmg"/>
</p:tagLst>
</file>

<file path=ppt/tags/tag5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HqRanin8WVskhp6x6n8l5Y"/>
</p:tagLst>
</file>

<file path=ppt/tags/tag5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OV1xu7JoETEHfm5WS8qOlA"/>
</p:tagLst>
</file>

<file path=ppt/tags/tag5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938gwgUdG1bICV8POfoxgz"/>
</p:tagLst>
</file>

<file path=ppt/tags/tag5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FzaJrav0VgDeMXpeAsuqcD"/>
</p:tagLst>
</file>

<file path=ppt/tags/tag5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wwKaN2japOjAny5MOKHG6U"/>
</p:tagLst>
</file>

<file path=ppt/tags/tag5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5n9apAEV3Qm23DZhmtGKQP"/>
</p:tagLst>
</file>

<file path=ppt/tags/tag5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UbAR8ODJIwwBrm1CDJvuLt"/>
</p:tagLst>
</file>

<file path=ppt/tags/tag5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dlvsNxoeZl4ftXAysQhj7Q"/>
</p:tagLst>
</file>

<file path=ppt/tags/tag5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vsbDfKPXem4rXemF16ltwb"/>
</p:tagLst>
</file>

<file path=ppt/tags/tag5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wbT314gFcrmnP2g9hDp26H"/>
</p:tagLst>
</file>

<file path=ppt/tags/tag5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b10mcMPbYDkkV0KcJKGzaC"/>
</p:tagLst>
</file>

<file path=ppt/tags/tag5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j9zM8LYOX7jVpkpWZQr2QT"/>
</p:tagLst>
</file>

<file path=ppt/tags/tag5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ockrUA5Qot385Q8kfcgt3G"/>
</p:tagLst>
</file>

<file path=ppt/tags/tag5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JR6d8oQDZ7JHx3e5AvpX7j"/>
</p:tagLst>
</file>

<file path=ppt/tags/tag5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y6afXhwqOA4Dp0GpQGYPdz"/>
</p:tagLst>
</file>

<file path=ppt/tags/tag5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EEmY35DqfmoJyr0hj8bflp"/>
</p:tagLst>
</file>

<file path=ppt/tags/tag5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nFkFJo9Hi8B8OstyghmqeW"/>
</p:tagLst>
</file>

<file path=ppt/tags/tag5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V21RODym39YfgGEolehx4f"/>
</p:tagLst>
</file>

<file path=ppt/tags/tag5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8qDxNKSTSVaqKiDRzw9W5r"/>
</p:tagLst>
</file>

<file path=ppt/tags/tag5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tDtUoG9f6OE5kbBxuAIxve"/>
</p:tagLst>
</file>

<file path=ppt/tags/tag5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mWc4t2BmImuhJVx46ShfUH"/>
</p:tagLst>
</file>

<file path=ppt/tags/tag5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akDaRWMWEZIU3iJDiRnYG3"/>
</p:tagLst>
</file>

<file path=ppt/tags/tag5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uxdIwpuU3YQnqyqwnzSxsI"/>
</p:tagLst>
</file>

<file path=ppt/tags/tag5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ZSuHNIzesyj7P5W9pnsKWJ"/>
</p:tagLst>
</file>

<file path=ppt/tags/tag5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4FRacMuO58AMxkePCLlOwh"/>
</p:tagLst>
</file>

<file path=ppt/tags/tag5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4jJlAd9v4IMgOOPCvMJEsa"/>
</p:tagLst>
</file>

<file path=ppt/tags/tag5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GjHjkCj0vCIDLh6PlQrjD2"/>
</p:tagLst>
</file>

<file path=ppt/tags/tag5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w3xBVAKHp7dMByrRbgEA4R"/>
</p:tagLst>
</file>

<file path=ppt/tags/tag5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Zhwp00fy4RPTMGOYizKnjE"/>
</p:tagLst>
</file>

<file path=ppt/tags/tag5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22dhaEBsZR6E3f5vAKrQ2m"/>
</p:tagLst>
</file>

<file path=ppt/tags/tag5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XHLL2cY5QGykfucIPBWCSX"/>
</p:tagLst>
</file>

<file path=ppt/tags/tag5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N7CyTMZZWsCG4vvpCouT1p"/>
</p:tagLst>
</file>

<file path=ppt/tags/tag5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THDVLC1Gp9vEfTm9HZ2HQR"/>
</p:tagLst>
</file>

<file path=ppt/tags/tag5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6I0BjRVPTqt0TD8tjb6RK6"/>
</p:tagLst>
</file>

<file path=ppt/tags/tag5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IypGcpZy7YVo1Uyit746yb"/>
</p:tagLst>
</file>

<file path=ppt/tags/tag5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c4BSh84iNaE0ZsbCEvQliv"/>
</p:tagLst>
</file>

<file path=ppt/tags/tag5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4vCeV1IYMExxll5k8QtPbL"/>
</p:tagLst>
</file>

<file path=ppt/tags/tag5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J1U66QtyfdSHZ6g3d3zOn0"/>
</p:tagLst>
</file>

<file path=ppt/tags/tag5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ss6Pxkn0RtjjLAjOURvepk"/>
</p:tagLst>
</file>

<file path=ppt/tags/tag5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762dsb9rgVc19wLwFK9YkU"/>
</p:tagLst>
</file>

<file path=ppt/tags/tag5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4PVmKuFLo79Gh4m1Q0XKLu"/>
</p:tagLst>
</file>

<file path=ppt/tags/tag5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y4o2DiGksWa5umQy7rsoiK"/>
</p:tagLst>
</file>

<file path=ppt/tags/tag5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wcjaUOYtbviAhRXHQm43Fc"/>
</p:tagLst>
</file>

<file path=ppt/tags/tag5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wbz0ahTwimbNybJtoSmYLE"/>
</p:tagLst>
</file>

<file path=ppt/tags/tag5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IfvBSteGo5qSwAHPre88yn"/>
</p:tagLst>
</file>

<file path=ppt/tags/tag5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ABtmti9mJ1EYZ3cJPkhmk8"/>
  <p:tag name="TIMING" val="|13.8|14"/>
</p:tagLst>
</file>

<file path=ppt/tags/tag5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RPJWYtZ6K2SrL3gnutWZim"/>
</p:tagLst>
</file>

<file path=ppt/tags/tag5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qv8ktR1G2UoknFRWvLHhlo"/>
</p:tagLst>
</file>

<file path=ppt/tags/tag5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04PDy4KEby5voeNE0754ZX"/>
</p:tagLst>
</file>

<file path=ppt/tags/tag5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3qFAvyYbi001v4vPjXWnIP"/>
</p:tagLst>
</file>

<file path=ppt/tags/tag5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fSgD8QKzcho20pXXybF0g4"/>
</p:tagLst>
</file>

<file path=ppt/tags/tag5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unIJ8bO77CfeaNkSp7qIOJ"/>
</p:tagLst>
</file>

<file path=ppt/tags/tag5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Ct35RloKHIzbnTUoHzL59M"/>
</p:tagLst>
</file>

<file path=ppt/tags/tag5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NMf9DGMyzygKKfF3jsInUw"/>
</p:tagLst>
</file>

<file path=ppt/tags/tag5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FZqqX0pQWJAQGhQHIIY980"/>
</p:tagLst>
</file>

<file path=ppt/tags/tag5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rnR9Ej1eFefcwqK6IQiUca"/>
</p:tagLst>
</file>

<file path=ppt/tags/tag5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VD9FIEgjmLSg7fJdIL8JBx"/>
</p:tagLst>
</file>

<file path=ppt/tags/tag5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9TyocBK0pKoE3MgihLADmO"/>
</p:tagLst>
</file>

<file path=ppt/tags/tag5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XqaAXvZc1ppotf6ksEzlm7"/>
</p:tagLst>
</file>

<file path=ppt/tags/tag5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SsbXWqtm9XakV8eBEe0cJZ"/>
</p:tagLst>
</file>

<file path=ppt/tags/tag5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eFj1bXjV40sQxHo0yzIEfr"/>
</p:tagLst>
</file>

<file path=ppt/tags/tag5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nbxHjVUOHXAr95vkEPkulp"/>
  <p:tag name="TIMING" val="|18.8|26.9"/>
</p:tagLst>
</file>

<file path=ppt/tags/tag5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d8jX6Q0kl9oSdwDVew3dT9"/>
</p:tagLst>
</file>

<file path=ppt/tags/tag5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S5AwdDGqt4JNraHeRsVKFj"/>
</p:tagLst>
</file>

<file path=ppt/tags/tag5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rEtSmDlcB1x4gemADmEVFk"/>
</p:tagLst>
</file>

<file path=ppt/tags/tag5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9q4se0FAi9tyDV2kh24hsH"/>
</p:tagLst>
</file>

<file path=ppt/tags/tag5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fmUsRgPz6KD7v2OTplx0Jo"/>
</p:tagLst>
</file>

<file path=ppt/tags/tag5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vS5OIHPeauSqarvk8deBPe"/>
</p:tagLst>
</file>

<file path=ppt/tags/tag5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8tI8U6LhFRbx7cdwBKVOOb"/>
</p:tagLst>
</file>

<file path=ppt/tags/tag5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YW1jZiUdMoKLMQPM37IqZH"/>
</p:tagLst>
</file>

<file path=ppt/tags/tag5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zatQm42ypfpWvM7A6tns4M"/>
</p:tagLst>
</file>

<file path=ppt/tags/tag5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MmpnGOHO6nbgmQP9VQaeZu"/>
</p:tagLst>
</file>

<file path=ppt/tags/tag5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mPl3Fs0e3xCNo7qZndQB91"/>
</p:tagLst>
</file>

<file path=ppt/tags/tag5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s2dQLs98EgoqznzMGuDlxk"/>
  <p:tag name="TIMING" val="|18.4|8.9"/>
</p:tagLst>
</file>

<file path=ppt/tags/tag5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LeqgLWxwhQNh0A1D8eNRkD"/>
</p:tagLst>
</file>

<file path=ppt/tags/tag5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EysIIVsWonlk37CpH4GwfM"/>
</p:tagLst>
</file>

<file path=ppt/tags/tag5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Z67QYJ5BOiG8zRO3eC3lrp"/>
</p:tagLst>
</file>

<file path=ppt/tags/tag5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WFwU1JxJaNnRzlASXJRMz3"/>
</p:tagLst>
</file>

<file path=ppt/tags/tag5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EVxKADP4sUkAask3Il347T"/>
</p:tagLst>
</file>

<file path=ppt/tags/tag5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61AJ2C3Y2hmhq3ASWm52QB"/>
</p:tagLst>
</file>

<file path=ppt/tags/tag6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KIitsmEkuFQT0Ang9TT5kt"/>
</p:tagLst>
</file>

<file path=ppt/tags/tag6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xYb8xU0wIuVKbPr7btq8qE"/>
</p:tagLst>
</file>

<file path=ppt/tags/tag6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KgrJGrbaa1yhajhjOJjXXl"/>
</p:tagLst>
</file>

<file path=ppt/tags/tag6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XgpyP1IqFc3SeUHNezkykT"/>
</p:tagLst>
</file>

<file path=ppt/tags/tag6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cUE7PSEGOsHojbk7CarKml"/>
</p:tagLst>
</file>

<file path=ppt/tags/tag6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B5gFBocsAHOYsLaxWbcgTb"/>
  <p:tag name="TIMING" val="|4.6|0.5|0.2"/>
</p:tagLst>
</file>

<file path=ppt/tags/tag6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16ODpnF0A3awP0T4itvq23"/>
</p:tagLst>
</file>

<file path=ppt/tags/tag6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4oMBd0c26eaITlZMLm8vcx"/>
</p:tagLst>
</file>

<file path=ppt/tags/tag6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H3Ha8Gb0umKY1qRO9ENxXV"/>
</p:tagLst>
</file>

<file path=ppt/tags/tag6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l67x5wH8iwQxHJU3SvR5KO"/>
</p:tagLst>
</file>

<file path=ppt/tags/tag6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YUkyUXdtIFzLHB3ABEil3d"/>
</p:tagLst>
</file>

<file path=ppt/tags/tag6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WjRBsbMXoYbqJtreiLA32O"/>
</p:tagLst>
</file>

<file path=ppt/tags/tag6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bTvAR5mizKyT0PvOxAFW91"/>
</p:tagLst>
</file>

<file path=ppt/tags/tag6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HCIySmGMqShlLAebY0zq1D"/>
</p:tagLst>
</file>

<file path=ppt/tags/tag6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xjd5TMpLTOgacTRjd0BNkG"/>
</p:tagLst>
</file>

<file path=ppt/tags/tag6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BF4VzlCEmJZ35olNsUnEYs"/>
</p:tagLst>
</file>

<file path=ppt/tags/tag6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5BokjENzOejQHy0Yc39frx"/>
</p:tagLst>
</file>

<file path=ppt/tags/tag6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a8OtYpxHpFI9zswe1XQMUK"/>
</p:tagLst>
</file>

<file path=ppt/tags/tag6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KeHNMuHjvI0yrgwQGo26PD"/>
</p:tagLst>
</file>

<file path=ppt/tags/tag6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eCjCxuUx5hb7u51RR1e28J"/>
</p:tagLst>
</file>

<file path=ppt/tags/tag6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jKcwvBeQKh48zKhGosWT80"/>
</p:tagLst>
</file>

<file path=ppt/tags/tag6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uTeAKCEa1aYccDptN4DPcS"/>
</p:tagLst>
</file>

<file path=ppt/tags/tag6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46Feh9KPFLCifihUQCczfU"/>
</p:tagLst>
</file>

<file path=ppt/tags/tag6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9mxDhUFRgiNCO8Vwkvpcvd"/>
</p:tagLst>
</file>

<file path=ppt/tags/tag6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ATn6bSd1DDCaWiGDSP9Nvj"/>
</p:tagLst>
</file>

<file path=ppt/tags/tag6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vDt9ZkhG93pWMEgaINEeFa"/>
</p:tagLst>
</file>

<file path=ppt/tags/tag6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ZEbCQHDA2HIgoKD2TTJWtz"/>
</p:tagLst>
</file>

<file path=ppt/tags/tag6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L0w2nH6m9gElDPYmtA2z0H"/>
</p:tagLst>
</file>

<file path=ppt/tags/tag6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dwgvxGTKuIHqTa6NkVtGyr"/>
</p:tagLst>
</file>

<file path=ppt/theme/theme1.xml><?xml version="1.0" encoding="utf-8"?>
<a:theme xmlns:a="http://schemas.openxmlformats.org/drawingml/2006/main" name="CMU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olstice">
      <a:fillStyleLst>
        <a:solidFill>
          <a:schemeClr val="phClr"/>
        </a:solidFill>
        <a:gradFill rotWithShape="1">
          <a:gsLst>
            <a:gs pos="0">
              <a:schemeClr val="phClr">
                <a:tint val="35000"/>
                <a:satMod val="253000"/>
              </a:schemeClr>
            </a:gs>
            <a:gs pos="50000">
              <a:schemeClr val="phClr">
                <a:tint val="42000"/>
                <a:satMod val="255000"/>
              </a:schemeClr>
            </a:gs>
            <a:gs pos="97000">
              <a:schemeClr val="phClr">
                <a:tint val="53000"/>
                <a:satMod val="260000"/>
              </a:schemeClr>
            </a:gs>
            <a:gs pos="100000">
              <a:schemeClr val="phClr">
                <a:tint val="56000"/>
                <a:satMod val="275000"/>
              </a:schemeClr>
            </a:gs>
          </a:gsLst>
          <a:path path="circle">
            <a:fillToRect l="50000" t="50000" r="50000" b="50000"/>
          </a:path>
        </a:gradFill>
        <a:gradFill rotWithShape="1">
          <a:gsLst>
            <a:gs pos="0">
              <a:schemeClr val="phClr">
                <a:tint val="92000"/>
                <a:satMod val="170000"/>
              </a:schemeClr>
            </a:gs>
            <a:gs pos="15000">
              <a:schemeClr val="phClr">
                <a:tint val="92000"/>
                <a:shade val="99000"/>
                <a:satMod val="170000"/>
              </a:schemeClr>
            </a:gs>
            <a:gs pos="62000">
              <a:schemeClr val="phClr">
                <a:tint val="96000"/>
                <a:shade val="80000"/>
                <a:satMod val="170000"/>
              </a:schemeClr>
            </a:gs>
            <a:gs pos="97000">
              <a:schemeClr val="phClr">
                <a:tint val="98000"/>
                <a:shade val="63000"/>
                <a:satMod val="170000"/>
              </a:schemeClr>
            </a:gs>
            <a:gs pos="100000">
              <a:schemeClr val="phClr">
                <a:shade val="62000"/>
                <a:satMod val="170000"/>
              </a:schemeClr>
            </a:gs>
          </a:gsLst>
          <a:path path="circle">
            <a:fillToRect l="50000" t="50000" r="50000" b="5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8700000"/>
            </a:lightRig>
          </a:scene3d>
          <a:sp3d contourW="12700">
            <a:bevelT w="0" h="0"/>
            <a:contourClr>
              <a:schemeClr val="phClr">
                <a:shade val="80000"/>
              </a:schemeClr>
            </a:contourClr>
          </a:sp3d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5400000"/>
            </a:lightRig>
          </a:scene3d>
          <a:sp3d contourW="12700">
            <a:bevelT w="25400" h="50800" prst="angle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rtlCol="0" anchor="ctr"/>
      <a:lstStyle>
        <a:defPPr algn="ctr">
          <a:defRPr sz="3600" dirty="0" smtClean="0">
            <a:latin typeface="Calibri" pitchFamily="34" charset="0"/>
            <a:cs typeface="Calibri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noAutofit/>
      </a:bodyPr>
      <a:lstStyle>
        <a:defPPr>
          <a:defRPr sz="3200" dirty="0">
            <a:latin typeface="Calibri" pitchFamily="34" charset="0"/>
            <a:cs typeface="Calibri" pitchFamily="34" charset="0"/>
          </a:defRPr>
        </a:defPPr>
      </a:lstStyle>
    </a:tx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1F497D"/>
        </a:dk2>
        <a:lt2>
          <a:srgbClr val="EEECE1"/>
        </a:lt2>
        <a:accent1>
          <a:srgbClr val="4F81BD"/>
        </a:accent1>
        <a:accent2>
          <a:srgbClr val="C0504D"/>
        </a:accent2>
        <a:accent3>
          <a:srgbClr val="FFFFFF"/>
        </a:accent3>
        <a:accent4>
          <a:srgbClr val="000000"/>
        </a:accent4>
        <a:accent5>
          <a:srgbClr val="B2C1DB"/>
        </a:accent5>
        <a:accent6>
          <a:srgbClr val="AE4845"/>
        </a:accent6>
        <a:hlink>
          <a:srgbClr val="0000FF"/>
        </a:hlink>
        <a:folHlink>
          <a:srgbClr val="80008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020811-18739c-aslranddep</Template>
  <TotalTime>0</TotalTime>
  <Words>1902</Words>
  <Application>Microsoft Office PowerPoint</Application>
  <PresentationFormat>On-screen Show (4:3)</PresentationFormat>
  <Paragraphs>669</Paragraphs>
  <Slides>59</Slides>
  <Notes>56</Notes>
  <HiddenSlides>1</HiddenSlides>
  <MMClips>1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0" baseType="lpstr">
      <vt:lpstr>CMU</vt:lpstr>
      <vt:lpstr>Q: Exploit Hardening Made Easy</vt:lpstr>
      <vt:lpstr>Downloading Exploits</vt:lpstr>
      <vt:lpstr>PowerPoint Presentation</vt:lpstr>
      <vt:lpstr>Downloading Exploits</vt:lpstr>
      <vt:lpstr>Causes of Broken Exploits</vt:lpstr>
      <vt:lpstr>OS Defenses</vt:lpstr>
      <vt:lpstr>PowerPoint Presentation</vt:lpstr>
      <vt:lpstr>Overview</vt:lpstr>
      <vt:lpstr>Simple Exploit</vt:lpstr>
      <vt:lpstr>Data Execution Prevention (DEP)</vt:lpstr>
      <vt:lpstr>Bypassing DEP</vt:lpstr>
      <vt:lpstr>Return Oriented Programming</vt:lpstr>
      <vt:lpstr>Return Oriented Programming</vt:lpstr>
      <vt:lpstr>Address Space Layout Randomization (ASLR)</vt:lpstr>
      <vt:lpstr>Return Oriented Programming + ASLR</vt:lpstr>
      <vt:lpstr>ASLR in Linux (Example)</vt:lpstr>
      <vt:lpstr>Consequences</vt:lpstr>
      <vt:lpstr>Overview</vt:lpstr>
      <vt:lpstr>Automatic ROP Overview</vt:lpstr>
      <vt:lpstr>ROP Overview</vt:lpstr>
      <vt:lpstr>Gadget Discovery</vt:lpstr>
      <vt:lpstr>Randomized Testing</vt:lpstr>
      <vt:lpstr>Q’s Gadget Types</vt:lpstr>
      <vt:lpstr>Q’s Gadget Types</vt:lpstr>
      <vt:lpstr>Q’s Gadget Types</vt:lpstr>
      <vt:lpstr>Randomized Testing</vt:lpstr>
      <vt:lpstr>SMT-Based Gadget Discovery</vt:lpstr>
      <vt:lpstr>SMT-Based Gadget Discovery</vt:lpstr>
      <vt:lpstr>ROP Overview</vt:lpstr>
      <vt:lpstr>Gadget Arrangement</vt:lpstr>
      <vt:lpstr>Arrangement: Storing to Memory</vt:lpstr>
      <vt:lpstr>Gadget Arrangement</vt:lpstr>
      <vt:lpstr>Arrangement: Storing to Memory</vt:lpstr>
      <vt:lpstr>Arrangement: Storing to Memory</vt:lpstr>
      <vt:lpstr>Gadget Arrangement</vt:lpstr>
      <vt:lpstr>ROP Overview</vt:lpstr>
      <vt:lpstr>Assignment</vt:lpstr>
      <vt:lpstr>Assignment: Register Mismatch</vt:lpstr>
      <vt:lpstr>Gadget Assignment</vt:lpstr>
      <vt:lpstr>Overview</vt:lpstr>
      <vt:lpstr>Exploit Hardening</vt:lpstr>
      <vt:lpstr>Trace-based Analysis</vt:lpstr>
      <vt:lpstr>Reasoning about Executions</vt:lpstr>
      <vt:lpstr>Exploit Constraints</vt:lpstr>
      <vt:lpstr>Exploit Constraints</vt:lpstr>
      <vt:lpstr>Demo!</vt:lpstr>
      <vt:lpstr>Overview</vt:lpstr>
      <vt:lpstr>Evaluation Questions</vt:lpstr>
      <vt:lpstr>Real Exploits</vt:lpstr>
      <vt:lpstr>ROP Probability</vt:lpstr>
      <vt:lpstr>ROP Probability</vt:lpstr>
      <vt:lpstr>Overview</vt:lpstr>
      <vt:lpstr>Limitations</vt:lpstr>
      <vt:lpstr>Overview</vt:lpstr>
      <vt:lpstr>Conclusion</vt:lpstr>
      <vt:lpstr>Thanks! </vt:lpstr>
      <vt:lpstr>Related Work</vt:lpstr>
      <vt:lpstr>Sizes of Gadget Sources</vt:lpstr>
      <vt:lpstr>Types of Gadgets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cp:lastModifiedBy/>
  <cp:revision>1</cp:revision>
  <dcterms:created xsi:type="dcterms:W3CDTF">2011-08-15T08:11:25Z</dcterms:created>
  <dcterms:modified xsi:type="dcterms:W3CDTF">2011-08-15T08:16:25Z</dcterms:modified>
</cp:coreProperties>
</file>